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</p:sldIdLst>
  <p:sldSz cx="7772400" cy="100584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82930" y="3118104"/>
            <a:ext cx="6606540" cy="21122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65860" y="5632704"/>
            <a:ext cx="5440680" cy="2514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88620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002786" y="2313432"/>
            <a:ext cx="3380994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8620" y="402336"/>
            <a:ext cx="6995160" cy="16093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8620" y="2313432"/>
            <a:ext cx="6995160" cy="66385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642616" y="9354312"/>
            <a:ext cx="2487168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88620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596128" y="9354312"/>
            <a:ext cx="1787652" cy="5029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Relationship Id="rId13" Type="http://schemas.openxmlformats.org/officeDocument/2006/relationships/image" Target="../media/image12.png"/><Relationship Id="rId14" Type="http://schemas.openxmlformats.org/officeDocument/2006/relationships/image" Target="../media/image13.png"/><Relationship Id="rId15" Type="http://schemas.openxmlformats.org/officeDocument/2006/relationships/image" Target="../media/image14.png"/><Relationship Id="rId16" Type="http://schemas.openxmlformats.org/officeDocument/2006/relationships/image" Target="../media/image15.png"/><Relationship Id="rId17" Type="http://schemas.openxmlformats.org/officeDocument/2006/relationships/image" Target="../media/image16.png"/><Relationship Id="rId18" Type="http://schemas.openxmlformats.org/officeDocument/2006/relationships/image" Target="../media/image17.png"/><Relationship Id="rId19" Type="http://schemas.openxmlformats.org/officeDocument/2006/relationships/image" Target="../media/image18.png"/><Relationship Id="rId20" Type="http://schemas.openxmlformats.org/officeDocument/2006/relationships/image" Target="../media/image19.png"/><Relationship Id="rId21" Type="http://schemas.openxmlformats.org/officeDocument/2006/relationships/image" Target="../media/image20.png"/><Relationship Id="rId22" Type="http://schemas.openxmlformats.org/officeDocument/2006/relationships/image" Target="../media/image21.png"/><Relationship Id="rId23" Type="http://schemas.openxmlformats.org/officeDocument/2006/relationships/image" Target="../media/image22.png"/><Relationship Id="rId24" Type="http://schemas.openxmlformats.org/officeDocument/2006/relationships/image" Target="../media/image23.png"/><Relationship Id="rId25" Type="http://schemas.openxmlformats.org/officeDocument/2006/relationships/image" Target="../media/image24.png"/><Relationship Id="rId26" Type="http://schemas.openxmlformats.org/officeDocument/2006/relationships/image" Target="../media/image25.png"/><Relationship Id="rId27" Type="http://schemas.openxmlformats.org/officeDocument/2006/relationships/image" Target="../media/image26.png"/><Relationship Id="rId28" Type="http://schemas.openxmlformats.org/officeDocument/2006/relationships/image" Target="../media/image27.png"/><Relationship Id="rId29" Type="http://schemas.openxmlformats.org/officeDocument/2006/relationships/image" Target="../media/image28.png"/><Relationship Id="rId30" Type="http://schemas.openxmlformats.org/officeDocument/2006/relationships/image" Target="../media/image29.png"/><Relationship Id="rId31" Type="http://schemas.openxmlformats.org/officeDocument/2006/relationships/image" Target="../media/image30.png"/><Relationship Id="rId32" Type="http://schemas.openxmlformats.org/officeDocument/2006/relationships/image" Target="../media/image31.png"/><Relationship Id="rId33" Type="http://schemas.openxmlformats.org/officeDocument/2006/relationships/image" Target="../media/image32.png"/><Relationship Id="rId34" Type="http://schemas.openxmlformats.org/officeDocument/2006/relationships/image" Target="../media/image33.png"/><Relationship Id="rId35" Type="http://schemas.openxmlformats.org/officeDocument/2006/relationships/image" Target="../media/image34.png"/><Relationship Id="rId36" Type="http://schemas.openxmlformats.org/officeDocument/2006/relationships/image" Target="../media/image35.png"/><Relationship Id="rId37" Type="http://schemas.openxmlformats.org/officeDocument/2006/relationships/image" Target="../media/image36.png"/><Relationship Id="rId38" Type="http://schemas.openxmlformats.org/officeDocument/2006/relationships/image" Target="../media/image37.png"/><Relationship Id="rId39" Type="http://schemas.openxmlformats.org/officeDocument/2006/relationships/image" Target="../media/image38.png"/><Relationship Id="rId40" Type="http://schemas.openxmlformats.org/officeDocument/2006/relationships/image" Target="../media/image39.png"/><Relationship Id="rId41" Type="http://schemas.openxmlformats.org/officeDocument/2006/relationships/image" Target="../media/image40.png"/><Relationship Id="rId42" Type="http://schemas.openxmlformats.org/officeDocument/2006/relationships/image" Target="../media/image41.png"/><Relationship Id="rId43" Type="http://schemas.openxmlformats.org/officeDocument/2006/relationships/image" Target="../media/image42.png"/><Relationship Id="rId44" Type="http://schemas.openxmlformats.org/officeDocument/2006/relationships/image" Target="../media/image43.png"/><Relationship Id="rId45" Type="http://schemas.openxmlformats.org/officeDocument/2006/relationships/image" Target="../media/image44.png"/><Relationship Id="rId46" Type="http://schemas.openxmlformats.org/officeDocument/2006/relationships/image" Target="../media/image45.png"/><Relationship Id="rId47" Type="http://schemas.openxmlformats.org/officeDocument/2006/relationships/image" Target="../media/image46.png"/><Relationship Id="rId48" Type="http://schemas.openxmlformats.org/officeDocument/2006/relationships/image" Target="../media/image47.png"/><Relationship Id="rId49" Type="http://schemas.openxmlformats.org/officeDocument/2006/relationships/image" Target="../media/image48.png"/><Relationship Id="rId50" Type="http://schemas.openxmlformats.org/officeDocument/2006/relationships/image" Target="../media/image49.png"/><Relationship Id="rId51" Type="http://schemas.openxmlformats.org/officeDocument/2006/relationships/image" Target="../media/image50.png"/><Relationship Id="rId52" Type="http://schemas.openxmlformats.org/officeDocument/2006/relationships/image" Target="../media/image51.png"/><Relationship Id="rId53" Type="http://schemas.openxmlformats.org/officeDocument/2006/relationships/image" Target="../media/image52.png"/><Relationship Id="rId54" Type="http://schemas.openxmlformats.org/officeDocument/2006/relationships/image" Target="../media/image53.png"/><Relationship Id="rId55" Type="http://schemas.openxmlformats.org/officeDocument/2006/relationships/image" Target="../media/image54.png"/><Relationship Id="rId56" Type="http://schemas.openxmlformats.org/officeDocument/2006/relationships/image" Target="../media/image55.png"/><Relationship Id="rId57" Type="http://schemas.openxmlformats.org/officeDocument/2006/relationships/image" Target="../media/image56.png"/><Relationship Id="rId58" Type="http://schemas.openxmlformats.org/officeDocument/2006/relationships/image" Target="../media/image57.png"/><Relationship Id="rId59" Type="http://schemas.openxmlformats.org/officeDocument/2006/relationships/image" Target="../media/image58.png"/><Relationship Id="rId60" Type="http://schemas.openxmlformats.org/officeDocument/2006/relationships/image" Target="../media/image59.png"/><Relationship Id="rId61" Type="http://schemas.openxmlformats.org/officeDocument/2006/relationships/image" Target="../media/image60.png"/><Relationship Id="rId62" Type="http://schemas.openxmlformats.org/officeDocument/2006/relationships/image" Target="../media/image61.png"/><Relationship Id="rId63" Type="http://schemas.openxmlformats.org/officeDocument/2006/relationships/image" Target="../media/image62.png"/><Relationship Id="rId64" Type="http://schemas.openxmlformats.org/officeDocument/2006/relationships/image" Target="../media/image63.png"/><Relationship Id="rId65" Type="http://schemas.openxmlformats.org/officeDocument/2006/relationships/image" Target="../media/image64.png"/><Relationship Id="rId66" Type="http://schemas.openxmlformats.org/officeDocument/2006/relationships/image" Target="../media/image65.png"/><Relationship Id="rId67" Type="http://schemas.openxmlformats.org/officeDocument/2006/relationships/image" Target="../media/image66.png"/><Relationship Id="rId68" Type="http://schemas.openxmlformats.org/officeDocument/2006/relationships/image" Target="../media/image67.png"/><Relationship Id="rId69" Type="http://schemas.openxmlformats.org/officeDocument/2006/relationships/image" Target="../media/image68.png"/><Relationship Id="rId70" Type="http://schemas.openxmlformats.org/officeDocument/2006/relationships/image" Target="../media/image69.png"/><Relationship Id="rId71" Type="http://schemas.openxmlformats.org/officeDocument/2006/relationships/image" Target="../media/image70.png"/><Relationship Id="rId72" Type="http://schemas.openxmlformats.org/officeDocument/2006/relationships/image" Target="../media/image71.png"/><Relationship Id="rId73" Type="http://schemas.openxmlformats.org/officeDocument/2006/relationships/image" Target="../media/image72.png"/><Relationship Id="rId74" Type="http://schemas.openxmlformats.org/officeDocument/2006/relationships/image" Target="../media/image73.png"/><Relationship Id="rId75" Type="http://schemas.openxmlformats.org/officeDocument/2006/relationships/image" Target="../media/image74.png"/><Relationship Id="rId76" Type="http://schemas.openxmlformats.org/officeDocument/2006/relationships/image" Target="../media/image75.png"/><Relationship Id="rId77" Type="http://schemas.openxmlformats.org/officeDocument/2006/relationships/image" Target="../media/image76.png"/><Relationship Id="rId78" Type="http://schemas.openxmlformats.org/officeDocument/2006/relationships/image" Target="../media/image77.png"/><Relationship Id="rId79" Type="http://schemas.openxmlformats.org/officeDocument/2006/relationships/image" Target="../media/image78.png"/><Relationship Id="rId80" Type="http://schemas.openxmlformats.org/officeDocument/2006/relationships/image" Target="../media/image79.png"/><Relationship Id="rId81" Type="http://schemas.openxmlformats.org/officeDocument/2006/relationships/image" Target="../media/image80.png"/><Relationship Id="rId82" Type="http://schemas.openxmlformats.org/officeDocument/2006/relationships/image" Target="../media/image81.png"/><Relationship Id="rId83" Type="http://schemas.openxmlformats.org/officeDocument/2006/relationships/image" Target="../media/image82.png"/><Relationship Id="rId84" Type="http://schemas.openxmlformats.org/officeDocument/2006/relationships/image" Target="../media/image83.png"/><Relationship Id="rId85" Type="http://schemas.openxmlformats.org/officeDocument/2006/relationships/image" Target="../media/image84.png"/><Relationship Id="rId86" Type="http://schemas.openxmlformats.org/officeDocument/2006/relationships/image" Target="../media/image85.png"/><Relationship Id="rId87" Type="http://schemas.openxmlformats.org/officeDocument/2006/relationships/image" Target="../media/image86.png"/><Relationship Id="rId88" Type="http://schemas.openxmlformats.org/officeDocument/2006/relationships/image" Target="../media/image87.png"/><Relationship Id="rId89" Type="http://schemas.openxmlformats.org/officeDocument/2006/relationships/image" Target="../media/image88.png"/><Relationship Id="rId90" Type="http://schemas.openxmlformats.org/officeDocument/2006/relationships/image" Target="../media/image89.png"/><Relationship Id="rId91" Type="http://schemas.openxmlformats.org/officeDocument/2006/relationships/image" Target="../media/image90.png"/><Relationship Id="rId92" Type="http://schemas.openxmlformats.org/officeDocument/2006/relationships/image" Target="../media/image91.png"/><Relationship Id="rId93" Type="http://schemas.openxmlformats.org/officeDocument/2006/relationships/image" Target="../media/image92.png"/><Relationship Id="rId94" Type="http://schemas.openxmlformats.org/officeDocument/2006/relationships/image" Target="../media/image93.png"/><Relationship Id="rId95" Type="http://schemas.openxmlformats.org/officeDocument/2006/relationships/image" Target="../media/image94.png"/><Relationship Id="rId96" Type="http://schemas.openxmlformats.org/officeDocument/2006/relationships/image" Target="../media/image95.png"/><Relationship Id="rId97" Type="http://schemas.openxmlformats.org/officeDocument/2006/relationships/image" Target="../media/image96.png"/><Relationship Id="rId98" Type="http://schemas.openxmlformats.org/officeDocument/2006/relationships/image" Target="../media/image97.png"/><Relationship Id="rId99" Type="http://schemas.openxmlformats.org/officeDocument/2006/relationships/image" Target="../media/image98.png"/><Relationship Id="rId100" Type="http://schemas.openxmlformats.org/officeDocument/2006/relationships/image" Target="../media/image99.png"/><Relationship Id="rId101" Type="http://schemas.openxmlformats.org/officeDocument/2006/relationships/image" Target="../media/image100.png"/><Relationship Id="rId102" Type="http://schemas.openxmlformats.org/officeDocument/2006/relationships/image" Target="../media/image101.png"/><Relationship Id="rId103" Type="http://schemas.openxmlformats.org/officeDocument/2006/relationships/image" Target="../media/image102.png"/><Relationship Id="rId104" Type="http://schemas.openxmlformats.org/officeDocument/2006/relationships/image" Target="../media/image103.png"/><Relationship Id="rId105" Type="http://schemas.openxmlformats.org/officeDocument/2006/relationships/image" Target="../media/image104.png"/><Relationship Id="rId106" Type="http://schemas.openxmlformats.org/officeDocument/2006/relationships/image" Target="../media/image105.png"/><Relationship Id="rId107" Type="http://schemas.openxmlformats.org/officeDocument/2006/relationships/image" Target="../media/image106.png"/><Relationship Id="rId108" Type="http://schemas.openxmlformats.org/officeDocument/2006/relationships/image" Target="../media/image107.png"/><Relationship Id="rId109" Type="http://schemas.openxmlformats.org/officeDocument/2006/relationships/image" Target="../media/image108.png"/><Relationship Id="rId110" Type="http://schemas.openxmlformats.org/officeDocument/2006/relationships/image" Target="../media/image109.png"/><Relationship Id="rId111" Type="http://schemas.openxmlformats.org/officeDocument/2006/relationships/image" Target="../media/image110.png"/><Relationship Id="rId112" Type="http://schemas.openxmlformats.org/officeDocument/2006/relationships/image" Target="../media/image111.png"/><Relationship Id="rId113" Type="http://schemas.openxmlformats.org/officeDocument/2006/relationships/image" Target="../media/image112.png"/><Relationship Id="rId114" Type="http://schemas.openxmlformats.org/officeDocument/2006/relationships/image" Target="../media/image113.png"/><Relationship Id="rId115" Type="http://schemas.openxmlformats.org/officeDocument/2006/relationships/image" Target="../media/image114.png"/><Relationship Id="rId116" Type="http://schemas.openxmlformats.org/officeDocument/2006/relationships/image" Target="../media/image115.png"/><Relationship Id="rId117" Type="http://schemas.openxmlformats.org/officeDocument/2006/relationships/image" Target="../media/image116.png"/><Relationship Id="rId118" Type="http://schemas.openxmlformats.org/officeDocument/2006/relationships/image" Target="../media/image117.png"/><Relationship Id="rId119" Type="http://schemas.openxmlformats.org/officeDocument/2006/relationships/image" Target="../media/image118.png"/><Relationship Id="rId120" Type="http://schemas.openxmlformats.org/officeDocument/2006/relationships/image" Target="../media/image119.png"/><Relationship Id="rId121" Type="http://schemas.openxmlformats.org/officeDocument/2006/relationships/image" Target="../media/image120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1.png"/><Relationship Id="rId3" Type="http://schemas.openxmlformats.org/officeDocument/2006/relationships/image" Target="../media/image122.png"/><Relationship Id="rId4" Type="http://schemas.openxmlformats.org/officeDocument/2006/relationships/image" Target="../media/image123.png"/><Relationship Id="rId5" Type="http://schemas.openxmlformats.org/officeDocument/2006/relationships/image" Target="../media/image124.png"/><Relationship Id="rId6" Type="http://schemas.openxmlformats.org/officeDocument/2006/relationships/image" Target="../media/image125.png"/><Relationship Id="rId7" Type="http://schemas.openxmlformats.org/officeDocument/2006/relationships/image" Target="../media/image126.png"/><Relationship Id="rId8" Type="http://schemas.openxmlformats.org/officeDocument/2006/relationships/image" Target="../media/image127.png"/><Relationship Id="rId9" Type="http://schemas.openxmlformats.org/officeDocument/2006/relationships/image" Target="../media/image128.png"/><Relationship Id="rId10" Type="http://schemas.openxmlformats.org/officeDocument/2006/relationships/image" Target="../media/image129.png"/><Relationship Id="rId11" Type="http://schemas.openxmlformats.org/officeDocument/2006/relationships/image" Target="../media/image130.png"/><Relationship Id="rId12" Type="http://schemas.openxmlformats.org/officeDocument/2006/relationships/image" Target="../media/image131.png"/><Relationship Id="rId13" Type="http://schemas.openxmlformats.org/officeDocument/2006/relationships/image" Target="../media/image132.png"/><Relationship Id="rId14" Type="http://schemas.openxmlformats.org/officeDocument/2006/relationships/image" Target="../media/image133.png"/><Relationship Id="rId15" Type="http://schemas.openxmlformats.org/officeDocument/2006/relationships/image" Target="../media/image134.png"/><Relationship Id="rId16" Type="http://schemas.openxmlformats.org/officeDocument/2006/relationships/image" Target="../media/image135.png"/><Relationship Id="rId17" Type="http://schemas.openxmlformats.org/officeDocument/2006/relationships/image" Target="../media/image136.png"/><Relationship Id="rId18" Type="http://schemas.openxmlformats.org/officeDocument/2006/relationships/image" Target="../media/image137.png"/><Relationship Id="rId19" Type="http://schemas.openxmlformats.org/officeDocument/2006/relationships/image" Target="../media/image138.png"/><Relationship Id="rId20" Type="http://schemas.openxmlformats.org/officeDocument/2006/relationships/image" Target="../media/image139.png"/><Relationship Id="rId21" Type="http://schemas.openxmlformats.org/officeDocument/2006/relationships/image" Target="../media/image140.png"/><Relationship Id="rId22" Type="http://schemas.openxmlformats.org/officeDocument/2006/relationships/image" Target="../media/image141.png"/><Relationship Id="rId23" Type="http://schemas.openxmlformats.org/officeDocument/2006/relationships/image" Target="../media/image142.png"/><Relationship Id="rId24" Type="http://schemas.openxmlformats.org/officeDocument/2006/relationships/image" Target="../media/image143.png"/><Relationship Id="rId25" Type="http://schemas.openxmlformats.org/officeDocument/2006/relationships/image" Target="../media/image144.png"/><Relationship Id="rId26" Type="http://schemas.openxmlformats.org/officeDocument/2006/relationships/image" Target="../media/image145.png"/><Relationship Id="rId27" Type="http://schemas.openxmlformats.org/officeDocument/2006/relationships/image" Target="../media/image146.png"/><Relationship Id="rId28" Type="http://schemas.openxmlformats.org/officeDocument/2006/relationships/image" Target="../media/image147.png"/><Relationship Id="rId29" Type="http://schemas.openxmlformats.org/officeDocument/2006/relationships/image" Target="../media/image148.png"/><Relationship Id="rId30" Type="http://schemas.openxmlformats.org/officeDocument/2006/relationships/image" Target="../media/image149.png"/><Relationship Id="rId31" Type="http://schemas.openxmlformats.org/officeDocument/2006/relationships/image" Target="../media/image150.png"/><Relationship Id="rId32" Type="http://schemas.openxmlformats.org/officeDocument/2006/relationships/image" Target="../media/image151.png"/><Relationship Id="rId33" Type="http://schemas.openxmlformats.org/officeDocument/2006/relationships/image" Target="../media/image152.png"/><Relationship Id="rId34" Type="http://schemas.openxmlformats.org/officeDocument/2006/relationships/image" Target="../media/image153.png"/><Relationship Id="rId35" Type="http://schemas.openxmlformats.org/officeDocument/2006/relationships/image" Target="../media/image154.png"/><Relationship Id="rId36" Type="http://schemas.openxmlformats.org/officeDocument/2006/relationships/image" Target="../media/image155.png"/><Relationship Id="rId37" Type="http://schemas.openxmlformats.org/officeDocument/2006/relationships/image" Target="../media/image156.png"/><Relationship Id="rId38" Type="http://schemas.openxmlformats.org/officeDocument/2006/relationships/image" Target="../media/image157.png"/><Relationship Id="rId39" Type="http://schemas.openxmlformats.org/officeDocument/2006/relationships/image" Target="../media/image158.png"/><Relationship Id="rId40" Type="http://schemas.openxmlformats.org/officeDocument/2006/relationships/image" Target="../media/image159.png"/><Relationship Id="rId41" Type="http://schemas.openxmlformats.org/officeDocument/2006/relationships/image" Target="../media/image160.png"/><Relationship Id="rId42" Type="http://schemas.openxmlformats.org/officeDocument/2006/relationships/image" Target="../media/image161.png"/><Relationship Id="rId43" Type="http://schemas.openxmlformats.org/officeDocument/2006/relationships/image" Target="../media/image162.png"/><Relationship Id="rId44" Type="http://schemas.openxmlformats.org/officeDocument/2006/relationships/image" Target="../media/image163.png"/><Relationship Id="rId45" Type="http://schemas.openxmlformats.org/officeDocument/2006/relationships/image" Target="../media/image164.png"/><Relationship Id="rId46" Type="http://schemas.openxmlformats.org/officeDocument/2006/relationships/image" Target="../media/image165.png"/><Relationship Id="rId47" Type="http://schemas.openxmlformats.org/officeDocument/2006/relationships/image" Target="../media/image166.png"/><Relationship Id="rId48" Type="http://schemas.openxmlformats.org/officeDocument/2006/relationships/image" Target="../media/image167.png"/><Relationship Id="rId49" Type="http://schemas.openxmlformats.org/officeDocument/2006/relationships/image" Target="../media/image168.png"/><Relationship Id="rId50" Type="http://schemas.openxmlformats.org/officeDocument/2006/relationships/image" Target="../media/image169.png"/><Relationship Id="rId51" Type="http://schemas.openxmlformats.org/officeDocument/2006/relationships/image" Target="../media/image170.png"/><Relationship Id="rId52" Type="http://schemas.openxmlformats.org/officeDocument/2006/relationships/image" Target="../media/image171.png"/><Relationship Id="rId53" Type="http://schemas.openxmlformats.org/officeDocument/2006/relationships/image" Target="../media/image172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9380" y="1340624"/>
            <a:ext cx="447675" cy="373380"/>
          </a:xfrm>
          <a:prstGeom prst="rect">
            <a:avLst/>
          </a:prstGeom>
        </p:spPr>
        <p:txBody>
          <a:bodyPr wrap="square" lIns="0" tIns="3810" rIns="0" bIns="0" rtlCol="0" vert="vert270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latin typeface="Myriad Pro"/>
                <a:cs typeface="Myriad Pro"/>
              </a:rPr>
              <a:t>OK</a:t>
            </a:r>
            <a:endParaRPr sz="1400">
              <a:latin typeface="Myriad Pro"/>
              <a:cs typeface="Myriad Pro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800">
                <a:latin typeface="Myriad Pro"/>
                <a:cs typeface="Myriad Pro"/>
              </a:rPr>
              <a:t>Cleaned</a:t>
            </a:r>
            <a:endParaRPr sz="800">
              <a:latin typeface="Myriad Pro"/>
              <a:cs typeface="Myriad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5588" y="1299171"/>
            <a:ext cx="407034" cy="41275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7145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Myriad Pro"/>
                <a:cs typeface="Myriad Pro"/>
              </a:rPr>
              <a:t>Adjusted</a:t>
            </a:r>
            <a:endParaRPr sz="800">
              <a:latin typeface="Myriad Pro"/>
              <a:cs typeface="Myriad Pro"/>
            </a:endParaRPr>
          </a:p>
          <a:p>
            <a:pPr marL="12700" marR="56515" indent="67310">
              <a:lnSpc>
                <a:spcPct val="100000"/>
              </a:lnSpc>
              <a:spcBef>
                <a:spcPts val="610"/>
              </a:spcBef>
            </a:pPr>
            <a:r>
              <a:rPr dirty="0" sz="600">
                <a:latin typeface="Myriad Pro"/>
                <a:cs typeface="Myriad Pro"/>
              </a:rPr>
              <a:t>Needs  </a:t>
            </a:r>
            <a:r>
              <a:rPr dirty="0" sz="600">
                <a:latin typeface="Myriad Pro"/>
                <a:cs typeface="Myriad Pro"/>
              </a:rPr>
              <a:t>Correction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1257300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 h="0">
                <a:moveTo>
                  <a:pt x="7315200" y="0"/>
                </a:moveTo>
                <a:lnTo>
                  <a:pt x="0" y="0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94746" y="2841586"/>
            <a:ext cx="122109" cy="12211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66831" y="2841611"/>
            <a:ext cx="122290" cy="12211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95418" y="2841611"/>
            <a:ext cx="122290" cy="12211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924018" y="2841611"/>
            <a:ext cx="122290" cy="1221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89958" y="3024491"/>
            <a:ext cx="122109" cy="12229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466831" y="3024491"/>
            <a:ext cx="122290" cy="12229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695418" y="3024491"/>
            <a:ext cx="122290" cy="12229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924018" y="3024491"/>
            <a:ext cx="122290" cy="12229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189958" y="3207371"/>
            <a:ext cx="122109" cy="1222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466831" y="3207371"/>
            <a:ext cx="122290" cy="1222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695418" y="3207371"/>
            <a:ext cx="122290" cy="1222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24018" y="3207371"/>
            <a:ext cx="122290" cy="1222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189958" y="3390251"/>
            <a:ext cx="122109" cy="1222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466831" y="3390251"/>
            <a:ext cx="122290" cy="12229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95418" y="3390251"/>
            <a:ext cx="122290" cy="1222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924018" y="3390251"/>
            <a:ext cx="122290" cy="1222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190072" y="3572915"/>
            <a:ext cx="122109" cy="122296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465789" y="3572941"/>
            <a:ext cx="122109" cy="12229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691824" y="3572915"/>
            <a:ext cx="122290" cy="12229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921020" y="3572941"/>
            <a:ext cx="122290" cy="122296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197718" y="3764850"/>
            <a:ext cx="122290" cy="12211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462373" y="3764850"/>
            <a:ext cx="122290" cy="122115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691837" y="3755490"/>
            <a:ext cx="122290" cy="12211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20437" y="3755490"/>
            <a:ext cx="122290" cy="12211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189945" y="4126089"/>
            <a:ext cx="122109" cy="12229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462360" y="4126127"/>
            <a:ext cx="122290" cy="12229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95406" y="4126089"/>
            <a:ext cx="122290" cy="12229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924006" y="4126089"/>
            <a:ext cx="122290" cy="12229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338973" y="4431741"/>
            <a:ext cx="379095" cy="0"/>
          </a:xfrm>
          <a:custGeom>
            <a:avLst/>
            <a:gdLst/>
            <a:ahLst/>
            <a:cxnLst/>
            <a:rect l="l" t="t" r="r" b="b"/>
            <a:pathLst>
              <a:path w="379094" h="0">
                <a:moveTo>
                  <a:pt x="0" y="0"/>
                </a:moveTo>
                <a:lnTo>
                  <a:pt x="3786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73864" y="4438472"/>
            <a:ext cx="481965" cy="0"/>
          </a:xfrm>
          <a:custGeom>
            <a:avLst/>
            <a:gdLst/>
            <a:ahLst/>
            <a:cxnLst/>
            <a:rect l="l" t="t" r="r" b="b"/>
            <a:pathLst>
              <a:path w="481964" h="0">
                <a:moveTo>
                  <a:pt x="0" y="0"/>
                </a:moveTo>
                <a:lnTo>
                  <a:pt x="48177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215870" y="4430826"/>
            <a:ext cx="370205" cy="0"/>
          </a:xfrm>
          <a:custGeom>
            <a:avLst/>
            <a:gdLst/>
            <a:ahLst/>
            <a:cxnLst/>
            <a:rect l="l" t="t" r="r" b="b"/>
            <a:pathLst>
              <a:path w="370205" h="0">
                <a:moveTo>
                  <a:pt x="0" y="0"/>
                </a:moveTo>
                <a:lnTo>
                  <a:pt x="36987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148469" y="4439081"/>
            <a:ext cx="372745" cy="0"/>
          </a:xfrm>
          <a:custGeom>
            <a:avLst/>
            <a:gdLst/>
            <a:ahLst/>
            <a:cxnLst/>
            <a:rect l="l" t="t" r="r" b="b"/>
            <a:pathLst>
              <a:path w="372745" h="0">
                <a:moveTo>
                  <a:pt x="0" y="0"/>
                </a:moveTo>
                <a:lnTo>
                  <a:pt x="37214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217263" y="4439094"/>
            <a:ext cx="407034" cy="0"/>
          </a:xfrm>
          <a:custGeom>
            <a:avLst/>
            <a:gdLst/>
            <a:ahLst/>
            <a:cxnLst/>
            <a:rect l="l" t="t" r="r" b="b"/>
            <a:pathLst>
              <a:path w="407035" h="0">
                <a:moveTo>
                  <a:pt x="0" y="0"/>
                </a:moveTo>
                <a:lnTo>
                  <a:pt x="40676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189793" y="4491849"/>
            <a:ext cx="122109" cy="12229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462373" y="4491887"/>
            <a:ext cx="122290" cy="1222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695406" y="4491849"/>
            <a:ext cx="122290" cy="12229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924006" y="4491849"/>
            <a:ext cx="122290" cy="12229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641678" y="4776673"/>
            <a:ext cx="475615" cy="0"/>
          </a:xfrm>
          <a:custGeom>
            <a:avLst/>
            <a:gdLst/>
            <a:ahLst/>
            <a:cxnLst/>
            <a:rect l="l" t="t" r="r" b="b"/>
            <a:pathLst>
              <a:path w="475614" h="0">
                <a:moveTo>
                  <a:pt x="0" y="0"/>
                </a:moveTo>
                <a:lnTo>
                  <a:pt x="4750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2310980" y="4776673"/>
            <a:ext cx="235585" cy="0"/>
          </a:xfrm>
          <a:custGeom>
            <a:avLst/>
            <a:gdLst/>
            <a:ahLst/>
            <a:cxnLst/>
            <a:rect l="l" t="t" r="r" b="b"/>
            <a:pathLst>
              <a:path w="235585" h="0">
                <a:moveTo>
                  <a:pt x="0" y="0"/>
                </a:moveTo>
                <a:lnTo>
                  <a:pt x="23547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2714904" y="4773586"/>
            <a:ext cx="233045" cy="0"/>
          </a:xfrm>
          <a:custGeom>
            <a:avLst/>
            <a:gdLst/>
            <a:ahLst/>
            <a:cxnLst/>
            <a:rect l="l" t="t" r="r" b="b"/>
            <a:pathLst>
              <a:path w="233044" h="0">
                <a:moveTo>
                  <a:pt x="0" y="0"/>
                </a:moveTo>
                <a:lnTo>
                  <a:pt x="232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18472" y="4775162"/>
            <a:ext cx="259079" cy="0"/>
          </a:xfrm>
          <a:custGeom>
            <a:avLst/>
            <a:gdLst/>
            <a:ahLst/>
            <a:cxnLst/>
            <a:rect l="l" t="t" r="r" b="b"/>
            <a:pathLst>
              <a:path w="259079" h="0">
                <a:moveTo>
                  <a:pt x="0" y="0"/>
                </a:moveTo>
                <a:lnTo>
                  <a:pt x="25890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258627" y="4781816"/>
            <a:ext cx="473075" cy="0"/>
          </a:xfrm>
          <a:custGeom>
            <a:avLst/>
            <a:gdLst/>
            <a:ahLst/>
            <a:cxnLst/>
            <a:rect l="l" t="t" r="r" b="b"/>
            <a:pathLst>
              <a:path w="473075" h="0">
                <a:moveTo>
                  <a:pt x="0" y="0"/>
                </a:moveTo>
                <a:lnTo>
                  <a:pt x="4727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4884788" y="4781816"/>
            <a:ext cx="226060" cy="0"/>
          </a:xfrm>
          <a:custGeom>
            <a:avLst/>
            <a:gdLst/>
            <a:ahLst/>
            <a:cxnLst/>
            <a:rect l="l" t="t" r="r" b="b"/>
            <a:pathLst>
              <a:path w="226060" h="0">
                <a:moveTo>
                  <a:pt x="0" y="0"/>
                </a:moveTo>
                <a:lnTo>
                  <a:pt x="2254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5263959" y="4779581"/>
            <a:ext cx="222885" cy="0"/>
          </a:xfrm>
          <a:custGeom>
            <a:avLst/>
            <a:gdLst/>
            <a:ahLst/>
            <a:cxnLst/>
            <a:rect l="l" t="t" r="r" b="b"/>
            <a:pathLst>
              <a:path w="222885" h="0">
                <a:moveTo>
                  <a:pt x="0" y="0"/>
                </a:moveTo>
                <a:lnTo>
                  <a:pt x="22227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5658129" y="4779200"/>
            <a:ext cx="227965" cy="0"/>
          </a:xfrm>
          <a:custGeom>
            <a:avLst/>
            <a:gdLst/>
            <a:ahLst/>
            <a:cxnLst/>
            <a:rect l="l" t="t" r="r" b="b"/>
            <a:pathLst>
              <a:path w="227964" h="0">
                <a:moveTo>
                  <a:pt x="0" y="0"/>
                </a:moveTo>
                <a:lnTo>
                  <a:pt x="2277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5776620" y="1072667"/>
            <a:ext cx="1734820" cy="0"/>
          </a:xfrm>
          <a:custGeom>
            <a:avLst/>
            <a:gdLst/>
            <a:ahLst/>
            <a:cxnLst/>
            <a:rect l="l" t="t" r="r" b="b"/>
            <a:pathLst>
              <a:path w="1734820" h="0">
                <a:moveTo>
                  <a:pt x="0" y="0"/>
                </a:moveTo>
                <a:lnTo>
                  <a:pt x="173433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131783" y="1175626"/>
            <a:ext cx="2347595" cy="0"/>
          </a:xfrm>
          <a:custGeom>
            <a:avLst/>
            <a:gdLst/>
            <a:ahLst/>
            <a:cxnLst/>
            <a:rect l="l" t="t" r="r" b="b"/>
            <a:pathLst>
              <a:path w="2347595" h="0">
                <a:moveTo>
                  <a:pt x="0" y="0"/>
                </a:moveTo>
                <a:lnTo>
                  <a:pt x="234712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1425371" y="935329"/>
            <a:ext cx="5175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FE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Name: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2131783" y="849464"/>
            <a:ext cx="2347595" cy="0"/>
          </a:xfrm>
          <a:custGeom>
            <a:avLst/>
            <a:gdLst/>
            <a:ahLst/>
            <a:cxnLst/>
            <a:rect l="l" t="t" r="r" b="b"/>
            <a:pathLst>
              <a:path w="2347595" h="0">
                <a:moveTo>
                  <a:pt x="0" y="0"/>
                </a:moveTo>
                <a:lnTo>
                  <a:pt x="234712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1388541" y="609168"/>
            <a:ext cx="5911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Site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Name: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339204" y="1033121"/>
            <a:ext cx="1814830" cy="887094"/>
          </a:xfrm>
          <a:prstGeom prst="rect">
            <a:avLst/>
          </a:prstGeom>
        </p:spPr>
        <p:txBody>
          <a:bodyPr wrap="square" lIns="0" tIns="190500" rIns="0" bIns="0" rtlCol="0" vert="horz">
            <a:spAutoFit/>
          </a:bodyPr>
          <a:lstStyle/>
          <a:p>
            <a:pPr marL="490855">
              <a:lnSpc>
                <a:spcPct val="100000"/>
              </a:lnSpc>
              <a:spcBef>
                <a:spcPts val="1500"/>
              </a:spcBef>
            </a:pPr>
            <a:r>
              <a:rPr dirty="0" sz="2400">
                <a:latin typeface="Myriad Pro"/>
                <a:cs typeface="Myriad Pro"/>
              </a:rPr>
              <a:t>Procedure</a:t>
            </a:r>
            <a:endParaRPr sz="2400">
              <a:latin typeface="Myriad Pro"/>
              <a:cs typeface="Myriad Pro"/>
            </a:endParaRPr>
          </a:p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dirty="0" sz="1400" b="1">
                <a:latin typeface="Myriad Pro"/>
                <a:cs typeface="Myriad Pro"/>
              </a:rPr>
              <a:t>Pre PM</a:t>
            </a:r>
            <a:r>
              <a:rPr dirty="0" sz="1400" spc="-1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Checklist</a:t>
            </a:r>
            <a:endParaRPr sz="1400">
              <a:latin typeface="Myriad Pro"/>
              <a:cs typeface="Myriad Pro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6179163" y="1980361"/>
            <a:ext cx="122290" cy="122115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6462360" y="1980361"/>
            <a:ext cx="122290" cy="122115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923599" y="1980361"/>
            <a:ext cx="122109" cy="12211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6691824" y="1980361"/>
            <a:ext cx="122290" cy="122115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6179379" y="2340660"/>
            <a:ext cx="122109" cy="12229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462360" y="2340634"/>
            <a:ext cx="122290" cy="122296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6922126" y="2340660"/>
            <a:ext cx="122290" cy="12229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693526" y="2340660"/>
            <a:ext cx="122290" cy="12229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878810" y="528789"/>
            <a:ext cx="932180" cy="0"/>
          </a:xfrm>
          <a:custGeom>
            <a:avLst/>
            <a:gdLst/>
            <a:ahLst/>
            <a:cxnLst/>
            <a:rect l="l" t="t" r="r" b="b"/>
            <a:pathLst>
              <a:path w="932179" h="0">
                <a:moveTo>
                  <a:pt x="0" y="0"/>
                </a:moveTo>
                <a:lnTo>
                  <a:pt x="931633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 txBox="1"/>
          <p:nvPr/>
        </p:nvSpPr>
        <p:spPr>
          <a:xfrm>
            <a:off x="1394307" y="288493"/>
            <a:ext cx="132461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Service Request</a:t>
            </a:r>
            <a:r>
              <a:rPr dirty="0" sz="1000" spc="-8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Number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6179201" y="2168753"/>
            <a:ext cx="126993" cy="12700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462373" y="2168727"/>
            <a:ext cx="122290" cy="12229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6693373" y="2168753"/>
            <a:ext cx="122290" cy="12229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6921973" y="2168753"/>
            <a:ext cx="122290" cy="12229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6182414" y="4849417"/>
            <a:ext cx="122290" cy="122296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6484712" y="4849417"/>
            <a:ext cx="122109" cy="122296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6714062" y="4849417"/>
            <a:ext cx="122109" cy="12229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942662" y="4849417"/>
            <a:ext cx="122109" cy="12229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1304531" y="5165039"/>
            <a:ext cx="379095" cy="0"/>
          </a:xfrm>
          <a:custGeom>
            <a:avLst/>
            <a:gdLst/>
            <a:ahLst/>
            <a:cxnLst/>
            <a:rect l="l" t="t" r="r" b="b"/>
            <a:pathLst>
              <a:path w="379094" h="0">
                <a:moveTo>
                  <a:pt x="0" y="0"/>
                </a:moveTo>
                <a:lnTo>
                  <a:pt x="3786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2297925" y="5165051"/>
            <a:ext cx="429895" cy="0"/>
          </a:xfrm>
          <a:custGeom>
            <a:avLst/>
            <a:gdLst/>
            <a:ahLst/>
            <a:cxnLst/>
            <a:rect l="l" t="t" r="r" b="b"/>
            <a:pathLst>
              <a:path w="429894" h="0">
                <a:moveTo>
                  <a:pt x="0" y="0"/>
                </a:moveTo>
                <a:lnTo>
                  <a:pt x="42961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5110314" y="5171884"/>
            <a:ext cx="379095" cy="0"/>
          </a:xfrm>
          <a:custGeom>
            <a:avLst/>
            <a:gdLst/>
            <a:ahLst/>
            <a:cxnLst/>
            <a:rect l="l" t="t" r="r" b="b"/>
            <a:pathLst>
              <a:path w="379095" h="0">
                <a:moveTo>
                  <a:pt x="0" y="0"/>
                </a:moveTo>
                <a:lnTo>
                  <a:pt x="3786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948756" y="5171884"/>
            <a:ext cx="379095" cy="0"/>
          </a:xfrm>
          <a:custGeom>
            <a:avLst/>
            <a:gdLst/>
            <a:ahLst/>
            <a:cxnLst/>
            <a:rect l="l" t="t" r="r" b="b"/>
            <a:pathLst>
              <a:path w="379095" h="0">
                <a:moveTo>
                  <a:pt x="0" y="0"/>
                </a:moveTo>
                <a:lnTo>
                  <a:pt x="3786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4245559" y="5171884"/>
            <a:ext cx="391795" cy="0"/>
          </a:xfrm>
          <a:custGeom>
            <a:avLst/>
            <a:gdLst/>
            <a:ahLst/>
            <a:cxnLst/>
            <a:rect l="l" t="t" r="r" b="b"/>
            <a:pathLst>
              <a:path w="391795" h="0">
                <a:moveTo>
                  <a:pt x="0" y="0"/>
                </a:moveTo>
                <a:lnTo>
                  <a:pt x="3915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6194301" y="5966192"/>
            <a:ext cx="122109" cy="122115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6479823" y="5965303"/>
            <a:ext cx="122109" cy="122115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6708410" y="5965303"/>
            <a:ext cx="122109" cy="122115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6937010" y="5965303"/>
            <a:ext cx="122109" cy="122115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6188459" y="6153644"/>
            <a:ext cx="122290" cy="122296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 txBox="1"/>
          <p:nvPr/>
        </p:nvSpPr>
        <p:spPr>
          <a:xfrm>
            <a:off x="497052" y="6081255"/>
            <a:ext cx="260096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Check Body Chiller Temp and</a:t>
            </a:r>
            <a:r>
              <a:rPr dirty="0" sz="1000" spc="-9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Fluid............................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85" name="object 85"/>
          <p:cNvSpPr/>
          <p:nvPr/>
        </p:nvSpPr>
        <p:spPr>
          <a:xfrm>
            <a:off x="6482782" y="6146393"/>
            <a:ext cx="122290" cy="122115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6711369" y="6146393"/>
            <a:ext cx="122290" cy="122115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6939969" y="6146393"/>
            <a:ext cx="122290" cy="122115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6188447" y="6338683"/>
            <a:ext cx="122290" cy="122296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6480509" y="6331139"/>
            <a:ext cx="122109" cy="122296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6709095" y="6331139"/>
            <a:ext cx="122109" cy="122296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937695" y="6331139"/>
            <a:ext cx="122109" cy="122296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181220" y="6523442"/>
            <a:ext cx="122290" cy="122115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473409" y="6516179"/>
            <a:ext cx="122290" cy="12229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6701997" y="6516179"/>
            <a:ext cx="122290" cy="122296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930597" y="6516179"/>
            <a:ext cx="122290" cy="122296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181741" y="6713142"/>
            <a:ext cx="122290" cy="122115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489813" y="6233934"/>
            <a:ext cx="5710555" cy="584835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9685">
              <a:lnSpc>
                <a:spcPct val="100000"/>
              </a:lnSpc>
              <a:spcBef>
                <a:spcPts val="355"/>
              </a:spcBef>
            </a:pPr>
            <a:r>
              <a:rPr dirty="0" sz="1000">
                <a:latin typeface="Myriad Pro"/>
                <a:cs typeface="Myriad Pro"/>
              </a:rPr>
              <a:t>Clean Patient Blower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Filter...................................................................................................................................................................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dirty="0" sz="1000">
                <a:latin typeface="Myriad Pro"/>
                <a:cs typeface="Myriad Pro"/>
              </a:rPr>
              <a:t>Clean All Cabinet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Filters........................................................................................................................................................................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2700">
              <a:lnSpc>
                <a:spcPct val="100000"/>
              </a:lnSpc>
              <a:spcBef>
                <a:spcPts val="290"/>
              </a:spcBef>
            </a:pPr>
            <a:r>
              <a:rPr dirty="0" sz="1000">
                <a:latin typeface="Myriad Pro"/>
                <a:cs typeface="Myriad Pro"/>
              </a:rPr>
              <a:t>Clean Console area (octane or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GOC)................................................................................................................................................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98" name="object 98"/>
          <p:cNvSpPr/>
          <p:nvPr/>
        </p:nvSpPr>
        <p:spPr>
          <a:xfrm>
            <a:off x="6485411" y="6705879"/>
            <a:ext cx="122109" cy="122296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713998" y="6705879"/>
            <a:ext cx="122109" cy="122296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942598" y="6705879"/>
            <a:ext cx="122109" cy="12229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188332" y="5785966"/>
            <a:ext cx="122290" cy="122296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477549" y="5785966"/>
            <a:ext cx="122290" cy="122296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706137" y="5785966"/>
            <a:ext cx="122290" cy="122296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934737" y="5785966"/>
            <a:ext cx="122290" cy="12229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6184281" y="5600546"/>
            <a:ext cx="122109" cy="122296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6466272" y="5600559"/>
            <a:ext cx="122109" cy="12229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6694859" y="5600559"/>
            <a:ext cx="122109" cy="122296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6923459" y="5600559"/>
            <a:ext cx="122109" cy="122296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520946" y="6285090"/>
            <a:ext cx="1636395" cy="0"/>
          </a:xfrm>
          <a:custGeom>
            <a:avLst/>
            <a:gdLst/>
            <a:ahLst/>
            <a:cxnLst/>
            <a:rect l="l" t="t" r="r" b="b"/>
            <a:pathLst>
              <a:path w="1636395" h="0">
                <a:moveTo>
                  <a:pt x="0" y="0"/>
                </a:moveTo>
                <a:lnTo>
                  <a:pt x="163620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 txBox="1"/>
          <p:nvPr/>
        </p:nvSpPr>
        <p:spPr>
          <a:xfrm>
            <a:off x="3628402" y="6150318"/>
            <a:ext cx="84074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Water Temp and</a:t>
            </a:r>
            <a:r>
              <a:rPr dirty="0" sz="600" spc="-8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pressure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111" name="object 111"/>
          <p:cNvSpPr/>
          <p:nvPr/>
        </p:nvSpPr>
        <p:spPr>
          <a:xfrm>
            <a:off x="6215295" y="7684527"/>
            <a:ext cx="122290" cy="122115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6492218" y="7683626"/>
            <a:ext cx="122290" cy="122296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6720806" y="7683626"/>
            <a:ext cx="122290" cy="122296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6949406" y="7683626"/>
            <a:ext cx="122290" cy="122296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6215295" y="7865198"/>
            <a:ext cx="122290" cy="12229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6492218" y="7864309"/>
            <a:ext cx="122290" cy="122296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6720806" y="7864309"/>
            <a:ext cx="122290" cy="12229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6949406" y="7864309"/>
            <a:ext cx="122290" cy="122296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6213135" y="8049767"/>
            <a:ext cx="122109" cy="12229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6490148" y="8048878"/>
            <a:ext cx="122109" cy="122296"/>
          </a:xfrm>
          <a:prstGeom prst="rect">
            <a:avLst/>
          </a:prstGeom>
          <a:blipFill>
            <a:blip r:embed="rId8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6718735" y="8048878"/>
            <a:ext cx="122109" cy="122296"/>
          </a:xfrm>
          <a:prstGeom prst="rect">
            <a:avLst/>
          </a:prstGeom>
          <a:blipFill>
            <a:blip r:embed="rId8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6947335" y="8048878"/>
            <a:ext cx="122109" cy="122296"/>
          </a:xfrm>
          <a:prstGeom prst="rect">
            <a:avLst/>
          </a:prstGeom>
          <a:blipFill>
            <a:blip r:embed="rId8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6215586" y="8411120"/>
            <a:ext cx="122290" cy="122296"/>
          </a:xfrm>
          <a:prstGeom prst="rect">
            <a:avLst/>
          </a:prstGeom>
          <a:blipFill>
            <a:blip r:embed="rId9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6495634" y="8411145"/>
            <a:ext cx="122290" cy="122296"/>
          </a:xfrm>
          <a:prstGeom prst="rect">
            <a:avLst/>
          </a:prstGeom>
          <a:blipFill>
            <a:blip r:embed="rId9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6724222" y="8411145"/>
            <a:ext cx="122290" cy="122296"/>
          </a:xfrm>
          <a:prstGeom prst="rect">
            <a:avLst/>
          </a:prstGeom>
          <a:blipFill>
            <a:blip r:embed="rId9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6952822" y="8411145"/>
            <a:ext cx="122290" cy="122296"/>
          </a:xfrm>
          <a:prstGeom prst="rect">
            <a:avLst/>
          </a:prstGeom>
          <a:blipFill>
            <a:blip r:embed="rId9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6214355" y="7502689"/>
            <a:ext cx="122290" cy="122296"/>
          </a:xfrm>
          <a:prstGeom prst="rect">
            <a:avLst/>
          </a:prstGeom>
          <a:blipFill>
            <a:blip r:embed="rId9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6491304" y="7501787"/>
            <a:ext cx="122290" cy="122296"/>
          </a:xfrm>
          <a:prstGeom prst="rect">
            <a:avLst/>
          </a:prstGeom>
          <a:blipFill>
            <a:blip r:embed="rId9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6719878" y="7501787"/>
            <a:ext cx="122290" cy="122296"/>
          </a:xfrm>
          <a:prstGeom prst="rect">
            <a:avLst/>
          </a:prstGeom>
          <a:blipFill>
            <a:blip r:embed="rId9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6948478" y="7501787"/>
            <a:ext cx="122290" cy="122296"/>
          </a:xfrm>
          <a:prstGeom prst="rect">
            <a:avLst/>
          </a:prstGeom>
          <a:blipFill>
            <a:blip r:embed="rId9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6218825" y="8595066"/>
            <a:ext cx="122109" cy="122115"/>
          </a:xfrm>
          <a:prstGeom prst="rect">
            <a:avLst/>
          </a:prstGeom>
          <a:blipFill>
            <a:blip r:embed="rId9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6495609" y="8594178"/>
            <a:ext cx="122290" cy="122115"/>
          </a:xfrm>
          <a:prstGeom prst="rect">
            <a:avLst/>
          </a:prstGeom>
          <a:blipFill>
            <a:blip r:embed="rId9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6724196" y="8594178"/>
            <a:ext cx="122290" cy="122115"/>
          </a:xfrm>
          <a:prstGeom prst="rect">
            <a:avLst/>
          </a:prstGeom>
          <a:blipFill>
            <a:blip r:embed="rId10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6952796" y="8594178"/>
            <a:ext cx="122290" cy="122115"/>
          </a:xfrm>
          <a:prstGeom prst="rect">
            <a:avLst/>
          </a:prstGeom>
          <a:blipFill>
            <a:blip r:embed="rId10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6218825" y="8968586"/>
            <a:ext cx="122109" cy="122296"/>
          </a:xfrm>
          <a:prstGeom prst="rect">
            <a:avLst/>
          </a:prstGeom>
          <a:blipFill>
            <a:blip r:embed="rId10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6495634" y="8965335"/>
            <a:ext cx="122290" cy="122296"/>
          </a:xfrm>
          <a:prstGeom prst="rect">
            <a:avLst/>
          </a:prstGeom>
          <a:blipFill>
            <a:blip r:embed="rId10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6724222" y="8965335"/>
            <a:ext cx="122290" cy="122296"/>
          </a:xfrm>
          <a:prstGeom prst="rect">
            <a:avLst/>
          </a:prstGeom>
          <a:blipFill>
            <a:blip r:embed="rId10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6952822" y="8965335"/>
            <a:ext cx="122290" cy="122296"/>
          </a:xfrm>
          <a:prstGeom prst="rect">
            <a:avLst/>
          </a:prstGeom>
          <a:blipFill>
            <a:blip r:embed="rId10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6218825" y="8784614"/>
            <a:ext cx="122109" cy="122115"/>
          </a:xfrm>
          <a:prstGeom prst="rect">
            <a:avLst/>
          </a:prstGeom>
          <a:blipFill>
            <a:blip r:embed="rId10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6495634" y="8781376"/>
            <a:ext cx="122290" cy="122296"/>
          </a:xfrm>
          <a:prstGeom prst="rect">
            <a:avLst/>
          </a:prstGeom>
          <a:blipFill>
            <a:blip r:embed="rId10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724222" y="8781376"/>
            <a:ext cx="122290" cy="122296"/>
          </a:xfrm>
          <a:prstGeom prst="rect">
            <a:avLst/>
          </a:prstGeom>
          <a:blipFill>
            <a:blip r:embed="rId10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952822" y="8781376"/>
            <a:ext cx="122290" cy="122296"/>
          </a:xfrm>
          <a:prstGeom prst="rect">
            <a:avLst/>
          </a:prstGeom>
          <a:blipFill>
            <a:blip r:embed="rId10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222737" y="8231186"/>
            <a:ext cx="122109" cy="122296"/>
          </a:xfrm>
          <a:prstGeom prst="rect">
            <a:avLst/>
          </a:prstGeom>
          <a:blipFill>
            <a:blip r:embed="rId1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6490808" y="8230272"/>
            <a:ext cx="122290" cy="122296"/>
          </a:xfrm>
          <a:prstGeom prst="rect">
            <a:avLst/>
          </a:prstGeom>
          <a:blipFill>
            <a:blip r:embed="rId1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719383" y="8230272"/>
            <a:ext cx="122290" cy="122296"/>
          </a:xfrm>
          <a:prstGeom prst="rect">
            <a:avLst/>
          </a:prstGeom>
          <a:blipFill>
            <a:blip r:embed="rId1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947983" y="8230272"/>
            <a:ext cx="122290" cy="122296"/>
          </a:xfrm>
          <a:prstGeom prst="rect">
            <a:avLst/>
          </a:prstGeom>
          <a:blipFill>
            <a:blip r:embed="rId1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6213923" y="7315377"/>
            <a:ext cx="122109" cy="122296"/>
          </a:xfrm>
          <a:prstGeom prst="rect">
            <a:avLst/>
          </a:prstGeom>
          <a:blipFill>
            <a:blip r:embed="rId1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 txBox="1"/>
          <p:nvPr/>
        </p:nvSpPr>
        <p:spPr>
          <a:xfrm>
            <a:off x="516966" y="7208075"/>
            <a:ext cx="5713730" cy="1866264"/>
          </a:xfrm>
          <a:prstGeom prst="rect">
            <a:avLst/>
          </a:prstGeom>
        </p:spPr>
        <p:txBody>
          <a:bodyPr wrap="square" lIns="0" tIns="47625" rIns="0" bIns="0" rtlCol="0" vert="horz">
            <a:spAutoFit/>
          </a:bodyPr>
          <a:lstStyle/>
          <a:p>
            <a:pPr marL="635">
              <a:lnSpc>
                <a:spcPct val="100000"/>
              </a:lnSpc>
              <a:spcBef>
                <a:spcPts val="375"/>
              </a:spcBef>
            </a:pPr>
            <a:r>
              <a:rPr dirty="0" sz="1000">
                <a:latin typeface="Myriad Pro"/>
                <a:cs typeface="Myriad Pro"/>
              </a:rPr>
              <a:t>Test Emergency off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Buttons.................................................................................................................................................................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635">
              <a:lnSpc>
                <a:spcPct val="100000"/>
              </a:lnSpc>
              <a:spcBef>
                <a:spcPts val="275"/>
              </a:spcBef>
            </a:pPr>
            <a:r>
              <a:rPr dirty="0" sz="1000">
                <a:latin typeface="Myriad Pro"/>
                <a:cs typeface="Myriad Pro"/>
              </a:rPr>
              <a:t>Test Emergency Stop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Buttons.............................................................................................................................................................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905" marR="6985">
              <a:lnSpc>
                <a:spcPct val="118500"/>
              </a:lnSpc>
              <a:spcBef>
                <a:spcPts val="10"/>
              </a:spcBef>
            </a:pPr>
            <a:r>
              <a:rPr dirty="0" sz="1000">
                <a:latin typeface="Myriad Pro"/>
                <a:cs typeface="Myriad Pro"/>
              </a:rPr>
              <a:t>Inspect all System Cables and Connections for Tightness and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Security..............................................................................  Check Condition and Placement of Warning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Labels...................................................................................................................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r>
              <a:rPr dirty="0" sz="1000">
                <a:latin typeface="Myriad Pro"/>
                <a:cs typeface="Myriad Pro"/>
              </a:rPr>
              <a:t>Check Condition and Placement of 0.5 mT Exclusion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Warnings............................................................................................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635">
              <a:lnSpc>
                <a:spcPct val="100000"/>
              </a:lnSpc>
              <a:spcBef>
                <a:spcPts val="229"/>
              </a:spcBef>
            </a:pPr>
            <a:r>
              <a:rPr dirty="0" sz="1000">
                <a:latin typeface="Myriad Pro"/>
                <a:cs typeface="Myriad Pro"/>
              </a:rPr>
              <a:t>Check Magnet Exhaust Vent and Vent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Glass..................................................................................................................................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080" marR="10795">
              <a:lnSpc>
                <a:spcPts val="1450"/>
              </a:lnSpc>
              <a:spcBef>
                <a:spcPts val="55"/>
              </a:spcBef>
            </a:pPr>
            <a:r>
              <a:rPr dirty="0" sz="1000">
                <a:latin typeface="Myriad Pro"/>
                <a:cs typeface="Myriad Pro"/>
              </a:rPr>
              <a:t>Clean Water Chiller Filter - If filter is really dirty then need to clean on next PM and note status below...............  Tip Seal and Solenoid Valve Replacement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(Twinspeed)............................................................................................................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080">
              <a:lnSpc>
                <a:spcPct val="100000"/>
              </a:lnSpc>
              <a:spcBef>
                <a:spcPts val="204"/>
              </a:spcBef>
            </a:pPr>
            <a:r>
              <a:rPr dirty="0" sz="1000">
                <a:latin typeface="Myriad Pro"/>
                <a:cs typeface="Myriad Pro"/>
              </a:rPr>
              <a:t>Change Out All Patient Cradle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Wheels.............................................................................................................................................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080">
              <a:lnSpc>
                <a:spcPct val="100000"/>
              </a:lnSpc>
              <a:spcBef>
                <a:spcPts val="245"/>
              </a:spcBef>
            </a:pPr>
            <a:r>
              <a:rPr dirty="0" sz="1000">
                <a:latin typeface="Myriad Pro"/>
                <a:cs typeface="Myriad Pro"/>
              </a:rPr>
              <a:t>Inspect and Clean Erbtec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Interior.......................................................................................................................................................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49" name="object 149"/>
          <p:cNvSpPr/>
          <p:nvPr/>
        </p:nvSpPr>
        <p:spPr>
          <a:xfrm>
            <a:off x="6944986" y="7315389"/>
            <a:ext cx="122290" cy="122296"/>
          </a:xfrm>
          <a:prstGeom prst="rect">
            <a:avLst/>
          </a:prstGeom>
          <a:blipFill>
            <a:blip r:embed="rId1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716386" y="7315389"/>
            <a:ext cx="122290" cy="122296"/>
          </a:xfrm>
          <a:prstGeom prst="rect">
            <a:avLst/>
          </a:prstGeom>
          <a:blipFill>
            <a:blip r:embed="rId1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487798" y="7315389"/>
            <a:ext cx="122290" cy="122296"/>
          </a:xfrm>
          <a:prstGeom prst="rect">
            <a:avLst/>
          </a:prstGeom>
          <a:blipFill>
            <a:blip r:embed="rId1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 txBox="1"/>
          <p:nvPr/>
        </p:nvSpPr>
        <p:spPr>
          <a:xfrm>
            <a:off x="480987" y="6938429"/>
            <a:ext cx="431927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Myriad Pro"/>
                <a:cs typeface="Myriad Pro"/>
              </a:rPr>
              <a:t>Semi-Annual - January/July and First PM Safety</a:t>
            </a:r>
            <a:r>
              <a:rPr dirty="0" sz="1400" spc="-9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Checks</a:t>
            </a:r>
            <a:endParaRPr sz="1400">
              <a:latin typeface="Myriad Pro"/>
              <a:cs typeface="Myriad Pro"/>
            </a:endParaRPr>
          </a:p>
        </p:txBody>
      </p:sp>
      <p:sp>
        <p:nvSpPr>
          <p:cNvPr id="153" name="object 153"/>
          <p:cNvSpPr/>
          <p:nvPr/>
        </p:nvSpPr>
        <p:spPr>
          <a:xfrm>
            <a:off x="2790951" y="9534194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3458540" y="9533280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4125734" y="9533267"/>
            <a:ext cx="374650" cy="0"/>
          </a:xfrm>
          <a:custGeom>
            <a:avLst/>
            <a:gdLst/>
            <a:ahLst/>
            <a:cxnLst/>
            <a:rect l="l" t="t" r="r" b="b"/>
            <a:pathLst>
              <a:path w="374650" h="0">
                <a:moveTo>
                  <a:pt x="0" y="0"/>
                </a:moveTo>
                <a:lnTo>
                  <a:pt x="37465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4792979" y="9534182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5460174" y="9534182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5" h="0">
                <a:moveTo>
                  <a:pt x="0" y="0"/>
                </a:moveTo>
                <a:lnTo>
                  <a:pt x="3813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6127787" y="9534766"/>
            <a:ext cx="381635" cy="0"/>
          </a:xfrm>
          <a:custGeom>
            <a:avLst/>
            <a:gdLst/>
            <a:ahLst/>
            <a:cxnLst/>
            <a:rect l="l" t="t" r="r" b="b"/>
            <a:pathLst>
              <a:path w="381634" h="0">
                <a:moveTo>
                  <a:pt x="0" y="0"/>
                </a:moveTo>
                <a:lnTo>
                  <a:pt x="38133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 txBox="1"/>
          <p:nvPr/>
        </p:nvSpPr>
        <p:spPr>
          <a:xfrm>
            <a:off x="2612618" y="9175267"/>
            <a:ext cx="3908425" cy="340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255">
              <a:lnSpc>
                <a:spcPct val="100000"/>
              </a:lnSpc>
              <a:spcBef>
                <a:spcPts val="100"/>
              </a:spcBef>
              <a:tabLst>
                <a:tab pos="561340" algn="l"/>
                <a:tab pos="1226820" algn="l"/>
                <a:tab pos="1894839" algn="l"/>
                <a:tab pos="2562225" algn="l"/>
                <a:tab pos="3228340" algn="l"/>
                <a:tab pos="3895090" algn="l"/>
              </a:tabLst>
            </a:pPr>
            <a:r>
              <a:rPr dirty="0" sz="600">
                <a:latin typeface="Myriad Pro"/>
                <a:cs typeface="Myriad Pro"/>
              </a:rPr>
              <a:t>Ax1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Ax2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Ax3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Ax4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Ax5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Ax6  </a:t>
            </a:r>
            <a:r>
              <a:rPr dirty="0" baseline="4629" sz="900" spc="-7">
                <a:latin typeface="Myriad Pro"/>
                <a:cs typeface="Myriad Pro"/>
              </a:rPr>
              <a:t> 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4629" sz="9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9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  <a:tabLst>
                <a:tab pos="667385" algn="l"/>
                <a:tab pos="1334135" algn="l"/>
                <a:tab pos="2001520" algn="l"/>
                <a:tab pos="2668905" algn="l"/>
                <a:tab pos="3336290" algn="l"/>
              </a:tabLst>
            </a:pPr>
            <a:r>
              <a:rPr dirty="0" sz="600">
                <a:latin typeface="Myriad Pro"/>
                <a:cs typeface="Myriad Pro"/>
              </a:rPr>
              <a:t>T1-1	T1-2	T1-3	T1-4	T1-5	T1-6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160" name="object 160"/>
          <p:cNvSpPr txBox="1"/>
          <p:nvPr/>
        </p:nvSpPr>
        <p:spPr>
          <a:xfrm>
            <a:off x="1604810" y="9630841"/>
            <a:ext cx="42506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791210" algn="l"/>
                <a:tab pos="1008380" algn="l"/>
                <a:tab pos="1568450" algn="l"/>
                <a:tab pos="2235200" algn="l"/>
                <a:tab pos="2895600" algn="l"/>
                <a:tab pos="3569970" algn="l"/>
                <a:tab pos="4237355" algn="l"/>
              </a:tabLst>
            </a:pP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T2-1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T2-2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T2-3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T2-4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600">
                <a:latin typeface="Myriad Pro"/>
                <a:cs typeface="Myriad Pro"/>
              </a:rPr>
              <a:t>T2-5 </a:t>
            </a:r>
            <a:r>
              <a:rPr dirty="0" sz="600" spc="5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161" name="object 161"/>
          <p:cNvSpPr txBox="1"/>
          <p:nvPr/>
        </p:nvSpPr>
        <p:spPr>
          <a:xfrm>
            <a:off x="5950140" y="9659949"/>
            <a:ext cx="159004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  <a:tabLst>
                <a:tab pos="559435" algn="l"/>
              </a:tabLst>
            </a:pPr>
            <a:r>
              <a:rPr dirty="0" baseline="60185" sz="900">
                <a:latin typeface="Myriad Pro"/>
                <a:cs typeface="Myriad Pro"/>
              </a:rPr>
              <a:t>T2-6</a:t>
            </a:r>
            <a:r>
              <a:rPr dirty="0" u="sng" baseline="60185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sz="1000">
                <a:latin typeface="Myriad Pro"/>
                <a:cs typeface="Myriad Pro"/>
              </a:rPr>
              <a:t>Page 1 of 2</a:t>
            </a:r>
            <a:r>
              <a:rPr dirty="0" sz="1000" spc="150">
                <a:latin typeface="Myriad Pro"/>
                <a:cs typeface="Myriad Pro"/>
              </a:rPr>
              <a:t> </a:t>
            </a:r>
            <a:r>
              <a:rPr dirty="0" baseline="5555" sz="1500">
                <a:latin typeface="Myriad Pro"/>
                <a:cs typeface="Myriad Pro"/>
              </a:rPr>
              <a:t>Rev.7</a:t>
            </a:r>
            <a:endParaRPr baseline="5555" sz="1500">
              <a:latin typeface="Myriad Pro"/>
              <a:cs typeface="Myriad Pro"/>
            </a:endParaRPr>
          </a:p>
        </p:txBody>
      </p:sp>
      <p:sp>
        <p:nvSpPr>
          <p:cNvPr id="162" name="object 162"/>
          <p:cNvSpPr txBox="1"/>
          <p:nvPr/>
        </p:nvSpPr>
        <p:spPr>
          <a:xfrm>
            <a:off x="486918" y="9129458"/>
            <a:ext cx="15525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Myriad Pro"/>
                <a:cs typeface="Myriad Pro"/>
              </a:rPr>
              <a:t>Supercon Shim</a:t>
            </a:r>
            <a:r>
              <a:rPr dirty="0" sz="1200" spc="-85">
                <a:latin typeface="Myriad Pro"/>
                <a:cs typeface="Myriad Pro"/>
              </a:rPr>
              <a:t> </a:t>
            </a:r>
            <a:r>
              <a:rPr dirty="0" sz="1200">
                <a:latin typeface="Myriad Pro"/>
                <a:cs typeface="Myriad Pro"/>
              </a:rPr>
              <a:t>Currents</a:t>
            </a:r>
            <a:endParaRPr sz="1200">
              <a:latin typeface="Myriad Pro"/>
              <a:cs typeface="Myriad Pro"/>
            </a:endParaRPr>
          </a:p>
        </p:txBody>
      </p:sp>
      <p:sp>
        <p:nvSpPr>
          <p:cNvPr id="163" name="object 163"/>
          <p:cNvSpPr/>
          <p:nvPr/>
        </p:nvSpPr>
        <p:spPr>
          <a:xfrm>
            <a:off x="5319217" y="7253896"/>
            <a:ext cx="1745614" cy="0"/>
          </a:xfrm>
          <a:custGeom>
            <a:avLst/>
            <a:gdLst/>
            <a:ahLst/>
            <a:cxnLst/>
            <a:rect l="l" t="t" r="r" b="b"/>
            <a:pathLst>
              <a:path w="1745615" h="0">
                <a:moveTo>
                  <a:pt x="0" y="0"/>
                </a:moveTo>
                <a:lnTo>
                  <a:pt x="174519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 txBox="1"/>
          <p:nvPr/>
        </p:nvSpPr>
        <p:spPr>
          <a:xfrm>
            <a:off x="4921262" y="7013600"/>
            <a:ext cx="39433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Month: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65" name="object 165"/>
          <p:cNvSpPr txBox="1"/>
          <p:nvPr/>
        </p:nvSpPr>
        <p:spPr>
          <a:xfrm>
            <a:off x="656437" y="9520097"/>
            <a:ext cx="95440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Center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Frequency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66" name="object 166"/>
          <p:cNvSpPr/>
          <p:nvPr/>
        </p:nvSpPr>
        <p:spPr>
          <a:xfrm>
            <a:off x="328206" y="6899262"/>
            <a:ext cx="7216140" cy="2928620"/>
          </a:xfrm>
          <a:custGeom>
            <a:avLst/>
            <a:gdLst/>
            <a:ahLst/>
            <a:cxnLst/>
            <a:rect l="l" t="t" r="r" b="b"/>
            <a:pathLst>
              <a:path w="7216140" h="2928620">
                <a:moveTo>
                  <a:pt x="0" y="2928238"/>
                </a:moveTo>
                <a:lnTo>
                  <a:pt x="7215593" y="2928238"/>
                </a:lnTo>
                <a:lnTo>
                  <a:pt x="7215593" y="0"/>
                </a:lnTo>
                <a:lnTo>
                  <a:pt x="0" y="0"/>
                </a:lnTo>
                <a:lnTo>
                  <a:pt x="0" y="2928238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6204728" y="3950511"/>
            <a:ext cx="122109" cy="122115"/>
          </a:xfrm>
          <a:prstGeom prst="rect">
            <a:avLst/>
          </a:prstGeom>
          <a:blipFill>
            <a:blip r:embed="rId1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6469371" y="3950511"/>
            <a:ext cx="122290" cy="122115"/>
          </a:xfrm>
          <a:prstGeom prst="rect">
            <a:avLst/>
          </a:prstGeom>
          <a:blipFill>
            <a:blip r:embed="rId1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6698834" y="3941152"/>
            <a:ext cx="122109" cy="122115"/>
          </a:xfrm>
          <a:prstGeom prst="rect">
            <a:avLst/>
          </a:prstGeom>
          <a:blipFill>
            <a:blip r:embed="rId1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6927434" y="3941152"/>
            <a:ext cx="122109" cy="122115"/>
          </a:xfrm>
          <a:prstGeom prst="rect">
            <a:avLst/>
          </a:prstGeom>
          <a:blipFill>
            <a:blip r:embed="rId1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3285655" y="5171884"/>
            <a:ext cx="391795" cy="0"/>
          </a:xfrm>
          <a:custGeom>
            <a:avLst/>
            <a:gdLst/>
            <a:ahLst/>
            <a:cxnLst/>
            <a:rect l="l" t="t" r="r" b="b"/>
            <a:pathLst>
              <a:path w="391795" h="0">
                <a:moveTo>
                  <a:pt x="0" y="0"/>
                </a:moveTo>
                <a:lnTo>
                  <a:pt x="39154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 txBox="1"/>
          <p:nvPr/>
        </p:nvSpPr>
        <p:spPr>
          <a:xfrm>
            <a:off x="335534" y="1871980"/>
            <a:ext cx="5883910" cy="419989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algn="ctr" marL="121920">
              <a:lnSpc>
                <a:spcPct val="100000"/>
              </a:lnSpc>
              <a:spcBef>
                <a:spcPts val="380"/>
              </a:spcBef>
            </a:pPr>
            <a:r>
              <a:rPr dirty="0" sz="1000">
                <a:latin typeface="Myriad Pro"/>
                <a:cs typeface="Myriad Pro"/>
              </a:rPr>
              <a:t>Talk With Technologist About System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Operation........................................................................................................................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 marL="112395">
              <a:lnSpc>
                <a:spcPct val="100000"/>
              </a:lnSpc>
              <a:spcBef>
                <a:spcPts val="285"/>
              </a:spcBef>
            </a:pPr>
            <a:r>
              <a:rPr dirty="0" sz="1000">
                <a:latin typeface="Myriad Pro"/>
                <a:cs typeface="Myriad Pro"/>
              </a:rPr>
              <a:t>Look at Image Quality of Previous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Exams.......................................................................................................................................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 marL="120014">
              <a:lnSpc>
                <a:spcPct val="100000"/>
              </a:lnSpc>
              <a:spcBef>
                <a:spcPts val="155"/>
              </a:spcBef>
            </a:pPr>
            <a:r>
              <a:rPr dirty="0" sz="1000">
                <a:latin typeface="Myriad Pro"/>
                <a:cs typeface="Myriad Pro"/>
              </a:rPr>
              <a:t>Check and Set System Date and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Time..............................................................................................................................................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27305">
              <a:lnSpc>
                <a:spcPct val="100000"/>
              </a:lnSpc>
              <a:spcBef>
                <a:spcPts val="985"/>
              </a:spcBef>
            </a:pPr>
            <a:r>
              <a:rPr dirty="0" sz="1400" b="1">
                <a:latin typeface="Myriad Pro"/>
                <a:cs typeface="Myriad Pro"/>
              </a:rPr>
              <a:t>SAFETY AND</a:t>
            </a:r>
            <a:r>
              <a:rPr dirty="0" sz="1400" spc="-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REGULATORY</a:t>
            </a:r>
            <a:endParaRPr sz="1400">
              <a:latin typeface="Myriad Pro"/>
              <a:cs typeface="Myriad Pro"/>
            </a:endParaRPr>
          </a:p>
          <a:p>
            <a:pPr marL="162560">
              <a:lnSpc>
                <a:spcPct val="100000"/>
              </a:lnSpc>
              <a:spcBef>
                <a:spcPts val="80"/>
              </a:spcBef>
            </a:pPr>
            <a:r>
              <a:rPr dirty="0" sz="1000">
                <a:latin typeface="Myriad Pro"/>
                <a:cs typeface="Myriad Pro"/>
              </a:rPr>
              <a:t>SYSTEM - Check Gating Cable/ Respiratory Bellows / PG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Probe.............................................................................................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 marL="116839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latin typeface="Myriad Pro"/>
                <a:cs typeface="Myriad Pro"/>
              </a:rPr>
              <a:t>SYSTEM - Check Pneumatic Patient Alert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System........................................................................................................................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58115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latin typeface="Myriad Pro"/>
                <a:cs typeface="Myriad Pro"/>
              </a:rPr>
              <a:t>SYSTEM - Check Emergency Release of Cradle and Patient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Transport.................................................................................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 marL="116205">
              <a:lnSpc>
                <a:spcPct val="100000"/>
              </a:lnSpc>
              <a:spcBef>
                <a:spcPts val="240"/>
              </a:spcBef>
            </a:pPr>
            <a:r>
              <a:rPr dirty="0" sz="1000">
                <a:latin typeface="Myriad Pro"/>
                <a:cs typeface="Myriad Pro"/>
              </a:rPr>
              <a:t>SYSTEM - Check Patient Transport Casters and Arm board Set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Screws...............................................................................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66370">
              <a:lnSpc>
                <a:spcPct val="100000"/>
              </a:lnSpc>
              <a:spcBef>
                <a:spcPts val="235"/>
              </a:spcBef>
            </a:pPr>
            <a:r>
              <a:rPr dirty="0" sz="1000">
                <a:latin typeface="Myriad Pro"/>
                <a:cs typeface="Myriad Pro"/>
              </a:rPr>
              <a:t>MAGNET - Check Magnet Bore for Metal Objects and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Remove..............................................................................................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 marL="120650">
              <a:lnSpc>
                <a:spcPct val="100000"/>
              </a:lnSpc>
              <a:spcBef>
                <a:spcPts val="315"/>
              </a:spcBef>
            </a:pPr>
            <a:r>
              <a:rPr dirty="0" sz="1000">
                <a:latin typeface="Myriad Pro"/>
                <a:cs typeface="Myriad Pro"/>
              </a:rPr>
              <a:t>MAGNET - Test Magnet Emergency Rundown (Test Battery, Htr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LED).................................................................................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58115" marR="5080" indent="5715">
              <a:lnSpc>
                <a:spcPct val="115199"/>
              </a:lnSpc>
              <a:spcBef>
                <a:spcPts val="75"/>
              </a:spcBef>
            </a:pPr>
            <a:r>
              <a:rPr dirty="0" sz="1000">
                <a:latin typeface="Myriad Pro"/>
                <a:cs typeface="Myriad Pro"/>
              </a:rPr>
              <a:t>MAGNET - Check for Condensation or Leaks on Top and Around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Magnet.........................................................................  MAGNET - Record Cryostat Pressure and Flow</a:t>
            </a:r>
            <a:r>
              <a:rPr dirty="0" sz="1000" spc="-9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Rates..................................................................................................................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645160">
              <a:lnSpc>
                <a:spcPct val="100000"/>
              </a:lnSpc>
              <a:spcBef>
                <a:spcPts val="790"/>
              </a:spcBef>
              <a:tabLst>
                <a:tab pos="1546225" algn="l"/>
                <a:tab pos="2415540" algn="l"/>
                <a:tab pos="3422650" algn="l"/>
                <a:tab pos="4431030" algn="l"/>
              </a:tabLst>
            </a:pPr>
            <a:r>
              <a:rPr dirty="0" baseline="4629" sz="900">
                <a:latin typeface="Myriad Pro"/>
                <a:cs typeface="Myriad Pro"/>
              </a:rPr>
              <a:t>He Level 1	Pressure	</a:t>
            </a:r>
            <a:r>
              <a:rPr dirty="0" sz="600">
                <a:latin typeface="Myriad Pro"/>
                <a:cs typeface="Myriad Pro"/>
              </a:rPr>
              <a:t>Flow One	Flow Two	</a:t>
            </a:r>
            <a:r>
              <a:rPr dirty="0" sz="600" b="1">
                <a:latin typeface="Myriad Pro"/>
                <a:cs typeface="Myriad Pro"/>
              </a:rPr>
              <a:t>(HFO ONLY) </a:t>
            </a:r>
            <a:r>
              <a:rPr dirty="0" sz="600">
                <a:latin typeface="Myriad Pro"/>
                <a:cs typeface="Myriad Pro"/>
              </a:rPr>
              <a:t>He Level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2</a:t>
            </a:r>
            <a:endParaRPr sz="600">
              <a:latin typeface="Myriad Pro"/>
              <a:cs typeface="Myriad Pro"/>
            </a:endParaRPr>
          </a:p>
          <a:p>
            <a:pPr algn="ctr" marL="117475">
              <a:lnSpc>
                <a:spcPct val="100000"/>
              </a:lnSpc>
              <a:spcBef>
                <a:spcPts val="175"/>
              </a:spcBef>
            </a:pPr>
            <a:r>
              <a:rPr dirty="0" sz="1000">
                <a:latin typeface="Myriad Pro"/>
                <a:cs typeface="Myriad Pro"/>
              </a:rPr>
              <a:t>MAGNET - Compressor Run-Time / Pressure (Dynamic -</a:t>
            </a:r>
            <a:r>
              <a:rPr dirty="0" sz="1000" spc="-8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Static).............................................................................................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ctr">
              <a:lnSpc>
                <a:spcPct val="100000"/>
              </a:lnSpc>
              <a:spcBef>
                <a:spcPts val="660"/>
              </a:spcBef>
              <a:tabLst>
                <a:tab pos="1260475" algn="l"/>
                <a:tab pos="1652905" algn="l"/>
                <a:tab pos="2091055" algn="l"/>
                <a:tab pos="2607310" algn="l"/>
                <a:tab pos="3829050" algn="l"/>
                <a:tab pos="4196715" algn="l"/>
                <a:tab pos="4625975" algn="l"/>
              </a:tabLst>
            </a:pPr>
            <a:r>
              <a:rPr dirty="0" sz="600">
                <a:latin typeface="Myriad Pro"/>
                <a:cs typeface="Myriad Pro"/>
              </a:rPr>
              <a:t>Compressor One -Hrs	DY	</a:t>
            </a:r>
            <a:r>
              <a:rPr dirty="0" baseline="4629" sz="900">
                <a:latin typeface="Myriad Pro"/>
                <a:cs typeface="Myriad Pro"/>
              </a:rPr>
              <a:t>- ST	=	</a:t>
            </a:r>
            <a:r>
              <a:rPr dirty="0" sz="600">
                <a:latin typeface="Myriad Pro"/>
                <a:cs typeface="Myriad Pro"/>
              </a:rPr>
              <a:t>Compressor Two - Hrs	DY	- ST	=</a:t>
            </a:r>
            <a:endParaRPr sz="600">
              <a:latin typeface="Myriad Pro"/>
              <a:cs typeface="Myriad Pro"/>
            </a:endParaRPr>
          </a:p>
          <a:p>
            <a:pPr marL="176530">
              <a:lnSpc>
                <a:spcPct val="100000"/>
              </a:lnSpc>
              <a:spcBef>
                <a:spcPts val="234"/>
              </a:spcBef>
            </a:pPr>
            <a:r>
              <a:rPr dirty="0" sz="1000">
                <a:latin typeface="Myriad Pro"/>
                <a:cs typeface="Myriad Pro"/>
              </a:rPr>
              <a:t>MAGNET - Coldhead and Magnet</a:t>
            </a:r>
            <a:r>
              <a:rPr dirty="0" sz="1000" spc="-8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Temps.......................................................................................................................................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610235">
              <a:lnSpc>
                <a:spcPct val="100000"/>
              </a:lnSpc>
              <a:spcBef>
                <a:spcPts val="844"/>
              </a:spcBef>
              <a:tabLst>
                <a:tab pos="1437640" algn="l"/>
                <a:tab pos="2506345" algn="l"/>
                <a:tab pos="3447415" algn="l"/>
                <a:tab pos="4385310" algn="l"/>
                <a:tab pos="5246370" algn="l"/>
              </a:tabLst>
            </a:pPr>
            <a:r>
              <a:rPr dirty="0" baseline="4629" sz="900">
                <a:latin typeface="Myriad Pro"/>
                <a:cs typeface="Myriad Pro"/>
              </a:rPr>
              <a:t>Inner/RuO	Outer/Coldhead	</a:t>
            </a:r>
            <a:r>
              <a:rPr dirty="0" sz="600">
                <a:latin typeface="Myriad Pro"/>
                <a:cs typeface="Myriad Pro"/>
              </a:rPr>
              <a:t>Magnet RuO	Magnet Si410	Water Temp	Water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flow</a:t>
            </a:r>
            <a:endParaRPr sz="6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1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1400" b="1">
                <a:latin typeface="Myriad Pro"/>
                <a:cs typeface="Myriad Pro"/>
              </a:rPr>
              <a:t>Clean, Test and</a:t>
            </a:r>
            <a:r>
              <a:rPr dirty="0" sz="1400" spc="-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Check</a:t>
            </a:r>
            <a:endParaRPr sz="1400">
              <a:latin typeface="Myriad Pro"/>
              <a:cs typeface="Myriad Pro"/>
            </a:endParaRPr>
          </a:p>
          <a:p>
            <a:pPr algn="ctr" marL="121285">
              <a:lnSpc>
                <a:spcPct val="100000"/>
              </a:lnSpc>
              <a:spcBef>
                <a:spcPts val="135"/>
              </a:spcBef>
            </a:pPr>
            <a:r>
              <a:rPr dirty="0" sz="1000">
                <a:latin typeface="Myriad Pro"/>
                <a:cs typeface="Myriad Pro"/>
              </a:rPr>
              <a:t>Check Correlated Noise (RF Integrity / RF Door Seal, top hatch, clean,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Check)................................................................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73990">
              <a:lnSpc>
                <a:spcPct val="100000"/>
              </a:lnSpc>
              <a:spcBef>
                <a:spcPts val="260"/>
              </a:spcBef>
            </a:pPr>
            <a:r>
              <a:rPr dirty="0" sz="1000">
                <a:latin typeface="Myriad Pro"/>
                <a:cs typeface="Myriad Pro"/>
              </a:rPr>
              <a:t>Clean Light-Weight Cradle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Wheels...................................................................................................................................................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170815">
              <a:lnSpc>
                <a:spcPct val="100000"/>
              </a:lnSpc>
              <a:spcBef>
                <a:spcPts val="220"/>
              </a:spcBef>
            </a:pPr>
            <a:r>
              <a:rPr dirty="0" sz="1000">
                <a:latin typeface="Myriad Pro"/>
                <a:cs typeface="Myriad Pro"/>
              </a:rPr>
              <a:t>Check Table Functionality (Clutch, Alignment,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Undock)..........................................................................................................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73" name="object 173"/>
          <p:cNvSpPr txBox="1"/>
          <p:nvPr/>
        </p:nvSpPr>
        <p:spPr>
          <a:xfrm>
            <a:off x="4871478" y="170471"/>
            <a:ext cx="2667635" cy="8401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yriad Pro"/>
                <a:cs typeface="Myriad Pro"/>
              </a:rPr>
              <a:t>QuarterlyPM</a:t>
            </a:r>
            <a:r>
              <a:rPr dirty="0" sz="2000" spc="-20" b="1">
                <a:latin typeface="Myriad Pro"/>
                <a:cs typeface="Myriad Pro"/>
              </a:rPr>
              <a:t> </a:t>
            </a:r>
            <a:r>
              <a:rPr dirty="0" sz="2000" b="1">
                <a:latin typeface="Myriad Pro"/>
                <a:cs typeface="Myriad Pro"/>
              </a:rPr>
              <a:t>Checklist</a:t>
            </a:r>
            <a:endParaRPr sz="2000">
              <a:latin typeface="Myriad Pro"/>
              <a:cs typeface="Myriad Pro"/>
            </a:endParaRPr>
          </a:p>
          <a:p>
            <a:pPr marL="501650" marR="570865" indent="-71120">
              <a:lnSpc>
                <a:spcPts val="2030"/>
              </a:lnSpc>
              <a:spcBef>
                <a:spcPts val="160"/>
              </a:spcBef>
            </a:pPr>
            <a:r>
              <a:rPr dirty="0" sz="1000">
                <a:latin typeface="Myriad Pro"/>
                <a:cs typeface="Myriad Pro"/>
              </a:rPr>
              <a:t>Planned Maintenance</a:t>
            </a:r>
            <a:r>
              <a:rPr dirty="0" sz="1000" spc="-9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Checklist  Month: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74" name="object 174"/>
          <p:cNvSpPr/>
          <p:nvPr/>
        </p:nvSpPr>
        <p:spPr>
          <a:xfrm>
            <a:off x="3825379" y="1565262"/>
            <a:ext cx="770890" cy="229870"/>
          </a:xfrm>
          <a:custGeom>
            <a:avLst/>
            <a:gdLst/>
            <a:ahLst/>
            <a:cxnLst/>
            <a:rect l="l" t="t" r="r" b="b"/>
            <a:pathLst>
              <a:path w="770889" h="229869">
                <a:moveTo>
                  <a:pt x="0" y="229323"/>
                </a:moveTo>
                <a:lnTo>
                  <a:pt x="770686" y="229323"/>
                </a:lnTo>
                <a:lnTo>
                  <a:pt x="770686" y="0"/>
                </a:lnTo>
                <a:lnTo>
                  <a:pt x="0" y="0"/>
                </a:lnTo>
                <a:lnTo>
                  <a:pt x="0" y="229323"/>
                </a:lnTo>
                <a:close/>
              </a:path>
            </a:pathLst>
          </a:custGeom>
          <a:solidFill>
            <a:srgbClr val="D4D0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3838079" y="1577962"/>
            <a:ext cx="745490" cy="204470"/>
          </a:xfrm>
          <a:custGeom>
            <a:avLst/>
            <a:gdLst/>
            <a:ahLst/>
            <a:cxnLst/>
            <a:rect l="l" t="t" r="r" b="b"/>
            <a:pathLst>
              <a:path w="745489" h="204469">
                <a:moveTo>
                  <a:pt x="745286" y="0"/>
                </a:moveTo>
                <a:lnTo>
                  <a:pt x="0" y="0"/>
                </a:lnTo>
                <a:lnTo>
                  <a:pt x="0" y="203923"/>
                </a:lnTo>
                <a:lnTo>
                  <a:pt x="12700" y="191223"/>
                </a:lnTo>
                <a:lnTo>
                  <a:pt x="12700" y="12700"/>
                </a:lnTo>
                <a:lnTo>
                  <a:pt x="732586" y="12700"/>
                </a:lnTo>
                <a:lnTo>
                  <a:pt x="7452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3838079" y="1577962"/>
            <a:ext cx="745490" cy="204470"/>
          </a:xfrm>
          <a:custGeom>
            <a:avLst/>
            <a:gdLst/>
            <a:ahLst/>
            <a:cxnLst/>
            <a:rect l="l" t="t" r="r" b="b"/>
            <a:pathLst>
              <a:path w="745489" h="204469">
                <a:moveTo>
                  <a:pt x="745286" y="0"/>
                </a:moveTo>
                <a:lnTo>
                  <a:pt x="732586" y="12700"/>
                </a:lnTo>
                <a:lnTo>
                  <a:pt x="732586" y="191223"/>
                </a:lnTo>
                <a:lnTo>
                  <a:pt x="12700" y="191223"/>
                </a:lnTo>
                <a:lnTo>
                  <a:pt x="0" y="203923"/>
                </a:lnTo>
                <a:lnTo>
                  <a:pt x="745286" y="203923"/>
                </a:lnTo>
                <a:lnTo>
                  <a:pt x="745286" y="0"/>
                </a:lnTo>
                <a:close/>
              </a:path>
            </a:pathLst>
          </a:custGeom>
          <a:solidFill>
            <a:srgbClr val="9490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 txBox="1"/>
          <p:nvPr/>
        </p:nvSpPr>
        <p:spPr>
          <a:xfrm>
            <a:off x="3831729" y="1571612"/>
            <a:ext cx="758190" cy="217170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12700" rIns="0" bIns="0" rtlCol="0" vert="horz">
            <a:spAutoFit/>
          </a:bodyPr>
          <a:lstStyle/>
          <a:p>
            <a:pPr marL="10033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Print</a:t>
            </a:r>
            <a:r>
              <a:rPr dirty="0" sz="1000" spc="-2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Form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78" name="object 178"/>
          <p:cNvSpPr/>
          <p:nvPr/>
        </p:nvSpPr>
        <p:spPr>
          <a:xfrm>
            <a:off x="4664418" y="1565263"/>
            <a:ext cx="716915" cy="220345"/>
          </a:xfrm>
          <a:custGeom>
            <a:avLst/>
            <a:gdLst/>
            <a:ahLst/>
            <a:cxnLst/>
            <a:rect l="l" t="t" r="r" b="b"/>
            <a:pathLst>
              <a:path w="716914" h="220344">
                <a:moveTo>
                  <a:pt x="0" y="219962"/>
                </a:moveTo>
                <a:lnTo>
                  <a:pt x="716394" y="219962"/>
                </a:lnTo>
                <a:lnTo>
                  <a:pt x="716394" y="0"/>
                </a:lnTo>
                <a:lnTo>
                  <a:pt x="0" y="0"/>
                </a:lnTo>
                <a:lnTo>
                  <a:pt x="0" y="219962"/>
                </a:lnTo>
                <a:close/>
              </a:path>
            </a:pathLst>
          </a:custGeom>
          <a:solidFill>
            <a:srgbClr val="D4D0C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4677118" y="1577963"/>
            <a:ext cx="691515" cy="194945"/>
          </a:xfrm>
          <a:custGeom>
            <a:avLst/>
            <a:gdLst/>
            <a:ahLst/>
            <a:cxnLst/>
            <a:rect l="l" t="t" r="r" b="b"/>
            <a:pathLst>
              <a:path w="691514" h="194944">
                <a:moveTo>
                  <a:pt x="690994" y="0"/>
                </a:moveTo>
                <a:lnTo>
                  <a:pt x="0" y="0"/>
                </a:lnTo>
                <a:lnTo>
                  <a:pt x="0" y="194562"/>
                </a:lnTo>
                <a:lnTo>
                  <a:pt x="12700" y="181862"/>
                </a:lnTo>
                <a:lnTo>
                  <a:pt x="12700" y="12699"/>
                </a:lnTo>
                <a:lnTo>
                  <a:pt x="678294" y="12699"/>
                </a:lnTo>
                <a:lnTo>
                  <a:pt x="6909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4677118" y="1577963"/>
            <a:ext cx="691515" cy="194945"/>
          </a:xfrm>
          <a:custGeom>
            <a:avLst/>
            <a:gdLst/>
            <a:ahLst/>
            <a:cxnLst/>
            <a:rect l="l" t="t" r="r" b="b"/>
            <a:pathLst>
              <a:path w="691514" h="194944">
                <a:moveTo>
                  <a:pt x="690994" y="0"/>
                </a:moveTo>
                <a:lnTo>
                  <a:pt x="678294" y="12699"/>
                </a:lnTo>
                <a:lnTo>
                  <a:pt x="678294" y="181862"/>
                </a:lnTo>
                <a:lnTo>
                  <a:pt x="12700" y="181862"/>
                </a:lnTo>
                <a:lnTo>
                  <a:pt x="0" y="194562"/>
                </a:lnTo>
                <a:lnTo>
                  <a:pt x="690994" y="194562"/>
                </a:lnTo>
                <a:lnTo>
                  <a:pt x="690994" y="0"/>
                </a:lnTo>
                <a:close/>
              </a:path>
            </a:pathLst>
          </a:custGeom>
          <a:solidFill>
            <a:srgbClr val="949088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 txBox="1"/>
          <p:nvPr/>
        </p:nvSpPr>
        <p:spPr>
          <a:xfrm>
            <a:off x="4670768" y="1571613"/>
            <a:ext cx="704215" cy="207645"/>
          </a:xfrm>
          <a:prstGeom prst="rect">
            <a:avLst/>
          </a:prstGeom>
          <a:ln w="12700">
            <a:solidFill>
              <a:srgbClr val="000000"/>
            </a:solidFill>
          </a:ln>
        </p:spPr>
        <p:txBody>
          <a:bodyPr wrap="square" lIns="0" tIns="8255" rIns="0" bIns="0" rtlCol="0" vert="horz">
            <a:spAutoFit/>
          </a:bodyPr>
          <a:lstStyle/>
          <a:p>
            <a:pPr marL="54610">
              <a:lnSpc>
                <a:spcPct val="100000"/>
              </a:lnSpc>
              <a:spcBef>
                <a:spcPts val="65"/>
              </a:spcBef>
            </a:pPr>
            <a:r>
              <a:rPr dirty="0" sz="1000">
                <a:latin typeface="Myriad Pro"/>
                <a:cs typeface="Myriad Pro"/>
              </a:rPr>
              <a:t>Reset</a:t>
            </a:r>
            <a:r>
              <a:rPr dirty="0" sz="1000" spc="-4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Form</a:t>
            </a:r>
            <a:endParaRPr sz="1000">
              <a:latin typeface="Myriad Pro"/>
              <a:cs typeface="Myriad Pr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149380" y="1340624"/>
            <a:ext cx="447675" cy="373380"/>
          </a:xfrm>
          <a:prstGeom prst="rect">
            <a:avLst/>
          </a:prstGeom>
        </p:spPr>
        <p:txBody>
          <a:bodyPr wrap="square" lIns="0" tIns="3810" rIns="0" bIns="0" rtlCol="0" vert="vert270">
            <a:spAutoFit/>
          </a:bodyPr>
          <a:lstStyle/>
          <a:p>
            <a:pPr marL="15240">
              <a:lnSpc>
                <a:spcPct val="100000"/>
              </a:lnSpc>
              <a:spcBef>
                <a:spcPts val="30"/>
              </a:spcBef>
            </a:pPr>
            <a:r>
              <a:rPr dirty="0" sz="1400">
                <a:latin typeface="Myriad Pro"/>
                <a:cs typeface="Myriad Pro"/>
              </a:rPr>
              <a:t>OK</a:t>
            </a:r>
            <a:endParaRPr sz="1400">
              <a:latin typeface="Myriad Pro"/>
              <a:cs typeface="Myriad Pro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dirty="0" sz="800">
                <a:latin typeface="Myriad Pro"/>
                <a:cs typeface="Myriad Pro"/>
              </a:rPr>
              <a:t>Cleaned</a:t>
            </a:r>
            <a:endParaRPr sz="800">
              <a:latin typeface="Myriad Pro"/>
              <a:cs typeface="Myriad Pro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75588" y="1299171"/>
            <a:ext cx="407034" cy="412750"/>
          </a:xfrm>
          <a:prstGeom prst="rect">
            <a:avLst/>
          </a:prstGeom>
        </p:spPr>
        <p:txBody>
          <a:bodyPr wrap="square" lIns="0" tIns="7620" rIns="0" bIns="0" rtlCol="0" vert="vert270">
            <a:spAutoFit/>
          </a:bodyPr>
          <a:lstStyle/>
          <a:p>
            <a:pPr marL="17145">
              <a:lnSpc>
                <a:spcPct val="100000"/>
              </a:lnSpc>
              <a:spcBef>
                <a:spcPts val="60"/>
              </a:spcBef>
            </a:pPr>
            <a:r>
              <a:rPr dirty="0" sz="800">
                <a:latin typeface="Myriad Pro"/>
                <a:cs typeface="Myriad Pro"/>
              </a:rPr>
              <a:t>Adjusted</a:t>
            </a:r>
            <a:endParaRPr sz="800">
              <a:latin typeface="Myriad Pro"/>
              <a:cs typeface="Myriad Pro"/>
            </a:endParaRPr>
          </a:p>
          <a:p>
            <a:pPr marL="12700" marR="56515" indent="67310">
              <a:lnSpc>
                <a:spcPct val="100000"/>
              </a:lnSpc>
              <a:spcBef>
                <a:spcPts val="610"/>
              </a:spcBef>
            </a:pPr>
            <a:r>
              <a:rPr dirty="0" sz="600">
                <a:latin typeface="Myriad Pro"/>
                <a:cs typeface="Myriad Pro"/>
              </a:rPr>
              <a:t>Needs  </a:t>
            </a:r>
            <a:r>
              <a:rPr dirty="0" sz="600">
                <a:latin typeface="Myriad Pro"/>
                <a:cs typeface="Myriad Pro"/>
              </a:rPr>
              <a:t>Correction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28600" y="1257300"/>
            <a:ext cx="7315200" cy="0"/>
          </a:xfrm>
          <a:custGeom>
            <a:avLst/>
            <a:gdLst/>
            <a:ahLst/>
            <a:cxnLst/>
            <a:rect l="l" t="t" r="r" b="b"/>
            <a:pathLst>
              <a:path w="7315200" h="0">
                <a:moveTo>
                  <a:pt x="7315200" y="0"/>
                </a:moveTo>
                <a:lnTo>
                  <a:pt x="0" y="0"/>
                </a:lnTo>
              </a:path>
            </a:pathLst>
          </a:custGeom>
          <a:ln w="3657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129015" y="1164145"/>
            <a:ext cx="2347595" cy="0"/>
          </a:xfrm>
          <a:custGeom>
            <a:avLst/>
            <a:gdLst/>
            <a:ahLst/>
            <a:cxnLst/>
            <a:rect l="l" t="t" r="r" b="b"/>
            <a:pathLst>
              <a:path w="2347595" h="0">
                <a:moveTo>
                  <a:pt x="0" y="0"/>
                </a:moveTo>
                <a:lnTo>
                  <a:pt x="234712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22603" y="923849"/>
            <a:ext cx="51752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FE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Name: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131783" y="843343"/>
            <a:ext cx="2347595" cy="0"/>
          </a:xfrm>
          <a:custGeom>
            <a:avLst/>
            <a:gdLst/>
            <a:ahLst/>
            <a:cxnLst/>
            <a:rect l="l" t="t" r="r" b="b"/>
            <a:pathLst>
              <a:path w="2347595" h="0">
                <a:moveTo>
                  <a:pt x="0" y="0"/>
                </a:moveTo>
                <a:lnTo>
                  <a:pt x="2347125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1388541" y="603046"/>
            <a:ext cx="59118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Myriad Pro"/>
                <a:cs typeface="Myriad Pro"/>
              </a:rPr>
              <a:t>Site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Name: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85609" y="8826309"/>
            <a:ext cx="6918959" cy="786130"/>
          </a:xfrm>
          <a:custGeom>
            <a:avLst/>
            <a:gdLst/>
            <a:ahLst/>
            <a:cxnLst/>
            <a:rect l="l" t="t" r="r" b="b"/>
            <a:pathLst>
              <a:path w="6918959" h="786129">
                <a:moveTo>
                  <a:pt x="6918591" y="0"/>
                </a:moveTo>
                <a:lnTo>
                  <a:pt x="0" y="0"/>
                </a:lnTo>
                <a:lnTo>
                  <a:pt x="0" y="786117"/>
                </a:lnTo>
                <a:lnTo>
                  <a:pt x="6350" y="779767"/>
                </a:lnTo>
                <a:lnTo>
                  <a:pt x="6350" y="6349"/>
                </a:lnTo>
                <a:lnTo>
                  <a:pt x="6912241" y="6349"/>
                </a:lnTo>
                <a:lnTo>
                  <a:pt x="69185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85609" y="8826309"/>
            <a:ext cx="6918959" cy="786130"/>
          </a:xfrm>
          <a:custGeom>
            <a:avLst/>
            <a:gdLst/>
            <a:ahLst/>
            <a:cxnLst/>
            <a:rect l="l" t="t" r="r" b="b"/>
            <a:pathLst>
              <a:path w="6918959" h="786129">
                <a:moveTo>
                  <a:pt x="6918591" y="0"/>
                </a:moveTo>
                <a:lnTo>
                  <a:pt x="6912241" y="6349"/>
                </a:lnTo>
                <a:lnTo>
                  <a:pt x="6912241" y="779767"/>
                </a:lnTo>
                <a:lnTo>
                  <a:pt x="6350" y="779767"/>
                </a:lnTo>
                <a:lnTo>
                  <a:pt x="0" y="786117"/>
                </a:lnTo>
                <a:lnTo>
                  <a:pt x="6918591" y="786117"/>
                </a:lnTo>
                <a:lnTo>
                  <a:pt x="6918591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91959" y="8832659"/>
            <a:ext cx="6906259" cy="773430"/>
          </a:xfrm>
          <a:custGeom>
            <a:avLst/>
            <a:gdLst/>
            <a:ahLst/>
            <a:cxnLst/>
            <a:rect l="l" t="t" r="r" b="b"/>
            <a:pathLst>
              <a:path w="6906259" h="773429">
                <a:moveTo>
                  <a:pt x="6905891" y="0"/>
                </a:moveTo>
                <a:lnTo>
                  <a:pt x="0" y="0"/>
                </a:lnTo>
                <a:lnTo>
                  <a:pt x="0" y="773417"/>
                </a:lnTo>
                <a:lnTo>
                  <a:pt x="6350" y="767067"/>
                </a:lnTo>
                <a:lnTo>
                  <a:pt x="6350" y="6349"/>
                </a:lnTo>
                <a:lnTo>
                  <a:pt x="6899541" y="6349"/>
                </a:lnTo>
                <a:lnTo>
                  <a:pt x="6905891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91959" y="8832659"/>
            <a:ext cx="6906259" cy="773430"/>
          </a:xfrm>
          <a:custGeom>
            <a:avLst/>
            <a:gdLst/>
            <a:ahLst/>
            <a:cxnLst/>
            <a:rect l="l" t="t" r="r" b="b"/>
            <a:pathLst>
              <a:path w="6906259" h="773429">
                <a:moveTo>
                  <a:pt x="6905891" y="0"/>
                </a:moveTo>
                <a:lnTo>
                  <a:pt x="6899541" y="6349"/>
                </a:lnTo>
                <a:lnTo>
                  <a:pt x="6899541" y="767067"/>
                </a:lnTo>
                <a:lnTo>
                  <a:pt x="6350" y="767067"/>
                </a:lnTo>
                <a:lnTo>
                  <a:pt x="0" y="773417"/>
                </a:lnTo>
                <a:lnTo>
                  <a:pt x="6905891" y="773417"/>
                </a:lnTo>
                <a:lnTo>
                  <a:pt x="6905891" y="0"/>
                </a:lnTo>
                <a:close/>
              </a:path>
            </a:pathLst>
          </a:custGeom>
          <a:solidFill>
            <a:srgbClr val="D3D0C7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220489" y="8626207"/>
            <a:ext cx="122290" cy="1222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1394282" y="279717"/>
            <a:ext cx="24288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483995" algn="l"/>
                <a:tab pos="2415540" algn="l"/>
              </a:tabLst>
            </a:pPr>
            <a:r>
              <a:rPr dirty="0" sz="1000">
                <a:latin typeface="Myriad Pro"/>
                <a:cs typeface="Myriad Pro"/>
              </a:rPr>
              <a:t>Service Request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Number	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491989" y="8621166"/>
            <a:ext cx="122290" cy="12229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720577" y="8621166"/>
            <a:ext cx="122290" cy="12229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949177" y="8621166"/>
            <a:ext cx="122290" cy="12229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64685" y="1831872"/>
            <a:ext cx="122290" cy="12211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445812" y="1831860"/>
            <a:ext cx="122290" cy="122115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678857" y="1831872"/>
            <a:ext cx="122290" cy="12211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907457" y="1831872"/>
            <a:ext cx="122290" cy="12211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75162" y="2167813"/>
            <a:ext cx="122109" cy="1222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456290" y="2167826"/>
            <a:ext cx="122109" cy="12229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689335" y="2167813"/>
            <a:ext cx="122109" cy="12229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917935" y="2167813"/>
            <a:ext cx="122109" cy="12229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76128" y="2837915"/>
            <a:ext cx="122109" cy="12229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457255" y="2837941"/>
            <a:ext cx="122290" cy="12229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90325" y="2837915"/>
            <a:ext cx="122109" cy="1222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918925" y="2837915"/>
            <a:ext cx="122109" cy="12229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182160" y="3189985"/>
            <a:ext cx="122290" cy="12211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449012" y="3189921"/>
            <a:ext cx="122290" cy="122115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678857" y="3189985"/>
            <a:ext cx="122290" cy="12211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07457" y="3189985"/>
            <a:ext cx="122290" cy="12211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185272" y="3510825"/>
            <a:ext cx="122109" cy="12229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87120" y="5225669"/>
            <a:ext cx="20510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Spine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32866" y="5466829"/>
            <a:ext cx="3136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Shoulder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1362" y="5709678"/>
            <a:ext cx="10115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dirty="0" sz="600">
                <a:latin typeface="Myriad Pro"/>
                <a:cs typeface="Myriad Pro"/>
              </a:rPr>
              <a:t>Average B</a:t>
            </a:r>
            <a:r>
              <a:rPr dirty="0" sz="600" spc="-10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field  </a:t>
            </a:r>
            <a:r>
              <a:rPr dirty="0" sz="600" spc="3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698739" y="5761850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Z5(5,0)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72842" y="5761850"/>
            <a:ext cx="3492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X2-Y2(2,2)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697266" y="5194490"/>
            <a:ext cx="2041525" cy="302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  <a:tab pos="746760" algn="l"/>
                <a:tab pos="1304925" algn="l"/>
                <a:tab pos="2028189" algn="l"/>
              </a:tabLst>
            </a:pPr>
            <a:r>
              <a:rPr dirty="0" sz="600">
                <a:latin typeface="Myriad Pro"/>
                <a:cs typeface="Myriad Pro"/>
              </a:rPr>
              <a:t>Z2(2,0)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Y(1,-1)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Z2Y(3,-1)</a:t>
            </a:r>
            <a:r>
              <a:rPr dirty="0" baseline="4629" sz="900" spc="-15">
                <a:latin typeface="Myriad Pro"/>
                <a:cs typeface="Myriad Pro"/>
              </a:rPr>
              <a:t> 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4629" sz="9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  <a:tabLst>
                <a:tab pos="737870" algn="l"/>
                <a:tab pos="1428115" algn="l"/>
              </a:tabLst>
            </a:pPr>
            <a:r>
              <a:rPr dirty="0" sz="600">
                <a:latin typeface="Myriad Pro"/>
                <a:cs typeface="Myriad Pro"/>
              </a:rPr>
              <a:t>Z3(3,0)	</a:t>
            </a:r>
            <a:r>
              <a:rPr dirty="0" baseline="4629" sz="900">
                <a:latin typeface="Myriad Pro"/>
                <a:cs typeface="Myriad Pro"/>
              </a:rPr>
              <a:t>ZX(2,1)	Zxy2(3,2)</a:t>
            </a:r>
            <a:endParaRPr baseline="4629" sz="900">
              <a:latin typeface="Myriad Pro"/>
              <a:cs typeface="Myriad Pro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3146336" y="5761850"/>
            <a:ext cx="2457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X3(3,3)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7779" y="4626170"/>
            <a:ext cx="3467735" cy="497205"/>
          </a:xfrm>
          <a:prstGeom prst="rect">
            <a:avLst/>
          </a:prstGeom>
        </p:spPr>
        <p:txBody>
          <a:bodyPr wrap="square" lIns="0" tIns="1289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15"/>
              </a:spcBef>
            </a:pPr>
            <a:r>
              <a:rPr dirty="0" sz="1400" b="1">
                <a:latin typeface="Myriad Pro"/>
                <a:cs typeface="Myriad Pro"/>
              </a:rPr>
              <a:t>Zero Gradient Shim - (Test mode) 45cm</a:t>
            </a:r>
            <a:r>
              <a:rPr dirty="0" sz="1400" spc="-100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DSV</a:t>
            </a:r>
            <a:endParaRPr sz="1400">
              <a:latin typeface="Myriad Pro"/>
              <a:cs typeface="Myriad Pro"/>
            </a:endParaRPr>
          </a:p>
          <a:p>
            <a:pPr marL="126364">
              <a:lnSpc>
                <a:spcPct val="100000"/>
              </a:lnSpc>
              <a:spcBef>
                <a:spcPts val="395"/>
              </a:spcBef>
              <a:tabLst>
                <a:tab pos="1293495" algn="l"/>
                <a:tab pos="2038350" algn="l"/>
                <a:tab pos="2721610" algn="l"/>
              </a:tabLst>
            </a:pPr>
            <a:r>
              <a:rPr dirty="0" baseline="4629" sz="900">
                <a:latin typeface="Myriad Pro"/>
                <a:cs typeface="Myriad Pro"/>
              </a:rPr>
              <a:t>Inhomogeneity	</a:t>
            </a:r>
            <a:r>
              <a:rPr dirty="0" sz="600">
                <a:latin typeface="Myriad Pro"/>
                <a:cs typeface="Myriad Pro"/>
              </a:rPr>
              <a:t>Z1(1,0)	</a:t>
            </a:r>
            <a:r>
              <a:rPr dirty="0" baseline="4629" sz="900">
                <a:latin typeface="Myriad Pro"/>
                <a:cs typeface="Myriad Pro"/>
              </a:rPr>
              <a:t>X(1,1)	Z2X(3,1)</a:t>
            </a:r>
            <a:endParaRPr baseline="4629" sz="900">
              <a:latin typeface="Myriad Pro"/>
              <a:cs typeface="Myriad Pro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339335" y="4493767"/>
            <a:ext cx="2504440" cy="2387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b="1">
                <a:latin typeface="Myriad Pro"/>
                <a:cs typeface="Myriad Pro"/>
              </a:rPr>
              <a:t>With Gradient Shim - 22cm</a:t>
            </a:r>
            <a:r>
              <a:rPr dirty="0" sz="1400" spc="-9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DSV</a:t>
            </a:r>
            <a:endParaRPr sz="1400">
              <a:latin typeface="Myriad Pro"/>
              <a:cs typeface="Myriad Pro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37645" y="4768100"/>
            <a:ext cx="215138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  <a:tab pos="589915" algn="l"/>
                <a:tab pos="1000125" algn="l"/>
                <a:tab pos="1155700" algn="l"/>
                <a:tab pos="1566545" algn="l"/>
                <a:tab pos="1708150" algn="l"/>
                <a:tab pos="2138045" algn="l"/>
              </a:tabLst>
            </a:pPr>
            <a:r>
              <a:rPr dirty="0" sz="600">
                <a:latin typeface="Myriad Pro"/>
                <a:cs typeface="Myriad Pro"/>
              </a:rPr>
              <a:t>X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Y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Z2   </a:t>
            </a:r>
            <a:r>
              <a:rPr dirty="0" sz="600" spc="2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370446" y="7606918"/>
            <a:ext cx="7169784" cy="2231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555"/>
              </a:lnSpc>
              <a:spcBef>
                <a:spcPts val="100"/>
              </a:spcBef>
            </a:pPr>
            <a:r>
              <a:rPr dirty="0" sz="1400" b="1">
                <a:latin typeface="Myriad Pro"/>
                <a:cs typeface="Myriad Pro"/>
              </a:rPr>
              <a:t>FINAL</a:t>
            </a:r>
            <a:endParaRPr sz="1400">
              <a:latin typeface="Myriad Pro"/>
              <a:cs typeface="Myriad Pro"/>
            </a:endParaRPr>
          </a:p>
          <a:p>
            <a:pPr algn="just" marL="163195">
              <a:lnSpc>
                <a:spcPts val="1075"/>
              </a:lnSpc>
            </a:pPr>
            <a:r>
              <a:rPr dirty="0" sz="1000">
                <a:latin typeface="Myriad Pro"/>
                <a:cs typeface="Myriad Pro"/>
              </a:rPr>
              <a:t>Check and Delete Error Message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Log..............................................................................................................................................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just" marL="163195">
              <a:lnSpc>
                <a:spcPct val="100000"/>
              </a:lnSpc>
              <a:spcBef>
                <a:spcPts val="254"/>
              </a:spcBef>
            </a:pPr>
            <a:r>
              <a:rPr dirty="0" sz="1000">
                <a:latin typeface="Myriad Pro"/>
                <a:cs typeface="Myriad Pro"/>
              </a:rPr>
              <a:t>Do Save INFO, Save GUI and Save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Protocol...................................................................................................................................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just" marL="135255">
              <a:lnSpc>
                <a:spcPct val="100000"/>
              </a:lnSpc>
              <a:spcBef>
                <a:spcPts val="209"/>
              </a:spcBef>
            </a:pPr>
            <a:r>
              <a:rPr dirty="0" sz="1000">
                <a:latin typeface="Myriad Pro"/>
                <a:cs typeface="Myriad Pro"/>
              </a:rPr>
              <a:t>RESTORATION - DQA Phantom scan, Remove Test Scans, and Check Cabinet Doors /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Covers...................................</a:t>
            </a:r>
            <a:endParaRPr sz="1000">
              <a:latin typeface="Myriad Pro"/>
              <a:cs typeface="Myriad Pro"/>
            </a:endParaRPr>
          </a:p>
          <a:p>
            <a:pPr algn="just" marL="132080">
              <a:lnSpc>
                <a:spcPct val="100000"/>
              </a:lnSpc>
              <a:spcBef>
                <a:spcPts val="434"/>
              </a:spcBef>
            </a:pPr>
            <a:r>
              <a:rPr dirty="0" sz="1000">
                <a:latin typeface="Myriad Pro"/>
                <a:cs typeface="Myriad Pro"/>
              </a:rPr>
              <a:t>RESTORATION - Shut down system pre site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procedure..............................................................................................................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algn="just" marL="13589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latin typeface="Myriad Pro"/>
                <a:cs typeface="Myriad Pro"/>
              </a:rPr>
              <a:t>RESTORATION - Update site log book, E-mail update with any follow up's and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status..................................................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50">
              <a:latin typeface="Times New Roman"/>
              <a:cs typeface="Times New Roman"/>
            </a:endParaRPr>
          </a:p>
          <a:p>
            <a:pPr algn="just" marL="144780">
              <a:lnSpc>
                <a:spcPct val="100000"/>
              </a:lnSpc>
            </a:pPr>
            <a:r>
              <a:rPr dirty="0" sz="800">
                <a:latin typeface="Myriad Pro"/>
                <a:cs typeface="Myriad Pro"/>
              </a:rPr>
              <a:t>N</a:t>
            </a:r>
            <a:endParaRPr sz="800">
              <a:latin typeface="Myriad Pro"/>
              <a:cs typeface="Myriad Pro"/>
            </a:endParaRPr>
          </a:p>
          <a:p>
            <a:pPr algn="just" marL="144780" marR="6960870">
              <a:lnSpc>
                <a:spcPct val="100000"/>
              </a:lnSpc>
            </a:pPr>
            <a:r>
              <a:rPr dirty="0" sz="800">
                <a:latin typeface="Myriad Pro"/>
                <a:cs typeface="Myriad Pro"/>
              </a:rPr>
              <a:t>o  t  e  s</a:t>
            </a:r>
            <a:endParaRPr sz="8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0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sz="1000">
                <a:latin typeface="Myriad Pro"/>
                <a:cs typeface="Myriad Pro"/>
              </a:rPr>
              <a:t>Page 2 of 2</a:t>
            </a:r>
            <a:r>
              <a:rPr dirty="0" sz="1000" spc="75">
                <a:latin typeface="Myriad Pro"/>
                <a:cs typeface="Myriad Pro"/>
              </a:rPr>
              <a:t> </a:t>
            </a:r>
            <a:r>
              <a:rPr dirty="0" baseline="5555" sz="1500">
                <a:latin typeface="Myriad Pro"/>
                <a:cs typeface="Myriad Pro"/>
              </a:rPr>
              <a:t>Rev.7</a:t>
            </a:r>
            <a:endParaRPr baseline="5555" sz="1500">
              <a:latin typeface="Myriad Pro"/>
              <a:cs typeface="Myriad Pro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346841" y="5227713"/>
            <a:ext cx="20510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Spine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292587" y="5468886"/>
            <a:ext cx="31369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Shoulder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201121" y="5711774"/>
            <a:ext cx="50228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Average B</a:t>
            </a:r>
            <a:r>
              <a:rPr dirty="0" sz="600" spc="-75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field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356986" y="4989614"/>
            <a:ext cx="1318260" cy="491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3970">
              <a:lnSpc>
                <a:spcPct val="100000"/>
              </a:lnSpc>
              <a:spcBef>
                <a:spcPts val="100"/>
              </a:spcBef>
              <a:tabLst>
                <a:tab pos="758825" algn="l"/>
              </a:tabLst>
            </a:pPr>
            <a:r>
              <a:rPr dirty="0" sz="600">
                <a:latin typeface="Myriad Pro"/>
                <a:cs typeface="Myriad Pro"/>
              </a:rPr>
              <a:t>Z1(1,0)	</a:t>
            </a:r>
            <a:r>
              <a:rPr dirty="0" baseline="4629" sz="900">
                <a:latin typeface="Myriad Pro"/>
                <a:cs typeface="Myriad Pro"/>
              </a:rPr>
              <a:t>X(1,1)</a:t>
            </a:r>
            <a:endParaRPr baseline="4629" sz="9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578485" algn="l"/>
                <a:tab pos="746760" algn="l"/>
                <a:tab pos="1304925" algn="l"/>
              </a:tabLst>
            </a:pPr>
            <a:r>
              <a:rPr dirty="0" sz="600">
                <a:latin typeface="Myriad Pro"/>
                <a:cs typeface="Myriad Pro"/>
              </a:rPr>
              <a:t>Z2(2,0)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Y(1,-1)  </a:t>
            </a:r>
            <a:r>
              <a:rPr dirty="0" baseline="4629" sz="900" spc="75">
                <a:latin typeface="Myriad Pro"/>
                <a:cs typeface="Myriad Pro"/>
              </a:rPr>
              <a:t> 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4629" sz="9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600">
              <a:latin typeface="Times New Roman"/>
              <a:cs typeface="Times New Roman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  <a:tabLst>
                <a:tab pos="737870" algn="l"/>
              </a:tabLst>
            </a:pPr>
            <a:r>
              <a:rPr dirty="0" sz="600">
                <a:latin typeface="Myriad Pro"/>
                <a:cs typeface="Myriad Pro"/>
              </a:rPr>
              <a:t>Z3(3,0)	</a:t>
            </a:r>
            <a:r>
              <a:rPr dirty="0" baseline="4629" sz="900">
                <a:latin typeface="Myriad Pro"/>
                <a:cs typeface="Myriad Pro"/>
              </a:rPr>
              <a:t>ZX(2,1)</a:t>
            </a:r>
            <a:endParaRPr baseline="4629" sz="900">
              <a:latin typeface="Myriad Pro"/>
              <a:cs typeface="Myriad Pro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6786498" y="4980825"/>
            <a:ext cx="2876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Z2X(3,1)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774471" y="5169039"/>
            <a:ext cx="6242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870" algn="l"/>
              </a:tabLst>
            </a:pPr>
            <a:r>
              <a:rPr dirty="0" sz="600">
                <a:latin typeface="Myriad Pro"/>
                <a:cs typeface="Myriad Pro"/>
              </a:rPr>
              <a:t>Z2Y(3,-1)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6772516" y="5359082"/>
            <a:ext cx="31559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Zxy2(3,2)</a:t>
            </a:r>
            <a:endParaRPr sz="600">
              <a:latin typeface="Myriad Pro"/>
              <a:cs typeface="Myriad Pro"/>
            </a:endParaRPr>
          </a:p>
        </p:txBody>
      </p:sp>
      <p:graphicFrame>
        <p:nvGraphicFramePr>
          <p:cNvPr id="53" name="object 53"/>
          <p:cNvGraphicFramePr>
            <a:graphicFrameLocks noGrp="1"/>
          </p:cNvGraphicFramePr>
          <p:nvPr/>
        </p:nvGraphicFramePr>
        <p:xfrm>
          <a:off x="598385" y="5604243"/>
          <a:ext cx="6787515" cy="4959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0059"/>
                <a:gridCol w="461009"/>
                <a:gridCol w="437515"/>
                <a:gridCol w="299720"/>
                <a:gridCol w="425450"/>
                <a:gridCol w="299085"/>
                <a:gridCol w="422909"/>
                <a:gridCol w="299719"/>
                <a:gridCol w="1012190"/>
                <a:gridCol w="461010"/>
                <a:gridCol w="737235"/>
                <a:gridCol w="724535"/>
                <a:gridCol w="723265"/>
              </a:tblGrid>
              <a:tr h="8318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9370">
                        <a:lnSpc>
                          <a:spcPts val="555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Z4(4,0)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26670">
                        <a:lnSpc>
                          <a:spcPts val="54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ZY(2,-1)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445">
                        <a:lnSpc>
                          <a:spcPts val="54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ZXY(3,-2)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5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ts val="45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Z4(4,0)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8590">
                        <a:lnSpc>
                          <a:spcPts val="409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ZY(2,-1)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5730">
                        <a:lnSpc>
                          <a:spcPts val="409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ZXY(3,-2)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92405">
                <a:tc gridSpan="9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620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463550" algn="l"/>
                        </a:tabLst>
                      </a:pP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Z5(5,0)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540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0489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X2-Y2(2,2)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704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59385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X3(3,3)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70485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127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Std B</a:t>
                      </a:r>
                      <a:r>
                        <a:rPr dirty="0" sz="600" spc="-20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sz="600">
                          <a:latin typeface="Myriad Pro"/>
                          <a:cs typeface="Myriad Pro"/>
                        </a:rPr>
                        <a:t>field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393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Z6(6,0)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6034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XY(2,-2)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667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Y3(3,-3)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565785">
                        <a:lnSpc>
                          <a:spcPct val="10000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Std B</a:t>
                      </a:r>
                      <a:r>
                        <a:rPr dirty="0" sz="600" spc="-25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sz="600">
                          <a:latin typeface="Myriad Pro"/>
                          <a:cs typeface="Myriad Pro"/>
                        </a:rPr>
                        <a:t>field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25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3990">
                        <a:lnSpc>
                          <a:spcPct val="100000"/>
                        </a:lnSpc>
                        <a:spcBef>
                          <a:spcPts val="525"/>
                        </a:spcBef>
                        <a:tabLst>
                          <a:tab pos="739775" algn="l"/>
                        </a:tabLst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Z6(6,0)  </a:t>
                      </a:r>
                      <a:r>
                        <a:rPr dirty="0" sz="600" spc="-10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667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7955">
                        <a:lnSpc>
                          <a:spcPct val="100000"/>
                        </a:lnSpc>
                        <a:spcBef>
                          <a:spcPts val="525"/>
                        </a:spcBef>
                        <a:tabLst>
                          <a:tab pos="727710" algn="l"/>
                        </a:tabLst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XY(2,-2) </a:t>
                      </a:r>
                      <a:r>
                        <a:rPr dirty="0" sz="600" spc="5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667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ct val="100000"/>
                        </a:lnSpc>
                        <a:spcBef>
                          <a:spcPts val="525"/>
                        </a:spcBef>
                        <a:tabLst>
                          <a:tab pos="726440" algn="l"/>
                        </a:tabLst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Y3(3,-3) </a:t>
                      </a:r>
                      <a:r>
                        <a:rPr dirty="0" sz="600" spc="25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6675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</a:tbl>
          </a:graphicData>
        </a:graphic>
      </p:graphicFrame>
      <p:sp>
        <p:nvSpPr>
          <p:cNvPr id="54" name="object 54"/>
          <p:cNvSpPr txBox="1"/>
          <p:nvPr/>
        </p:nvSpPr>
        <p:spPr>
          <a:xfrm>
            <a:off x="3984561" y="4745380"/>
            <a:ext cx="1031240" cy="3733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yriad Pro"/>
                <a:cs typeface="Myriad Pro"/>
              </a:rPr>
              <a:t>Shim Values</a:t>
            </a:r>
            <a:r>
              <a:rPr dirty="0" sz="1000" spc="-85" b="1">
                <a:latin typeface="Myriad Pro"/>
                <a:cs typeface="Myriad Pro"/>
              </a:rPr>
              <a:t> </a:t>
            </a:r>
            <a:r>
              <a:rPr dirty="0" sz="1000" b="1">
                <a:latin typeface="Myriad Pro"/>
                <a:cs typeface="Myriad Pro"/>
              </a:rPr>
              <a:t>After</a:t>
            </a:r>
            <a:endParaRPr sz="1000">
              <a:latin typeface="Myriad Pro"/>
              <a:cs typeface="Myriad Pro"/>
            </a:endParaRPr>
          </a:p>
          <a:p>
            <a:pPr algn="ctr" marR="93980">
              <a:lnSpc>
                <a:spcPct val="100000"/>
              </a:lnSpc>
              <a:spcBef>
                <a:spcPts val="815"/>
              </a:spcBef>
            </a:pPr>
            <a:r>
              <a:rPr dirty="0" sz="600">
                <a:latin typeface="Myriad Pro"/>
                <a:cs typeface="Myriad Pro"/>
              </a:rPr>
              <a:t>Inhomogeneity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689303" y="4585296"/>
            <a:ext cx="215138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  <a:tab pos="589915" algn="l"/>
                <a:tab pos="1000125" algn="l"/>
                <a:tab pos="1155700" algn="l"/>
                <a:tab pos="1566545" algn="l"/>
                <a:tab pos="1708150" algn="l"/>
                <a:tab pos="2138045" algn="l"/>
              </a:tabLst>
            </a:pPr>
            <a:r>
              <a:rPr dirty="0" sz="600">
                <a:latin typeface="Myriad Pro"/>
                <a:cs typeface="Myriad Pro"/>
              </a:rPr>
              <a:t>X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Y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Z2   </a:t>
            </a:r>
            <a:r>
              <a:rPr dirty="0" sz="600" spc="2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41693" y="4537913"/>
            <a:ext cx="111887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yriad Pro"/>
                <a:cs typeface="Myriad Pro"/>
              </a:rPr>
              <a:t>Shim Values</a:t>
            </a:r>
            <a:r>
              <a:rPr dirty="0" sz="1000" spc="-80" b="1">
                <a:latin typeface="Myriad Pro"/>
                <a:cs typeface="Myriad Pro"/>
              </a:rPr>
              <a:t> </a:t>
            </a:r>
            <a:r>
              <a:rPr dirty="0" sz="1000" b="1">
                <a:latin typeface="Myriad Pro"/>
                <a:cs typeface="Myriad Pro"/>
              </a:rPr>
              <a:t>Before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258384" y="6232626"/>
            <a:ext cx="43688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dirty="0" sz="600">
                <a:latin typeface="Myriad Pro"/>
                <a:cs typeface="Myriad Pro"/>
              </a:rPr>
              <a:t>X    </a:t>
            </a:r>
            <a:r>
              <a:rPr dirty="0" sz="600" spc="4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5835675" y="6232626"/>
            <a:ext cx="15741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  <a:tab pos="578485" algn="l"/>
                <a:tab pos="988694" algn="l"/>
                <a:tab pos="1130300" algn="l"/>
                <a:tab pos="1560830" algn="l"/>
              </a:tabLst>
            </a:pPr>
            <a:r>
              <a:rPr dirty="0" sz="600">
                <a:latin typeface="Myriad Pro"/>
                <a:cs typeface="Myriad Pro"/>
              </a:rPr>
              <a:t>Y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Z2   </a:t>
            </a:r>
            <a:r>
              <a:rPr dirty="0" sz="600" spc="2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4367580" y="6729666"/>
            <a:ext cx="20510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Spine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4221860" y="7213727"/>
            <a:ext cx="10115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dirty="0" sz="600">
                <a:latin typeface="Myriad Pro"/>
                <a:cs typeface="Myriad Pro"/>
              </a:rPr>
              <a:t>Average B</a:t>
            </a:r>
            <a:r>
              <a:rPr dirty="0" sz="600" spc="-10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field  </a:t>
            </a:r>
            <a:r>
              <a:rPr dirty="0" sz="600" spc="3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5379199" y="6491566"/>
            <a:ext cx="5918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dirty="0" sz="600">
                <a:latin typeface="Myriad Pro"/>
                <a:cs typeface="Myriad Pro"/>
              </a:rPr>
              <a:t>Z1(1,0)  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5377726" y="6679781"/>
            <a:ext cx="5918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dirty="0" sz="600">
                <a:latin typeface="Myriad Pro"/>
                <a:cs typeface="Myriad Pro"/>
              </a:rPr>
              <a:t>Z2(2,0)  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5379237" y="7247140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Z5(5,0)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124460" y="6482778"/>
            <a:ext cx="5727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9435" algn="l"/>
              </a:tabLst>
            </a:pPr>
            <a:r>
              <a:rPr dirty="0" sz="600">
                <a:latin typeface="Myriad Pro"/>
                <a:cs typeface="Myriad Pro"/>
              </a:rPr>
              <a:t>X(1,1)   </a:t>
            </a:r>
            <a:r>
              <a:rPr dirty="0" sz="600" spc="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6112395" y="6670992"/>
            <a:ext cx="5835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sz="600">
                <a:latin typeface="Myriad Pro"/>
                <a:cs typeface="Myriad Pro"/>
              </a:rPr>
              <a:t>Y(1,-1)  </a:t>
            </a:r>
            <a:r>
              <a:rPr dirty="0" sz="600" spc="5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053302" y="7247140"/>
            <a:ext cx="3492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X2-Y2(2,2)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807237" y="6482778"/>
            <a:ext cx="6134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075" algn="l"/>
              </a:tabLst>
            </a:pPr>
            <a:r>
              <a:rPr dirty="0" sz="600">
                <a:latin typeface="Myriad Pro"/>
                <a:cs typeface="Myriad Pro"/>
              </a:rPr>
              <a:t>Z2X(3,1) </a:t>
            </a:r>
            <a:r>
              <a:rPr dirty="0" sz="600" spc="-5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6795198" y="6670992"/>
            <a:ext cx="6242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870" algn="l"/>
              </a:tabLst>
            </a:pPr>
            <a:r>
              <a:rPr dirty="0" sz="600">
                <a:latin typeface="Myriad Pro"/>
                <a:cs typeface="Myriad Pro"/>
              </a:rPr>
              <a:t>Z2Y(3,-1)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6826821" y="7247140"/>
            <a:ext cx="2457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X3(3,3)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6816267" y="7436599"/>
            <a:ext cx="6032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9915" algn="l"/>
              </a:tabLst>
            </a:pPr>
            <a:r>
              <a:rPr dirty="0" sz="600">
                <a:latin typeface="Myriad Pro"/>
                <a:cs typeface="Myriad Pro"/>
              </a:rPr>
              <a:t>Y3(3,-3) </a:t>
            </a:r>
            <a:r>
              <a:rPr dirty="0" sz="600" spc="2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4005288" y="6209893"/>
            <a:ext cx="1208405" cy="4108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yriad Pro"/>
                <a:cs typeface="Myriad Pro"/>
              </a:rPr>
              <a:t>Zoom Mode</a:t>
            </a:r>
            <a:r>
              <a:rPr dirty="0" sz="1000" spc="-30" b="1">
                <a:latin typeface="Myriad Pro"/>
                <a:cs typeface="Myriad Pro"/>
              </a:rPr>
              <a:t> </a:t>
            </a:r>
            <a:r>
              <a:rPr dirty="0" sz="1000" b="1">
                <a:latin typeface="Myriad Pro"/>
                <a:cs typeface="Myriad Pro"/>
              </a:rPr>
              <a:t>(After)</a:t>
            </a:r>
            <a:endParaRPr sz="1000">
              <a:latin typeface="Myriad Pro"/>
              <a:cs typeface="Myriad Pro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950">
              <a:latin typeface="Times New Roman"/>
              <a:cs typeface="Times New Roman"/>
            </a:endParaRPr>
          </a:p>
          <a:p>
            <a:pPr marL="219075">
              <a:lnSpc>
                <a:spcPct val="100000"/>
              </a:lnSpc>
              <a:tabLst>
                <a:tab pos="1195070" algn="l"/>
              </a:tabLst>
            </a:pPr>
            <a:r>
              <a:rPr dirty="0" sz="600">
                <a:latin typeface="Myriad Pro"/>
                <a:cs typeface="Myriad Pro"/>
              </a:rPr>
              <a:t>Inhomogeneity  </a:t>
            </a:r>
            <a:r>
              <a:rPr dirty="0" sz="600" spc="-3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2324417" y="6239205"/>
            <a:ext cx="43688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3545" algn="l"/>
              </a:tabLst>
            </a:pPr>
            <a:r>
              <a:rPr dirty="0" sz="600">
                <a:latin typeface="Myriad Pro"/>
                <a:cs typeface="Myriad Pro"/>
              </a:rPr>
              <a:t>X    </a:t>
            </a:r>
            <a:r>
              <a:rPr dirty="0" sz="600" spc="4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2901708" y="6239205"/>
            <a:ext cx="10026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22275" algn="l"/>
                <a:tab pos="578485" algn="l"/>
                <a:tab pos="988694" algn="l"/>
              </a:tabLst>
            </a:pPr>
            <a:r>
              <a:rPr dirty="0" sz="600">
                <a:latin typeface="Myriad Pro"/>
                <a:cs typeface="Myriad Pro"/>
              </a:rPr>
              <a:t>Y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Z    </a:t>
            </a:r>
            <a:r>
              <a:rPr dirty="0" sz="600" spc="5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825220" y="6736257"/>
            <a:ext cx="205104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Spine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770966" y="6977418"/>
            <a:ext cx="92011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5134" algn="l"/>
                <a:tab pos="906780" algn="l"/>
              </a:tabLst>
            </a:pPr>
            <a:r>
              <a:rPr dirty="0" sz="600">
                <a:latin typeface="Myriad Pro"/>
                <a:cs typeface="Myriad Pro"/>
              </a:rPr>
              <a:t>Shoulder	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79500" y="7220318"/>
            <a:ext cx="101155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98219" algn="l"/>
              </a:tabLst>
            </a:pPr>
            <a:r>
              <a:rPr dirty="0" sz="600">
                <a:latin typeface="Myriad Pro"/>
                <a:cs typeface="Myriad Pro"/>
              </a:rPr>
              <a:t>Average B</a:t>
            </a:r>
            <a:r>
              <a:rPr dirty="0" sz="600" spc="-100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field  </a:t>
            </a:r>
            <a:r>
              <a:rPr dirty="0" sz="600" spc="3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755535" y="7466913"/>
            <a:ext cx="44780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61009" algn="l"/>
                <a:tab pos="922019" algn="l"/>
                <a:tab pos="3554729" algn="l"/>
                <a:tab pos="4003040" algn="l"/>
                <a:tab pos="4464685" algn="l"/>
              </a:tabLst>
            </a:pPr>
            <a:r>
              <a:rPr dirty="0" sz="600">
                <a:latin typeface="Myriad Pro"/>
                <a:cs typeface="Myriad Pro"/>
              </a:rPr>
              <a:t>Std B field	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Std B</a:t>
            </a:r>
            <a:r>
              <a:rPr dirty="0" baseline="4629" sz="900" spc="-150">
                <a:latin typeface="Myriad Pro"/>
                <a:cs typeface="Myriad Pro"/>
              </a:rPr>
              <a:t> </a:t>
            </a:r>
            <a:r>
              <a:rPr dirty="0" baseline="4629" sz="900">
                <a:latin typeface="Myriad Pro"/>
                <a:cs typeface="Myriad Pro"/>
              </a:rPr>
              <a:t>field	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4629" sz="900">
              <a:latin typeface="Myriad Pro"/>
              <a:cs typeface="Myriad Pro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669734" y="6510286"/>
            <a:ext cx="17589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88060" algn="l"/>
                <a:tab pos="1179195" algn="l"/>
                <a:tab pos="1745614" algn="l"/>
              </a:tabLst>
            </a:pPr>
            <a:r>
              <a:rPr dirty="0" sz="600">
                <a:latin typeface="Myriad Pro"/>
                <a:cs typeface="Myriad Pro"/>
              </a:rPr>
              <a:t>Inhomogeneity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</a:t>
            </a:r>
            <a:r>
              <a:rPr dirty="0" baseline="9259" sz="900">
                <a:latin typeface="Myriad Pro"/>
                <a:cs typeface="Myriad Pro"/>
              </a:rPr>
              <a:t>Z1(1,0)  </a:t>
            </a:r>
            <a:r>
              <a:rPr dirty="0" baseline="9259" sz="900" spc="-15">
                <a:latin typeface="Myriad Pro"/>
                <a:cs typeface="Myriad Pro"/>
              </a:rPr>
              <a:t> </a:t>
            </a:r>
            <a:r>
              <a:rPr dirty="0" u="sng" baseline="925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9259" sz="900">
              <a:latin typeface="Myriad Pro"/>
              <a:cs typeface="Myriad Pro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835353" y="6686359"/>
            <a:ext cx="5918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</a:tabLst>
            </a:pPr>
            <a:r>
              <a:rPr dirty="0" sz="600">
                <a:latin typeface="Myriad Pro"/>
                <a:cs typeface="Myriad Pro"/>
              </a:rPr>
              <a:t>Z2(2,0)  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836864" y="7253719"/>
            <a:ext cx="24447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Z5(5,0)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2582100" y="6489369"/>
            <a:ext cx="57277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59435" algn="l"/>
              </a:tabLst>
            </a:pPr>
            <a:r>
              <a:rPr dirty="0" sz="600">
                <a:latin typeface="Myriad Pro"/>
                <a:cs typeface="Myriad Pro"/>
              </a:rPr>
              <a:t>X(1,1)   </a:t>
            </a:r>
            <a:r>
              <a:rPr dirty="0" sz="600" spc="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2570035" y="6677583"/>
            <a:ext cx="58356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0230" algn="l"/>
              </a:tabLst>
            </a:pPr>
            <a:r>
              <a:rPr dirty="0" sz="600">
                <a:latin typeface="Myriad Pro"/>
                <a:cs typeface="Myriad Pro"/>
              </a:rPr>
              <a:t>Y(1,-1)  </a:t>
            </a:r>
            <a:r>
              <a:rPr dirty="0" sz="600" spc="5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2510942" y="7253719"/>
            <a:ext cx="34925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X2-Y2(2,2)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3264865" y="6489369"/>
            <a:ext cx="61341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00075" algn="l"/>
              </a:tabLst>
            </a:pPr>
            <a:r>
              <a:rPr dirty="0" sz="600">
                <a:latin typeface="Myriad Pro"/>
                <a:cs typeface="Myriad Pro"/>
              </a:rPr>
              <a:t>Z2X(3,1) </a:t>
            </a:r>
            <a:r>
              <a:rPr dirty="0" sz="600" spc="-55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3252838" y="6677583"/>
            <a:ext cx="62420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10870" algn="l"/>
              </a:tabLst>
            </a:pPr>
            <a:r>
              <a:rPr dirty="0" sz="600">
                <a:latin typeface="Myriad Pro"/>
                <a:cs typeface="Myriad Pro"/>
              </a:rPr>
              <a:t>Z2Y(3,-1)</a:t>
            </a:r>
            <a:r>
              <a:rPr dirty="0" sz="600" spc="-10">
                <a:latin typeface="Myriad Pro"/>
                <a:cs typeface="Myriad Pro"/>
              </a:rPr>
              <a:t> 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600">
              <a:latin typeface="Myriad Pro"/>
              <a:cs typeface="Myriad Pro"/>
            </a:endParaRPr>
          </a:p>
        </p:txBody>
      </p:sp>
      <p:graphicFrame>
        <p:nvGraphicFramePr>
          <p:cNvPr id="86" name="object 86"/>
          <p:cNvGraphicFramePr>
            <a:graphicFrameLocks noGrp="1"/>
          </p:cNvGraphicFramePr>
          <p:nvPr/>
        </p:nvGraphicFramePr>
        <p:xfrm>
          <a:off x="1817814" y="6865022"/>
          <a:ext cx="5589270" cy="3308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7815"/>
                <a:gridCol w="300354"/>
                <a:gridCol w="426084"/>
                <a:gridCol w="300354"/>
                <a:gridCol w="424180"/>
                <a:gridCol w="300355"/>
                <a:gridCol w="1350645"/>
                <a:gridCol w="444500"/>
                <a:gridCol w="300354"/>
                <a:gridCol w="425450"/>
                <a:gridCol w="300354"/>
                <a:gridCol w="424179"/>
                <a:gridCol w="300354"/>
              </a:tblGrid>
              <a:tr h="121920">
                <a:tc>
                  <a:txBody>
                    <a:bodyPr/>
                    <a:lstStyle/>
                    <a:p>
                      <a:pPr marL="33020">
                        <a:lnSpc>
                          <a:spcPts val="705"/>
                        </a:lnSpc>
                        <a:spcBef>
                          <a:spcPts val="15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Z3(3,0)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196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3746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ZX(2,1)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5715">
                        <a:lnSpc>
                          <a:spcPct val="100000"/>
                        </a:lnSpc>
                        <a:spcBef>
                          <a:spcPts val="120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Zxy2(3,2)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1524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r" marR="4254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Z3(3,0)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1333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41275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ZX(2,1)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8890">
                        <a:lnSpc>
                          <a:spcPct val="100000"/>
                        </a:lnSpc>
                        <a:spcBef>
                          <a:spcPts val="6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Zxy2(3,2)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82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20193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5"/>
                        </a:spcBef>
                      </a:pPr>
                      <a:endParaRPr sz="60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Z4(4,0)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317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28575">
                        <a:lnSpc>
                          <a:spcPct val="10000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ZY(2,-1)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571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762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ZXY(3,-2)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458470">
                        <a:lnSpc>
                          <a:spcPts val="565"/>
                        </a:lnSpc>
                        <a:tabLst>
                          <a:tab pos="891540" algn="l"/>
                          <a:tab pos="1353185" algn="l"/>
                        </a:tabLst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Shoulder	</a:t>
                      </a:r>
                      <a:r>
                        <a:rPr dirty="0" u="sng" sz="6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endParaRPr sz="550">
                        <a:latin typeface="Times New Roman"/>
                        <a:cs typeface="Times New Roman"/>
                      </a:endParaRPr>
                    </a:p>
                    <a:p>
                      <a:pPr algn="r" marR="43815">
                        <a:lnSpc>
                          <a:spcPct val="100000"/>
                        </a:lnSpc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Z4(4,0)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38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31750">
                        <a:lnSpc>
                          <a:spcPct val="100000"/>
                        </a:lnSpc>
                        <a:spcBef>
                          <a:spcPts val="51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ZY(2,-1)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6540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R="11430"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r>
                        <a:rPr dirty="0" sz="600">
                          <a:latin typeface="Myriad Pro"/>
                          <a:cs typeface="Myriad Pro"/>
                        </a:rPr>
                        <a:t>ZXY(3,-2)</a:t>
                      </a:r>
                      <a:endParaRPr sz="600">
                        <a:latin typeface="Myriad Pro"/>
                        <a:cs typeface="Myriad Pro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87" name="object 87"/>
          <p:cNvSpPr txBox="1"/>
          <p:nvPr/>
        </p:nvSpPr>
        <p:spPr>
          <a:xfrm>
            <a:off x="3284461" y="7253719"/>
            <a:ext cx="245745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latin typeface="Myriad Pro"/>
                <a:cs typeface="Myriad Pro"/>
              </a:rPr>
              <a:t>X3(3,3)</a:t>
            </a:r>
            <a:endParaRPr sz="600">
              <a:latin typeface="Myriad Pro"/>
              <a:cs typeface="Myriad Pro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836864" y="7443190"/>
            <a:ext cx="4859020" cy="1168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78485" algn="l"/>
                <a:tab pos="723900" algn="l"/>
                <a:tab pos="1303655" algn="l"/>
                <a:tab pos="1449070" algn="l"/>
                <a:tab pos="2026920" algn="l"/>
                <a:tab pos="3554729" algn="l"/>
                <a:tab pos="4121150" algn="l"/>
                <a:tab pos="4265930" algn="l"/>
                <a:tab pos="4845685" algn="l"/>
              </a:tabLst>
            </a:pPr>
            <a:r>
              <a:rPr dirty="0" sz="600">
                <a:latin typeface="Myriad Pro"/>
                <a:cs typeface="Myriad Pro"/>
              </a:rPr>
              <a:t>Z6(6,0)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XY(2,-2)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Y3(3,-3)</a:t>
            </a:r>
            <a:r>
              <a:rPr dirty="0" u="sng" sz="6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sz="600">
                <a:latin typeface="Myriad Pro"/>
                <a:cs typeface="Myriad Pro"/>
              </a:rPr>
              <a:t>	</a:t>
            </a:r>
            <a:r>
              <a:rPr dirty="0" baseline="4629" sz="900">
                <a:latin typeface="Myriad Pro"/>
                <a:cs typeface="Myriad Pro"/>
              </a:rPr>
              <a:t>Z6(6,0)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r>
              <a:rPr dirty="0" baseline="4629" sz="900">
                <a:latin typeface="Myriad Pro"/>
                <a:cs typeface="Myriad Pro"/>
              </a:rPr>
              <a:t>	XY(2,-2) </a:t>
            </a:r>
            <a:r>
              <a:rPr dirty="0" baseline="4629" sz="900" spc="7">
                <a:latin typeface="Myriad Pro"/>
                <a:cs typeface="Myriad Pro"/>
              </a:rPr>
              <a:t> </a:t>
            </a:r>
            <a:r>
              <a:rPr dirty="0" u="sng" baseline="4629" sz="9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baseline="4629" sz="900">
              <a:latin typeface="Myriad Pro"/>
              <a:cs typeface="Myriad Pro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308635" y="6369773"/>
            <a:ext cx="133350" cy="4826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yriad Pro"/>
                <a:cs typeface="Myriad Pro"/>
              </a:rPr>
              <a:t>T  R  M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308635" y="6979373"/>
            <a:ext cx="116839" cy="6350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000" b="1">
                <a:latin typeface="Myriad Pro"/>
                <a:cs typeface="Myriad Pro"/>
              </a:rPr>
              <a:t>O  N  L  Y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528447" y="6169621"/>
            <a:ext cx="1691005" cy="318770"/>
          </a:xfrm>
          <a:prstGeom prst="rect">
            <a:avLst/>
          </a:prstGeom>
        </p:spPr>
        <p:txBody>
          <a:bodyPr wrap="square" lIns="0" tIns="26670" rIns="0" bIns="0" rtlCol="0" vert="horz">
            <a:spAutoFit/>
          </a:bodyPr>
          <a:lstStyle/>
          <a:p>
            <a:pPr marL="12700" marR="5080" indent="572135">
              <a:lnSpc>
                <a:spcPts val="1110"/>
              </a:lnSpc>
              <a:spcBef>
                <a:spcPts val="210"/>
              </a:spcBef>
            </a:pPr>
            <a:r>
              <a:rPr dirty="0" sz="1000" b="1">
                <a:latin typeface="Myriad Pro"/>
                <a:cs typeface="Myriad Pro"/>
              </a:rPr>
              <a:t>Shim Values</a:t>
            </a:r>
            <a:r>
              <a:rPr dirty="0" sz="1000" spc="-100" b="1">
                <a:latin typeface="Myriad Pro"/>
                <a:cs typeface="Myriad Pro"/>
              </a:rPr>
              <a:t> </a:t>
            </a:r>
            <a:r>
              <a:rPr dirty="0" sz="1000" b="1">
                <a:latin typeface="Myriad Pro"/>
                <a:cs typeface="Myriad Pro"/>
              </a:rPr>
              <a:t>Before  Zoom Mode</a:t>
            </a:r>
            <a:r>
              <a:rPr dirty="0" sz="1000" spc="-20" b="1">
                <a:latin typeface="Myriad Pro"/>
                <a:cs typeface="Myriad Pro"/>
              </a:rPr>
              <a:t> </a:t>
            </a:r>
            <a:r>
              <a:rPr dirty="0" sz="1000" b="1">
                <a:latin typeface="Myriad Pro"/>
                <a:cs typeface="Myriad Pro"/>
              </a:rPr>
              <a:t>(zero)45DSV</a:t>
            </a:r>
            <a:endParaRPr sz="1000">
              <a:latin typeface="Myriad Pro"/>
              <a:cs typeface="Myriad Pro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343408" y="1211364"/>
            <a:ext cx="5859145" cy="32588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7045">
              <a:lnSpc>
                <a:spcPts val="2785"/>
              </a:lnSpc>
              <a:spcBef>
                <a:spcPts val="100"/>
              </a:spcBef>
            </a:pPr>
            <a:r>
              <a:rPr dirty="0" sz="2400">
                <a:latin typeface="Myriad Pro"/>
                <a:cs typeface="Myriad Pro"/>
              </a:rPr>
              <a:t>Procedure</a:t>
            </a:r>
            <a:endParaRPr sz="2400">
              <a:latin typeface="Myriad Pro"/>
              <a:cs typeface="Myriad Pro"/>
            </a:endParaRPr>
          </a:p>
          <a:p>
            <a:pPr marL="12700">
              <a:lnSpc>
                <a:spcPts val="1560"/>
              </a:lnSpc>
            </a:pPr>
            <a:r>
              <a:rPr dirty="0" sz="1400" b="1">
                <a:latin typeface="Myriad Pro"/>
                <a:cs typeface="Myriad Pro"/>
              </a:rPr>
              <a:t>IMAGE</a:t>
            </a:r>
            <a:r>
              <a:rPr dirty="0" sz="1400" spc="-5" b="1">
                <a:latin typeface="Myriad Pro"/>
                <a:cs typeface="Myriad Pro"/>
              </a:rPr>
              <a:t> </a:t>
            </a:r>
            <a:r>
              <a:rPr dirty="0" sz="1400" b="1">
                <a:latin typeface="Myriad Pro"/>
                <a:cs typeface="Myriad Pro"/>
              </a:rPr>
              <a:t>QUALITY</a:t>
            </a:r>
            <a:endParaRPr sz="1400">
              <a:latin typeface="Myriad Pro"/>
              <a:cs typeface="Myriad Pro"/>
            </a:endParaRPr>
          </a:p>
          <a:p>
            <a:pPr marL="133350">
              <a:lnSpc>
                <a:spcPts val="1175"/>
              </a:lnSpc>
            </a:pPr>
            <a:r>
              <a:rPr dirty="0" sz="1000">
                <a:latin typeface="Myriad Pro"/>
                <a:cs typeface="Myriad Pro"/>
              </a:rPr>
              <a:t>Check ISO-Center (Check Alignment</a:t>
            </a:r>
            <a:r>
              <a:rPr dirty="0" sz="1000" spc="-7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Lights).................................................................................................................................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69595">
              <a:lnSpc>
                <a:spcPct val="100000"/>
              </a:lnSpc>
              <a:spcBef>
                <a:spcPts val="540"/>
              </a:spcBef>
              <a:tabLst>
                <a:tab pos="1412875" algn="l"/>
                <a:tab pos="2008505" algn="l"/>
                <a:tab pos="2681605" algn="l"/>
                <a:tab pos="3934460" algn="l"/>
              </a:tabLst>
            </a:pPr>
            <a:r>
              <a:rPr dirty="0" sz="600">
                <a:latin typeface="Myriad Pro"/>
                <a:cs typeface="Myriad Pro"/>
              </a:rPr>
              <a:t>APS -R1	R2	TG	AX	iso</a:t>
            </a:r>
            <a:r>
              <a:rPr dirty="0" sz="600" spc="-5">
                <a:latin typeface="Myriad Pro"/>
                <a:cs typeface="Myriad Pro"/>
              </a:rPr>
              <a:t> </a:t>
            </a:r>
            <a:r>
              <a:rPr dirty="0" sz="600">
                <a:latin typeface="Myriad Pro"/>
                <a:cs typeface="Myriad Pro"/>
              </a:rPr>
              <a:t>Z</a:t>
            </a:r>
            <a:endParaRPr sz="600">
              <a:latin typeface="Myriad Pro"/>
              <a:cs typeface="Myriad Pro"/>
            </a:endParaRPr>
          </a:p>
          <a:p>
            <a:pPr marL="144145">
              <a:lnSpc>
                <a:spcPct val="100000"/>
              </a:lnSpc>
              <a:spcBef>
                <a:spcPts val="185"/>
              </a:spcBef>
            </a:pPr>
            <a:r>
              <a:rPr dirty="0" sz="1000">
                <a:latin typeface="Myriad Pro"/>
                <a:cs typeface="Myriad Pro"/>
              </a:rPr>
              <a:t>Check Gradient Calibration:</a:t>
            </a:r>
            <a:r>
              <a:rPr dirty="0" sz="1000" spc="-7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X,Y,Z-axis.............................................................................................................................................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08634">
              <a:lnSpc>
                <a:spcPct val="100000"/>
              </a:lnSpc>
              <a:spcBef>
                <a:spcPts val="450"/>
              </a:spcBef>
              <a:tabLst>
                <a:tab pos="1457960" algn="l"/>
                <a:tab pos="2313940" algn="l"/>
                <a:tab pos="3265804" algn="l"/>
                <a:tab pos="4112895" algn="l"/>
                <a:tab pos="5062855" algn="l"/>
              </a:tabLst>
            </a:pPr>
            <a:r>
              <a:rPr dirty="0" baseline="4629" sz="900">
                <a:latin typeface="Myriad Pro"/>
                <a:cs typeface="Myriad Pro"/>
              </a:rPr>
              <a:t>Cfxfull - Old	New	Cfyfull - Old	New	</a:t>
            </a:r>
            <a:r>
              <a:rPr dirty="0" sz="600">
                <a:latin typeface="Myriad Pro"/>
                <a:cs typeface="Myriad Pro"/>
              </a:rPr>
              <a:t>Cfzfull - Old	New</a:t>
            </a:r>
            <a:endParaRPr sz="600">
              <a:latin typeface="Myriad Pro"/>
              <a:cs typeface="Myriad Pro"/>
            </a:endParaRPr>
          </a:p>
          <a:p>
            <a:pPr marL="121920">
              <a:lnSpc>
                <a:spcPct val="100000"/>
              </a:lnSpc>
              <a:spcBef>
                <a:spcPts val="280"/>
              </a:spcBef>
            </a:pPr>
            <a:r>
              <a:rPr dirty="0" sz="1000">
                <a:latin typeface="Myriad Pro"/>
                <a:cs typeface="Myriad Pro"/>
              </a:rPr>
              <a:t>Check Gradient Calibration zoom mode </a:t>
            </a:r>
            <a:r>
              <a:rPr dirty="0" sz="1000" b="1">
                <a:latin typeface="Myriad Pro"/>
                <a:cs typeface="Myriad Pro"/>
              </a:rPr>
              <a:t>(TRM ONLY)</a:t>
            </a:r>
            <a:r>
              <a:rPr dirty="0" sz="1000">
                <a:latin typeface="Myriad Pro"/>
                <a:cs typeface="Myriad Pro"/>
              </a:rPr>
              <a:t>:</a:t>
            </a:r>
            <a:r>
              <a:rPr dirty="0" sz="1000" spc="-6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X,Y,Z-axis.......................................................................................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486409">
              <a:lnSpc>
                <a:spcPct val="100000"/>
              </a:lnSpc>
              <a:spcBef>
                <a:spcPts val="450"/>
              </a:spcBef>
              <a:tabLst>
                <a:tab pos="1435735" algn="l"/>
                <a:tab pos="2291715" algn="l"/>
                <a:tab pos="3243580" algn="l"/>
                <a:tab pos="4090670" algn="l"/>
                <a:tab pos="5040630" algn="l"/>
              </a:tabLst>
            </a:pPr>
            <a:r>
              <a:rPr dirty="0" baseline="4629" sz="900">
                <a:latin typeface="Myriad Pro"/>
                <a:cs typeface="Myriad Pro"/>
              </a:rPr>
              <a:t>Cfxfull - Old	New	Cfyfull - Old	New	</a:t>
            </a:r>
            <a:r>
              <a:rPr dirty="0" sz="600">
                <a:latin typeface="Myriad Pro"/>
                <a:cs typeface="Myriad Pro"/>
              </a:rPr>
              <a:t>Cfzfull - Old	New</a:t>
            </a:r>
            <a:endParaRPr sz="600">
              <a:latin typeface="Myriad Pro"/>
              <a:cs typeface="Myriad Pro"/>
            </a:endParaRPr>
          </a:p>
          <a:p>
            <a:pPr marL="144780">
              <a:lnSpc>
                <a:spcPct val="100000"/>
              </a:lnSpc>
              <a:spcBef>
                <a:spcPts val="254"/>
              </a:spcBef>
            </a:pPr>
            <a:r>
              <a:rPr dirty="0" sz="1000">
                <a:latin typeface="Myriad Pro"/>
                <a:cs typeface="Myriad Pro"/>
              </a:rPr>
              <a:t>Check SNR and RF output-</a:t>
            </a:r>
            <a:r>
              <a:rPr dirty="0" sz="1000" spc="-8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Head........................................................................................................................................................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74040">
              <a:lnSpc>
                <a:spcPct val="100000"/>
              </a:lnSpc>
              <a:spcBef>
                <a:spcPts val="535"/>
              </a:spcBef>
              <a:tabLst>
                <a:tab pos="1417320" algn="l"/>
                <a:tab pos="2012950" algn="l"/>
                <a:tab pos="2685415" algn="l"/>
              </a:tabLst>
            </a:pPr>
            <a:r>
              <a:rPr dirty="0" sz="600">
                <a:latin typeface="Myriad Pro"/>
                <a:cs typeface="Myriad Pro"/>
              </a:rPr>
              <a:t>APS -R1	R2	TG	AX</a:t>
            </a:r>
            <a:endParaRPr sz="600">
              <a:latin typeface="Myriad Pro"/>
              <a:cs typeface="Myriad Pro"/>
            </a:endParaRPr>
          </a:p>
          <a:p>
            <a:pPr marL="133350">
              <a:lnSpc>
                <a:spcPct val="100000"/>
              </a:lnSpc>
              <a:spcBef>
                <a:spcPts val="315"/>
              </a:spcBef>
            </a:pPr>
            <a:r>
              <a:rPr dirty="0" sz="1000">
                <a:latin typeface="Myriad Pro"/>
                <a:cs typeface="Myriad Pro"/>
              </a:rPr>
              <a:t>Check SNR (CTLTOP).............................................................................................</a:t>
            </a:r>
            <a:r>
              <a:rPr dirty="0" sz="1000" spc="185">
                <a:latin typeface="Myriad Pro"/>
                <a:cs typeface="Myriad Pro"/>
              </a:rPr>
              <a:t> </a:t>
            </a:r>
            <a:r>
              <a:rPr dirty="0" baseline="83333" sz="600">
                <a:latin typeface="Myriad Pro"/>
                <a:cs typeface="Myriad Pro"/>
              </a:rPr>
              <a:t>R1/R2</a:t>
            </a:r>
            <a:endParaRPr baseline="83333" sz="600">
              <a:latin typeface="Myriad Pro"/>
              <a:cs typeface="Myriad Pro"/>
            </a:endParaRPr>
          </a:p>
          <a:p>
            <a:pPr marL="561975">
              <a:lnSpc>
                <a:spcPct val="100000"/>
              </a:lnSpc>
              <a:spcBef>
                <a:spcPts val="464"/>
              </a:spcBef>
              <a:tabLst>
                <a:tab pos="1405255" algn="l"/>
                <a:tab pos="2000885" algn="l"/>
                <a:tab pos="2673350" algn="l"/>
              </a:tabLst>
            </a:pPr>
            <a:r>
              <a:rPr dirty="0" sz="600">
                <a:latin typeface="Myriad Pro"/>
                <a:cs typeface="Myriad Pro"/>
              </a:rPr>
              <a:t>APS -R1	R2	TG	AX</a:t>
            </a:r>
            <a:endParaRPr sz="600">
              <a:latin typeface="Myriad Pro"/>
              <a:cs typeface="Myriad Pro"/>
            </a:endParaRPr>
          </a:p>
          <a:p>
            <a:pPr marL="145415">
              <a:lnSpc>
                <a:spcPct val="100000"/>
              </a:lnSpc>
              <a:spcBef>
                <a:spcPts val="145"/>
              </a:spcBef>
            </a:pPr>
            <a:r>
              <a:rPr dirty="0" sz="1000">
                <a:latin typeface="Myriad Pro"/>
                <a:cs typeface="Myriad Pro"/>
              </a:rPr>
              <a:t>Check SNR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(CTLBOT)............................................................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69595">
              <a:lnSpc>
                <a:spcPct val="100000"/>
              </a:lnSpc>
              <a:spcBef>
                <a:spcPts val="370"/>
              </a:spcBef>
              <a:tabLst>
                <a:tab pos="1412240" algn="l"/>
                <a:tab pos="2008505" algn="l"/>
                <a:tab pos="2680970" algn="l"/>
              </a:tabLst>
            </a:pPr>
            <a:r>
              <a:rPr dirty="0" sz="600">
                <a:latin typeface="Myriad Pro"/>
                <a:cs typeface="Myriad Pro"/>
              </a:rPr>
              <a:t>APS -R1	R2	TG	AX</a:t>
            </a:r>
            <a:endParaRPr sz="600">
              <a:latin typeface="Myriad Pro"/>
              <a:cs typeface="Myriad Pro"/>
            </a:endParaRPr>
          </a:p>
          <a:p>
            <a:pPr marL="141605">
              <a:lnSpc>
                <a:spcPct val="100000"/>
              </a:lnSpc>
              <a:spcBef>
                <a:spcPts val="360"/>
              </a:spcBef>
            </a:pPr>
            <a:r>
              <a:rPr dirty="0" sz="1000">
                <a:latin typeface="Myriad Pro"/>
                <a:cs typeface="Myriad Pro"/>
              </a:rPr>
              <a:t>Check SNR and RF output-</a:t>
            </a:r>
            <a:r>
              <a:rPr dirty="0" sz="1000" spc="-95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Body.........................................................................................................................................................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71500">
              <a:lnSpc>
                <a:spcPct val="100000"/>
              </a:lnSpc>
              <a:spcBef>
                <a:spcPts val="515"/>
              </a:spcBef>
              <a:tabLst>
                <a:tab pos="1414780" algn="l"/>
                <a:tab pos="2010410" algn="l"/>
                <a:tab pos="2683510" algn="l"/>
              </a:tabLst>
            </a:pPr>
            <a:r>
              <a:rPr dirty="0" sz="600">
                <a:latin typeface="Myriad Pro"/>
                <a:cs typeface="Myriad Pro"/>
              </a:rPr>
              <a:t>APS -R1	R2	TG	AX</a:t>
            </a:r>
            <a:endParaRPr sz="600">
              <a:latin typeface="Myriad Pro"/>
              <a:cs typeface="Myriad Pro"/>
            </a:endParaRPr>
          </a:p>
          <a:p>
            <a:pPr marL="141605">
              <a:lnSpc>
                <a:spcPct val="100000"/>
              </a:lnSpc>
              <a:spcBef>
                <a:spcPts val="345"/>
              </a:spcBef>
            </a:pPr>
            <a:r>
              <a:rPr dirty="0" sz="1000">
                <a:latin typeface="Myriad Pro"/>
                <a:cs typeface="Myriad Pro"/>
              </a:rPr>
              <a:t>Check Shim (45 DSV / 22 DSV)(make sure to run auto L-coil and DC</a:t>
            </a:r>
            <a:r>
              <a:rPr dirty="0" sz="1000" spc="-10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off-sets)...................................................................</a:t>
            </a:r>
            <a:endParaRPr sz="1000">
              <a:latin typeface="Myriad Pro"/>
              <a:cs typeface="Myriad Pro"/>
            </a:endParaRPr>
          </a:p>
          <a:p>
            <a:pPr marL="566420">
              <a:lnSpc>
                <a:spcPct val="100000"/>
              </a:lnSpc>
              <a:spcBef>
                <a:spcPts val="570"/>
              </a:spcBef>
              <a:tabLst>
                <a:tab pos="1414780" algn="l"/>
                <a:tab pos="2005330" algn="l"/>
                <a:tab pos="2677795" algn="l"/>
              </a:tabLst>
            </a:pPr>
            <a:r>
              <a:rPr dirty="0" sz="600">
                <a:latin typeface="Myriad Pro"/>
                <a:cs typeface="Myriad Pro"/>
              </a:rPr>
              <a:t>APS -R1	R2	TG	AX</a:t>
            </a:r>
            <a:endParaRPr sz="600">
              <a:latin typeface="Myriad Pro"/>
              <a:cs typeface="Myriad Pro"/>
            </a:endParaRPr>
          </a:p>
        </p:txBody>
      </p:sp>
      <p:graphicFrame>
        <p:nvGraphicFramePr>
          <p:cNvPr id="93" name="object 93"/>
          <p:cNvGraphicFramePr>
            <a:graphicFrameLocks noGrp="1"/>
          </p:cNvGraphicFramePr>
          <p:nvPr/>
        </p:nvGraphicFramePr>
        <p:xfrm>
          <a:off x="3164825" y="3053880"/>
          <a:ext cx="2969895" cy="7258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10895"/>
                <a:gridCol w="233045"/>
                <a:gridCol w="323215"/>
                <a:gridCol w="1269"/>
                <a:gridCol w="208915"/>
                <a:gridCol w="323849"/>
                <a:gridCol w="1905"/>
                <a:gridCol w="210819"/>
                <a:gridCol w="324485"/>
                <a:gridCol w="1269"/>
                <a:gridCol w="210185"/>
                <a:gridCol w="324485"/>
                <a:gridCol w="2539"/>
              </a:tblGrid>
              <a:tr h="160020">
                <a:tc>
                  <a:txBody>
                    <a:bodyPr/>
                    <a:lstStyle/>
                    <a:p>
                      <a:pPr marL="8890">
                        <a:lnSpc>
                          <a:spcPct val="100000"/>
                        </a:lnSpc>
                        <a:spcBef>
                          <a:spcPts val="110"/>
                        </a:spcBef>
                        <a:tabLst>
                          <a:tab pos="817880" algn="l"/>
                        </a:tabLst>
                      </a:pPr>
                      <a:r>
                        <a:rPr dirty="0" u="sng" sz="400">
                          <a:uFill>
                            <a:solidFill>
                              <a:srgbClr val="000000"/>
                            </a:solidFill>
                          </a:uFill>
                          <a:latin typeface="Myriad Pro"/>
                          <a:cs typeface="Myriad Pro"/>
                        </a:rPr>
                        <a:t> 	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/>
                </a:tc>
                <a:tc>
                  <a:txBody>
                    <a:bodyPr/>
                    <a:lstStyle/>
                    <a:p>
                      <a:pPr marL="10541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RC1%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8191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RC2%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8128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RC3%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8105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RC4%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1600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0477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RC5%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L="819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RC6%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L="8191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RC7%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 marL="78105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RC8%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7683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4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</a:tr>
              <a:tr h="160020">
                <a:tc gridSpan="2">
                  <a:txBody>
                    <a:bodyPr/>
                    <a:lstStyle/>
                    <a:p>
                      <a:pPr algn="r" marR="635">
                        <a:lnSpc>
                          <a:spcPts val="260"/>
                        </a:lnSpc>
                      </a:pPr>
                      <a:r>
                        <a:rPr dirty="0" sz="1000">
                          <a:latin typeface="Myriad Pro"/>
                          <a:cs typeface="Myriad Pro"/>
                        </a:rPr>
                        <a:t>................................ </a:t>
                      </a:r>
                      <a:r>
                        <a:rPr dirty="0" sz="1000" spc="155">
                          <a:latin typeface="Myriad Pro"/>
                          <a:cs typeface="Myriad Pro"/>
                        </a:rPr>
                        <a:t> </a:t>
                      </a:r>
                      <a:r>
                        <a:rPr dirty="0" sz="400">
                          <a:latin typeface="Myriad Pro"/>
                          <a:cs typeface="Myriad Pro"/>
                        </a:rPr>
                        <a:t>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  <a:p>
                      <a:pPr algn="r" marR="635">
                        <a:lnSpc>
                          <a:spcPts val="229"/>
                        </a:lnSpc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RC1%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74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RC2%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747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RC3%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3660">
                        <a:lnSpc>
                          <a:spcPct val="100000"/>
                        </a:lnSpc>
                        <a:spcBef>
                          <a:spcPts val="11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RC4%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1397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  <a:tr h="1612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033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RC5%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74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RC6%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747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RC7%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r" marL="73660">
                        <a:lnSpc>
                          <a:spcPct val="100000"/>
                        </a:lnSpc>
                        <a:spcBef>
                          <a:spcPts val="170"/>
                        </a:spcBef>
                      </a:pPr>
                      <a:r>
                        <a:rPr dirty="0" sz="400">
                          <a:latin typeface="Myriad Pro"/>
                          <a:cs typeface="Myriad Pro"/>
                        </a:rPr>
                        <a:t>RC8%  R1/R2</a:t>
                      </a:r>
                      <a:endParaRPr sz="400">
                        <a:latin typeface="Myriad Pro"/>
                        <a:cs typeface="Myriad Pro"/>
                      </a:endParaRPr>
                    </a:p>
                  </a:txBody>
                  <a:tcPr marL="0" marR="0" marB="0" marT="2159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6350">
                      <a:solidFill>
                        <a:srgbClr val="000000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94" name="object 94"/>
          <p:cNvSpPr/>
          <p:nvPr/>
        </p:nvSpPr>
        <p:spPr>
          <a:xfrm>
            <a:off x="6463821" y="3510863"/>
            <a:ext cx="122290" cy="122296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6690884" y="3510812"/>
            <a:ext cx="122290" cy="122296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6919484" y="3510812"/>
            <a:ext cx="122290" cy="122296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6190580" y="3847845"/>
            <a:ext cx="122290" cy="12229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6456264" y="3847832"/>
            <a:ext cx="122109" cy="12229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6687303" y="3847845"/>
            <a:ext cx="122290" cy="122296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6915903" y="3847845"/>
            <a:ext cx="122290" cy="122296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6190580" y="4200409"/>
            <a:ext cx="122290" cy="12229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6456264" y="4200409"/>
            <a:ext cx="122109" cy="122296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6687277" y="4200409"/>
            <a:ext cx="122290" cy="122296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6915877" y="4200409"/>
            <a:ext cx="122290" cy="122296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1227747" y="2115299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1900262" y="2115299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2526195" y="2116201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3169831" y="2116023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 h="0">
                <a:moveTo>
                  <a:pt x="0" y="0"/>
                </a:moveTo>
                <a:lnTo>
                  <a:pt x="80900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452188" y="2114905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 h="0">
                <a:moveTo>
                  <a:pt x="0" y="0"/>
                </a:moveTo>
                <a:lnTo>
                  <a:pt x="80900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1230185" y="2432989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1988489" y="2430970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3035731" y="2431872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3796017" y="2432913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4832959" y="2439352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593245" y="2440368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1224254" y="4487735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1906930" y="4487735"/>
            <a:ext cx="281305" cy="0"/>
          </a:xfrm>
          <a:custGeom>
            <a:avLst/>
            <a:gdLst/>
            <a:ahLst/>
            <a:cxnLst/>
            <a:rect l="l" t="t" r="r" b="b"/>
            <a:pathLst>
              <a:path w="281305" h="0">
                <a:moveTo>
                  <a:pt x="0" y="0"/>
                </a:moveTo>
                <a:lnTo>
                  <a:pt x="2809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2522702" y="4488599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3166376" y="4488446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 h="0">
                <a:moveTo>
                  <a:pt x="0" y="0"/>
                </a:moveTo>
                <a:lnTo>
                  <a:pt x="80900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1231988" y="3120593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1904504" y="3120593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2530436" y="3121456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1229575" y="4127411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1902091" y="4127411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/>
          <p:nvPr/>
        </p:nvSpPr>
        <p:spPr>
          <a:xfrm>
            <a:off x="2528023" y="4128312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6" name="object 126"/>
          <p:cNvSpPr/>
          <p:nvPr/>
        </p:nvSpPr>
        <p:spPr>
          <a:xfrm>
            <a:off x="3171698" y="4128134"/>
            <a:ext cx="809625" cy="0"/>
          </a:xfrm>
          <a:custGeom>
            <a:avLst/>
            <a:gdLst/>
            <a:ahLst/>
            <a:cxnLst/>
            <a:rect l="l" t="t" r="r" b="b"/>
            <a:pathLst>
              <a:path w="809625" h="0">
                <a:moveTo>
                  <a:pt x="0" y="0"/>
                </a:moveTo>
                <a:lnTo>
                  <a:pt x="809002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7" name="object 127"/>
          <p:cNvSpPr/>
          <p:nvPr/>
        </p:nvSpPr>
        <p:spPr>
          <a:xfrm>
            <a:off x="1219898" y="3463023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8" name="object 128"/>
          <p:cNvSpPr/>
          <p:nvPr/>
        </p:nvSpPr>
        <p:spPr>
          <a:xfrm>
            <a:off x="1892414" y="3463023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9" name="object 129"/>
          <p:cNvSpPr/>
          <p:nvPr/>
        </p:nvSpPr>
        <p:spPr>
          <a:xfrm>
            <a:off x="2518346" y="3463925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0" name="object 130"/>
          <p:cNvSpPr/>
          <p:nvPr/>
        </p:nvSpPr>
        <p:spPr>
          <a:xfrm>
            <a:off x="1227378" y="3772484"/>
            <a:ext cx="375285" cy="0"/>
          </a:xfrm>
          <a:custGeom>
            <a:avLst/>
            <a:gdLst/>
            <a:ahLst/>
            <a:cxnLst/>
            <a:rect l="l" t="t" r="r" b="b"/>
            <a:pathLst>
              <a:path w="375284" h="0">
                <a:moveTo>
                  <a:pt x="0" y="0"/>
                </a:moveTo>
                <a:lnTo>
                  <a:pt x="374929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1" name="object 131"/>
          <p:cNvSpPr/>
          <p:nvPr/>
        </p:nvSpPr>
        <p:spPr>
          <a:xfrm>
            <a:off x="1899894" y="3772484"/>
            <a:ext cx="291465" cy="0"/>
          </a:xfrm>
          <a:custGeom>
            <a:avLst/>
            <a:gdLst/>
            <a:ahLst/>
            <a:cxnLst/>
            <a:rect l="l" t="t" r="r" b="b"/>
            <a:pathLst>
              <a:path w="291464" h="0">
                <a:moveTo>
                  <a:pt x="0" y="0"/>
                </a:moveTo>
                <a:lnTo>
                  <a:pt x="29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2" name="object 132"/>
          <p:cNvSpPr/>
          <p:nvPr/>
        </p:nvSpPr>
        <p:spPr>
          <a:xfrm>
            <a:off x="2525826" y="3773385"/>
            <a:ext cx="365760" cy="0"/>
          </a:xfrm>
          <a:custGeom>
            <a:avLst/>
            <a:gdLst/>
            <a:ahLst/>
            <a:cxnLst/>
            <a:rect l="l" t="t" r="r" b="b"/>
            <a:pathLst>
              <a:path w="365760" h="0">
                <a:moveTo>
                  <a:pt x="0" y="0"/>
                </a:moveTo>
                <a:lnTo>
                  <a:pt x="365594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3" name="object 133"/>
          <p:cNvSpPr/>
          <p:nvPr/>
        </p:nvSpPr>
        <p:spPr>
          <a:xfrm>
            <a:off x="1078547" y="5135054"/>
            <a:ext cx="441959" cy="0"/>
          </a:xfrm>
          <a:custGeom>
            <a:avLst/>
            <a:gdLst/>
            <a:ahLst/>
            <a:cxnLst/>
            <a:rect l="l" t="t" r="r" b="b"/>
            <a:pathLst>
              <a:path w="441959" h="0">
                <a:moveTo>
                  <a:pt x="0" y="0"/>
                </a:moveTo>
                <a:lnTo>
                  <a:pt x="44149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4" name="object 134"/>
          <p:cNvSpPr/>
          <p:nvPr/>
        </p:nvSpPr>
        <p:spPr>
          <a:xfrm>
            <a:off x="1078547" y="5361025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5" h="0">
                <a:moveTo>
                  <a:pt x="0" y="0"/>
                </a:moveTo>
                <a:lnTo>
                  <a:pt x="45008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5" name="object 135"/>
          <p:cNvSpPr/>
          <p:nvPr/>
        </p:nvSpPr>
        <p:spPr>
          <a:xfrm>
            <a:off x="1977517" y="5141595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6" name="object 136"/>
          <p:cNvSpPr/>
          <p:nvPr/>
        </p:nvSpPr>
        <p:spPr>
          <a:xfrm>
            <a:off x="1978850" y="551588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7" name="object 137"/>
          <p:cNvSpPr/>
          <p:nvPr/>
        </p:nvSpPr>
        <p:spPr>
          <a:xfrm>
            <a:off x="2703918" y="513285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8" name="object 138"/>
          <p:cNvSpPr/>
          <p:nvPr/>
        </p:nvSpPr>
        <p:spPr>
          <a:xfrm>
            <a:off x="2703741" y="5511101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9" name="object 139"/>
          <p:cNvSpPr/>
          <p:nvPr/>
        </p:nvSpPr>
        <p:spPr>
          <a:xfrm>
            <a:off x="3427310" y="513285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0" name="object 140"/>
          <p:cNvSpPr/>
          <p:nvPr/>
        </p:nvSpPr>
        <p:spPr>
          <a:xfrm>
            <a:off x="3427120" y="5511101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1" name="object 141"/>
          <p:cNvSpPr/>
          <p:nvPr/>
        </p:nvSpPr>
        <p:spPr>
          <a:xfrm>
            <a:off x="6212843" y="7860423"/>
            <a:ext cx="122109" cy="12229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2" name="object 142"/>
          <p:cNvSpPr/>
          <p:nvPr/>
        </p:nvSpPr>
        <p:spPr>
          <a:xfrm>
            <a:off x="6504930" y="7852866"/>
            <a:ext cx="122290" cy="122296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3" name="object 143"/>
          <p:cNvSpPr/>
          <p:nvPr/>
        </p:nvSpPr>
        <p:spPr>
          <a:xfrm>
            <a:off x="6733518" y="7852866"/>
            <a:ext cx="122290" cy="12229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4" name="object 144"/>
          <p:cNvSpPr/>
          <p:nvPr/>
        </p:nvSpPr>
        <p:spPr>
          <a:xfrm>
            <a:off x="6962118" y="7852866"/>
            <a:ext cx="122290" cy="122296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5" name="object 145"/>
          <p:cNvSpPr/>
          <p:nvPr/>
        </p:nvSpPr>
        <p:spPr>
          <a:xfrm>
            <a:off x="6212843" y="8045170"/>
            <a:ext cx="122109" cy="122296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6" name="object 146"/>
          <p:cNvSpPr/>
          <p:nvPr/>
        </p:nvSpPr>
        <p:spPr>
          <a:xfrm>
            <a:off x="6507166" y="8037905"/>
            <a:ext cx="122290" cy="122115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7" name="object 147"/>
          <p:cNvSpPr/>
          <p:nvPr/>
        </p:nvSpPr>
        <p:spPr>
          <a:xfrm>
            <a:off x="6735753" y="8037905"/>
            <a:ext cx="122290" cy="122115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8" name="object 148"/>
          <p:cNvSpPr/>
          <p:nvPr/>
        </p:nvSpPr>
        <p:spPr>
          <a:xfrm>
            <a:off x="6964353" y="8037905"/>
            <a:ext cx="122290" cy="122115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9" name="object 149"/>
          <p:cNvSpPr/>
          <p:nvPr/>
        </p:nvSpPr>
        <p:spPr>
          <a:xfrm>
            <a:off x="6219701" y="8230488"/>
            <a:ext cx="122290" cy="12229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0" name="object 150"/>
          <p:cNvSpPr/>
          <p:nvPr/>
        </p:nvSpPr>
        <p:spPr>
          <a:xfrm>
            <a:off x="6491215" y="8225433"/>
            <a:ext cx="122290" cy="122296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1" name="object 151"/>
          <p:cNvSpPr/>
          <p:nvPr/>
        </p:nvSpPr>
        <p:spPr>
          <a:xfrm>
            <a:off x="6719802" y="8225433"/>
            <a:ext cx="122290" cy="122296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2" name="object 152"/>
          <p:cNvSpPr/>
          <p:nvPr/>
        </p:nvSpPr>
        <p:spPr>
          <a:xfrm>
            <a:off x="6948402" y="8225433"/>
            <a:ext cx="122290" cy="122296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3" name="object 153"/>
          <p:cNvSpPr/>
          <p:nvPr/>
        </p:nvSpPr>
        <p:spPr>
          <a:xfrm>
            <a:off x="6216387" y="8438323"/>
            <a:ext cx="122290" cy="12211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4" name="object 154"/>
          <p:cNvSpPr/>
          <p:nvPr/>
        </p:nvSpPr>
        <p:spPr>
          <a:xfrm>
            <a:off x="6487887" y="8433268"/>
            <a:ext cx="122290" cy="122115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5" name="object 155"/>
          <p:cNvSpPr/>
          <p:nvPr/>
        </p:nvSpPr>
        <p:spPr>
          <a:xfrm>
            <a:off x="6716475" y="8433268"/>
            <a:ext cx="122290" cy="122115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6" name="object 156"/>
          <p:cNvSpPr/>
          <p:nvPr/>
        </p:nvSpPr>
        <p:spPr>
          <a:xfrm>
            <a:off x="6945075" y="8433268"/>
            <a:ext cx="122290" cy="122115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7" name="object 157"/>
          <p:cNvSpPr/>
          <p:nvPr/>
        </p:nvSpPr>
        <p:spPr>
          <a:xfrm>
            <a:off x="4738268" y="5137099"/>
            <a:ext cx="441959" cy="0"/>
          </a:xfrm>
          <a:custGeom>
            <a:avLst/>
            <a:gdLst/>
            <a:ahLst/>
            <a:cxnLst/>
            <a:rect l="l" t="t" r="r" b="b"/>
            <a:pathLst>
              <a:path w="441960" h="0">
                <a:moveTo>
                  <a:pt x="0" y="0"/>
                </a:moveTo>
                <a:lnTo>
                  <a:pt x="441490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8" name="object 158"/>
          <p:cNvSpPr/>
          <p:nvPr/>
        </p:nvSpPr>
        <p:spPr>
          <a:xfrm>
            <a:off x="4738268" y="5363070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4" h="0">
                <a:moveTo>
                  <a:pt x="0" y="0"/>
                </a:moveTo>
                <a:lnTo>
                  <a:pt x="45008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9" name="object 159"/>
          <p:cNvSpPr/>
          <p:nvPr/>
        </p:nvSpPr>
        <p:spPr>
          <a:xfrm>
            <a:off x="5637238" y="5124970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0" name="object 160"/>
          <p:cNvSpPr/>
          <p:nvPr/>
        </p:nvSpPr>
        <p:spPr>
          <a:xfrm>
            <a:off x="5638609" y="5499265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1" name="object 161"/>
          <p:cNvSpPr/>
          <p:nvPr/>
        </p:nvSpPr>
        <p:spPr>
          <a:xfrm>
            <a:off x="6363639" y="5116182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2" name="object 162"/>
          <p:cNvSpPr/>
          <p:nvPr/>
        </p:nvSpPr>
        <p:spPr>
          <a:xfrm>
            <a:off x="6363461" y="549443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3" name="object 163"/>
          <p:cNvSpPr/>
          <p:nvPr/>
        </p:nvSpPr>
        <p:spPr>
          <a:xfrm>
            <a:off x="7087031" y="5116182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4" name="object 164"/>
          <p:cNvSpPr/>
          <p:nvPr/>
        </p:nvSpPr>
        <p:spPr>
          <a:xfrm>
            <a:off x="7086879" y="549443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5" name="object 165"/>
          <p:cNvSpPr/>
          <p:nvPr/>
        </p:nvSpPr>
        <p:spPr>
          <a:xfrm>
            <a:off x="5658015" y="738249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6" name="object 166"/>
          <p:cNvSpPr/>
          <p:nvPr/>
        </p:nvSpPr>
        <p:spPr>
          <a:xfrm>
            <a:off x="6382867" y="738249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7" name="object 167"/>
          <p:cNvSpPr/>
          <p:nvPr/>
        </p:nvSpPr>
        <p:spPr>
          <a:xfrm>
            <a:off x="7106284" y="7382497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8" name="object 168"/>
          <p:cNvSpPr/>
          <p:nvPr/>
        </p:nvSpPr>
        <p:spPr>
          <a:xfrm>
            <a:off x="1216647" y="6871614"/>
            <a:ext cx="450215" cy="0"/>
          </a:xfrm>
          <a:custGeom>
            <a:avLst/>
            <a:gdLst/>
            <a:ahLst/>
            <a:cxnLst/>
            <a:rect l="l" t="t" r="r" b="b"/>
            <a:pathLst>
              <a:path w="450214" h="0">
                <a:moveTo>
                  <a:pt x="0" y="0"/>
                </a:moveTo>
                <a:lnTo>
                  <a:pt x="450088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9" name="object 169"/>
          <p:cNvSpPr/>
          <p:nvPr/>
        </p:nvSpPr>
        <p:spPr>
          <a:xfrm>
            <a:off x="2116975" y="7007809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0" name="object 170"/>
          <p:cNvSpPr/>
          <p:nvPr/>
        </p:nvSpPr>
        <p:spPr>
          <a:xfrm>
            <a:off x="2115642" y="7389076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1" name="object 171"/>
          <p:cNvSpPr/>
          <p:nvPr/>
        </p:nvSpPr>
        <p:spPr>
          <a:xfrm>
            <a:off x="2840507" y="7389076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5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2" name="object 172"/>
          <p:cNvSpPr/>
          <p:nvPr/>
        </p:nvSpPr>
        <p:spPr>
          <a:xfrm>
            <a:off x="3563924" y="7389076"/>
            <a:ext cx="300355" cy="0"/>
          </a:xfrm>
          <a:custGeom>
            <a:avLst/>
            <a:gdLst/>
            <a:ahLst/>
            <a:cxnLst/>
            <a:rect l="l" t="t" r="r" b="b"/>
            <a:pathLst>
              <a:path w="300354" h="0">
                <a:moveTo>
                  <a:pt x="0" y="0"/>
                </a:moveTo>
                <a:lnTo>
                  <a:pt x="300101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3" name="object 173"/>
          <p:cNvSpPr/>
          <p:nvPr/>
        </p:nvSpPr>
        <p:spPr>
          <a:xfrm>
            <a:off x="277850" y="6182715"/>
            <a:ext cx="7218680" cy="1465580"/>
          </a:xfrm>
          <a:custGeom>
            <a:avLst/>
            <a:gdLst/>
            <a:ahLst/>
            <a:cxnLst/>
            <a:rect l="l" t="t" r="r" b="b"/>
            <a:pathLst>
              <a:path w="7218680" h="1465579">
                <a:moveTo>
                  <a:pt x="0" y="1465275"/>
                </a:moveTo>
                <a:lnTo>
                  <a:pt x="7218464" y="1465275"/>
                </a:lnTo>
                <a:lnTo>
                  <a:pt x="7218464" y="0"/>
                </a:lnTo>
                <a:lnTo>
                  <a:pt x="0" y="0"/>
                </a:lnTo>
                <a:lnTo>
                  <a:pt x="0" y="1465275"/>
                </a:lnTo>
                <a:close/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4" name="object 174"/>
          <p:cNvSpPr/>
          <p:nvPr/>
        </p:nvSpPr>
        <p:spPr>
          <a:xfrm>
            <a:off x="6152950" y="2504490"/>
            <a:ext cx="122290" cy="122296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5" name="object 175"/>
          <p:cNvSpPr/>
          <p:nvPr/>
        </p:nvSpPr>
        <p:spPr>
          <a:xfrm>
            <a:off x="6434077" y="2504490"/>
            <a:ext cx="122290" cy="122296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6" name="object 176"/>
          <p:cNvSpPr/>
          <p:nvPr/>
        </p:nvSpPr>
        <p:spPr>
          <a:xfrm>
            <a:off x="6667135" y="2504490"/>
            <a:ext cx="122290" cy="12229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7" name="object 177"/>
          <p:cNvSpPr/>
          <p:nvPr/>
        </p:nvSpPr>
        <p:spPr>
          <a:xfrm>
            <a:off x="6895735" y="2504490"/>
            <a:ext cx="122290" cy="122296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8" name="object 178"/>
          <p:cNvSpPr/>
          <p:nvPr/>
        </p:nvSpPr>
        <p:spPr>
          <a:xfrm>
            <a:off x="1207973" y="2769654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5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9" name="object 179"/>
          <p:cNvSpPr/>
          <p:nvPr/>
        </p:nvSpPr>
        <p:spPr>
          <a:xfrm>
            <a:off x="1966277" y="2767634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0" name="object 180"/>
          <p:cNvSpPr/>
          <p:nvPr/>
        </p:nvSpPr>
        <p:spPr>
          <a:xfrm>
            <a:off x="3013519" y="2768536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1" name="object 181"/>
          <p:cNvSpPr/>
          <p:nvPr/>
        </p:nvSpPr>
        <p:spPr>
          <a:xfrm>
            <a:off x="3773804" y="2769590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2" name="object 182"/>
          <p:cNvSpPr/>
          <p:nvPr/>
        </p:nvSpPr>
        <p:spPr>
          <a:xfrm>
            <a:off x="4810747" y="2776029"/>
            <a:ext cx="509905" cy="0"/>
          </a:xfrm>
          <a:custGeom>
            <a:avLst/>
            <a:gdLst/>
            <a:ahLst/>
            <a:cxnLst/>
            <a:rect l="l" t="t" r="r" b="b"/>
            <a:pathLst>
              <a:path w="509904" h="0">
                <a:moveTo>
                  <a:pt x="0" y="0"/>
                </a:moveTo>
                <a:lnTo>
                  <a:pt x="50958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3" name="object 183"/>
          <p:cNvSpPr/>
          <p:nvPr/>
        </p:nvSpPr>
        <p:spPr>
          <a:xfrm>
            <a:off x="5571032" y="2777032"/>
            <a:ext cx="441325" cy="0"/>
          </a:xfrm>
          <a:custGeom>
            <a:avLst/>
            <a:gdLst/>
            <a:ahLst/>
            <a:cxnLst/>
            <a:rect l="l" t="t" r="r" b="b"/>
            <a:pathLst>
              <a:path w="441325" h="0">
                <a:moveTo>
                  <a:pt x="0" y="0"/>
                </a:moveTo>
                <a:lnTo>
                  <a:pt x="441147" y="0"/>
                </a:lnTo>
              </a:path>
            </a:pathLst>
          </a:custGeom>
          <a:ln w="635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4" name="object 184"/>
          <p:cNvSpPr txBox="1"/>
          <p:nvPr/>
        </p:nvSpPr>
        <p:spPr>
          <a:xfrm>
            <a:off x="4871478" y="170471"/>
            <a:ext cx="2667635" cy="86169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latin typeface="Myriad Pro"/>
                <a:cs typeface="Myriad Pro"/>
              </a:rPr>
              <a:t>QuarterlyPM</a:t>
            </a:r>
            <a:r>
              <a:rPr dirty="0" sz="2000" spc="-20" b="1">
                <a:latin typeface="Myriad Pro"/>
                <a:cs typeface="Myriad Pro"/>
              </a:rPr>
              <a:t> </a:t>
            </a:r>
            <a:r>
              <a:rPr dirty="0" sz="2000" b="1">
                <a:latin typeface="Myriad Pro"/>
                <a:cs typeface="Myriad Pro"/>
              </a:rPr>
              <a:t>Checklist</a:t>
            </a:r>
            <a:endParaRPr sz="2000">
              <a:latin typeface="Myriad Pro"/>
              <a:cs typeface="Myriad Pro"/>
            </a:endParaRPr>
          </a:p>
          <a:p>
            <a:pPr marL="431165">
              <a:lnSpc>
                <a:spcPct val="100000"/>
              </a:lnSpc>
              <a:spcBef>
                <a:spcPts val="785"/>
              </a:spcBef>
            </a:pPr>
            <a:r>
              <a:rPr dirty="0" sz="1000">
                <a:latin typeface="Myriad Pro"/>
                <a:cs typeface="Myriad Pro"/>
              </a:rPr>
              <a:t>Planned Maintenance</a:t>
            </a:r>
            <a:r>
              <a:rPr dirty="0" sz="1000" spc="-10">
                <a:latin typeface="Myriad Pro"/>
                <a:cs typeface="Myriad Pro"/>
              </a:rPr>
              <a:t> </a:t>
            </a:r>
            <a:r>
              <a:rPr dirty="0" sz="1000">
                <a:latin typeface="Myriad Pro"/>
                <a:cs typeface="Myriad Pro"/>
              </a:rPr>
              <a:t>Checklist</a:t>
            </a:r>
            <a:endParaRPr sz="1000">
              <a:latin typeface="Myriad Pro"/>
              <a:cs typeface="Myriad Pro"/>
            </a:endParaRPr>
          </a:p>
          <a:p>
            <a:pPr marL="495934">
              <a:lnSpc>
                <a:spcPct val="100000"/>
              </a:lnSpc>
              <a:spcBef>
                <a:spcPts val="1000"/>
              </a:spcBef>
              <a:tabLst>
                <a:tab pos="2639060" algn="l"/>
              </a:tabLst>
            </a:pPr>
            <a:r>
              <a:rPr dirty="0" sz="1000">
                <a:latin typeface="Myriad Pro"/>
                <a:cs typeface="Myriad Pro"/>
              </a:rPr>
              <a:t>Month:</a:t>
            </a:r>
            <a:r>
              <a:rPr dirty="0" sz="1000" spc="-80">
                <a:latin typeface="Myriad Pro"/>
                <a:cs typeface="Myriad Pro"/>
              </a:rPr>
              <a:t> </a:t>
            </a:r>
            <a:r>
              <a:rPr dirty="0" u="sng" sz="1000">
                <a:uFill>
                  <a:solidFill>
                    <a:srgbClr val="000000"/>
                  </a:solidFill>
                </a:uFill>
                <a:latin typeface="Myriad Pro"/>
                <a:cs typeface="Myriad Pro"/>
              </a:rPr>
              <a:t> 	</a:t>
            </a:r>
            <a:endParaRPr sz="1000">
              <a:latin typeface="Myriad Pro"/>
              <a:cs typeface="Myriad Pr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2018-10-03T22:02:47Z</dcterms:created>
  <dcterms:modified xsi:type="dcterms:W3CDTF">2018-10-03T22:02:47Z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2018-10-03T00:00:00Z</vt:filetime>
  </property>
  <property fmtid="{D5CDD505-2E9C-101B-9397-08002B2CF9AE}" pid="3" name="Creator">
    <vt:lpwstr>Designer 6.4</vt:lpwstr>
  </property>
  <property fmtid="{D5CDD505-2E9C-101B-9397-08002B2CF9AE}" pid="4" name="LastSaved">
    <vt:filetime>2018-10-03T00:00:00Z</vt:filetime>
  </property>
</Properties>
</file>