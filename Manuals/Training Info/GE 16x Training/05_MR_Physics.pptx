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76" r:id="rId2"/>
    <p:sldId id="277" r:id="rId3"/>
    <p:sldId id="272" r:id="rId4"/>
    <p:sldId id="291" r:id="rId5"/>
    <p:sldId id="292" r:id="rId6"/>
    <p:sldId id="283" r:id="rId7"/>
    <p:sldId id="282" r:id="rId8"/>
    <p:sldId id="275" r:id="rId9"/>
    <p:sldId id="293" r:id="rId10"/>
    <p:sldId id="294" r:id="rId11"/>
    <p:sldId id="295" r:id="rId12"/>
    <p:sldId id="296" r:id="rId13"/>
    <p:sldId id="297" r:id="rId14"/>
    <p:sldId id="298" r:id="rId15"/>
    <p:sldId id="299" r:id="rId16"/>
    <p:sldId id="300" r:id="rId17"/>
    <p:sldId id="301"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 id="316" r:id="rId32"/>
    <p:sldId id="315" r:id="rId33"/>
    <p:sldId id="318" r:id="rId34"/>
    <p:sldId id="317" r:id="rId35"/>
    <p:sldId id="319" r:id="rId36"/>
    <p:sldId id="320" r:id="rId37"/>
    <p:sldId id="322" r:id="rId38"/>
    <p:sldId id="321" r:id="rId39"/>
    <p:sldId id="323" r:id="rId40"/>
    <p:sldId id="324" r:id="rId41"/>
    <p:sldId id="325" r:id="rId42"/>
    <p:sldId id="326" r:id="rId43"/>
    <p:sldId id="327" r:id="rId44"/>
    <p:sldId id="328" r:id="rId45"/>
    <p:sldId id="337" r:id="rId46"/>
    <p:sldId id="329" r:id="rId47"/>
    <p:sldId id="330" r:id="rId48"/>
    <p:sldId id="331" r:id="rId49"/>
    <p:sldId id="332" r:id="rId50"/>
    <p:sldId id="333" r:id="rId51"/>
    <p:sldId id="334" r:id="rId52"/>
    <p:sldId id="335" r:id="rId53"/>
    <p:sldId id="336" r:id="rId54"/>
    <p:sldId id="338" r:id="rId55"/>
    <p:sldId id="339" r:id="rId56"/>
    <p:sldId id="341" r:id="rId57"/>
    <p:sldId id="342" r:id="rId58"/>
    <p:sldId id="343" r:id="rId59"/>
    <p:sldId id="344" r:id="rId60"/>
    <p:sldId id="340" r:id="rId61"/>
    <p:sldId id="268" r:id="rId62"/>
    <p:sldId id="270" r:id="rId63"/>
    <p:sldId id="269" r:id="rId64"/>
    <p:sldId id="271" r:id="rId65"/>
    <p:sldId id="274"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DE5F988-86C6-E340-AA4C-CCF1932DDA5F}">
          <p14:sldIdLst>
            <p14:sldId id="276"/>
            <p14:sldId id="277"/>
          </p14:sldIdLst>
        </p14:section>
        <p14:section name="Atom Physics" id="{10C36AB5-6CE0-B84B-A1E3-8983DA0F05EE}">
          <p14:sldIdLst>
            <p14:sldId id="272"/>
            <p14:sldId id="291"/>
            <p14:sldId id="292"/>
            <p14:sldId id="283"/>
            <p14:sldId id="282"/>
          </p14:sldIdLst>
        </p14:section>
        <p14:section name="Spin and Precession in magnetic fields" id="{927F02F2-B1A2-B942-A485-6DA7E2458ECA}">
          <p14:sldIdLst>
            <p14:sldId id="275"/>
            <p14:sldId id="293"/>
            <p14:sldId id="294"/>
            <p14:sldId id="295"/>
            <p14:sldId id="296"/>
            <p14:sldId id="297"/>
            <p14:sldId id="298"/>
            <p14:sldId id="299"/>
            <p14:sldId id="300"/>
            <p14:sldId id="301"/>
            <p14:sldId id="302"/>
            <p14:sldId id="303"/>
            <p14:sldId id="304"/>
            <p14:sldId id="305"/>
          </p14:sldIdLst>
        </p14:section>
        <p14:section name="MRI Hardware" id="{E08B40F5-D9C8-4A45-82C4-D6931968478D}">
          <p14:sldIdLst>
            <p14:sldId id="306"/>
            <p14:sldId id="307"/>
            <p14:sldId id="308"/>
            <p14:sldId id="309"/>
            <p14:sldId id="310"/>
            <p14:sldId id="311"/>
            <p14:sldId id="312"/>
            <p14:sldId id="313"/>
            <p14:sldId id="314"/>
            <p14:sldId id="316"/>
            <p14:sldId id="315"/>
            <p14:sldId id="318"/>
            <p14:sldId id="317"/>
          </p14:sldIdLst>
        </p14:section>
        <p14:section name="Imaging Concepts" id="{B99830C6-C298-40EE-AFFA-1EB6FD3ECEF6}">
          <p14:sldIdLst>
            <p14:sldId id="319"/>
            <p14:sldId id="320"/>
            <p14:sldId id="322"/>
            <p14:sldId id="321"/>
            <p14:sldId id="323"/>
            <p14:sldId id="324"/>
          </p14:sldIdLst>
        </p14:section>
        <p14:section name="Imaging Sequences" id="{40BFBEF1-4979-4AB8-9105-AE2168C03DE1}">
          <p14:sldIdLst>
            <p14:sldId id="325"/>
            <p14:sldId id="326"/>
            <p14:sldId id="327"/>
            <p14:sldId id="328"/>
            <p14:sldId id="337"/>
            <p14:sldId id="329"/>
            <p14:sldId id="330"/>
            <p14:sldId id="331"/>
            <p14:sldId id="332"/>
            <p14:sldId id="333"/>
            <p14:sldId id="334"/>
            <p14:sldId id="335"/>
            <p14:sldId id="336"/>
            <p14:sldId id="338"/>
            <p14:sldId id="339"/>
            <p14:sldId id="341"/>
            <p14:sldId id="342"/>
            <p14:sldId id="343"/>
            <p14:sldId id="344"/>
            <p14:sldId id="340"/>
            <p14:sldId id="268"/>
            <p14:sldId id="270"/>
            <p14:sldId id="269"/>
            <p14:sldId id="271"/>
            <p14:sldId id="27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652" autoAdjust="0"/>
  </p:normalViewPr>
  <p:slideViewPr>
    <p:cSldViewPr>
      <p:cViewPr varScale="1">
        <p:scale>
          <a:sx n="94" d="100"/>
          <a:sy n="94" d="100"/>
        </p:scale>
        <p:origin x="888" y="27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 J" userId="22cf0bdf11e74b3e" providerId="LiveId" clId="{6EB82793-2301-4AB4-B4F8-568F6EEF037C}"/>
    <pc:docChg chg="modSld sldOrd">
      <pc:chgData name="Mike J" userId="22cf0bdf11e74b3e" providerId="LiveId" clId="{6EB82793-2301-4AB4-B4F8-568F6EEF037C}" dt="2025-07-29T14:35:08.112" v="1"/>
      <pc:docMkLst>
        <pc:docMk/>
      </pc:docMkLst>
      <pc:sldChg chg="ord">
        <pc:chgData name="Mike J" userId="22cf0bdf11e74b3e" providerId="LiveId" clId="{6EB82793-2301-4AB4-B4F8-568F6EEF037C}" dt="2025-07-29T14:35:08.112" v="1"/>
        <pc:sldMkLst>
          <pc:docMk/>
          <pc:sldMk cId="763310737" sldId="275"/>
        </pc:sldMkLst>
      </pc:sldChg>
    </pc:docChg>
  </pc:docChgLst>
  <pc:docChgLst>
    <pc:chgData name="Mike J" userId="22cf0bdf11e74b3e" providerId="LiveId" clId="{FDF26D52-25B8-4F5F-AAD6-F0BDA96563A4}"/>
    <pc:docChg chg="undo custSel delSld modSld modSection">
      <pc:chgData name="Mike J" userId="22cf0bdf11e74b3e" providerId="LiveId" clId="{FDF26D52-25B8-4F5F-AAD6-F0BDA96563A4}" dt="2024-05-08T02:50:02.808" v="74" actId="47"/>
      <pc:docMkLst>
        <pc:docMk/>
      </pc:docMkLst>
      <pc:sldChg chg="del">
        <pc:chgData name="Mike J" userId="22cf0bdf11e74b3e" providerId="LiveId" clId="{FDF26D52-25B8-4F5F-AAD6-F0BDA96563A4}" dt="2024-05-08T02:49:58.459" v="73" actId="47"/>
        <pc:sldMkLst>
          <pc:docMk/>
          <pc:sldMk cId="0" sldId="257"/>
        </pc:sldMkLst>
      </pc:sldChg>
      <pc:sldChg chg="modSp mod">
        <pc:chgData name="Mike J" userId="22cf0bdf11e74b3e" providerId="LiveId" clId="{FDF26D52-25B8-4F5F-AAD6-F0BDA96563A4}" dt="2024-05-08T01:49:32.347" v="3" actId="20577"/>
        <pc:sldMkLst>
          <pc:docMk/>
          <pc:sldMk cId="968669375" sldId="272"/>
        </pc:sldMkLst>
      </pc:sldChg>
      <pc:sldChg chg="modSp mod modClrScheme chgLayout">
        <pc:chgData name="Mike J" userId="22cf0bdf11e74b3e" providerId="LiveId" clId="{FDF26D52-25B8-4F5F-AAD6-F0BDA96563A4}" dt="2024-05-08T02:01:23.910" v="36" actId="27614"/>
        <pc:sldMkLst>
          <pc:docMk/>
          <pc:sldMk cId="763310737" sldId="275"/>
        </pc:sldMkLst>
      </pc:sldChg>
      <pc:sldChg chg="delSp mod">
        <pc:chgData name="Mike J" userId="22cf0bdf11e74b3e" providerId="LiveId" clId="{FDF26D52-25B8-4F5F-AAD6-F0BDA96563A4}" dt="2024-05-08T01:48:42.099" v="0" actId="478"/>
        <pc:sldMkLst>
          <pc:docMk/>
          <pc:sldMk cId="449625969" sldId="276"/>
        </pc:sldMkLst>
      </pc:sldChg>
      <pc:sldChg chg="setBg">
        <pc:chgData name="Mike J" userId="22cf0bdf11e74b3e" providerId="LiveId" clId="{FDF26D52-25B8-4F5F-AAD6-F0BDA96563A4}" dt="2024-05-08T01:48:54.607" v="1"/>
        <pc:sldMkLst>
          <pc:docMk/>
          <pc:sldMk cId="3213985313" sldId="282"/>
        </pc:sldMkLst>
      </pc:sldChg>
      <pc:sldChg chg="addSp modSp mod">
        <pc:chgData name="Mike J" userId="22cf0bdf11e74b3e" providerId="LiveId" clId="{FDF26D52-25B8-4F5F-AAD6-F0BDA96563A4}" dt="2024-05-08T01:54:25.008" v="25" actId="1076"/>
        <pc:sldMkLst>
          <pc:docMk/>
          <pc:sldMk cId="2492697834" sldId="283"/>
        </pc:sldMkLst>
      </pc:sldChg>
      <pc:sldChg chg="addSp delSp modSp del mod">
        <pc:chgData name="Mike J" userId="22cf0bdf11e74b3e" providerId="LiveId" clId="{FDF26D52-25B8-4F5F-AAD6-F0BDA96563A4}" dt="2024-05-08T01:59:51.422" v="28" actId="47"/>
        <pc:sldMkLst>
          <pc:docMk/>
          <pc:sldMk cId="2256738140" sldId="284"/>
        </pc:sldMkLst>
      </pc:sldChg>
      <pc:sldChg chg="modSp mod modClrScheme chgLayout">
        <pc:chgData name="Mike J" userId="22cf0bdf11e74b3e" providerId="LiveId" clId="{FDF26D52-25B8-4F5F-AAD6-F0BDA96563A4}" dt="2024-05-08T01:51:55.498" v="15" actId="20577"/>
        <pc:sldMkLst>
          <pc:docMk/>
          <pc:sldMk cId="3030924577" sldId="291"/>
        </pc:sldMkLst>
      </pc:sldChg>
      <pc:sldChg chg="delSp mod delAnim">
        <pc:chgData name="Mike J" userId="22cf0bdf11e74b3e" providerId="LiveId" clId="{FDF26D52-25B8-4F5F-AAD6-F0BDA96563A4}" dt="2024-05-08T02:03:54.247" v="37" actId="478"/>
        <pc:sldMkLst>
          <pc:docMk/>
          <pc:sldMk cId="343750802" sldId="295"/>
        </pc:sldMkLst>
      </pc:sldChg>
      <pc:sldChg chg="modSp mod modClrScheme chgLayout">
        <pc:chgData name="Mike J" userId="22cf0bdf11e74b3e" providerId="LiveId" clId="{FDF26D52-25B8-4F5F-AAD6-F0BDA96563A4}" dt="2024-05-08T02:05:41.875" v="38" actId="26606"/>
        <pc:sldMkLst>
          <pc:docMk/>
          <pc:sldMk cId="614383673" sldId="298"/>
        </pc:sldMkLst>
      </pc:sldChg>
      <pc:sldChg chg="modSp mod">
        <pc:chgData name="Mike J" userId="22cf0bdf11e74b3e" providerId="LiveId" clId="{FDF26D52-25B8-4F5F-AAD6-F0BDA96563A4}" dt="2024-05-08T02:19:09.974" v="44" actId="14100"/>
        <pc:sldMkLst>
          <pc:docMk/>
          <pc:sldMk cId="3893531038" sldId="302"/>
        </pc:sldMkLst>
      </pc:sldChg>
      <pc:sldChg chg="modSp mod">
        <pc:chgData name="Mike J" userId="22cf0bdf11e74b3e" providerId="LiveId" clId="{FDF26D52-25B8-4F5F-AAD6-F0BDA96563A4}" dt="2024-05-08T02:21:30.157" v="45" actId="33524"/>
        <pc:sldMkLst>
          <pc:docMk/>
          <pc:sldMk cId="565909120" sldId="307"/>
        </pc:sldMkLst>
      </pc:sldChg>
      <pc:sldChg chg="addSp delSp modSp mod modClrScheme chgLayout">
        <pc:chgData name="Mike J" userId="22cf0bdf11e74b3e" providerId="LiveId" clId="{FDF26D52-25B8-4F5F-AAD6-F0BDA96563A4}" dt="2024-05-08T02:24:57.286" v="51" actId="14100"/>
        <pc:sldMkLst>
          <pc:docMk/>
          <pc:sldMk cId="3171894706" sldId="310"/>
        </pc:sldMkLst>
      </pc:sldChg>
      <pc:sldChg chg="modSp mod">
        <pc:chgData name="Mike J" userId="22cf0bdf11e74b3e" providerId="LiveId" clId="{FDF26D52-25B8-4F5F-AAD6-F0BDA96563A4}" dt="2024-05-08T02:25:35.839" v="53" actId="14100"/>
        <pc:sldMkLst>
          <pc:docMk/>
          <pc:sldMk cId="1842925634" sldId="311"/>
        </pc:sldMkLst>
      </pc:sldChg>
      <pc:sldChg chg="modSp mod modClrScheme chgLayout">
        <pc:chgData name="Mike J" userId="22cf0bdf11e74b3e" providerId="LiveId" clId="{FDF26D52-25B8-4F5F-AAD6-F0BDA96563A4}" dt="2024-05-08T02:26:36.615" v="54" actId="26606"/>
        <pc:sldMkLst>
          <pc:docMk/>
          <pc:sldMk cId="141942851" sldId="312"/>
        </pc:sldMkLst>
      </pc:sldChg>
      <pc:sldChg chg="modSp">
        <pc:chgData name="Mike J" userId="22cf0bdf11e74b3e" providerId="LiveId" clId="{FDF26D52-25B8-4F5F-AAD6-F0BDA96563A4}" dt="2024-05-08T02:27:33.579" v="55" actId="33524"/>
        <pc:sldMkLst>
          <pc:docMk/>
          <pc:sldMk cId="3914079143" sldId="314"/>
        </pc:sldMkLst>
      </pc:sldChg>
      <pc:sldChg chg="modSp mod">
        <pc:chgData name="Mike J" userId="22cf0bdf11e74b3e" providerId="LiveId" clId="{FDF26D52-25B8-4F5F-AAD6-F0BDA96563A4}" dt="2024-05-08T02:29:26.968" v="56" actId="20577"/>
        <pc:sldMkLst>
          <pc:docMk/>
          <pc:sldMk cId="687343380" sldId="317"/>
        </pc:sldMkLst>
      </pc:sldChg>
      <pc:sldChg chg="addSp modSp mod modClrScheme chgLayout">
        <pc:chgData name="Mike J" userId="22cf0bdf11e74b3e" providerId="LiveId" clId="{FDF26D52-25B8-4F5F-AAD6-F0BDA96563A4}" dt="2024-05-08T02:32:25.097" v="58" actId="14100"/>
        <pc:sldMkLst>
          <pc:docMk/>
          <pc:sldMk cId="623970617" sldId="322"/>
        </pc:sldMkLst>
      </pc:sldChg>
      <pc:sldChg chg="modSp mod">
        <pc:chgData name="Mike J" userId="22cf0bdf11e74b3e" providerId="LiveId" clId="{FDF26D52-25B8-4F5F-AAD6-F0BDA96563A4}" dt="2024-05-08T02:35:37.857" v="60" actId="33524"/>
        <pc:sldMkLst>
          <pc:docMk/>
          <pc:sldMk cId="3030278660" sldId="325"/>
        </pc:sldMkLst>
      </pc:sldChg>
      <pc:sldChg chg="modSp mod">
        <pc:chgData name="Mike J" userId="22cf0bdf11e74b3e" providerId="LiveId" clId="{FDF26D52-25B8-4F5F-AAD6-F0BDA96563A4}" dt="2024-05-08T02:36:08.196" v="61" actId="33524"/>
        <pc:sldMkLst>
          <pc:docMk/>
          <pc:sldMk cId="3837692329" sldId="326"/>
        </pc:sldMkLst>
      </pc:sldChg>
      <pc:sldChg chg="modSp mod">
        <pc:chgData name="Mike J" userId="22cf0bdf11e74b3e" providerId="LiveId" clId="{FDF26D52-25B8-4F5F-AAD6-F0BDA96563A4}" dt="2024-05-08T02:40:00.336" v="64" actId="20577"/>
        <pc:sldMkLst>
          <pc:docMk/>
          <pc:sldMk cId="1987549202" sldId="330"/>
        </pc:sldMkLst>
      </pc:sldChg>
      <pc:sldChg chg="modSp mod modClrScheme chgLayout">
        <pc:chgData name="Mike J" userId="22cf0bdf11e74b3e" providerId="LiveId" clId="{FDF26D52-25B8-4F5F-AAD6-F0BDA96563A4}" dt="2024-05-08T02:44:04.450" v="68" actId="14100"/>
        <pc:sldMkLst>
          <pc:docMk/>
          <pc:sldMk cId="1036305715" sldId="334"/>
        </pc:sldMkLst>
      </pc:sldChg>
      <pc:sldChg chg="modSp mod">
        <pc:chgData name="Mike J" userId="22cf0bdf11e74b3e" providerId="LiveId" clId="{FDF26D52-25B8-4F5F-AAD6-F0BDA96563A4}" dt="2024-05-08T02:38:09.492" v="62" actId="20577"/>
        <pc:sldMkLst>
          <pc:docMk/>
          <pc:sldMk cId="47291869" sldId="337"/>
        </pc:sldMkLst>
      </pc:sldChg>
      <pc:sldChg chg="modSp mod modClrScheme chgLayout">
        <pc:chgData name="Mike J" userId="22cf0bdf11e74b3e" providerId="LiveId" clId="{FDF26D52-25B8-4F5F-AAD6-F0BDA96563A4}" dt="2024-05-08T02:45:20.778" v="69" actId="26606"/>
        <pc:sldMkLst>
          <pc:docMk/>
          <pc:sldMk cId="2682439350" sldId="339"/>
        </pc:sldMkLst>
      </pc:sldChg>
      <pc:sldChg chg="modSp mod">
        <pc:chgData name="Mike J" userId="22cf0bdf11e74b3e" providerId="LiveId" clId="{FDF26D52-25B8-4F5F-AAD6-F0BDA96563A4}" dt="2024-05-08T02:47:52.345" v="72" actId="1076"/>
        <pc:sldMkLst>
          <pc:docMk/>
          <pc:sldMk cId="285877495" sldId="340"/>
        </pc:sldMkLst>
      </pc:sldChg>
      <pc:sldChg chg="addSp delSp modSp mod modClrScheme chgLayout">
        <pc:chgData name="Mike J" userId="22cf0bdf11e74b3e" providerId="LiveId" clId="{FDF26D52-25B8-4F5F-AAD6-F0BDA96563A4}" dt="2024-05-08T02:47:32.143" v="70" actId="26606"/>
        <pc:sldMkLst>
          <pc:docMk/>
          <pc:sldMk cId="3637933376" sldId="344"/>
        </pc:sldMkLst>
      </pc:sldChg>
      <pc:sldChg chg="del">
        <pc:chgData name="Mike J" userId="22cf0bdf11e74b3e" providerId="LiveId" clId="{FDF26D52-25B8-4F5F-AAD6-F0BDA96563A4}" dt="2024-05-08T02:50:02.808" v="74" actId="47"/>
        <pc:sldMkLst>
          <pc:docMk/>
          <pc:sldMk cId="1913726873" sldId="34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D5F6FF-2D95-497C-B87A-F16231682A7B}"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FEB9E9DF-3F6F-4F57-A361-0BC7378E5705}">
      <dgm:prSet/>
      <dgm:spPr/>
      <dgm:t>
        <a:bodyPr/>
        <a:lstStyle/>
        <a:p>
          <a:r>
            <a:rPr lang="en-US"/>
            <a:t>In PD weighted images, the differences in contrast should come from solely the difference in PD between tissues. We need to, therefore, eliminate the effects of T1 and T2.</a:t>
          </a:r>
        </a:p>
      </dgm:t>
    </dgm:pt>
    <dgm:pt modelId="{5ACFB14E-8FB1-4D29-BB90-8DDDFD6C3115}" type="parTrans" cxnId="{377CC359-7AED-47DF-A037-57EF8D5E755B}">
      <dgm:prSet/>
      <dgm:spPr/>
      <dgm:t>
        <a:bodyPr/>
        <a:lstStyle/>
        <a:p>
          <a:endParaRPr lang="en-US"/>
        </a:p>
      </dgm:t>
    </dgm:pt>
    <dgm:pt modelId="{EFEBFA11-C3A4-467C-A475-B9493AED9447}" type="sibTrans" cxnId="{377CC359-7AED-47DF-A037-57EF8D5E755B}">
      <dgm:prSet/>
      <dgm:spPr/>
      <dgm:t>
        <a:bodyPr/>
        <a:lstStyle/>
        <a:p>
          <a:endParaRPr lang="en-US"/>
        </a:p>
      </dgm:t>
    </dgm:pt>
    <dgm:pt modelId="{C3A7EE38-6C1E-4B29-8D91-63544A16F4AC}">
      <dgm:prSet/>
      <dgm:spPr/>
      <dgm:t>
        <a:bodyPr/>
        <a:lstStyle/>
        <a:p>
          <a:r>
            <a:rPr lang="en-US"/>
            <a:t>To do this we will have to use longer TR times (minimize T1 effect) and shorter TE times (minimize T2 effects)</a:t>
          </a:r>
        </a:p>
      </dgm:t>
    </dgm:pt>
    <dgm:pt modelId="{F8CF7851-F1EE-4F36-BF0E-75D2F58F8D8D}" type="parTrans" cxnId="{3BAEFF56-91C8-4D68-81F0-0C8D86DA83CB}">
      <dgm:prSet/>
      <dgm:spPr/>
      <dgm:t>
        <a:bodyPr/>
        <a:lstStyle/>
        <a:p>
          <a:endParaRPr lang="en-US"/>
        </a:p>
      </dgm:t>
    </dgm:pt>
    <dgm:pt modelId="{99458312-77D8-47BA-948C-B7ECB62F4797}" type="sibTrans" cxnId="{3BAEFF56-91C8-4D68-81F0-0C8D86DA83CB}">
      <dgm:prSet/>
      <dgm:spPr/>
      <dgm:t>
        <a:bodyPr/>
        <a:lstStyle/>
        <a:p>
          <a:endParaRPr lang="en-US"/>
        </a:p>
      </dgm:t>
    </dgm:pt>
    <dgm:pt modelId="{2596F867-3AC7-4CC2-943F-1AC853F2D911}" type="pres">
      <dgm:prSet presAssocID="{04D5F6FF-2D95-497C-B87A-F16231682A7B}" presName="linear" presStyleCnt="0">
        <dgm:presLayoutVars>
          <dgm:animLvl val="lvl"/>
          <dgm:resizeHandles val="exact"/>
        </dgm:presLayoutVars>
      </dgm:prSet>
      <dgm:spPr/>
    </dgm:pt>
    <dgm:pt modelId="{96FEDC67-580E-4CA8-8EE9-0096763A8A11}" type="pres">
      <dgm:prSet presAssocID="{FEB9E9DF-3F6F-4F57-A361-0BC7378E5705}" presName="parentText" presStyleLbl="node1" presStyleIdx="0" presStyleCnt="2">
        <dgm:presLayoutVars>
          <dgm:chMax val="0"/>
          <dgm:bulletEnabled val="1"/>
        </dgm:presLayoutVars>
      </dgm:prSet>
      <dgm:spPr/>
    </dgm:pt>
    <dgm:pt modelId="{D76074BA-B991-4F7C-8B27-A6FBFFD9FBDC}" type="pres">
      <dgm:prSet presAssocID="{EFEBFA11-C3A4-467C-A475-B9493AED9447}" presName="spacer" presStyleCnt="0"/>
      <dgm:spPr/>
    </dgm:pt>
    <dgm:pt modelId="{8DCEFF20-7149-44D8-9490-2C1C7BAA4D56}" type="pres">
      <dgm:prSet presAssocID="{C3A7EE38-6C1E-4B29-8D91-63544A16F4AC}" presName="parentText" presStyleLbl="node1" presStyleIdx="1" presStyleCnt="2">
        <dgm:presLayoutVars>
          <dgm:chMax val="0"/>
          <dgm:bulletEnabled val="1"/>
        </dgm:presLayoutVars>
      </dgm:prSet>
      <dgm:spPr/>
    </dgm:pt>
  </dgm:ptLst>
  <dgm:cxnLst>
    <dgm:cxn modelId="{6D8E6A08-BE76-48ED-BA45-4F1404F0297F}" type="presOf" srcId="{04D5F6FF-2D95-497C-B87A-F16231682A7B}" destId="{2596F867-3AC7-4CC2-943F-1AC853F2D911}" srcOrd="0" destOrd="0" presId="urn:microsoft.com/office/officeart/2005/8/layout/vList2"/>
    <dgm:cxn modelId="{D340B556-630A-4E9B-A781-D5BDBF916822}" type="presOf" srcId="{FEB9E9DF-3F6F-4F57-A361-0BC7378E5705}" destId="{96FEDC67-580E-4CA8-8EE9-0096763A8A11}" srcOrd="0" destOrd="0" presId="urn:microsoft.com/office/officeart/2005/8/layout/vList2"/>
    <dgm:cxn modelId="{3BAEFF56-91C8-4D68-81F0-0C8D86DA83CB}" srcId="{04D5F6FF-2D95-497C-B87A-F16231682A7B}" destId="{C3A7EE38-6C1E-4B29-8D91-63544A16F4AC}" srcOrd="1" destOrd="0" parTransId="{F8CF7851-F1EE-4F36-BF0E-75D2F58F8D8D}" sibTransId="{99458312-77D8-47BA-948C-B7ECB62F4797}"/>
    <dgm:cxn modelId="{377CC359-7AED-47DF-A037-57EF8D5E755B}" srcId="{04D5F6FF-2D95-497C-B87A-F16231682A7B}" destId="{FEB9E9DF-3F6F-4F57-A361-0BC7378E5705}" srcOrd="0" destOrd="0" parTransId="{5ACFB14E-8FB1-4D29-BB90-8DDDFD6C3115}" sibTransId="{EFEBFA11-C3A4-467C-A475-B9493AED9447}"/>
    <dgm:cxn modelId="{57E269EA-855C-4553-9B64-6ED0F82D5421}" type="presOf" srcId="{C3A7EE38-6C1E-4B29-8D91-63544A16F4AC}" destId="{8DCEFF20-7149-44D8-9490-2C1C7BAA4D56}" srcOrd="0" destOrd="0" presId="urn:microsoft.com/office/officeart/2005/8/layout/vList2"/>
    <dgm:cxn modelId="{8D5B85D3-9436-460E-8566-5E874D2E95E8}" type="presParOf" srcId="{2596F867-3AC7-4CC2-943F-1AC853F2D911}" destId="{96FEDC67-580E-4CA8-8EE9-0096763A8A11}" srcOrd="0" destOrd="0" presId="urn:microsoft.com/office/officeart/2005/8/layout/vList2"/>
    <dgm:cxn modelId="{ACE1648A-9F52-4B1D-9013-FA6CACF1BEAD}" type="presParOf" srcId="{2596F867-3AC7-4CC2-943F-1AC853F2D911}" destId="{D76074BA-B991-4F7C-8B27-A6FBFFD9FBDC}" srcOrd="1" destOrd="0" presId="urn:microsoft.com/office/officeart/2005/8/layout/vList2"/>
    <dgm:cxn modelId="{F43FAD21-9D06-4A90-9DF4-8A8465D8DF9F}" type="presParOf" srcId="{2596F867-3AC7-4CC2-943F-1AC853F2D911}" destId="{8DCEFF20-7149-44D8-9490-2C1C7BAA4D56}"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FEDC67-580E-4CA8-8EE9-0096763A8A11}">
      <dsp:nvSpPr>
        <dsp:cNvPr id="0" name=""/>
        <dsp:cNvSpPr/>
      </dsp:nvSpPr>
      <dsp:spPr>
        <a:xfrm>
          <a:off x="0" y="3356"/>
          <a:ext cx="5111749" cy="288288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In PD weighted images, the differences in contrast should come from solely the difference in PD between tissues. We need to, therefore, eliminate the effects of T1 and T2.</a:t>
          </a:r>
        </a:p>
      </dsp:txBody>
      <dsp:txXfrm>
        <a:off x="140731" y="144087"/>
        <a:ext cx="4830287" cy="2601418"/>
      </dsp:txXfrm>
    </dsp:sp>
    <dsp:sp modelId="{8DCEFF20-7149-44D8-9490-2C1C7BAA4D56}">
      <dsp:nvSpPr>
        <dsp:cNvPr id="0" name=""/>
        <dsp:cNvSpPr/>
      </dsp:nvSpPr>
      <dsp:spPr>
        <a:xfrm>
          <a:off x="0" y="2966876"/>
          <a:ext cx="5111749" cy="288288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To do this we will have to use longer TR times (minimize T1 effect) and shorter TE times (minimize T2 effects)</a:t>
          </a:r>
        </a:p>
      </dsp:txBody>
      <dsp:txXfrm>
        <a:off x="140731" y="3107607"/>
        <a:ext cx="4830287" cy="260141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2C8F450-DE6C-4663-AAB7-BE98778311CB}" type="datetimeFigureOut">
              <a:rPr lang="en-US" smtClean="0"/>
              <a:pPr/>
              <a:t>7/28/2025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6DC5DB-33AA-4ACF-912B-D8E7E874F07B}" type="slidenum">
              <a:rPr lang="en-US" smtClean="0"/>
              <a:pPr/>
              <a:t>‹#›</a:t>
            </a:fld>
            <a:endParaRPr lang="en-US"/>
          </a:p>
        </p:txBody>
      </p:sp>
    </p:spTree>
    <p:extLst>
      <p:ext uri="{BB962C8B-B14F-4D97-AF65-F5344CB8AC3E}">
        <p14:creationId xmlns:p14="http://schemas.microsoft.com/office/powerpoint/2010/main" val="865843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26DC5DB-33AA-4ACF-912B-D8E7E874F07B}" type="slidenum">
              <a:rPr lang="en-US" smtClean="0">
                <a:solidFill>
                  <a:prstClr val="black"/>
                </a:solidFill>
              </a:rPr>
              <a:pPr/>
              <a:t>1</a:t>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26DC5DB-33AA-4ACF-912B-D8E7E874F07B}" type="slidenum">
              <a:rPr lang="en-US" smtClean="0"/>
              <a:pPr/>
              <a:t>18</a:t>
            </a:fld>
            <a:endParaRPr lang="en-US"/>
          </a:p>
        </p:txBody>
      </p:sp>
    </p:spTree>
    <p:extLst>
      <p:ext uri="{BB962C8B-B14F-4D97-AF65-F5344CB8AC3E}">
        <p14:creationId xmlns:p14="http://schemas.microsoft.com/office/powerpoint/2010/main" val="969182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lstStyle/>
          <a:p>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76200"/>
            <a:ext cx="9144000" cy="6858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990600"/>
            <a:ext cx="8839200" cy="49831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pic>
        <p:nvPicPr>
          <p:cNvPr id="8" name="Picture 7" descr="RETHINK.png"/>
          <p:cNvPicPr>
            <a:picLocks noChangeAspect="1"/>
          </p:cNvPicPr>
          <p:nvPr/>
        </p:nvPicPr>
        <p:blipFill>
          <a:blip r:embed="rId13" cstate="print"/>
          <a:stretch>
            <a:fillRect/>
          </a:stretch>
        </p:blipFill>
        <p:spPr>
          <a:xfrm>
            <a:off x="76199" y="6360651"/>
            <a:ext cx="2895601" cy="456675"/>
          </a:xfrm>
          <a:prstGeom prst="rect">
            <a:avLst/>
          </a:prstGeom>
        </p:spPr>
      </p:pic>
      <p:pic>
        <p:nvPicPr>
          <p:cNvPr id="9" name="Picture 8" descr="BC logo 2014.png"/>
          <p:cNvPicPr>
            <a:picLocks noChangeAspect="1"/>
          </p:cNvPicPr>
          <p:nvPr/>
        </p:nvPicPr>
        <p:blipFill>
          <a:blip r:embed="rId14" cstate="print"/>
          <a:stretch>
            <a:fillRect/>
          </a:stretch>
        </p:blipFill>
        <p:spPr>
          <a:xfrm>
            <a:off x="6934200" y="6264695"/>
            <a:ext cx="2023699" cy="59330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Body_composition" TargetMode="External"/><Relationship Id="rId2" Type="http://schemas.openxmlformats.org/officeDocument/2006/relationships/hyperlink" Target="https://en.wikipedia.org/wiki/Body_water"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Obese" TargetMode="External"/><Relationship Id="rId2" Type="http://schemas.openxmlformats.org/officeDocument/2006/relationships/hyperlink" Target="https://en.wikipedia.org/wiki/Athlet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gif"/></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gi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www.scientificamerican.com/blog/observations/whats-a-voxel-and-what-can-it-tell-us-a-primer-on-fmri/"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20.jpeg"/><Relationship Id="rId5" Type="http://schemas.openxmlformats.org/officeDocument/2006/relationships/image" Target="../media/image19.gif"/><Relationship Id="rId4" Type="http://schemas.openxmlformats.org/officeDocument/2006/relationships/hyperlink" Target="https://chem.libretexts.org/Courses/Northern_Alberta_Institute_of_Technology/CHEM1130_Principles_in_Chemistry_I/1%3A_Gases/1.04%3A_Avogadro's_Number_and_the_Mole"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google.com/url?sa=i&amp;source=images&amp;cd=&amp;cad=rja&amp;docid=9FnjhCAVv6aJbM&amp;tbnid=4PbR3WmzBEJd2M:&amp;ved=0CAgQjRwwAA&amp;url=http://www.magnet.fsu.edu/education/tutorials/magnetacademy/mri/fullarticle.html&amp;ei=uuR7Us-bK6GMyQG8y4CgCw&amp;psig=AFQjCNFimBZsmRsCGh5ggEGwKpM0rwCKng&amp;ust=1383937594754513" TargetMode="External"/><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image" Target="../media/image32.gif"/><Relationship Id="rId1" Type="http://schemas.openxmlformats.org/officeDocument/2006/relationships/slideLayout" Target="../slideLayouts/slideLayout2.xml"/><Relationship Id="rId4" Type="http://schemas.openxmlformats.org/officeDocument/2006/relationships/image" Target="../media/image34.gif"/></Relationships>
</file>

<file path=ppt/slides/_rels/slide2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image" Target="../media/image36.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image" Target="../media/image40.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gif"/><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7.gif"/><Relationship Id="rId2" Type="http://schemas.openxmlformats.org/officeDocument/2006/relationships/image" Target="../media/image46.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8.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image" Target="../media/image49.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1.gif"/><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53.gif"/><Relationship Id="rId2" Type="http://schemas.openxmlformats.org/officeDocument/2006/relationships/image" Target="../media/image52.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7.gif"/><Relationship Id="rId2" Type="http://schemas.openxmlformats.org/officeDocument/2006/relationships/image" Target="../media/image56.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9.gif"/><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7.gi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www.mrinotes.com/" TargetMode="External"/><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9.gif"/><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70.gi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2.gif"/><Relationship Id="rId2" Type="http://schemas.openxmlformats.org/officeDocument/2006/relationships/image" Target="../media/image71.gif"/><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4.gif"/><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6.gif"/><Relationship Id="rId2" Type="http://schemas.openxmlformats.org/officeDocument/2006/relationships/image" Target="../media/image75.gi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0.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www.youtube.com/watch?v=1CGzk-nV06g" TargetMode="External"/><Relationship Id="rId2" Type="http://schemas.openxmlformats.org/officeDocument/2006/relationships/hyperlink" Target="https://www.youtube.com/watch?v=Ok9ILIYzmaY" TargetMode="External"/><Relationship Id="rId1" Type="http://schemas.openxmlformats.org/officeDocument/2006/relationships/slideLayout" Target="../slideLayouts/slideLayout2.xml"/><Relationship Id="rId4" Type="http://schemas.openxmlformats.org/officeDocument/2006/relationships/hyperlink" Target="https://www.youtube.com/watch?v=pGcZvSG805Y"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s://www.youtube.com/watch?v=XCrpMwz6Z1g" TargetMode="External"/><Relationship Id="rId2" Type="http://schemas.openxmlformats.org/officeDocument/2006/relationships/hyperlink" Target="https://www.youtube.com/watch?v=p3WnFYBnghU" TargetMode="External"/><Relationship Id="rId1" Type="http://schemas.openxmlformats.org/officeDocument/2006/relationships/slideLayout" Target="../slideLayouts/slideLayout2.xml"/><Relationship Id="rId4" Type="http://schemas.openxmlformats.org/officeDocument/2006/relationships/hyperlink" Target="https://www.youtube.com/watch?v=MiL0wCZr0Mw" TargetMode="External"/></Relationships>
</file>

<file path=ppt/slides/_rels/slide63.xml.rels><?xml version="1.0" encoding="UTF-8" standalone="yes"?>
<Relationships xmlns="http://schemas.openxmlformats.org/package/2006/relationships"><Relationship Id="rId8" Type="http://schemas.openxmlformats.org/officeDocument/2006/relationships/hyperlink" Target="https://www.youtube.com/watch?v=p3WnFYBnghU" TargetMode="External"/><Relationship Id="rId3" Type="http://schemas.openxmlformats.org/officeDocument/2006/relationships/hyperlink" Target="https://www.youtube.com/watch?v=is8TscwFOvM&amp;index=2&amp;list=PL40F1EE0DF59D777A" TargetMode="External"/><Relationship Id="rId7" Type="http://schemas.openxmlformats.org/officeDocument/2006/relationships/hyperlink" Target="https://www.youtube.com/watch?v=LvyADhrgc_s&amp;list=PL40F1EE0DF59D777A&amp;index=6" TargetMode="External"/><Relationship Id="rId2" Type="http://schemas.openxmlformats.org/officeDocument/2006/relationships/hyperlink" Target="https://www.youtube.com/watch?v=lKp67IqQjH4&amp;list=PL40F1EE0DF59D777A&amp;index=1" TargetMode="External"/><Relationship Id="rId1" Type="http://schemas.openxmlformats.org/officeDocument/2006/relationships/slideLayout" Target="../slideLayouts/slideLayout2.xml"/><Relationship Id="rId6" Type="http://schemas.openxmlformats.org/officeDocument/2006/relationships/hyperlink" Target="https://www.youtube.com/watch?v=ZHtfnNAz-UM&amp;list=PL40F1EE0DF59D777A&amp;index=5" TargetMode="External"/><Relationship Id="rId5" Type="http://schemas.openxmlformats.org/officeDocument/2006/relationships/hyperlink" Target="https://www.youtube.com/watch?v=GDElT6Tz7_Q&amp;list=PL40F1EE0DF59D777A&amp;index=4" TargetMode="External"/><Relationship Id="rId4" Type="http://schemas.openxmlformats.org/officeDocument/2006/relationships/hyperlink" Target="https://www.youtube.com/watch?v=_7oZMA0OuK4&amp;list=PL40F1EE0DF59D777A&amp;index=3" TargetMode="External"/></Relationships>
</file>

<file path=ppt/slides/_rels/slide64.xml.rels><?xml version="1.0" encoding="UTF-8" standalone="yes"?>
<Relationships xmlns="http://schemas.openxmlformats.org/package/2006/relationships"><Relationship Id="rId2" Type="http://schemas.openxmlformats.org/officeDocument/2006/relationships/hyperlink" Target="http://www.mri-physics.net/textuk.html"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hyperlink" Target="http://www.howequipmentworks.com/mri_basics/" TargetMode="External"/><Relationship Id="rId13" Type="http://schemas.openxmlformats.org/officeDocument/2006/relationships/hyperlink" Target="http://www.sprawls.org/mripmt/MRI01/index.html" TargetMode="External"/><Relationship Id="rId3" Type="http://schemas.openxmlformats.org/officeDocument/2006/relationships/hyperlink" Target="http://www.mrinotes.com/" TargetMode="External"/><Relationship Id="rId7" Type="http://schemas.openxmlformats.org/officeDocument/2006/relationships/hyperlink" Target="https://en.wikipedia.org/wiki/Body_fat_percentage" TargetMode="External"/><Relationship Id="rId12" Type="http://schemas.openxmlformats.org/officeDocument/2006/relationships/hyperlink" Target="http://www.mridoc.com/physics/" TargetMode="External"/><Relationship Id="rId2" Type="http://schemas.openxmlformats.org/officeDocument/2006/relationships/hyperlink" Target="http://medicalphysicsweb.org/cws/article/research/60077" TargetMode="External"/><Relationship Id="rId1" Type="http://schemas.openxmlformats.org/officeDocument/2006/relationships/slideLayout" Target="../slideLayouts/slideLayout2.xml"/><Relationship Id="rId6" Type="http://schemas.openxmlformats.org/officeDocument/2006/relationships/hyperlink" Target="https://en.wikipedia.org/wiki/Body_water" TargetMode="External"/><Relationship Id="rId11" Type="http://schemas.openxmlformats.org/officeDocument/2006/relationships/hyperlink" Target="http://www.simplyphysics.com/page2_11.html" TargetMode="External"/><Relationship Id="rId5" Type="http://schemas.openxmlformats.org/officeDocument/2006/relationships/hyperlink" Target="http://mri-q.com/gradient-coils.html" TargetMode="External"/><Relationship Id="rId10" Type="http://schemas.openxmlformats.org/officeDocument/2006/relationships/hyperlink" Target="http://www.xrayphysics.com/spatial.html" TargetMode="External"/><Relationship Id="rId4" Type="http://schemas.openxmlformats.org/officeDocument/2006/relationships/hyperlink" Target="http://mri-q.com/superconductive-design.html" TargetMode="External"/><Relationship Id="rId9" Type="http://schemas.openxmlformats.org/officeDocument/2006/relationships/hyperlink" Target="http://www.xrayphysics.com/sequences.html"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p:cNvSpPr txBox="1"/>
          <p:nvPr/>
        </p:nvSpPr>
        <p:spPr>
          <a:xfrm>
            <a:off x="6975231" y="6211668"/>
            <a:ext cx="2133600" cy="646331"/>
          </a:xfrm>
          <a:prstGeom prst="rect">
            <a:avLst/>
          </a:prstGeom>
          <a:solidFill>
            <a:schemeClr val="bg1"/>
          </a:solidFill>
        </p:spPr>
        <p:txBody>
          <a:bodyPr wrap="square" rtlCol="0">
            <a:spAutoFit/>
          </a:bodyPr>
          <a:lstStyle/>
          <a:p>
            <a:endParaRPr lang="en-US" dirty="0">
              <a:solidFill>
                <a:prstClr val="black"/>
              </a:solidFill>
            </a:endParaRPr>
          </a:p>
          <a:p>
            <a:endParaRPr lang="en-US" dirty="0">
              <a:solidFill>
                <a:prstClr val="black"/>
              </a:solidFill>
            </a:endParaRPr>
          </a:p>
        </p:txBody>
      </p:sp>
      <p:sp>
        <p:nvSpPr>
          <p:cNvPr id="4" name="TextBox 3"/>
          <p:cNvSpPr txBox="1"/>
          <p:nvPr/>
        </p:nvSpPr>
        <p:spPr>
          <a:xfrm>
            <a:off x="4572000" y="76200"/>
            <a:ext cx="4572000" cy="861774"/>
          </a:xfrm>
          <a:prstGeom prst="rect">
            <a:avLst/>
          </a:prstGeom>
          <a:noFill/>
        </p:spPr>
        <p:txBody>
          <a:bodyPr wrap="square" rtlCol="0">
            <a:spAutoFit/>
          </a:bodyPr>
          <a:lstStyle/>
          <a:p>
            <a:r>
              <a:rPr lang="en-US" sz="3200" b="1" dirty="0">
                <a:solidFill>
                  <a:prstClr val="white"/>
                </a:solidFill>
              </a:rPr>
              <a:t>2014 Leadership Meeting</a:t>
            </a:r>
          </a:p>
          <a:p>
            <a:endParaRPr lang="en-US" dirty="0">
              <a:solidFill>
                <a:prstClr val="black"/>
              </a:solidFill>
            </a:endParaRPr>
          </a:p>
        </p:txBody>
      </p:sp>
      <p:sp>
        <p:nvSpPr>
          <p:cNvPr id="5" name="Title 1"/>
          <p:cNvSpPr>
            <a:spLocks noGrp="1"/>
          </p:cNvSpPr>
          <p:nvPr>
            <p:ph type="ctrTitle"/>
          </p:nvPr>
        </p:nvSpPr>
        <p:spPr>
          <a:xfrm>
            <a:off x="685800" y="2130425"/>
            <a:ext cx="7772400" cy="1470025"/>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pPr algn="ctr"/>
            <a:r>
              <a:rPr lang="en-US" sz="4400" b="1" dirty="0">
                <a:solidFill>
                  <a:srgbClr val="0070C0"/>
                </a:solidFill>
                <a:latin typeface="Arial Rounded MT Bold" panose="020F0704030504030204" pitchFamily="34" charset="0"/>
              </a:rPr>
              <a:t>MRI BASIC PHYSICS</a:t>
            </a:r>
          </a:p>
        </p:txBody>
      </p:sp>
    </p:spTree>
    <p:extLst>
      <p:ext uri="{BB962C8B-B14F-4D97-AF65-F5344CB8AC3E}">
        <p14:creationId xmlns:p14="http://schemas.microsoft.com/office/powerpoint/2010/main" val="449625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lumMod val="75000"/>
                  </a:schemeClr>
                </a:solidFill>
              </a:rPr>
              <a:t>Objectives:</a:t>
            </a:r>
          </a:p>
        </p:txBody>
      </p:sp>
      <p:sp>
        <p:nvSpPr>
          <p:cNvPr id="3" name="Content Placeholder 2"/>
          <p:cNvSpPr>
            <a:spLocks noGrp="1"/>
          </p:cNvSpPr>
          <p:nvPr>
            <p:ph idx="1"/>
          </p:nvPr>
        </p:nvSpPr>
        <p:spPr/>
        <p:txBody>
          <a:bodyPr/>
          <a:lstStyle/>
          <a:p>
            <a:r>
              <a:rPr lang="en-US" dirty="0">
                <a:solidFill>
                  <a:schemeClr val="accent1">
                    <a:lumMod val="75000"/>
                  </a:schemeClr>
                </a:solidFill>
              </a:rPr>
              <a:t>Become familiar with the basic physic concepts for MRI </a:t>
            </a:r>
          </a:p>
          <a:p>
            <a:r>
              <a:rPr lang="en-US" dirty="0">
                <a:solidFill>
                  <a:schemeClr val="accent1">
                    <a:lumMod val="75000"/>
                  </a:schemeClr>
                </a:solidFill>
              </a:rPr>
              <a:t>Understand how physics interact with producing and image</a:t>
            </a:r>
          </a:p>
          <a:p>
            <a:r>
              <a:rPr lang="en-US" dirty="0">
                <a:solidFill>
                  <a:schemeClr val="accent1">
                    <a:lumMod val="75000"/>
                  </a:schemeClr>
                </a:solidFill>
              </a:rPr>
              <a:t>To be able to link the basic MR physics to the MRI hardware</a:t>
            </a:r>
            <a:endParaRPr lang="en-US" dirty="0"/>
          </a:p>
        </p:txBody>
      </p:sp>
    </p:spTree>
    <p:extLst>
      <p:ext uri="{BB962C8B-B14F-4D97-AF65-F5344CB8AC3E}">
        <p14:creationId xmlns:p14="http://schemas.microsoft.com/office/powerpoint/2010/main" val="4201203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Back to basics… everything starts with the Atom</a:t>
            </a:r>
          </a:p>
        </p:txBody>
      </p:sp>
      <p:sp>
        <p:nvSpPr>
          <p:cNvPr id="3" name="Content Placeholder 2"/>
          <p:cNvSpPr>
            <a:spLocks noGrp="1"/>
          </p:cNvSpPr>
          <p:nvPr>
            <p:ph idx="1"/>
          </p:nvPr>
        </p:nvSpPr>
        <p:spPr/>
        <p:txBody>
          <a:bodyPr/>
          <a:lstStyle/>
          <a:p>
            <a:r>
              <a:rPr lang="en-US" dirty="0">
                <a:solidFill>
                  <a:schemeClr val="tx2">
                    <a:lumMod val="60000"/>
                    <a:lumOff val="40000"/>
                  </a:schemeClr>
                </a:solidFill>
              </a:rPr>
              <a:t>The human body is composed of water, fat and protein molecules</a:t>
            </a:r>
          </a:p>
          <a:p>
            <a:r>
              <a:rPr lang="en-US" dirty="0">
                <a:solidFill>
                  <a:schemeClr val="tx2">
                    <a:lumMod val="60000"/>
                    <a:lumOff val="40000"/>
                  </a:schemeClr>
                </a:solidFill>
              </a:rPr>
              <a:t>These molecules are made up of atoms</a:t>
            </a:r>
          </a:p>
          <a:p>
            <a:r>
              <a:rPr lang="en-US" dirty="0">
                <a:solidFill>
                  <a:schemeClr val="tx2">
                    <a:lumMod val="60000"/>
                    <a:lumOff val="40000"/>
                  </a:schemeClr>
                </a:solidFill>
              </a:rPr>
              <a:t>Atoms that have same chemical behavior are grouped as elements</a:t>
            </a:r>
          </a:p>
          <a:p>
            <a:endParaRPr lang="en-US" dirty="0">
              <a:solidFill>
                <a:schemeClr val="tx2">
                  <a:lumMod val="60000"/>
                  <a:lumOff val="40000"/>
                </a:schemeClr>
              </a:solidFill>
            </a:endParaRPr>
          </a:p>
          <a:p>
            <a:endParaRPr lang="en-US" dirty="0">
              <a:solidFill>
                <a:schemeClr val="tx2">
                  <a:lumMod val="60000"/>
                  <a:lumOff val="40000"/>
                </a:schemeClr>
              </a:solidFill>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0" y="3733800"/>
            <a:ext cx="2514600" cy="1882358"/>
          </a:xfrm>
          <a:prstGeom prst="rect">
            <a:avLst/>
          </a:prstGeom>
          <a:noFill/>
          <a:ln>
            <a:noFill/>
          </a:ln>
          <a:effectLst>
            <a:outerShdw blurRad="50800" dist="38100" dir="5400000" algn="t" rotWithShape="0">
              <a:prstClr val="black">
                <a:alpha val="40000"/>
              </a:prstClr>
            </a:outerShdw>
            <a:softEdge rad="31750"/>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968669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144000" cy="685800"/>
          </a:xfrm>
        </p:spPr>
        <p:txBody>
          <a:bodyPr anchor="ctr">
            <a:normAutofit/>
          </a:bodyPr>
          <a:lstStyle/>
          <a:p>
            <a:r>
              <a:rPr lang="en-US"/>
              <a:t>Remember your school physics?</a:t>
            </a:r>
          </a:p>
        </p:txBody>
      </p:sp>
      <p:sp>
        <p:nvSpPr>
          <p:cNvPr id="3" name="Content Placeholder 2"/>
          <p:cNvSpPr>
            <a:spLocks noGrp="1"/>
          </p:cNvSpPr>
          <p:nvPr>
            <p:ph sz="half" idx="1"/>
          </p:nvPr>
        </p:nvSpPr>
        <p:spPr>
          <a:xfrm>
            <a:off x="457200" y="1600200"/>
            <a:ext cx="4038600" cy="4525963"/>
          </a:xfrm>
        </p:spPr>
        <p:txBody>
          <a:bodyPr>
            <a:normAutofit/>
          </a:bodyPr>
          <a:lstStyle/>
          <a:p>
            <a:pPr>
              <a:lnSpc>
                <a:spcPct val="90000"/>
              </a:lnSpc>
            </a:pPr>
            <a:r>
              <a:rPr lang="en-US" sz="2400" dirty="0"/>
              <a:t>Atoms are formed by:</a:t>
            </a:r>
          </a:p>
          <a:p>
            <a:pPr lvl="1">
              <a:lnSpc>
                <a:spcPct val="90000"/>
              </a:lnSpc>
            </a:pPr>
            <a:r>
              <a:rPr lang="en-US" b="1" dirty="0"/>
              <a:t>Neutrons: </a:t>
            </a:r>
            <a:r>
              <a:rPr lang="en-US" dirty="0"/>
              <a:t>no electrical charge</a:t>
            </a:r>
          </a:p>
          <a:p>
            <a:pPr lvl="1">
              <a:lnSpc>
                <a:spcPct val="90000"/>
              </a:lnSpc>
            </a:pPr>
            <a:r>
              <a:rPr lang="en-US" b="1" dirty="0"/>
              <a:t>Protons: </a:t>
            </a:r>
            <a:r>
              <a:rPr lang="en-US" dirty="0"/>
              <a:t>positive charge </a:t>
            </a:r>
          </a:p>
          <a:p>
            <a:pPr marL="914400" lvl="2" indent="0">
              <a:lnSpc>
                <a:spcPct val="90000"/>
              </a:lnSpc>
              <a:buNone/>
            </a:pPr>
            <a:r>
              <a:rPr lang="en-US" sz="2400" dirty="0"/>
              <a:t>Protons and neutrons make up the </a:t>
            </a:r>
            <a:r>
              <a:rPr lang="en-US" sz="2400" b="1" dirty="0"/>
              <a:t>nucleus</a:t>
            </a:r>
          </a:p>
          <a:p>
            <a:pPr lvl="1">
              <a:lnSpc>
                <a:spcPct val="90000"/>
              </a:lnSpc>
            </a:pPr>
            <a:r>
              <a:rPr lang="en-US" b="1" dirty="0"/>
              <a:t>Electrons: </a:t>
            </a:r>
            <a:r>
              <a:rPr lang="en-US" dirty="0"/>
              <a:t>negative 	electrical charge in 	orbit around the 	nucleus</a:t>
            </a:r>
            <a:endParaRPr lang="en-US" b="1" dirty="0"/>
          </a:p>
          <a:p>
            <a:pPr marL="57150" indent="0">
              <a:lnSpc>
                <a:spcPct val="90000"/>
              </a:lnSpc>
              <a:buNone/>
            </a:pPr>
            <a:r>
              <a:rPr lang="en-US" sz="2400" dirty="0"/>
              <a:t>A hydrogen atom has just one proton and one electron</a:t>
            </a:r>
          </a:p>
          <a:p>
            <a:pPr marL="57150" indent="0">
              <a:lnSpc>
                <a:spcPct val="90000"/>
              </a:lnSpc>
              <a:buNone/>
            </a:pPr>
            <a:endParaRPr lang="en-US" sz="24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8200" y="2348706"/>
            <a:ext cx="4038600" cy="3028950"/>
          </a:xfrm>
          <a:prstGeom prst="rect">
            <a:avLst/>
          </a:prstGeom>
          <a:noFill/>
        </p:spPr>
      </p:pic>
    </p:spTree>
    <p:extLst>
      <p:ext uri="{BB962C8B-B14F-4D97-AF65-F5344CB8AC3E}">
        <p14:creationId xmlns:p14="http://schemas.microsoft.com/office/powerpoint/2010/main" val="3030924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MRI Signal</a:t>
            </a:r>
          </a:p>
        </p:txBody>
      </p:sp>
      <p:sp>
        <p:nvSpPr>
          <p:cNvPr id="3" name="Content Placeholder 2"/>
          <p:cNvSpPr>
            <a:spLocks noGrp="1"/>
          </p:cNvSpPr>
          <p:nvPr>
            <p:ph idx="1"/>
          </p:nvPr>
        </p:nvSpPr>
        <p:spPr>
          <a:xfrm>
            <a:off x="152400" y="914400"/>
            <a:ext cx="8839200" cy="1752600"/>
          </a:xfrm>
        </p:spPr>
        <p:txBody>
          <a:bodyPr/>
          <a:lstStyle/>
          <a:p>
            <a:r>
              <a:rPr lang="en-US" dirty="0">
                <a:solidFill>
                  <a:schemeClr val="tx2">
                    <a:lumMod val="60000"/>
                    <a:lumOff val="40000"/>
                  </a:schemeClr>
                </a:solidFill>
              </a:rPr>
              <a:t>MRI signal is produced by using the signal coming from the hydrogen atoms in our body </a:t>
            </a:r>
          </a:p>
          <a:p>
            <a:r>
              <a:rPr lang="en-US" dirty="0">
                <a:solidFill>
                  <a:schemeClr val="tx2">
                    <a:lumMod val="60000"/>
                    <a:lumOff val="40000"/>
                  </a:schemeClr>
                </a:solidFill>
              </a:rPr>
              <a:t>How much hydrogen do we have in our body?</a:t>
            </a:r>
          </a:p>
          <a:p>
            <a:endParaRPr lang="en-US" dirty="0">
              <a:solidFill>
                <a:schemeClr val="tx2">
                  <a:lumMod val="60000"/>
                  <a:lumOff val="40000"/>
                </a:schemeClr>
              </a:solidFill>
            </a:endParaRP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59523" y="2819400"/>
            <a:ext cx="5638800" cy="2565654"/>
          </a:xfrm>
          <a:prstGeom prst="rect">
            <a:avLst/>
          </a:prstGeom>
          <a:noFill/>
          <a:ln>
            <a:noFill/>
          </a:ln>
          <a:effectLst>
            <a:outerShdw blurRad="76200" dist="12700" dir="2700000" sy="-23000" kx="-800400" algn="bl" rotWithShape="0">
              <a:prstClr val="black">
                <a:alpha val="20000"/>
              </a:prstClr>
            </a:outerShdw>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2151478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WATER IN THE HUMAN BODY	 (H</a:t>
            </a:r>
            <a:r>
              <a:rPr lang="en-US" baseline="-25000" dirty="0">
                <a:solidFill>
                  <a:schemeClr val="accent1">
                    <a:lumMod val="75000"/>
                  </a:schemeClr>
                </a:solidFill>
              </a:rPr>
              <a:t>2</a:t>
            </a:r>
            <a:r>
              <a:rPr lang="en-US" dirty="0">
                <a:solidFill>
                  <a:schemeClr val="accent1">
                    <a:lumMod val="75000"/>
                  </a:schemeClr>
                </a:solidFill>
              </a:rPr>
              <a:t>O)</a:t>
            </a:r>
          </a:p>
        </p:txBody>
      </p:sp>
      <p:sp>
        <p:nvSpPr>
          <p:cNvPr id="3" name="Content Placeholder 2"/>
          <p:cNvSpPr>
            <a:spLocks noGrp="1"/>
          </p:cNvSpPr>
          <p:nvPr>
            <p:ph idx="1"/>
          </p:nvPr>
        </p:nvSpPr>
        <p:spPr>
          <a:xfrm>
            <a:off x="152400" y="990601"/>
            <a:ext cx="8839200" cy="4800600"/>
          </a:xfrm>
        </p:spPr>
        <p:txBody>
          <a:bodyPr>
            <a:normAutofit fontScale="70000" lnSpcReduction="20000"/>
          </a:bodyPr>
          <a:lstStyle/>
          <a:p>
            <a:r>
              <a:rPr lang="en-US" dirty="0"/>
              <a:t>By weight, </a:t>
            </a:r>
            <a:r>
              <a:rPr lang="en-US" b="1" dirty="0"/>
              <a:t>the average human adult male is approximately 60% water</a:t>
            </a:r>
            <a:r>
              <a:rPr lang="en-US" dirty="0"/>
              <a:t>.</a:t>
            </a:r>
            <a:r>
              <a:rPr lang="en-US" baseline="30000" dirty="0">
                <a:hlinkClick r:id="rId2"/>
              </a:rPr>
              <a:t>[1][2]</a:t>
            </a:r>
            <a:r>
              <a:rPr lang="en-US" dirty="0"/>
              <a:t> There can be considerable variation in body water percentage based on a number of factors like age, health, weight, and sex. In a large study of adults of all ages and both sexes, the adult human body averaged ~65% water. However, this varied substantially by age, sex, and adiposity (amount of fat in </a:t>
            </a:r>
            <a:r>
              <a:rPr lang="en-US" dirty="0">
                <a:hlinkClick r:id="rId3" tooltip="Body composition"/>
              </a:rPr>
              <a:t>body composition</a:t>
            </a:r>
            <a:r>
              <a:rPr lang="en-US" dirty="0"/>
              <a:t>). The figure for water fraction by weight in this sample was found to be 48 ±6% for females and 58 ±8% water for males.</a:t>
            </a:r>
            <a:r>
              <a:rPr lang="en-US" baseline="30000" dirty="0">
                <a:hlinkClick r:id="rId2"/>
              </a:rPr>
              <a:t>[3]</a:t>
            </a:r>
            <a:r>
              <a:rPr lang="en-US" dirty="0"/>
              <a:t> The body water constitutes as much as 73% of the body weight of a newborn infant, whereas some obese people are as little as 45% water by weight.</a:t>
            </a:r>
            <a:r>
              <a:rPr lang="en-US" baseline="30000" dirty="0">
                <a:hlinkClick r:id="rId2"/>
              </a:rPr>
              <a:t>[2]</a:t>
            </a:r>
            <a:r>
              <a:rPr lang="en-US" dirty="0"/>
              <a:t> These figures statistical averages will vary with factors such as type of population, age of people sampled, number of people sampled, and methodology. So there is not, and cannot be, a figure that is exactly the same for all people, for this or any other physiological measure.</a:t>
            </a:r>
          </a:p>
        </p:txBody>
      </p:sp>
      <p:sp>
        <p:nvSpPr>
          <p:cNvPr id="6" name="TextBox 5">
            <a:extLst>
              <a:ext uri="{FF2B5EF4-FFF2-40B4-BE49-F238E27FC236}">
                <a16:creationId xmlns:a16="http://schemas.microsoft.com/office/drawing/2014/main" id="{5216CA87-379F-AC3B-B228-DE32A0DD72FF}"/>
              </a:ext>
            </a:extLst>
          </p:cNvPr>
          <p:cNvSpPr txBox="1"/>
          <p:nvPr/>
        </p:nvSpPr>
        <p:spPr>
          <a:xfrm>
            <a:off x="533400" y="5105400"/>
            <a:ext cx="4495800" cy="369332"/>
          </a:xfrm>
          <a:prstGeom prst="rect">
            <a:avLst/>
          </a:prstGeom>
          <a:noFill/>
        </p:spPr>
        <p:txBody>
          <a:bodyPr wrap="square" rtlCol="0">
            <a:spAutoFit/>
          </a:bodyPr>
          <a:lstStyle/>
          <a:p>
            <a:pPr marL="0" indent="0">
              <a:buNone/>
            </a:pPr>
            <a:r>
              <a:rPr lang="en-US" dirty="0">
                <a:hlinkClick r:id="rId2"/>
              </a:rPr>
              <a:t>https://en.wikipedia.org/wiki/Body_water</a:t>
            </a:r>
            <a:endParaRPr lang="en-US" dirty="0"/>
          </a:p>
        </p:txBody>
      </p:sp>
    </p:spTree>
    <p:extLst>
      <p:ext uri="{BB962C8B-B14F-4D97-AF65-F5344CB8AC3E}">
        <p14:creationId xmlns:p14="http://schemas.microsoft.com/office/powerpoint/2010/main" val="2492697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FAT IN THE HUMAN BODY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88571922"/>
              </p:ext>
            </p:extLst>
          </p:nvPr>
        </p:nvGraphicFramePr>
        <p:xfrm>
          <a:off x="2438401" y="1676400"/>
          <a:ext cx="4800599" cy="3581398"/>
        </p:xfrm>
        <a:graphic>
          <a:graphicData uri="http://schemas.openxmlformats.org/drawingml/2006/table">
            <a:tbl>
              <a:tblPr/>
              <a:tblGrid>
                <a:gridCol w="1955799">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422400">
                  <a:extLst>
                    <a:ext uri="{9D8B030D-6E8A-4147-A177-3AD203B41FA5}">
                      <a16:colId xmlns:a16="http://schemas.microsoft.com/office/drawing/2014/main" val="20002"/>
                    </a:ext>
                  </a:extLst>
                </a:gridCol>
              </a:tblGrid>
              <a:tr h="642815">
                <a:tc>
                  <a:txBody>
                    <a:bodyPr/>
                    <a:lstStyle/>
                    <a:p>
                      <a:pPr algn="ctr"/>
                      <a:r>
                        <a:rPr lang="en-US" dirty="0">
                          <a:effectLst/>
                        </a:rPr>
                        <a:t>Description</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US">
                          <a:effectLst/>
                        </a:rPr>
                        <a:t>Women</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US">
                          <a:effectLst/>
                        </a:rPr>
                        <a:t>Men</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642815">
                <a:tc>
                  <a:txBody>
                    <a:bodyPr/>
                    <a:lstStyle/>
                    <a:p>
                      <a:r>
                        <a:rPr lang="en-US">
                          <a:effectLst/>
                        </a:rPr>
                        <a:t>Essential fat</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pPr algn="ctr"/>
                      <a:r>
                        <a:rPr lang="en-US">
                          <a:effectLst/>
                        </a:rPr>
                        <a:t>10–13%</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pPr algn="ctr"/>
                      <a:r>
                        <a:rPr lang="en-US">
                          <a:effectLst/>
                        </a:rPr>
                        <a:t>2–5%</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1"/>
                  </a:ext>
                </a:extLst>
              </a:tr>
              <a:tr h="642815">
                <a:tc>
                  <a:txBody>
                    <a:bodyPr/>
                    <a:lstStyle/>
                    <a:p>
                      <a:r>
                        <a:rPr lang="en-US" u="none" strike="noStrike">
                          <a:solidFill>
                            <a:srgbClr val="0B0080"/>
                          </a:solidFill>
                          <a:effectLst/>
                          <a:hlinkClick r:id="rId2" tooltip="Athlete"/>
                        </a:rPr>
                        <a:t>Athletes</a:t>
                      </a:r>
                      <a:endParaRPr lang="en-US">
                        <a:effectLst/>
                      </a:endParaRP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pPr algn="ctr"/>
                      <a:r>
                        <a:rPr lang="en-US">
                          <a:effectLst/>
                        </a:rPr>
                        <a:t>14–20%</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pPr algn="ctr"/>
                      <a:r>
                        <a:rPr lang="en-US">
                          <a:effectLst/>
                        </a:rPr>
                        <a:t>6–13%</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642815">
                <a:tc>
                  <a:txBody>
                    <a:bodyPr/>
                    <a:lstStyle/>
                    <a:p>
                      <a:r>
                        <a:rPr lang="en-US">
                          <a:effectLst/>
                        </a:rPr>
                        <a:t>Fitness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pPr algn="ctr"/>
                      <a:r>
                        <a:rPr lang="en-US">
                          <a:effectLst/>
                        </a:rPr>
                        <a:t>21–24%</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pPr algn="ctr"/>
                      <a:r>
                        <a:rPr lang="en-US">
                          <a:effectLst/>
                        </a:rPr>
                        <a:t>14–17%</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r h="642815">
                <a:tc>
                  <a:txBody>
                    <a:bodyPr/>
                    <a:lstStyle/>
                    <a:p>
                      <a:r>
                        <a:rPr lang="en-US">
                          <a:effectLst/>
                        </a:rPr>
                        <a:t>Average</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pPr algn="ctr"/>
                      <a:r>
                        <a:rPr lang="en-US">
                          <a:effectLst/>
                        </a:rPr>
                        <a:t>25–31%</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pPr algn="ctr"/>
                      <a:r>
                        <a:rPr lang="en-US">
                          <a:effectLst/>
                        </a:rPr>
                        <a:t>18–24%</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r h="367323">
                <a:tc>
                  <a:txBody>
                    <a:bodyPr/>
                    <a:lstStyle/>
                    <a:p>
                      <a:r>
                        <a:rPr lang="en-US" u="none" strike="noStrike">
                          <a:solidFill>
                            <a:srgbClr val="0B0080"/>
                          </a:solidFill>
                          <a:effectLst/>
                          <a:hlinkClick r:id="rId3" tooltip="Obese"/>
                        </a:rPr>
                        <a:t>Obese</a:t>
                      </a:r>
                      <a:endParaRPr lang="en-US">
                        <a:effectLst/>
                      </a:endParaRP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pPr algn="ctr"/>
                      <a:r>
                        <a:rPr lang="en-US">
                          <a:effectLst/>
                        </a:rPr>
                        <a:t>32%+</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pPr algn="ctr"/>
                      <a:r>
                        <a:rPr lang="en-US" dirty="0">
                          <a:effectLst/>
                        </a:rPr>
                        <a:t>25%+</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5"/>
                  </a:ext>
                </a:extLst>
              </a:tr>
            </a:tbl>
          </a:graphicData>
        </a:graphic>
      </p:graphicFrame>
      <p:sp>
        <p:nvSpPr>
          <p:cNvPr id="5" name="Rectangle 4"/>
          <p:cNvSpPr/>
          <p:nvPr/>
        </p:nvSpPr>
        <p:spPr>
          <a:xfrm>
            <a:off x="685800" y="5410200"/>
            <a:ext cx="6096000" cy="369332"/>
          </a:xfrm>
          <a:prstGeom prst="rect">
            <a:avLst/>
          </a:prstGeom>
        </p:spPr>
        <p:txBody>
          <a:bodyPr wrap="square">
            <a:spAutoFit/>
          </a:bodyPr>
          <a:lstStyle/>
          <a:p>
            <a:r>
              <a:rPr lang="en-US" dirty="0"/>
              <a:t>https://en.wikipedia.org/wiki/Body_fat_percentage</a:t>
            </a:r>
          </a:p>
        </p:txBody>
      </p:sp>
    </p:spTree>
    <p:extLst>
      <p:ext uri="{BB962C8B-B14F-4D97-AF65-F5344CB8AC3E}">
        <p14:creationId xmlns:p14="http://schemas.microsoft.com/office/powerpoint/2010/main" val="3213985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vert="horz" lIns="91440" tIns="45720" rIns="91440" bIns="45720" rtlCol="0" anchor="b">
            <a:normAutofit/>
          </a:bodyPr>
          <a:lstStyle/>
          <a:p>
            <a:r>
              <a:rPr lang="en-US" b="1" kern="1200">
                <a:latin typeface="+mj-lt"/>
                <a:ea typeface="+mj-ea"/>
                <a:cs typeface="+mj-cs"/>
              </a:rPr>
              <a:t>Why do we use the hydrogen?</a:t>
            </a:r>
          </a:p>
        </p:txBody>
      </p:sp>
      <p:pic>
        <p:nvPicPr>
          <p:cNvPr id="4" name="Content Placeholder 3" descr="A screenshot of a computer screen&#10;&#10;Description automatically generated"/>
          <p:cNvPicPr>
            <a:picLocks noGrp="1" noChangeAspect="1"/>
          </p:cNvPicPr>
          <p:nvPr>
            <p:ph type="pic" idx="1"/>
          </p:nvPr>
        </p:nvPicPr>
        <p:blipFill>
          <a:blip r:embed="rId2" cstate="print">
            <a:extLst>
              <a:ext uri="{28A0092B-C50C-407E-A947-70E740481C1C}">
                <a14:useLocalDpi xmlns:a14="http://schemas.microsoft.com/office/drawing/2010/main" val="0"/>
              </a:ext>
            </a:extLst>
          </a:blip>
          <a:stretch/>
        </p:blipFill>
        <p:spPr>
          <a:xfrm>
            <a:off x="1792288" y="616694"/>
            <a:ext cx="5486400" cy="4106962"/>
          </a:xfrm>
          <a:noFill/>
        </p:spPr>
      </p:pic>
      <p:sp>
        <p:nvSpPr>
          <p:cNvPr id="5" name="Content Placeholder 2"/>
          <p:cNvSpPr txBox="1">
            <a:spLocks/>
          </p:cNvSpPr>
          <p:nvPr/>
        </p:nvSpPr>
        <p:spPr>
          <a:xfrm>
            <a:off x="1792288" y="5367338"/>
            <a:ext cx="5486400" cy="80486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1200" kern="1200" dirty="0">
                <a:latin typeface="+mn-lt"/>
                <a:ea typeface="+mn-ea"/>
                <a:cs typeface="+mn-cs"/>
              </a:rPr>
              <a:t>Some atom nuclei are electrically charged, hydrogen is one of them</a:t>
            </a:r>
          </a:p>
          <a:p>
            <a:pPr marL="0" indent="0">
              <a:lnSpc>
                <a:spcPct val="90000"/>
              </a:lnSpc>
              <a:buNone/>
            </a:pPr>
            <a:r>
              <a:rPr lang="en-US" sz="1200" kern="1200" dirty="0">
                <a:latin typeface="+mn-lt"/>
                <a:ea typeface="+mn-ea"/>
                <a:cs typeface="+mn-cs"/>
              </a:rPr>
              <a:t>They have a fundamental physical property call </a:t>
            </a:r>
            <a:r>
              <a:rPr lang="en-US" sz="1200" b="1" kern="1200" dirty="0">
                <a:latin typeface="+mn-lt"/>
                <a:ea typeface="+mn-ea"/>
                <a:cs typeface="+mn-cs"/>
              </a:rPr>
              <a:t>spin angular momentum </a:t>
            </a:r>
            <a:r>
              <a:rPr lang="en-US" sz="1200" kern="1200" dirty="0">
                <a:latin typeface="+mn-lt"/>
                <a:ea typeface="+mn-ea"/>
                <a:cs typeface="+mn-cs"/>
              </a:rPr>
              <a:t>or just </a:t>
            </a:r>
            <a:r>
              <a:rPr lang="en-US" sz="1200" b="1" kern="1200" dirty="0">
                <a:latin typeface="+mn-lt"/>
                <a:ea typeface="+mn-ea"/>
                <a:cs typeface="+mn-cs"/>
              </a:rPr>
              <a:t>spin</a:t>
            </a:r>
          </a:p>
          <a:p>
            <a:pPr marL="0" indent="0">
              <a:lnSpc>
                <a:spcPct val="90000"/>
              </a:lnSpc>
              <a:buNone/>
            </a:pPr>
            <a:r>
              <a:rPr lang="en-US" sz="1200" kern="1200" dirty="0">
                <a:latin typeface="+mn-lt"/>
                <a:ea typeface="+mn-ea"/>
                <a:cs typeface="+mn-cs"/>
              </a:rPr>
              <a:t>Because of their abundance and high sensitivity to the technique</a:t>
            </a:r>
          </a:p>
          <a:p>
            <a:pPr marL="0" indent="0">
              <a:lnSpc>
                <a:spcPct val="90000"/>
              </a:lnSpc>
              <a:buNone/>
            </a:pPr>
            <a:endParaRPr lang="en-US" sz="1200" kern="1200" dirty="0">
              <a:latin typeface="+mn-lt"/>
              <a:ea typeface="+mn-ea"/>
              <a:cs typeface="+mn-cs"/>
            </a:endParaRPr>
          </a:p>
          <a:p>
            <a:pPr marL="0" indent="0">
              <a:lnSpc>
                <a:spcPct val="90000"/>
              </a:lnSpc>
              <a:buNone/>
            </a:pPr>
            <a:endParaRPr lang="en-US" sz="1200" kern="1200" dirty="0">
              <a:latin typeface="+mn-lt"/>
              <a:ea typeface="+mn-ea"/>
              <a:cs typeface="+mn-cs"/>
            </a:endParaRPr>
          </a:p>
        </p:txBody>
      </p:sp>
    </p:spTree>
    <p:extLst>
      <p:ext uri="{BB962C8B-B14F-4D97-AF65-F5344CB8AC3E}">
        <p14:creationId xmlns:p14="http://schemas.microsoft.com/office/powerpoint/2010/main" val="763310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Magnetic momentum</a:t>
            </a:r>
          </a:p>
        </p:txBody>
      </p:sp>
      <p:sp>
        <p:nvSpPr>
          <p:cNvPr id="3" name="Content Placeholder 2"/>
          <p:cNvSpPr>
            <a:spLocks noGrp="1"/>
          </p:cNvSpPr>
          <p:nvPr>
            <p:ph idx="1"/>
          </p:nvPr>
        </p:nvSpPr>
        <p:spPr/>
        <p:txBody>
          <a:bodyPr/>
          <a:lstStyle/>
          <a:p>
            <a:r>
              <a:rPr lang="en-US" dirty="0">
                <a:solidFill>
                  <a:schemeClr val="tx2">
                    <a:lumMod val="60000"/>
                    <a:lumOff val="40000"/>
                  </a:schemeClr>
                </a:solidFill>
              </a:rPr>
              <a:t>This electrical charge movement produces a microscopic magnetic field referred to as </a:t>
            </a:r>
            <a:r>
              <a:rPr lang="en-US" b="1" dirty="0">
                <a:solidFill>
                  <a:schemeClr val="tx2">
                    <a:lumMod val="60000"/>
                    <a:lumOff val="40000"/>
                  </a:schemeClr>
                </a:solidFill>
              </a:rPr>
              <a:t>magnetic moment</a:t>
            </a:r>
            <a:endParaRPr lang="en-US" dirty="0">
              <a:solidFill>
                <a:schemeClr val="tx2">
                  <a:lumMod val="60000"/>
                  <a:lumOff val="40000"/>
                </a:schemeClr>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71800" y="2895600"/>
            <a:ext cx="3124200" cy="2343150"/>
          </a:xfrm>
          <a:prstGeom prst="rect">
            <a:avLst/>
          </a:prstGeom>
        </p:spPr>
      </p:pic>
    </p:spTree>
    <p:extLst>
      <p:ext uri="{BB962C8B-B14F-4D97-AF65-F5344CB8AC3E}">
        <p14:creationId xmlns:p14="http://schemas.microsoft.com/office/powerpoint/2010/main" val="3196345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Spin Quantum Number </a:t>
            </a:r>
            <a:r>
              <a:rPr lang="en-US" dirty="0">
                <a:solidFill>
                  <a:schemeClr val="accent1">
                    <a:lumMod val="75000"/>
                  </a:schemeClr>
                </a:solidFill>
                <a:latin typeface="Aparajita" panose="020B0604020202020204" pitchFamily="34" charset="0"/>
                <a:cs typeface="Aparajita" panose="020B0604020202020204" pitchFamily="34" charset="0"/>
              </a:rPr>
              <a:t>(I)</a:t>
            </a:r>
          </a:p>
        </p:txBody>
      </p:sp>
      <p:sp>
        <p:nvSpPr>
          <p:cNvPr id="3" name="Content Placeholder 2"/>
          <p:cNvSpPr>
            <a:spLocks noGrp="1"/>
          </p:cNvSpPr>
          <p:nvPr>
            <p:ph idx="1"/>
          </p:nvPr>
        </p:nvSpPr>
        <p:spPr/>
        <p:txBody>
          <a:bodyPr>
            <a:normAutofit lnSpcReduction="10000"/>
          </a:bodyPr>
          <a:lstStyle/>
          <a:p>
            <a:pPr marL="0" indent="0">
              <a:buNone/>
            </a:pPr>
            <a:r>
              <a:rPr lang="en-US" dirty="0">
                <a:solidFill>
                  <a:schemeClr val="tx2">
                    <a:lumMod val="60000"/>
                    <a:lumOff val="40000"/>
                  </a:schemeClr>
                </a:solidFill>
              </a:rPr>
              <a:t>It is the quantum mechanical descriptor of the nuclei spin</a:t>
            </a:r>
          </a:p>
          <a:p>
            <a:pPr marL="0" indent="0">
              <a:buNone/>
            </a:pPr>
            <a:r>
              <a:rPr lang="en-US" dirty="0">
                <a:solidFill>
                  <a:schemeClr val="tx2">
                    <a:lumMod val="60000"/>
                    <a:lumOff val="40000"/>
                  </a:schemeClr>
                </a:solidFill>
              </a:rPr>
              <a:t>Nuclei with:</a:t>
            </a:r>
          </a:p>
          <a:p>
            <a:r>
              <a:rPr lang="en-US" dirty="0">
                <a:solidFill>
                  <a:schemeClr val="tx2">
                    <a:lumMod val="60000"/>
                    <a:lumOff val="40000"/>
                  </a:schemeClr>
                </a:solidFill>
              </a:rPr>
              <a:t>Even number of protons and even number of neutrons:    </a:t>
            </a:r>
            <a:r>
              <a:rPr lang="en-US" sz="3600" dirty="0">
                <a:solidFill>
                  <a:schemeClr val="tx2">
                    <a:lumMod val="60000"/>
                    <a:lumOff val="40000"/>
                  </a:schemeClr>
                </a:solidFill>
                <a:latin typeface="Aparajita" panose="020B0604020202020204" pitchFamily="34" charset="0"/>
                <a:ea typeface="+mj-ea"/>
                <a:cs typeface="Aparajita" panose="020B0604020202020204" pitchFamily="34" charset="0"/>
              </a:rPr>
              <a:t>I = 0</a:t>
            </a:r>
          </a:p>
          <a:p>
            <a:r>
              <a:rPr lang="en-US" dirty="0">
                <a:solidFill>
                  <a:schemeClr val="tx2">
                    <a:lumMod val="60000"/>
                    <a:lumOff val="40000"/>
                  </a:schemeClr>
                </a:solidFill>
              </a:rPr>
              <a:t>Odd number of protons </a:t>
            </a:r>
            <a:r>
              <a:rPr lang="en-US" b="1" u="sng" dirty="0">
                <a:solidFill>
                  <a:schemeClr val="tx2">
                    <a:lumMod val="60000"/>
                    <a:lumOff val="40000"/>
                  </a:schemeClr>
                </a:solidFill>
              </a:rPr>
              <a:t>or</a:t>
            </a:r>
            <a:r>
              <a:rPr lang="en-US" dirty="0">
                <a:solidFill>
                  <a:schemeClr val="tx2">
                    <a:lumMod val="60000"/>
                    <a:lumOff val="40000"/>
                  </a:schemeClr>
                </a:solidFill>
              </a:rPr>
              <a:t> odd number of neutrons: ‘half integral’ </a:t>
            </a:r>
            <a:r>
              <a:rPr lang="en-US" sz="3600" dirty="0">
                <a:solidFill>
                  <a:schemeClr val="tx2">
                    <a:lumMod val="60000"/>
                    <a:lumOff val="40000"/>
                  </a:schemeClr>
                </a:solidFill>
                <a:latin typeface="Aparajita" panose="020B0604020202020204" pitchFamily="34" charset="0"/>
                <a:cs typeface="Aparajita" panose="020B0604020202020204" pitchFamily="34" charset="0"/>
              </a:rPr>
              <a:t>I = ½ or 3/2 or 5/2 …</a:t>
            </a:r>
          </a:p>
          <a:p>
            <a:r>
              <a:rPr lang="en-US" dirty="0">
                <a:solidFill>
                  <a:schemeClr val="tx2">
                    <a:lumMod val="60000"/>
                    <a:lumOff val="40000"/>
                  </a:schemeClr>
                </a:solidFill>
              </a:rPr>
              <a:t>Odd number of protons </a:t>
            </a:r>
            <a:r>
              <a:rPr lang="en-US" b="1" u="sng" dirty="0">
                <a:solidFill>
                  <a:schemeClr val="tx2">
                    <a:lumMod val="60000"/>
                    <a:lumOff val="40000"/>
                  </a:schemeClr>
                </a:solidFill>
              </a:rPr>
              <a:t>and</a:t>
            </a:r>
            <a:r>
              <a:rPr lang="en-US" dirty="0">
                <a:solidFill>
                  <a:schemeClr val="tx2">
                    <a:lumMod val="60000"/>
                    <a:lumOff val="40000"/>
                  </a:schemeClr>
                </a:solidFill>
              </a:rPr>
              <a:t> odd number of neutrons:      </a:t>
            </a:r>
            <a:r>
              <a:rPr lang="en-US" sz="3600" dirty="0">
                <a:solidFill>
                  <a:schemeClr val="tx2">
                    <a:lumMod val="60000"/>
                    <a:lumOff val="40000"/>
                  </a:schemeClr>
                </a:solidFill>
                <a:latin typeface="Aparajita" panose="020B0604020202020204" pitchFamily="34" charset="0"/>
                <a:cs typeface="Aparajita" panose="020B0604020202020204" pitchFamily="34" charset="0"/>
              </a:rPr>
              <a:t>I = 1 or 2 or 3…</a:t>
            </a:r>
          </a:p>
          <a:p>
            <a:endParaRPr lang="en-US" sz="3600" dirty="0">
              <a:solidFill>
                <a:schemeClr val="tx2">
                  <a:lumMod val="60000"/>
                  <a:lumOff val="40000"/>
                </a:schemeClr>
              </a:solidFill>
              <a:latin typeface="Aparajita" panose="020B0604020202020204" pitchFamily="34" charset="0"/>
              <a:ea typeface="+mj-ea"/>
              <a:cs typeface="Aparajita" panose="020B0604020202020204" pitchFamily="34" charset="0"/>
            </a:endParaRPr>
          </a:p>
          <a:p>
            <a:endParaRPr lang="en-US" dirty="0">
              <a:solidFill>
                <a:schemeClr val="tx2">
                  <a:lumMod val="60000"/>
                  <a:lumOff val="40000"/>
                </a:schemeClr>
              </a:solidFill>
            </a:endParaRPr>
          </a:p>
        </p:txBody>
      </p:sp>
    </p:spTree>
    <p:extLst>
      <p:ext uri="{BB962C8B-B14F-4D97-AF65-F5344CB8AC3E}">
        <p14:creationId xmlns:p14="http://schemas.microsoft.com/office/powerpoint/2010/main" val="965443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123" name="Picture 3" descr="C:\Users\BUBA\AppData\Local\Microsoft\Windows\Temporary Internet Files\Content.IE5\J5DP1DE9\emoticon-surprise[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3200" y="-381000"/>
            <a:ext cx="2238375" cy="2238375"/>
          </a:xfrm>
          <a:prstGeom prst="rect">
            <a:avLst/>
          </a:prstGeom>
          <a:noFill/>
          <a:extLst>
            <a:ext uri="{909E8E84-426E-40dd-AFC4-6F175D3DCCD1}">
              <a14:hiddenFill xmlns:a14="http://schemas.microsoft.com/office/drawing/2010/main" xmlns="">
                <a:solidFill>
                  <a:srgbClr val="FFFFFF"/>
                </a:solidFill>
              </a14:hiddenFill>
            </a:ext>
          </a:extLst>
        </p:spPr>
      </p:pic>
      <p:sp>
        <p:nvSpPr>
          <p:cNvPr id="2" name="Title 1"/>
          <p:cNvSpPr>
            <a:spLocks noGrp="1"/>
          </p:cNvSpPr>
          <p:nvPr>
            <p:ph type="title"/>
          </p:nvPr>
        </p:nvSpPr>
        <p:spPr/>
        <p:txBody>
          <a:bodyPr/>
          <a:lstStyle/>
          <a:p>
            <a:r>
              <a:rPr lang="en-US" dirty="0">
                <a:solidFill>
                  <a:schemeClr val="accent1">
                    <a:lumMod val="75000"/>
                  </a:schemeClr>
                </a:solidFill>
              </a:rPr>
              <a:t>Gyromagnetic ratio</a:t>
            </a:r>
          </a:p>
        </p:txBody>
      </p:sp>
      <p:sp>
        <p:nvSpPr>
          <p:cNvPr id="3" name="Content Placeholder 2"/>
          <p:cNvSpPr>
            <a:spLocks noGrp="1"/>
          </p:cNvSpPr>
          <p:nvPr>
            <p:ph idx="1"/>
          </p:nvPr>
        </p:nvSpPr>
        <p:spPr>
          <a:xfrm>
            <a:off x="264136" y="1119187"/>
            <a:ext cx="8839200" cy="4983163"/>
          </a:xfrm>
        </p:spPr>
        <p:txBody>
          <a:bodyPr/>
          <a:lstStyle/>
          <a:p>
            <a:pPr marL="0" indent="0">
              <a:buNone/>
            </a:pPr>
            <a:r>
              <a:rPr lang="en-US" dirty="0">
                <a:solidFill>
                  <a:schemeClr val="tx2">
                    <a:lumMod val="60000"/>
                    <a:lumOff val="40000"/>
                  </a:schemeClr>
                </a:solidFill>
              </a:rPr>
              <a:t>The magnitude of the nuclear dipole magnetic moment (how strong it is), it is determined by the spin quantum momentum of that nucleus and the gyromagnetic ratio of that same nucleus.</a:t>
            </a:r>
          </a:p>
          <a:p>
            <a:pPr marL="0" indent="0">
              <a:buNone/>
            </a:pPr>
            <a:endParaRPr lang="en-US" dirty="0">
              <a:solidFill>
                <a:schemeClr val="tx2">
                  <a:lumMod val="60000"/>
                  <a:lumOff val="40000"/>
                </a:schemeClr>
              </a:solidFill>
            </a:endParaRPr>
          </a:p>
          <a:p>
            <a:pPr marL="0" indent="0">
              <a:buNone/>
            </a:pPr>
            <a:r>
              <a:rPr lang="en-US" dirty="0">
                <a:solidFill>
                  <a:schemeClr val="tx2">
                    <a:lumMod val="60000"/>
                    <a:lumOff val="40000"/>
                  </a:schemeClr>
                </a:solidFill>
              </a:rPr>
              <a:t>h=Plank’s constant</a:t>
            </a:r>
          </a:p>
          <a:p>
            <a:pPr marL="0" indent="0">
              <a:buNone/>
            </a:pPr>
            <a:endParaRPr lang="en-US" dirty="0">
              <a:solidFill>
                <a:schemeClr val="tx2">
                  <a:lumMod val="60000"/>
                  <a:lumOff val="40000"/>
                </a:schemeClr>
              </a:solidFill>
            </a:endParaRPr>
          </a:p>
          <a:p>
            <a:pPr marL="0" indent="0">
              <a:buNone/>
            </a:pPr>
            <a:endParaRPr lang="en-US" dirty="0">
              <a:solidFill>
                <a:schemeClr val="tx2">
                  <a:lumMod val="60000"/>
                  <a:lumOff val="40000"/>
                </a:schemeClr>
              </a:solidFill>
            </a:endParaRPr>
          </a:p>
        </p:txBody>
      </p:sp>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5200" y="3408485"/>
            <a:ext cx="2371725" cy="9334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343750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lumMod val="75000"/>
                  </a:schemeClr>
                </a:solidFill>
              </a:rPr>
              <a:t>Don’t get that?</a:t>
            </a:r>
          </a:p>
        </p:txBody>
      </p:sp>
      <p:sp>
        <p:nvSpPr>
          <p:cNvPr id="3" name="Content Placeholder 2"/>
          <p:cNvSpPr>
            <a:spLocks noGrp="1"/>
          </p:cNvSpPr>
          <p:nvPr>
            <p:ph idx="1"/>
          </p:nvPr>
        </p:nvSpPr>
        <p:spPr/>
        <p:txBody>
          <a:bodyPr/>
          <a:lstStyle/>
          <a:p>
            <a:r>
              <a:rPr lang="en-US" dirty="0">
                <a:solidFill>
                  <a:schemeClr val="tx2">
                    <a:lumMod val="60000"/>
                    <a:lumOff val="40000"/>
                  </a:schemeClr>
                </a:solidFill>
              </a:rPr>
              <a:t>All that means it is that the strength of that dipole field is fixed and the same for all nucleus of that type. </a:t>
            </a:r>
          </a:p>
          <a:p>
            <a:r>
              <a:rPr lang="en-US" dirty="0">
                <a:solidFill>
                  <a:schemeClr val="tx2">
                    <a:lumMod val="60000"/>
                    <a:lumOff val="40000"/>
                  </a:schemeClr>
                </a:solidFill>
              </a:rPr>
              <a:t>It’s units are measured in MHz/T</a:t>
            </a:r>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7000" y="2057400"/>
            <a:ext cx="1838325" cy="214312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147"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9590" t="55947" r="68964" b="24733"/>
          <a:stretch/>
        </p:blipFill>
        <p:spPr bwMode="auto">
          <a:xfrm>
            <a:off x="533400" y="3352800"/>
            <a:ext cx="3922059" cy="19139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53000" y="4314265"/>
            <a:ext cx="3467100" cy="1905000"/>
          </a:xfrm>
          <a:prstGeom prst="rect">
            <a:avLst/>
          </a:prstGeom>
        </p:spPr>
      </p:pic>
    </p:spTree>
    <p:extLst>
      <p:ext uri="{BB962C8B-B14F-4D97-AF65-F5344CB8AC3E}">
        <p14:creationId xmlns:p14="http://schemas.microsoft.com/office/powerpoint/2010/main" val="304186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Random Spin</a:t>
            </a:r>
          </a:p>
        </p:txBody>
      </p:sp>
      <p:sp>
        <p:nvSpPr>
          <p:cNvPr id="5" name="Content Placeholder 4"/>
          <p:cNvSpPr>
            <a:spLocks noGrp="1"/>
          </p:cNvSpPr>
          <p:nvPr>
            <p:ph idx="1"/>
          </p:nvPr>
        </p:nvSpPr>
        <p:spPr/>
        <p:txBody>
          <a:bodyPr/>
          <a:lstStyle/>
          <a:p>
            <a:pPr marL="0" indent="0">
              <a:buNone/>
            </a:pPr>
            <a:r>
              <a:rPr lang="en-US" dirty="0">
                <a:solidFill>
                  <a:schemeClr val="tx2">
                    <a:lumMod val="60000"/>
                    <a:lumOff val="40000"/>
                  </a:schemeClr>
                </a:solidFill>
              </a:rPr>
              <a:t>Outside the magnetic field, the nuclei are spinning randomly in all different direction.</a:t>
            </a:r>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1800" y="2362200"/>
            <a:ext cx="2762250" cy="27622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570028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144000" cy="685800"/>
          </a:xfrm>
        </p:spPr>
        <p:txBody>
          <a:bodyPr anchor="ctr">
            <a:normAutofit/>
          </a:bodyPr>
          <a:lstStyle/>
          <a:p>
            <a:r>
              <a:rPr lang="en-US"/>
              <a:t>Precession</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2348706"/>
            <a:ext cx="4038600" cy="3028950"/>
          </a:xfrm>
          <a:prstGeom prst="rect">
            <a:avLst/>
          </a:prstGeom>
          <a:noFill/>
        </p:spPr>
      </p:pic>
      <p:sp>
        <p:nvSpPr>
          <p:cNvPr id="3" name="Content Placeholder 2"/>
          <p:cNvSpPr>
            <a:spLocks noGrp="1"/>
          </p:cNvSpPr>
          <p:nvPr>
            <p:ph sz="half" idx="2"/>
          </p:nvPr>
        </p:nvSpPr>
        <p:spPr>
          <a:xfrm>
            <a:off x="4648200" y="1600200"/>
            <a:ext cx="4038600" cy="4525963"/>
          </a:xfrm>
        </p:spPr>
        <p:txBody>
          <a:bodyPr>
            <a:normAutofit/>
          </a:bodyPr>
          <a:lstStyle/>
          <a:p>
            <a:pPr marL="0" indent="0">
              <a:lnSpc>
                <a:spcPct val="90000"/>
              </a:lnSpc>
              <a:buNone/>
            </a:pPr>
            <a:r>
              <a:rPr lang="en-US" sz="2200"/>
              <a:t>When the body is introduced in the magnetic field, two things happen to the hydrogen nuclear magnetic dipole:</a:t>
            </a:r>
          </a:p>
          <a:p>
            <a:pPr>
              <a:lnSpc>
                <a:spcPct val="90000"/>
              </a:lnSpc>
            </a:pPr>
            <a:r>
              <a:rPr lang="en-US" sz="2200"/>
              <a:t>They get aligned in an angle to the direction of the magnetic field B</a:t>
            </a:r>
            <a:r>
              <a:rPr lang="en-US" sz="2200" baseline="-25000"/>
              <a:t>0</a:t>
            </a:r>
          </a:p>
          <a:p>
            <a:pPr>
              <a:lnSpc>
                <a:spcPct val="90000"/>
              </a:lnSpc>
            </a:pPr>
            <a:r>
              <a:rPr lang="en-US" sz="2200"/>
              <a:t>They </a:t>
            </a:r>
            <a:r>
              <a:rPr lang="en-US" sz="2200" b="1"/>
              <a:t>precess</a:t>
            </a:r>
            <a:r>
              <a:rPr lang="en-US" sz="2200"/>
              <a:t> around the direction of the magnetic field.</a:t>
            </a:r>
          </a:p>
          <a:p>
            <a:pPr>
              <a:lnSpc>
                <a:spcPct val="90000"/>
              </a:lnSpc>
            </a:pPr>
            <a:r>
              <a:rPr lang="en-US" sz="2200"/>
              <a:t>The rate of precession is measured in Hz and called the Larmor frequency</a:t>
            </a:r>
          </a:p>
        </p:txBody>
      </p:sp>
    </p:spTree>
    <p:extLst>
      <p:ext uri="{BB962C8B-B14F-4D97-AF65-F5344CB8AC3E}">
        <p14:creationId xmlns:p14="http://schemas.microsoft.com/office/powerpoint/2010/main" val="614383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Larmor frequency</a:t>
            </a:r>
          </a:p>
        </p:txBody>
      </p:sp>
      <p:sp>
        <p:nvSpPr>
          <p:cNvPr id="3" name="Content Placeholder 2"/>
          <p:cNvSpPr>
            <a:spLocks noGrp="1"/>
          </p:cNvSpPr>
          <p:nvPr>
            <p:ph sz="half" idx="1"/>
          </p:nvPr>
        </p:nvSpPr>
        <p:spPr>
          <a:xfrm>
            <a:off x="457200" y="1066801"/>
            <a:ext cx="7848600" cy="1600200"/>
          </a:xfrm>
        </p:spPr>
        <p:txBody>
          <a:bodyPr>
            <a:normAutofit/>
          </a:bodyPr>
          <a:lstStyle/>
          <a:p>
            <a:pPr marL="0" indent="0">
              <a:buNone/>
            </a:pPr>
            <a:r>
              <a:rPr lang="en-US" dirty="0">
                <a:solidFill>
                  <a:schemeClr val="tx2">
                    <a:lumMod val="60000"/>
                    <a:lumOff val="40000"/>
                  </a:schemeClr>
                </a:solidFill>
              </a:rPr>
              <a:t>Depends on:</a:t>
            </a:r>
          </a:p>
          <a:p>
            <a:pPr lvl="1"/>
            <a:r>
              <a:rPr lang="en-US" dirty="0">
                <a:solidFill>
                  <a:schemeClr val="tx2">
                    <a:lumMod val="60000"/>
                    <a:lumOff val="40000"/>
                  </a:schemeClr>
                </a:solidFill>
              </a:rPr>
              <a:t>The strength of the external magnetic field B</a:t>
            </a:r>
          </a:p>
          <a:p>
            <a:pPr lvl="1"/>
            <a:r>
              <a:rPr lang="en-US" dirty="0">
                <a:solidFill>
                  <a:schemeClr val="tx2">
                    <a:lumMod val="60000"/>
                    <a:lumOff val="40000"/>
                  </a:schemeClr>
                </a:solidFill>
              </a:rPr>
              <a:t>The gyromagnetic ratio of the nuclei</a:t>
            </a:r>
          </a:p>
        </p:txBody>
      </p:sp>
      <p:sp>
        <p:nvSpPr>
          <p:cNvPr id="4" name="Content Placeholder 3"/>
          <p:cNvSpPr>
            <a:spLocks noGrp="1"/>
          </p:cNvSpPr>
          <p:nvPr>
            <p:ph sz="half" idx="2"/>
          </p:nvPr>
        </p:nvSpPr>
        <p:spPr>
          <a:xfrm>
            <a:off x="2743200" y="3810000"/>
            <a:ext cx="5943600" cy="4906963"/>
          </a:xfrm>
        </p:spPr>
        <p:txBody>
          <a:bodyPr vert="horz" lIns="91440" tIns="45720" rIns="91440" bIns="45720" rtlCol="0">
            <a:normAutofit/>
          </a:bodyPr>
          <a:lstStyle/>
          <a:p>
            <a:pPr marL="0" indent="0">
              <a:buNone/>
            </a:pPr>
            <a:r>
              <a:rPr lang="en-US" dirty="0">
                <a:solidFill>
                  <a:schemeClr val="tx2">
                    <a:lumMod val="60000"/>
                    <a:lumOff val="40000"/>
                  </a:schemeClr>
                </a:solidFill>
              </a:rPr>
              <a:t>Therefore: </a:t>
            </a:r>
          </a:p>
          <a:p>
            <a:pPr marL="0" indent="0">
              <a:buNone/>
            </a:pPr>
            <a:r>
              <a:rPr lang="el-GR" dirty="0">
                <a:solidFill>
                  <a:schemeClr val="tx2">
                    <a:lumMod val="60000"/>
                    <a:lumOff val="40000"/>
                  </a:schemeClr>
                </a:solidFill>
                <a:latin typeface="Calibri"/>
              </a:rPr>
              <a:t>ω</a:t>
            </a:r>
            <a:r>
              <a:rPr lang="en-US" dirty="0">
                <a:solidFill>
                  <a:schemeClr val="tx2">
                    <a:lumMod val="60000"/>
                    <a:lumOff val="40000"/>
                  </a:schemeClr>
                </a:solidFill>
                <a:latin typeface="Calibri"/>
              </a:rPr>
              <a:t> = 42.58MHz/T x 1.5T = 63.87MHz</a:t>
            </a:r>
          </a:p>
          <a:p>
            <a:pPr marL="0" indent="0">
              <a:buNone/>
            </a:pPr>
            <a:r>
              <a:rPr lang="en-US" dirty="0">
                <a:solidFill>
                  <a:schemeClr val="tx2">
                    <a:lumMod val="60000"/>
                    <a:lumOff val="40000"/>
                  </a:schemeClr>
                </a:solidFill>
                <a:latin typeface="Calibri"/>
              </a:rPr>
              <a:t>0.2T = 8.52MHz	0.35T = 14.90MHz</a:t>
            </a:r>
          </a:p>
          <a:p>
            <a:pPr marL="0" indent="0">
              <a:buNone/>
            </a:pPr>
            <a:r>
              <a:rPr lang="en-US" dirty="0">
                <a:solidFill>
                  <a:schemeClr val="tx2">
                    <a:lumMod val="60000"/>
                    <a:lumOff val="40000"/>
                  </a:schemeClr>
                </a:solidFill>
                <a:latin typeface="Calibri"/>
              </a:rPr>
              <a:t>0.5T = 21.29MHz	0.7T = 29.81MHz</a:t>
            </a:r>
          </a:p>
          <a:p>
            <a:pPr marL="0" indent="0">
              <a:buNone/>
            </a:pPr>
            <a:r>
              <a:rPr lang="en-US" dirty="0">
                <a:solidFill>
                  <a:schemeClr val="tx2">
                    <a:lumMod val="60000"/>
                    <a:lumOff val="40000"/>
                  </a:schemeClr>
                </a:solidFill>
                <a:latin typeface="Calibri"/>
              </a:rPr>
              <a:t>1.0T = 42.58MHz	3.0T = 127.74MHz</a:t>
            </a:r>
          </a:p>
          <a:p>
            <a:pPr marL="0" indent="0">
              <a:buNone/>
            </a:pPr>
            <a:endParaRPr lang="en-US" dirty="0">
              <a:solidFill>
                <a:schemeClr val="tx2">
                  <a:lumMod val="60000"/>
                  <a:lumOff val="40000"/>
                </a:schemeClr>
              </a:solidFill>
            </a:endParaRPr>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6600" y="2743200"/>
            <a:ext cx="2057400" cy="10668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3962400"/>
            <a:ext cx="1838325" cy="214312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532526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Spin state in the magnetic field</a:t>
            </a:r>
          </a:p>
        </p:txBody>
      </p:sp>
      <p:sp>
        <p:nvSpPr>
          <p:cNvPr id="3" name="Content Placeholder 2"/>
          <p:cNvSpPr>
            <a:spLocks noGrp="1"/>
          </p:cNvSpPr>
          <p:nvPr>
            <p:ph sz="half" idx="1"/>
          </p:nvPr>
        </p:nvSpPr>
        <p:spPr>
          <a:xfrm>
            <a:off x="685800" y="1219200"/>
            <a:ext cx="4038600" cy="4525963"/>
          </a:xfrm>
        </p:spPr>
        <p:txBody>
          <a:bodyPr>
            <a:normAutofit/>
          </a:bodyPr>
          <a:lstStyle/>
          <a:p>
            <a:pPr marL="0" indent="0">
              <a:buNone/>
            </a:pPr>
            <a:r>
              <a:rPr lang="en-US" dirty="0">
                <a:solidFill>
                  <a:schemeClr val="tx2">
                    <a:lumMod val="60000"/>
                    <a:lumOff val="40000"/>
                  </a:schemeClr>
                </a:solidFill>
              </a:rPr>
              <a:t>The hydrogen protons in the magnetic field can take one of two states:</a:t>
            </a:r>
          </a:p>
          <a:p>
            <a:pPr marL="0" indent="0">
              <a:buNone/>
            </a:pPr>
            <a:r>
              <a:rPr lang="en-US" dirty="0">
                <a:solidFill>
                  <a:schemeClr val="tx2">
                    <a:lumMod val="60000"/>
                    <a:lumOff val="40000"/>
                  </a:schemeClr>
                </a:solidFill>
              </a:rPr>
              <a:t>- </a:t>
            </a:r>
            <a:r>
              <a:rPr lang="en-US" b="1" dirty="0">
                <a:solidFill>
                  <a:schemeClr val="tx2">
                    <a:lumMod val="60000"/>
                    <a:lumOff val="40000"/>
                  </a:schemeClr>
                </a:solidFill>
              </a:rPr>
              <a:t>Parallel</a:t>
            </a:r>
            <a:r>
              <a:rPr lang="en-US" dirty="0">
                <a:solidFill>
                  <a:schemeClr val="tx2">
                    <a:lumMod val="60000"/>
                    <a:lumOff val="40000"/>
                  </a:schemeClr>
                </a:solidFill>
              </a:rPr>
              <a:t> to the magnetic field or </a:t>
            </a:r>
            <a:r>
              <a:rPr lang="en-US" b="1" dirty="0">
                <a:solidFill>
                  <a:schemeClr val="tx2">
                    <a:lumMod val="60000"/>
                    <a:lumOff val="40000"/>
                  </a:schemeClr>
                </a:solidFill>
              </a:rPr>
              <a:t>low energy state </a:t>
            </a:r>
            <a:r>
              <a:rPr lang="en-US" dirty="0">
                <a:solidFill>
                  <a:schemeClr val="tx2">
                    <a:lumMod val="60000"/>
                    <a:lumOff val="40000"/>
                  </a:schemeClr>
                </a:solidFill>
              </a:rPr>
              <a:t>or </a:t>
            </a:r>
            <a:r>
              <a:rPr lang="en-US" b="1" dirty="0">
                <a:solidFill>
                  <a:schemeClr val="tx2">
                    <a:lumMod val="60000"/>
                    <a:lumOff val="40000"/>
                  </a:schemeClr>
                </a:solidFill>
              </a:rPr>
              <a:t>spin-up</a:t>
            </a:r>
          </a:p>
          <a:p>
            <a:pPr marL="0" indent="0">
              <a:buNone/>
            </a:pPr>
            <a:r>
              <a:rPr lang="en-US" dirty="0">
                <a:solidFill>
                  <a:schemeClr val="tx2">
                    <a:lumMod val="60000"/>
                    <a:lumOff val="40000"/>
                  </a:schemeClr>
                </a:solidFill>
              </a:rPr>
              <a:t>- </a:t>
            </a:r>
            <a:r>
              <a:rPr lang="en-US" b="1" dirty="0">
                <a:solidFill>
                  <a:schemeClr val="tx2">
                    <a:lumMod val="60000"/>
                    <a:lumOff val="40000"/>
                  </a:schemeClr>
                </a:solidFill>
              </a:rPr>
              <a:t>Anti-parallel</a:t>
            </a:r>
            <a:r>
              <a:rPr lang="en-US" dirty="0">
                <a:solidFill>
                  <a:schemeClr val="tx2">
                    <a:lumMod val="60000"/>
                    <a:lumOff val="40000"/>
                  </a:schemeClr>
                </a:solidFill>
              </a:rPr>
              <a:t> to the magnetic field or </a:t>
            </a:r>
            <a:r>
              <a:rPr lang="en-US" b="1" dirty="0">
                <a:solidFill>
                  <a:schemeClr val="tx2">
                    <a:lumMod val="60000"/>
                    <a:lumOff val="40000"/>
                  </a:schemeClr>
                </a:solidFill>
              </a:rPr>
              <a:t>high energy state </a:t>
            </a:r>
            <a:r>
              <a:rPr lang="en-US" dirty="0">
                <a:solidFill>
                  <a:schemeClr val="tx2">
                    <a:lumMod val="60000"/>
                    <a:lumOff val="40000"/>
                  </a:schemeClr>
                </a:solidFill>
              </a:rPr>
              <a:t>or </a:t>
            </a:r>
            <a:r>
              <a:rPr lang="en-US" b="1" dirty="0">
                <a:solidFill>
                  <a:schemeClr val="tx2">
                    <a:lumMod val="60000"/>
                    <a:lumOff val="40000"/>
                  </a:schemeClr>
                </a:solidFill>
              </a:rPr>
              <a:t>spin-down</a:t>
            </a:r>
            <a:endParaRPr lang="en-US" dirty="0">
              <a:solidFill>
                <a:schemeClr val="tx2">
                  <a:lumMod val="60000"/>
                  <a:lumOff val="40000"/>
                </a:schemeClr>
              </a:solidFill>
            </a:endParaRPr>
          </a:p>
        </p:txBody>
      </p:sp>
      <p:pic>
        <p:nvPicPr>
          <p:cNvPr id="9218" name="Picture 2" descr="http://www.mrinotes.com/images/estates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29200" y="1096107"/>
            <a:ext cx="3048000" cy="2286001"/>
          </a:xfrm>
          <a:prstGeom prst="rect">
            <a:avLst/>
          </a:prstGeom>
          <a:noFill/>
          <a:effectLst>
            <a:glow rad="228600">
              <a:schemeClr val="accent1">
                <a:satMod val="175000"/>
                <a:alpha val="40000"/>
              </a:schemeClr>
            </a:glow>
          </a:effectLst>
          <a:extLst>
            <a:ext uri="{909E8E84-426E-40dd-AFC4-6F175D3DCCD1}">
              <a14:hiddenFill xmlns:a14="http://schemas.microsoft.com/office/drawing/2010/main" xmlns="">
                <a:solidFill>
                  <a:srgbClr val="FFFFFF"/>
                </a:solidFill>
              </a14:hiddenFill>
            </a:ext>
          </a:extLst>
        </p:spPr>
      </p:pic>
      <p:pic>
        <p:nvPicPr>
          <p:cNvPr id="9220" name="Picture 4" descr="http://www.mrinotes.com/images/engergyorient.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5400" y="3810000"/>
            <a:ext cx="3048000" cy="2286001"/>
          </a:xfrm>
          <a:prstGeom prst="rect">
            <a:avLst/>
          </a:prstGeom>
          <a:noFill/>
          <a:effectLst>
            <a:glow rad="101600">
              <a:schemeClr val="accent2">
                <a:satMod val="175000"/>
                <a:alpha val="40000"/>
              </a:schemeClr>
            </a:glow>
          </a:effectLst>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098604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Spin Excess</a:t>
            </a:r>
          </a:p>
        </p:txBody>
      </p:sp>
      <p:pic>
        <p:nvPicPr>
          <p:cNvPr id="11266" name="Picture 2" descr="http://www.simplyphysics.com/resources/page2_2b.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29200" y="2479431"/>
            <a:ext cx="3371850" cy="1828800"/>
          </a:xfrm>
          <a:prstGeom prst="rect">
            <a:avLst/>
          </a:prstGeom>
          <a:noFill/>
          <a:extLst>
            <a:ext uri="{909E8E84-426E-40dd-AFC4-6F175D3DCCD1}">
              <a14:hiddenFill xmlns:a14="http://schemas.microsoft.com/office/drawing/2010/main" xmlns="">
                <a:solidFill>
                  <a:srgbClr val="FFFFFF"/>
                </a:solidFill>
              </a14:hiddenFill>
            </a:ext>
          </a:extLst>
        </p:spPr>
      </p:pic>
      <p:sp>
        <p:nvSpPr>
          <p:cNvPr id="7" name="Content Placeholder 6"/>
          <p:cNvSpPr>
            <a:spLocks noGrp="1"/>
          </p:cNvSpPr>
          <p:nvPr>
            <p:ph sz="half" idx="2"/>
          </p:nvPr>
        </p:nvSpPr>
        <p:spPr>
          <a:xfrm>
            <a:off x="4695825" y="1600200"/>
            <a:ext cx="4038600" cy="4525963"/>
          </a:xfrm>
        </p:spPr>
        <p:txBody>
          <a:bodyPr>
            <a:normAutofit fontScale="92500" lnSpcReduction="20000"/>
          </a:bodyPr>
          <a:lstStyle/>
          <a:p>
            <a:pPr marL="0" indent="0">
              <a:buNone/>
            </a:pPr>
            <a:r>
              <a:rPr lang="en-US" b="1" i="1" dirty="0"/>
              <a:t>A Quantum Physics</a:t>
            </a:r>
            <a:br>
              <a:rPr lang="en-US" b="1" i="1" dirty="0"/>
            </a:br>
            <a:r>
              <a:rPr lang="en-US" b="1" i="1" dirty="0"/>
              <a:t>Page!</a:t>
            </a:r>
          </a:p>
          <a:p>
            <a:pPr marL="0" indent="0">
              <a:buNone/>
            </a:pPr>
            <a:endParaRPr lang="en-US" b="1" i="1" dirty="0"/>
          </a:p>
          <a:p>
            <a:pPr marL="0" indent="0">
              <a:buNone/>
            </a:pPr>
            <a:endParaRPr lang="en-US" b="1" i="1" dirty="0"/>
          </a:p>
          <a:p>
            <a:pPr marL="0" indent="0">
              <a:buNone/>
            </a:pPr>
            <a:endParaRPr lang="en-US" b="1" i="1" dirty="0"/>
          </a:p>
          <a:p>
            <a:pPr marL="0" indent="0">
              <a:buNone/>
            </a:pPr>
            <a:endParaRPr lang="en-US" b="1" i="1" dirty="0"/>
          </a:p>
          <a:p>
            <a:pPr marL="0" indent="0">
              <a:buNone/>
            </a:pPr>
            <a:endParaRPr lang="en-US" b="1" i="1" dirty="0"/>
          </a:p>
          <a:p>
            <a:pPr marL="0" indent="0">
              <a:buNone/>
            </a:pPr>
            <a:endParaRPr lang="en-US" b="1" i="1" dirty="0"/>
          </a:p>
          <a:p>
            <a:pPr marL="0" indent="0">
              <a:buNone/>
            </a:pPr>
            <a:r>
              <a:rPr lang="en-US" sz="2200" dirty="0"/>
              <a:t>At 1.5 Tesla, for every 2 million protons, there are 9 more protons aligned </a:t>
            </a:r>
            <a:r>
              <a:rPr lang="en-US" sz="2200" b="1" i="1" dirty="0"/>
              <a:t>with</a:t>
            </a:r>
            <a:r>
              <a:rPr lang="en-US" sz="2200" dirty="0"/>
              <a:t> the field than there are aligned </a:t>
            </a:r>
            <a:r>
              <a:rPr lang="en-US" sz="2200" b="1" i="1" dirty="0"/>
              <a:t>against</a:t>
            </a:r>
            <a:r>
              <a:rPr lang="en-US" sz="2200" dirty="0"/>
              <a:t> the field.</a:t>
            </a:r>
          </a:p>
          <a:p>
            <a:pPr marL="0" indent="0">
              <a:buNone/>
            </a:pPr>
            <a:endParaRPr lang="en-US" b="1" dirty="0"/>
          </a:p>
        </p:txBody>
      </p:sp>
      <p:sp>
        <p:nvSpPr>
          <p:cNvPr id="9" name="Content Placeholder 8"/>
          <p:cNvSpPr>
            <a:spLocks noGrp="1"/>
          </p:cNvSpPr>
          <p:nvPr>
            <p:ph sz="half" idx="1"/>
          </p:nvPr>
        </p:nvSpPr>
        <p:spPr/>
        <p:txBody>
          <a:bodyPr>
            <a:normAutofit fontScale="92500" lnSpcReduction="20000"/>
          </a:bodyPr>
          <a:lstStyle/>
          <a:p>
            <a:pPr marL="0" indent="0">
              <a:buNone/>
            </a:pPr>
            <a:r>
              <a:rPr lang="en-US" dirty="0">
                <a:solidFill>
                  <a:schemeClr val="tx2">
                    <a:lumMod val="60000"/>
                    <a:lumOff val="40000"/>
                  </a:schemeClr>
                </a:solidFill>
              </a:rPr>
              <a:t>When the body enters the magnetic field, for every million protons that spin up there are a million that spin down. In a 1.5T only an excess of 9 more protons will be low energy.</a:t>
            </a:r>
          </a:p>
          <a:p>
            <a:pPr marL="0" indent="0">
              <a:buNone/>
            </a:pPr>
            <a:r>
              <a:rPr lang="en-US" dirty="0">
                <a:solidFill>
                  <a:schemeClr val="tx2">
                    <a:lumMod val="60000"/>
                    <a:lumOff val="40000"/>
                  </a:schemeClr>
                </a:solidFill>
              </a:rPr>
              <a:t>Protons in opposing directions cancel each other out.</a:t>
            </a:r>
          </a:p>
          <a:p>
            <a:pPr marL="0" indent="0">
              <a:buNone/>
            </a:pPr>
            <a:r>
              <a:rPr lang="en-US" dirty="0">
                <a:solidFill>
                  <a:schemeClr val="tx2">
                    <a:lumMod val="60000"/>
                    <a:lumOff val="40000"/>
                  </a:schemeClr>
                </a:solidFill>
              </a:rPr>
              <a:t>How do we have enough protons to create an image?</a:t>
            </a:r>
          </a:p>
        </p:txBody>
      </p:sp>
    </p:spTree>
    <p:extLst>
      <p:ext uri="{BB962C8B-B14F-4D97-AF65-F5344CB8AC3E}">
        <p14:creationId xmlns:p14="http://schemas.microsoft.com/office/powerpoint/2010/main" val="3951714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8600" y="838200"/>
            <a:ext cx="4800600" cy="5287963"/>
          </a:xfrm>
        </p:spPr>
        <p:txBody>
          <a:bodyPr>
            <a:normAutofit fontScale="55000" lnSpcReduction="20000"/>
          </a:bodyPr>
          <a:lstStyle/>
          <a:p>
            <a:pPr marL="0" indent="0">
              <a:buNone/>
            </a:pPr>
            <a:endParaRPr lang="en-US" dirty="0"/>
          </a:p>
          <a:p>
            <a:pPr marL="0" indent="0">
              <a:buNone/>
            </a:pPr>
            <a:r>
              <a:rPr lang="en-US" b="1" dirty="0"/>
              <a:t>How many </a:t>
            </a:r>
            <a:r>
              <a:rPr lang="en-US" b="1" i="1" dirty="0"/>
              <a:t>excess</a:t>
            </a:r>
            <a:r>
              <a:rPr lang="en-US" b="1" dirty="0"/>
              <a:t> protons are there in a single </a:t>
            </a:r>
            <a:r>
              <a:rPr lang="en-US" b="1" i="1" dirty="0"/>
              <a:t>voxel</a:t>
            </a:r>
            <a:r>
              <a:rPr lang="en-US" b="1" dirty="0"/>
              <a:t> at 1.5T?</a:t>
            </a:r>
          </a:p>
          <a:p>
            <a:endParaRPr lang="en-US" dirty="0"/>
          </a:p>
          <a:p>
            <a:r>
              <a:rPr lang="en-US" dirty="0"/>
              <a:t>Assume a </a:t>
            </a:r>
            <a:r>
              <a:rPr lang="en-US" dirty="0">
                <a:hlinkClick r:id="rId3"/>
              </a:rPr>
              <a:t>voxe</a:t>
            </a:r>
            <a:r>
              <a:rPr lang="en-US" dirty="0"/>
              <a:t>l is 2 x 2 x 5 mm = .02 ml</a:t>
            </a:r>
          </a:p>
          <a:p>
            <a:endParaRPr lang="en-US" dirty="0"/>
          </a:p>
          <a:p>
            <a:pPr>
              <a:buFont typeface="Arial"/>
              <a:buChar char="•"/>
            </a:pPr>
            <a:r>
              <a:rPr lang="en-US" dirty="0">
                <a:hlinkClick r:id="rId4"/>
              </a:rPr>
              <a:t>Avogadro's</a:t>
            </a:r>
            <a:r>
              <a:rPr lang="en-US" dirty="0"/>
              <a:t> Number says that there are 6.02x10</a:t>
            </a:r>
            <a:r>
              <a:rPr lang="en-US" baseline="30000" dirty="0"/>
              <a:t>23</a:t>
            </a:r>
            <a:r>
              <a:rPr lang="en-US" dirty="0"/>
              <a:t> molecules per mole</a:t>
            </a:r>
            <a:br>
              <a:rPr lang="en-US" dirty="0"/>
            </a:br>
            <a:br>
              <a:rPr lang="en-US" dirty="0"/>
            </a:br>
            <a:endParaRPr lang="en-US" dirty="0"/>
          </a:p>
          <a:p>
            <a:pPr>
              <a:buFont typeface="Arial"/>
              <a:buChar char="•"/>
            </a:pPr>
            <a:r>
              <a:rPr lang="en-US" dirty="0"/>
              <a:t>.1 mole of water weighs 18 grams (O</a:t>
            </a:r>
            <a:r>
              <a:rPr lang="en-US" baseline="30000" dirty="0"/>
              <a:t>16</a:t>
            </a:r>
            <a:r>
              <a:rPr lang="en-US" dirty="0"/>
              <a:t> + 2H</a:t>
            </a:r>
            <a:r>
              <a:rPr lang="en-US" baseline="30000" dirty="0"/>
              <a:t>1</a:t>
            </a:r>
            <a:r>
              <a:rPr lang="en-US" dirty="0"/>
              <a:t>) has 2 moles of hydrogen and fills 18 ml, so.....</a:t>
            </a:r>
            <a:br>
              <a:rPr lang="en-US" dirty="0"/>
            </a:br>
            <a:br>
              <a:rPr lang="en-US" dirty="0"/>
            </a:br>
            <a:endParaRPr lang="en-US" dirty="0"/>
          </a:p>
          <a:p>
            <a:pPr>
              <a:buFont typeface="Arial"/>
              <a:buChar char="•"/>
            </a:pPr>
            <a:r>
              <a:rPr lang="en-US" dirty="0"/>
              <a:t>1 voxel of water has </a:t>
            </a:r>
            <a:br>
              <a:rPr lang="en-US" dirty="0"/>
            </a:br>
            <a:r>
              <a:rPr lang="en-US" dirty="0"/>
              <a:t>2 x 6.02 x10</a:t>
            </a:r>
            <a:r>
              <a:rPr lang="en-US" baseline="30000" dirty="0"/>
              <a:t>23</a:t>
            </a:r>
            <a:r>
              <a:rPr lang="en-US" dirty="0"/>
              <a:t> x 0.02 / 18 = 1.338 x 10</a:t>
            </a:r>
            <a:r>
              <a:rPr lang="en-US" baseline="30000" dirty="0"/>
              <a:t>21</a:t>
            </a:r>
            <a:r>
              <a:rPr lang="en-US" dirty="0"/>
              <a:t> </a:t>
            </a:r>
            <a:r>
              <a:rPr lang="en-US" b="1" dirty="0"/>
              <a:t>total</a:t>
            </a:r>
            <a:r>
              <a:rPr lang="en-US" dirty="0"/>
              <a:t> protons.</a:t>
            </a:r>
            <a:br>
              <a:rPr lang="en-US" dirty="0"/>
            </a:br>
            <a:br>
              <a:rPr lang="en-US" dirty="0"/>
            </a:br>
            <a:endParaRPr lang="en-US" dirty="0"/>
          </a:p>
          <a:p>
            <a:pPr>
              <a:buFont typeface="Arial"/>
              <a:buChar char="•"/>
            </a:pPr>
            <a:r>
              <a:rPr lang="en-US" dirty="0"/>
              <a:t>The total number of </a:t>
            </a:r>
            <a:r>
              <a:rPr lang="en-US" b="1" dirty="0"/>
              <a:t>excess</a:t>
            </a:r>
            <a:r>
              <a:rPr lang="en-US" dirty="0"/>
              <a:t> protons =</a:t>
            </a:r>
          </a:p>
          <a:p>
            <a:endParaRPr lang="en-US" dirty="0"/>
          </a:p>
          <a:p>
            <a:endParaRPr lang="en-US" dirty="0"/>
          </a:p>
          <a:p>
            <a:r>
              <a:rPr lang="en-US" b="1" dirty="0"/>
              <a:t>Or.... 6 million billion!!!</a:t>
            </a:r>
          </a:p>
        </p:txBody>
      </p:sp>
      <p:pic>
        <p:nvPicPr>
          <p:cNvPr id="12289" name="Picture 1" descr="http://www.simplyphysics.com/resources/page2_3a.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6800" y="4881562"/>
            <a:ext cx="2324100" cy="352425"/>
          </a:xfrm>
          <a:prstGeom prst="rect">
            <a:avLst/>
          </a:prstGeom>
          <a:noFill/>
          <a:extLst>
            <a:ext uri="{909E8E84-426E-40dd-AFC4-6F175D3DCCD1}">
              <a14:hiddenFill xmlns:a14="http://schemas.microsoft.com/office/drawing/2010/main" xmlns="">
                <a:solidFill>
                  <a:srgbClr val="FFFFFF"/>
                </a:solidFill>
              </a14:hiddenFill>
            </a:ext>
          </a:extLst>
        </p:spPr>
      </p:pic>
      <p:pic>
        <p:nvPicPr>
          <p:cNvPr id="12291" name="Picture 3" descr="http://www.odec.ca/projects/2007/bibi7d2/MRI%20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181599" y="2057400"/>
            <a:ext cx="3877177" cy="3141419"/>
          </a:xfrm>
          <a:prstGeom prst="rect">
            <a:avLst/>
          </a:prstGeom>
          <a:noFill/>
          <a:extLst>
            <a:ext uri="{909E8E84-426E-40dd-AFC4-6F175D3DCCD1}">
              <a14:hiddenFill xmlns:a14="http://schemas.microsoft.com/office/drawing/2010/main" xmlns="">
                <a:solidFill>
                  <a:srgbClr val="FFFFFF"/>
                </a:solidFill>
              </a14:hiddenFill>
            </a:ext>
          </a:extLst>
        </p:spPr>
      </p:pic>
      <p:sp>
        <p:nvSpPr>
          <p:cNvPr id="9" name="Title 1"/>
          <p:cNvSpPr>
            <a:spLocks noGrp="1"/>
          </p:cNvSpPr>
          <p:nvPr>
            <p:ph type="title"/>
          </p:nvPr>
        </p:nvSpPr>
        <p:spPr>
          <a:xfrm>
            <a:off x="0" y="76200"/>
            <a:ext cx="9144000" cy="685800"/>
          </a:xfrm>
        </p:spPr>
        <p:txBody>
          <a:bodyPr/>
          <a:lstStyle/>
          <a:p>
            <a:r>
              <a:rPr lang="en-US" dirty="0">
                <a:solidFill>
                  <a:schemeClr val="accent1">
                    <a:lumMod val="75000"/>
                  </a:schemeClr>
                </a:solidFill>
              </a:rPr>
              <a:t>Spin Excess</a:t>
            </a:r>
          </a:p>
        </p:txBody>
      </p:sp>
    </p:spTree>
    <p:extLst>
      <p:ext uri="{BB962C8B-B14F-4D97-AF65-F5344CB8AC3E}">
        <p14:creationId xmlns:p14="http://schemas.microsoft.com/office/powerpoint/2010/main" val="3893531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Components of dipole moment</a:t>
            </a:r>
          </a:p>
        </p:txBody>
      </p:sp>
      <p:sp>
        <p:nvSpPr>
          <p:cNvPr id="3" name="Content Placeholder 2"/>
          <p:cNvSpPr>
            <a:spLocks noGrp="1"/>
          </p:cNvSpPr>
          <p:nvPr>
            <p:ph idx="1"/>
          </p:nvPr>
        </p:nvSpPr>
        <p:spPr>
          <a:xfrm>
            <a:off x="152400" y="990600"/>
            <a:ext cx="4572000" cy="4983163"/>
          </a:xfrm>
        </p:spPr>
        <p:txBody>
          <a:bodyPr>
            <a:normAutofit fontScale="77500" lnSpcReduction="20000"/>
          </a:bodyPr>
          <a:lstStyle/>
          <a:p>
            <a:r>
              <a:rPr lang="en-US" dirty="0">
                <a:solidFill>
                  <a:schemeClr val="tx2">
                    <a:lumMod val="60000"/>
                    <a:lumOff val="40000"/>
                  </a:schemeClr>
                </a:solidFill>
              </a:rPr>
              <a:t>Remember your math class? A vector has an X component and Y component.</a:t>
            </a:r>
          </a:p>
          <a:p>
            <a:r>
              <a:rPr lang="en-US" dirty="0">
                <a:solidFill>
                  <a:schemeClr val="tx2">
                    <a:lumMod val="60000"/>
                    <a:lumOff val="40000"/>
                  </a:schemeClr>
                </a:solidFill>
              </a:rPr>
              <a:t>A dipole has a </a:t>
            </a:r>
            <a:r>
              <a:rPr lang="en-US" b="1" dirty="0">
                <a:solidFill>
                  <a:schemeClr val="tx2">
                    <a:lumMod val="60000"/>
                    <a:lumOff val="40000"/>
                  </a:schemeClr>
                </a:solidFill>
              </a:rPr>
              <a:t>longitudinal</a:t>
            </a:r>
            <a:r>
              <a:rPr lang="en-US" dirty="0">
                <a:solidFill>
                  <a:schemeClr val="tx2">
                    <a:lumMod val="60000"/>
                    <a:lumOff val="40000"/>
                  </a:schemeClr>
                </a:solidFill>
              </a:rPr>
              <a:t> component in the direction of the magnetic field and a component 90</a:t>
            </a:r>
            <a:r>
              <a:rPr lang="en-US" baseline="30000" dirty="0">
                <a:solidFill>
                  <a:schemeClr val="tx2">
                    <a:lumMod val="60000"/>
                    <a:lumOff val="40000"/>
                  </a:schemeClr>
                </a:solidFill>
              </a:rPr>
              <a:t>o</a:t>
            </a:r>
            <a:r>
              <a:rPr lang="en-US" dirty="0">
                <a:solidFill>
                  <a:schemeClr val="tx2">
                    <a:lumMod val="60000"/>
                    <a:lumOff val="40000"/>
                  </a:schemeClr>
                </a:solidFill>
              </a:rPr>
              <a:t> to this one </a:t>
            </a:r>
            <a:r>
              <a:rPr lang="en-US" b="1" dirty="0">
                <a:solidFill>
                  <a:schemeClr val="tx2">
                    <a:lumMod val="60000"/>
                    <a:lumOff val="40000"/>
                  </a:schemeClr>
                </a:solidFill>
              </a:rPr>
              <a:t>transverse </a:t>
            </a:r>
            <a:r>
              <a:rPr lang="en-US" dirty="0">
                <a:solidFill>
                  <a:schemeClr val="tx2">
                    <a:lumMod val="60000"/>
                    <a:lumOff val="40000"/>
                  </a:schemeClr>
                </a:solidFill>
              </a:rPr>
              <a:t>component.</a:t>
            </a:r>
          </a:p>
          <a:p>
            <a:r>
              <a:rPr lang="en-US" dirty="0">
                <a:solidFill>
                  <a:schemeClr val="tx2">
                    <a:lumMod val="60000"/>
                    <a:lumOff val="40000"/>
                  </a:schemeClr>
                </a:solidFill>
              </a:rPr>
              <a:t>The transverse component spins at the Larmor frequency in the transverse plane.</a:t>
            </a:r>
          </a:p>
          <a:p>
            <a:r>
              <a:rPr lang="en-US" dirty="0">
                <a:solidFill>
                  <a:schemeClr val="tx2">
                    <a:lumMod val="60000"/>
                    <a:lumOff val="40000"/>
                  </a:schemeClr>
                </a:solidFill>
              </a:rPr>
              <a:t>The longitudinal component can be a parallel or anti-parallel magnitude.</a:t>
            </a:r>
          </a:p>
        </p:txBody>
      </p:sp>
      <p:grpSp>
        <p:nvGrpSpPr>
          <p:cNvPr id="29" name="Group 28"/>
          <p:cNvGrpSpPr/>
          <p:nvPr/>
        </p:nvGrpSpPr>
        <p:grpSpPr>
          <a:xfrm>
            <a:off x="4953000" y="928300"/>
            <a:ext cx="2042961" cy="1332093"/>
            <a:chOff x="4953000" y="928300"/>
            <a:chExt cx="2667000" cy="2043500"/>
          </a:xfrm>
        </p:grpSpPr>
        <p:cxnSp>
          <p:nvCxnSpPr>
            <p:cNvPr id="9" name="Straight Arrow Connector 8"/>
            <p:cNvCxnSpPr/>
            <p:nvPr/>
          </p:nvCxnSpPr>
          <p:spPr>
            <a:xfrm flipV="1">
              <a:off x="5334000" y="1600200"/>
              <a:ext cx="609600" cy="12954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5334000" y="1066800"/>
              <a:ext cx="0" cy="19050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953000" y="2895600"/>
              <a:ext cx="26670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943600" y="1600200"/>
              <a:ext cx="0" cy="12954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5334000" y="1600200"/>
              <a:ext cx="6096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210713" y="2564041"/>
              <a:ext cx="264816" cy="276999"/>
            </a:xfrm>
            <a:prstGeom prst="rect">
              <a:avLst/>
            </a:prstGeom>
            <a:noFill/>
          </p:spPr>
          <p:txBody>
            <a:bodyPr wrap="none" rtlCol="0">
              <a:spAutoFit/>
            </a:bodyPr>
            <a:lstStyle/>
            <a:p>
              <a:r>
                <a:rPr lang="en-US" sz="1200" dirty="0"/>
                <a:t>X</a:t>
              </a:r>
            </a:p>
          </p:txBody>
        </p:sp>
        <p:sp>
          <p:nvSpPr>
            <p:cNvPr id="22" name="TextBox 21"/>
            <p:cNvSpPr txBox="1"/>
            <p:nvPr/>
          </p:nvSpPr>
          <p:spPr>
            <a:xfrm>
              <a:off x="5334000" y="928300"/>
              <a:ext cx="260008" cy="276999"/>
            </a:xfrm>
            <a:prstGeom prst="rect">
              <a:avLst/>
            </a:prstGeom>
            <a:noFill/>
          </p:spPr>
          <p:txBody>
            <a:bodyPr wrap="none" rtlCol="0">
              <a:spAutoFit/>
            </a:bodyPr>
            <a:lstStyle/>
            <a:p>
              <a:r>
                <a:rPr lang="en-US" sz="1200" dirty="0"/>
                <a:t>Y</a:t>
              </a:r>
            </a:p>
          </p:txBody>
        </p:sp>
        <p:cxnSp>
          <p:nvCxnSpPr>
            <p:cNvPr id="23" name="Straight Arrow Connector 22"/>
            <p:cNvCxnSpPr/>
            <p:nvPr/>
          </p:nvCxnSpPr>
          <p:spPr>
            <a:xfrm>
              <a:off x="5334000" y="2895600"/>
              <a:ext cx="609600"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5334000" y="1600200"/>
              <a:ext cx="0" cy="12954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pic>
        <p:nvPicPr>
          <p:cNvPr id="30" name="Picture 2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9867" y="3048000"/>
            <a:ext cx="3048000" cy="2286000"/>
          </a:xfrm>
          <a:prstGeom prst="rect">
            <a:avLst/>
          </a:prstGeom>
        </p:spPr>
      </p:pic>
    </p:spTree>
    <p:extLst>
      <p:ext uri="{BB962C8B-B14F-4D97-AF65-F5344CB8AC3E}">
        <p14:creationId xmlns:p14="http://schemas.microsoft.com/office/powerpoint/2010/main" val="3464937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Bulk Magnetization</a:t>
            </a:r>
          </a:p>
        </p:txBody>
      </p:sp>
      <p:sp>
        <p:nvSpPr>
          <p:cNvPr id="3" name="Content Placeholder 2"/>
          <p:cNvSpPr>
            <a:spLocks noGrp="1"/>
          </p:cNvSpPr>
          <p:nvPr>
            <p:ph idx="1"/>
          </p:nvPr>
        </p:nvSpPr>
        <p:spPr>
          <a:xfrm>
            <a:off x="152400" y="990601"/>
            <a:ext cx="8839200" cy="1295399"/>
          </a:xfrm>
        </p:spPr>
        <p:txBody>
          <a:bodyPr>
            <a:normAutofit/>
          </a:bodyPr>
          <a:lstStyle/>
          <a:p>
            <a:pPr marL="0" indent="0">
              <a:buNone/>
            </a:pPr>
            <a:r>
              <a:rPr lang="en-US" sz="2400" dirty="0">
                <a:solidFill>
                  <a:schemeClr val="tx2">
                    <a:lumMod val="60000"/>
                    <a:lumOff val="40000"/>
                  </a:schemeClr>
                </a:solidFill>
              </a:rPr>
              <a:t>Since we are unable to look at these dipoles together all we can do is look at millions of them together. The resultant vector sum is known as </a:t>
            </a:r>
            <a:r>
              <a:rPr lang="en-US" sz="2400" b="1" dirty="0">
                <a:solidFill>
                  <a:schemeClr val="tx2">
                    <a:lumMod val="60000"/>
                    <a:lumOff val="40000"/>
                  </a:schemeClr>
                </a:solidFill>
              </a:rPr>
              <a:t>bulk magnetization M.</a:t>
            </a:r>
          </a:p>
          <a:p>
            <a:pPr marL="0" indent="0">
              <a:buNone/>
            </a:pPr>
            <a:endParaRPr lang="en-US" sz="2800" dirty="0">
              <a:solidFill>
                <a:schemeClr val="tx2">
                  <a:lumMod val="60000"/>
                  <a:lumOff val="40000"/>
                </a:schemeClr>
              </a:solidFill>
            </a:endParaRPr>
          </a:p>
        </p:txBody>
      </p:sp>
      <p:sp>
        <p:nvSpPr>
          <p:cNvPr id="4" name="Title 1"/>
          <p:cNvSpPr txBox="1">
            <a:spLocks/>
          </p:cNvSpPr>
          <p:nvPr/>
        </p:nvSpPr>
        <p:spPr>
          <a:xfrm>
            <a:off x="152400" y="2209800"/>
            <a:ext cx="3962400" cy="6096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sz="2800" dirty="0">
                <a:solidFill>
                  <a:schemeClr val="accent1">
                    <a:lumMod val="75000"/>
                  </a:schemeClr>
                </a:solidFill>
              </a:rPr>
              <a:t>Longitudinal Component</a:t>
            </a:r>
          </a:p>
        </p:txBody>
      </p:sp>
      <p:sp>
        <p:nvSpPr>
          <p:cNvPr id="5" name="Content Placeholder 2"/>
          <p:cNvSpPr txBox="1">
            <a:spLocks/>
          </p:cNvSpPr>
          <p:nvPr/>
        </p:nvSpPr>
        <p:spPr>
          <a:xfrm>
            <a:off x="228600" y="2822331"/>
            <a:ext cx="3657600" cy="1295399"/>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400" dirty="0">
                <a:solidFill>
                  <a:schemeClr val="tx2">
                    <a:lumMod val="60000"/>
                    <a:lumOff val="40000"/>
                  </a:schemeClr>
                </a:solidFill>
              </a:rPr>
              <a:t>The up and down component mostly cancel each other out and only a few (remember? 6 million billion) make up the bulk magnetization in the main field direction usually called </a:t>
            </a:r>
            <a:r>
              <a:rPr lang="en-US" sz="2400" b="1" dirty="0">
                <a:solidFill>
                  <a:schemeClr val="tx2">
                    <a:lumMod val="60000"/>
                    <a:lumOff val="40000"/>
                  </a:schemeClr>
                </a:solidFill>
              </a:rPr>
              <a:t>M</a:t>
            </a:r>
            <a:r>
              <a:rPr lang="en-US" sz="2400" b="1" baseline="-25000" dirty="0">
                <a:solidFill>
                  <a:schemeClr val="tx2">
                    <a:lumMod val="60000"/>
                    <a:lumOff val="40000"/>
                  </a:schemeClr>
                </a:solidFill>
              </a:rPr>
              <a:t>0</a:t>
            </a:r>
          </a:p>
          <a:p>
            <a:pPr marL="0" indent="0">
              <a:buFont typeface="Arial" pitchFamily="34" charset="0"/>
              <a:buNone/>
            </a:pPr>
            <a:endParaRPr lang="en-US" sz="2800" dirty="0">
              <a:solidFill>
                <a:schemeClr val="tx2">
                  <a:lumMod val="60000"/>
                  <a:lumOff val="40000"/>
                </a:schemeClr>
              </a:solidFill>
            </a:endParaRPr>
          </a:p>
        </p:txBody>
      </p:sp>
      <p:pic>
        <p:nvPicPr>
          <p:cNvPr id="13314" name="Picture 2" descr="http://www.mrinotes.com/images/updown.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8200" y="2209799"/>
            <a:ext cx="2647950" cy="1982181"/>
          </a:xfrm>
          <a:prstGeom prst="rect">
            <a:avLst/>
          </a:prstGeom>
          <a:noFill/>
          <a:extLst>
            <a:ext uri="{909E8E84-426E-40dd-AFC4-6F175D3DCCD1}">
              <a14:hiddenFill xmlns:a14="http://schemas.microsoft.com/office/drawing/2010/main" xmlns="">
                <a:solidFill>
                  <a:srgbClr val="FFFFFF"/>
                </a:solidFill>
              </a14:hiddenFill>
            </a:ext>
          </a:extLst>
        </p:spPr>
      </p:pic>
      <p:sp>
        <p:nvSpPr>
          <p:cNvPr id="7" name="Title 1"/>
          <p:cNvSpPr txBox="1">
            <a:spLocks/>
          </p:cNvSpPr>
          <p:nvPr/>
        </p:nvSpPr>
        <p:spPr>
          <a:xfrm>
            <a:off x="4648200" y="4267200"/>
            <a:ext cx="3962400" cy="6096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sz="2800" dirty="0">
                <a:solidFill>
                  <a:schemeClr val="accent1">
                    <a:lumMod val="75000"/>
                  </a:schemeClr>
                </a:solidFill>
              </a:rPr>
              <a:t>Transverse Component</a:t>
            </a:r>
          </a:p>
        </p:txBody>
      </p:sp>
      <p:sp>
        <p:nvSpPr>
          <p:cNvPr id="8" name="Content Placeholder 2"/>
          <p:cNvSpPr txBox="1">
            <a:spLocks/>
          </p:cNvSpPr>
          <p:nvPr/>
        </p:nvSpPr>
        <p:spPr>
          <a:xfrm>
            <a:off x="4572000" y="4876800"/>
            <a:ext cx="3657600" cy="1295399"/>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400" dirty="0">
                <a:solidFill>
                  <a:schemeClr val="tx2">
                    <a:lumMod val="60000"/>
                    <a:lumOff val="40000"/>
                  </a:schemeClr>
                </a:solidFill>
              </a:rPr>
              <a:t>The transverse components all rotate out of phase. Because each dipole has its corresponding dipole rotating at 180 degrees out of phase, there is no transverse component. </a:t>
            </a:r>
            <a:endParaRPr lang="en-US" sz="2400" b="1" baseline="-25000" dirty="0">
              <a:solidFill>
                <a:schemeClr val="tx2">
                  <a:lumMod val="60000"/>
                  <a:lumOff val="40000"/>
                </a:schemeClr>
              </a:solidFill>
            </a:endParaRPr>
          </a:p>
          <a:p>
            <a:pPr marL="0" indent="0">
              <a:buFont typeface="Arial" pitchFamily="34" charset="0"/>
              <a:buNone/>
            </a:pPr>
            <a:endParaRPr lang="en-US" sz="2800" dirty="0">
              <a:solidFill>
                <a:schemeClr val="tx2">
                  <a:lumMod val="60000"/>
                  <a:lumOff val="40000"/>
                </a:schemeClr>
              </a:solidFill>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4401" y="4382051"/>
            <a:ext cx="2438400" cy="1825317"/>
          </a:xfrm>
          <a:prstGeom prst="rect">
            <a:avLst/>
          </a:prstGeom>
        </p:spPr>
      </p:pic>
    </p:spTree>
    <p:extLst>
      <p:ext uri="{BB962C8B-B14F-4D97-AF65-F5344CB8AC3E}">
        <p14:creationId xmlns:p14="http://schemas.microsoft.com/office/powerpoint/2010/main" val="3231757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3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5"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solidFill>
                  <a:schemeClr val="tx2">
                    <a:lumMod val="60000"/>
                    <a:lumOff val="40000"/>
                  </a:schemeClr>
                </a:solidFill>
              </a:rPr>
              <a:t>All we have are the “few” excess of up protons as a small overall longitudinal bulk magnetization vector </a:t>
            </a:r>
            <a:r>
              <a:rPr lang="en-US" b="1" dirty="0">
                <a:solidFill>
                  <a:schemeClr val="tx2">
                    <a:lumMod val="60000"/>
                    <a:lumOff val="40000"/>
                  </a:schemeClr>
                </a:solidFill>
              </a:rPr>
              <a:t>M </a:t>
            </a:r>
            <a:r>
              <a:rPr lang="en-US" dirty="0">
                <a:solidFill>
                  <a:schemeClr val="tx2">
                    <a:lumMod val="60000"/>
                    <a:lumOff val="40000"/>
                  </a:schemeClr>
                </a:solidFill>
              </a:rPr>
              <a:t> pointing in the direction of the main magnetic field.</a:t>
            </a:r>
          </a:p>
          <a:p>
            <a:pPr marL="0" indent="0">
              <a:buNone/>
            </a:pPr>
            <a:endParaRPr lang="en-US" dirty="0">
              <a:solidFill>
                <a:schemeClr val="accent1">
                  <a:lumMod val="75000"/>
                </a:schemeClr>
              </a:solidFill>
            </a:endParaRPr>
          </a:p>
        </p:txBody>
      </p:sp>
      <p:sp>
        <p:nvSpPr>
          <p:cNvPr id="4" name="Title 1"/>
          <p:cNvSpPr>
            <a:spLocks noGrp="1"/>
          </p:cNvSpPr>
          <p:nvPr>
            <p:ph type="title"/>
          </p:nvPr>
        </p:nvSpPr>
        <p:spPr>
          <a:xfrm>
            <a:off x="0" y="76200"/>
            <a:ext cx="9144000" cy="685800"/>
          </a:xfrm>
        </p:spPr>
        <p:txBody>
          <a:bodyPr/>
          <a:lstStyle/>
          <a:p>
            <a:r>
              <a:rPr lang="en-US" dirty="0">
                <a:solidFill>
                  <a:schemeClr val="accent1">
                    <a:lumMod val="75000"/>
                  </a:schemeClr>
                </a:solidFill>
              </a:rPr>
              <a:t>Bulk Magnetization</a:t>
            </a:r>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5645" y="3272258"/>
            <a:ext cx="3061955" cy="229034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pSp>
        <p:nvGrpSpPr>
          <p:cNvPr id="13" name="Group 12"/>
          <p:cNvGrpSpPr/>
          <p:nvPr/>
        </p:nvGrpSpPr>
        <p:grpSpPr>
          <a:xfrm>
            <a:off x="5181600" y="3276600"/>
            <a:ext cx="2895600" cy="2171700"/>
            <a:chOff x="5181600" y="3276600"/>
            <a:chExt cx="2895600" cy="2171700"/>
          </a:xfrm>
        </p:grpSpPr>
        <p:pic>
          <p:nvPicPr>
            <p:cNvPr id="2" name="Picture 1"/>
            <p:cNvPicPr>
              <a:picLocks noChangeAspect="1"/>
            </p:cNvPicPr>
            <p:nvPr/>
          </p:nvPicPr>
          <p:blipFill>
            <a:blip r:embed="rId3" cstate="print"/>
            <a:stretch>
              <a:fillRect/>
            </a:stretch>
          </p:blipFill>
          <p:spPr>
            <a:xfrm>
              <a:off x="5181600" y="3276600"/>
              <a:ext cx="2895600" cy="2171700"/>
            </a:xfrm>
            <a:prstGeom prst="rect">
              <a:avLst/>
            </a:prstGeom>
          </p:spPr>
        </p:pic>
        <p:grpSp>
          <p:nvGrpSpPr>
            <p:cNvPr id="12" name="Group 11"/>
            <p:cNvGrpSpPr/>
            <p:nvPr/>
          </p:nvGrpSpPr>
          <p:grpSpPr>
            <a:xfrm>
              <a:off x="5562600" y="3733800"/>
              <a:ext cx="457200" cy="609600"/>
              <a:chOff x="5562600" y="3733800"/>
              <a:chExt cx="457200" cy="609600"/>
            </a:xfrm>
          </p:grpSpPr>
          <p:cxnSp>
            <p:nvCxnSpPr>
              <p:cNvPr id="7" name="Straight Connector 6"/>
              <p:cNvCxnSpPr/>
              <p:nvPr/>
            </p:nvCxnSpPr>
            <p:spPr>
              <a:xfrm>
                <a:off x="5562600" y="3810000"/>
                <a:ext cx="457200" cy="4572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5562600" y="3733800"/>
                <a:ext cx="457200" cy="6096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4" name="Group 13"/>
            <p:cNvGrpSpPr/>
            <p:nvPr/>
          </p:nvGrpSpPr>
          <p:grpSpPr>
            <a:xfrm>
              <a:off x="5181600" y="4419600"/>
              <a:ext cx="457200" cy="609600"/>
              <a:chOff x="5562600" y="3733800"/>
              <a:chExt cx="457200" cy="609600"/>
            </a:xfrm>
          </p:grpSpPr>
          <p:cxnSp>
            <p:nvCxnSpPr>
              <p:cNvPr id="15" name="Straight Connector 14"/>
              <p:cNvCxnSpPr/>
              <p:nvPr/>
            </p:nvCxnSpPr>
            <p:spPr>
              <a:xfrm>
                <a:off x="5562600" y="3810000"/>
                <a:ext cx="457200" cy="4572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flipH="1">
                <a:off x="5562600" y="3733800"/>
                <a:ext cx="457200" cy="6096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7" name="Group 16"/>
            <p:cNvGrpSpPr/>
            <p:nvPr/>
          </p:nvGrpSpPr>
          <p:grpSpPr>
            <a:xfrm>
              <a:off x="7162800" y="3352800"/>
              <a:ext cx="457200" cy="609600"/>
              <a:chOff x="5562600" y="3733800"/>
              <a:chExt cx="457200" cy="609600"/>
            </a:xfrm>
          </p:grpSpPr>
          <p:cxnSp>
            <p:nvCxnSpPr>
              <p:cNvPr id="18" name="Straight Connector 17"/>
              <p:cNvCxnSpPr/>
              <p:nvPr/>
            </p:nvCxnSpPr>
            <p:spPr>
              <a:xfrm>
                <a:off x="5562600" y="3810000"/>
                <a:ext cx="457200" cy="4572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5562600" y="3733800"/>
                <a:ext cx="457200" cy="6096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20" name="Group 19"/>
            <p:cNvGrpSpPr/>
            <p:nvPr/>
          </p:nvGrpSpPr>
          <p:grpSpPr>
            <a:xfrm>
              <a:off x="7162800" y="4724400"/>
              <a:ext cx="457200" cy="609600"/>
              <a:chOff x="5562600" y="3733800"/>
              <a:chExt cx="457200" cy="609600"/>
            </a:xfrm>
          </p:grpSpPr>
          <p:cxnSp>
            <p:nvCxnSpPr>
              <p:cNvPr id="21" name="Straight Connector 20"/>
              <p:cNvCxnSpPr/>
              <p:nvPr/>
            </p:nvCxnSpPr>
            <p:spPr>
              <a:xfrm>
                <a:off x="5562600" y="3810000"/>
                <a:ext cx="457200" cy="4572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H="1">
                <a:off x="5562600" y="3733800"/>
                <a:ext cx="457200" cy="6096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2663972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dirty="0">
                <a:solidFill>
                  <a:schemeClr val="accent1">
                    <a:lumMod val="75000"/>
                  </a:schemeClr>
                </a:solidFill>
              </a:rPr>
              <a:t>Gradient coil</a:t>
            </a:r>
          </a:p>
        </p:txBody>
      </p:sp>
      <p:pic>
        <p:nvPicPr>
          <p:cNvPr id="4" name="Content Placeholder 3"/>
          <p:cNvPicPr>
            <a:picLocks noGrp="1" noChangeAspect="1"/>
          </p:cNvPicPr>
          <p:nvPr>
            <p:ph idx="1"/>
          </p:nvPr>
        </p:nvPicPr>
        <p:blipFill>
          <a:blip r:embed="rId2" cstate="print"/>
          <a:srcRect t="2782" b="2782"/>
          <a:stretch>
            <a:fillRect/>
          </a:stretch>
        </p:blipFill>
        <p:spPr>
          <a:xfrm>
            <a:off x="304800" y="990600"/>
            <a:ext cx="4038600" cy="2276790"/>
          </a:xfrm>
        </p:spPr>
      </p:pic>
      <p:sp>
        <p:nvSpPr>
          <p:cNvPr id="8" name="Content Placeholder 2"/>
          <p:cNvSpPr txBox="1">
            <a:spLocks/>
          </p:cNvSpPr>
          <p:nvPr/>
        </p:nvSpPr>
        <p:spPr>
          <a:xfrm>
            <a:off x="4495800" y="914401"/>
            <a:ext cx="4648200" cy="236220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a:solidFill>
                  <a:schemeClr val="tx2">
                    <a:lumMod val="60000"/>
                    <a:lumOff val="40000"/>
                  </a:schemeClr>
                </a:solidFill>
              </a:rPr>
              <a:t>The gradient coil is made of windings of wire or thin conductive sheets that create a secondary magnetic field (</a:t>
            </a:r>
            <a:r>
              <a:rPr lang="en-US" b="1" dirty="0">
                <a:solidFill>
                  <a:schemeClr val="tx2">
                    <a:lumMod val="60000"/>
                    <a:lumOff val="40000"/>
                  </a:schemeClr>
                </a:solidFill>
              </a:rPr>
              <a:t>gradient field</a:t>
            </a:r>
            <a:r>
              <a:rPr lang="en-US" dirty="0">
                <a:solidFill>
                  <a:schemeClr val="tx2">
                    <a:lumMod val="60000"/>
                    <a:lumOff val="40000"/>
                  </a:schemeClr>
                </a:solidFill>
              </a:rPr>
              <a:t>).</a:t>
            </a:r>
          </a:p>
          <a:p>
            <a:pPr marL="0" indent="0">
              <a:buFont typeface="Arial" pitchFamily="34" charset="0"/>
              <a:buNone/>
            </a:pPr>
            <a:endParaRPr lang="en-US" dirty="0">
              <a:solidFill>
                <a:schemeClr val="accent1">
                  <a:lumMod val="75000"/>
                </a:schemeClr>
              </a:solidFill>
            </a:endParaRPr>
          </a:p>
        </p:txBody>
      </p:sp>
      <p:pic>
        <p:nvPicPr>
          <p:cNvPr id="10" name="Picture 2" descr="http://www.magnet.fsu.edu/education/tutorials/magnetacademy/mri/images/mri-scannercoils.jpg">
            <a:hlinkClick r:id="rId3"/>
          </p:cNvPr>
          <p:cNvPicPr>
            <a:picLocks noChangeAspect="1" noChangeArrowheads="1"/>
          </p:cNvPicPr>
          <p:nvPr/>
        </p:nvPicPr>
        <p:blipFill>
          <a:blip r:embed="rId4" cstate="print"/>
          <a:srcRect/>
          <a:stretch>
            <a:fillRect/>
          </a:stretch>
        </p:blipFill>
        <p:spPr bwMode="auto">
          <a:xfrm>
            <a:off x="5029200" y="3200400"/>
            <a:ext cx="3366008" cy="3097553"/>
          </a:xfrm>
          <a:prstGeom prst="rect">
            <a:avLst/>
          </a:prstGeom>
          <a:noFill/>
        </p:spPr>
      </p:pic>
      <p:sp>
        <p:nvSpPr>
          <p:cNvPr id="11" name="Content Placeholder 2"/>
          <p:cNvSpPr txBox="1">
            <a:spLocks/>
          </p:cNvSpPr>
          <p:nvPr/>
        </p:nvSpPr>
        <p:spPr>
          <a:xfrm>
            <a:off x="228600" y="3733800"/>
            <a:ext cx="4648200" cy="2362200"/>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a:solidFill>
                  <a:schemeClr val="tx2">
                    <a:lumMod val="60000"/>
                    <a:lumOff val="40000"/>
                  </a:schemeClr>
                </a:solidFill>
              </a:rPr>
              <a:t>The gradient field changes the magnetic field in a predictable and controlled pattern, changing the resonance frequency of the dipoles according to location   </a:t>
            </a:r>
          </a:p>
          <a:p>
            <a:pPr marL="0" indent="0">
              <a:buFont typeface="Arial" pitchFamily="34" charset="0"/>
              <a:buNone/>
            </a:pPr>
            <a:endParaRPr lang="en-US" dirty="0">
              <a:solidFill>
                <a:schemeClr val="accent1">
                  <a:lumMod val="75000"/>
                </a:schemeClr>
              </a:solidFill>
            </a:endParaRPr>
          </a:p>
        </p:txBody>
      </p:sp>
    </p:spTree>
    <p:extLst>
      <p:ext uri="{BB962C8B-B14F-4D97-AF65-F5344CB8AC3E}">
        <p14:creationId xmlns:p14="http://schemas.microsoft.com/office/powerpoint/2010/main" val="1799889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86200" y="914401"/>
            <a:ext cx="5105400" cy="1600199"/>
          </a:xfrm>
        </p:spPr>
        <p:txBody>
          <a:bodyPr/>
          <a:lstStyle/>
          <a:p>
            <a:pPr marL="0" indent="0">
              <a:buNone/>
            </a:pPr>
            <a:r>
              <a:rPr lang="en-US" dirty="0">
                <a:solidFill>
                  <a:schemeClr val="tx2">
                    <a:lumMod val="60000"/>
                    <a:lumOff val="40000"/>
                  </a:schemeClr>
                </a:solidFill>
              </a:rPr>
              <a:t>The function of the gradient coil is therefore spatial encoding.</a:t>
            </a:r>
          </a:p>
        </p:txBody>
      </p:sp>
      <p:sp>
        <p:nvSpPr>
          <p:cNvPr id="4" name="Title 1"/>
          <p:cNvSpPr>
            <a:spLocks noGrp="1"/>
          </p:cNvSpPr>
          <p:nvPr>
            <p:ph type="title"/>
          </p:nvPr>
        </p:nvSpPr>
        <p:spPr/>
        <p:txBody>
          <a:bodyPr vert="horz" lIns="91440" tIns="45720" rIns="91440" bIns="45720" rtlCol="0" anchor="ctr">
            <a:normAutofit/>
          </a:bodyPr>
          <a:lstStyle/>
          <a:p>
            <a:r>
              <a:rPr lang="en-US" dirty="0">
                <a:solidFill>
                  <a:schemeClr val="accent1">
                    <a:lumMod val="75000"/>
                  </a:schemeClr>
                </a:solidFill>
              </a:rPr>
              <a:t>Gradient coil</a:t>
            </a:r>
          </a:p>
        </p:txBody>
      </p:sp>
      <p:pic>
        <p:nvPicPr>
          <p:cNvPr id="5" name="Picture 2" descr="G:\BRMCoil.JPG"/>
          <p:cNvPicPr>
            <a:picLocks noChangeAspect="1" noChangeArrowheads="1"/>
          </p:cNvPicPr>
          <p:nvPr/>
        </p:nvPicPr>
        <p:blipFill>
          <a:blip r:embed="rId2" cstate="print"/>
          <a:srcRect/>
          <a:stretch>
            <a:fillRect/>
          </a:stretch>
        </p:blipFill>
        <p:spPr bwMode="auto">
          <a:xfrm>
            <a:off x="228601" y="914401"/>
            <a:ext cx="3581400" cy="2722042"/>
          </a:xfrm>
          <a:prstGeom prst="rect">
            <a:avLst/>
          </a:prstGeom>
          <a:noFill/>
        </p:spPr>
      </p:pic>
      <p:pic>
        <p:nvPicPr>
          <p:cNvPr id="6" name="Picture 5" descr="gradmagvariation.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00600" y="2590800"/>
            <a:ext cx="3886200" cy="3886200"/>
          </a:xfrm>
          <a:prstGeom prst="rect">
            <a:avLst/>
          </a:prstGeom>
        </p:spPr>
      </p:pic>
      <p:sp>
        <p:nvSpPr>
          <p:cNvPr id="7" name="Content Placeholder 2"/>
          <p:cNvSpPr txBox="1">
            <a:spLocks/>
          </p:cNvSpPr>
          <p:nvPr/>
        </p:nvSpPr>
        <p:spPr>
          <a:xfrm>
            <a:off x="8599" y="3809774"/>
            <a:ext cx="4792001" cy="228622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600" dirty="0">
                <a:solidFill>
                  <a:schemeClr val="tx2">
                    <a:lumMod val="60000"/>
                    <a:lumOff val="40000"/>
                  </a:schemeClr>
                </a:solidFill>
              </a:rPr>
              <a:t>Gradients are used for:</a:t>
            </a:r>
          </a:p>
          <a:p>
            <a:pPr>
              <a:buFontTx/>
              <a:buChar char="-"/>
            </a:pPr>
            <a:r>
              <a:rPr lang="en-US" sz="1600" dirty="0">
                <a:solidFill>
                  <a:schemeClr val="tx2">
                    <a:lumMod val="60000"/>
                    <a:lumOff val="40000"/>
                  </a:schemeClr>
                </a:solidFill>
              </a:rPr>
              <a:t>Slice selection: gradients are used to select which slice of the patients' body is being scanned</a:t>
            </a:r>
          </a:p>
          <a:p>
            <a:pPr>
              <a:buFontTx/>
              <a:buChar char="-"/>
            </a:pPr>
            <a:r>
              <a:rPr lang="en-US" sz="1600" dirty="0">
                <a:solidFill>
                  <a:schemeClr val="tx2">
                    <a:lumMod val="60000"/>
                    <a:lumOff val="40000"/>
                  </a:schemeClr>
                </a:solidFill>
              </a:rPr>
              <a:t>Image localization (phase and frequency encoding): technique used to determine the spatial location of the signal detected by the receive coil</a:t>
            </a:r>
          </a:p>
          <a:p>
            <a:pPr>
              <a:buFontTx/>
              <a:buChar char="-"/>
            </a:pPr>
            <a:r>
              <a:rPr lang="en-US" sz="1600" dirty="0">
                <a:solidFill>
                  <a:schemeClr val="tx2">
                    <a:lumMod val="60000"/>
                    <a:lumOff val="40000"/>
                  </a:schemeClr>
                </a:solidFill>
              </a:rPr>
              <a:t>Gradient echo imaging: gradients generate </a:t>
            </a:r>
            <a:r>
              <a:rPr lang="en-US" sz="1600" dirty="0" err="1">
                <a:solidFill>
                  <a:schemeClr val="tx2">
                    <a:lumMod val="60000"/>
                    <a:lumOff val="40000"/>
                  </a:schemeClr>
                </a:solidFill>
              </a:rPr>
              <a:t>echos</a:t>
            </a:r>
            <a:r>
              <a:rPr lang="en-US" sz="1600" dirty="0">
                <a:solidFill>
                  <a:schemeClr val="tx2">
                    <a:lumMod val="60000"/>
                    <a:lumOff val="40000"/>
                  </a:schemeClr>
                </a:solidFill>
              </a:rPr>
              <a:t> used in image formation</a:t>
            </a:r>
          </a:p>
        </p:txBody>
      </p:sp>
    </p:spTree>
    <p:extLst>
      <p:ext uri="{BB962C8B-B14F-4D97-AF65-F5344CB8AC3E}">
        <p14:creationId xmlns:p14="http://schemas.microsoft.com/office/powerpoint/2010/main" val="565909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solidFill>
                  <a:schemeClr val="tx2">
                    <a:lumMod val="60000"/>
                    <a:lumOff val="40000"/>
                  </a:schemeClr>
                </a:solidFill>
              </a:rPr>
              <a:t>Coordinate system:</a:t>
            </a:r>
          </a:p>
          <a:p>
            <a:pPr marL="0" indent="0">
              <a:buNone/>
            </a:pPr>
            <a:r>
              <a:rPr lang="en-US" dirty="0">
                <a:solidFill>
                  <a:schemeClr val="tx2">
                    <a:lumMod val="60000"/>
                    <a:lumOff val="40000"/>
                  </a:schemeClr>
                </a:solidFill>
              </a:rPr>
              <a:t>In MRI Z-axis always follow the B</a:t>
            </a:r>
            <a:r>
              <a:rPr lang="en-US" baseline="-25000" dirty="0">
                <a:solidFill>
                  <a:schemeClr val="tx2">
                    <a:lumMod val="60000"/>
                    <a:lumOff val="40000"/>
                  </a:schemeClr>
                </a:solidFill>
              </a:rPr>
              <a:t>0</a:t>
            </a:r>
            <a:r>
              <a:rPr lang="en-US" dirty="0">
                <a:solidFill>
                  <a:schemeClr val="tx2">
                    <a:lumMod val="60000"/>
                    <a:lumOff val="40000"/>
                  </a:schemeClr>
                </a:solidFill>
              </a:rPr>
              <a:t> or main magnetic field and the other two axis will be x and y</a:t>
            </a:r>
          </a:p>
          <a:p>
            <a:pPr marL="0" indent="0">
              <a:buNone/>
            </a:pPr>
            <a:endParaRPr lang="en-US" dirty="0">
              <a:solidFill>
                <a:schemeClr val="tx2">
                  <a:lumMod val="60000"/>
                  <a:lumOff val="40000"/>
                </a:schemeClr>
              </a:solidFill>
            </a:endParaRPr>
          </a:p>
        </p:txBody>
      </p:sp>
      <p:sp>
        <p:nvSpPr>
          <p:cNvPr id="4" name="Title 1"/>
          <p:cNvSpPr>
            <a:spLocks noGrp="1"/>
          </p:cNvSpPr>
          <p:nvPr>
            <p:ph type="title"/>
          </p:nvPr>
        </p:nvSpPr>
        <p:spPr/>
        <p:txBody>
          <a:bodyPr vert="horz" lIns="91440" tIns="45720" rIns="91440" bIns="45720" rtlCol="0" anchor="ctr">
            <a:normAutofit/>
          </a:bodyPr>
          <a:lstStyle/>
          <a:p>
            <a:r>
              <a:rPr lang="en-US" dirty="0">
                <a:solidFill>
                  <a:schemeClr val="accent1">
                    <a:lumMod val="75000"/>
                  </a:schemeClr>
                </a:solidFill>
              </a:rPr>
              <a:t>Gradient fields</a:t>
            </a:r>
          </a:p>
        </p:txBody>
      </p:sp>
      <p:pic>
        <p:nvPicPr>
          <p:cNvPr id="5" name="Picture 4" descr="convaxes.gif"/>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3276600"/>
            <a:ext cx="3292401" cy="2476500"/>
          </a:xfrm>
          <a:prstGeom prst="rect">
            <a:avLst/>
          </a:prstGeom>
        </p:spPr>
      </p:pic>
      <p:pic>
        <p:nvPicPr>
          <p:cNvPr id="6" name="Picture 5"/>
          <p:cNvPicPr>
            <a:picLocks noChangeAspect="1"/>
          </p:cNvPicPr>
          <p:nvPr/>
        </p:nvPicPr>
        <p:blipFill>
          <a:blip r:embed="rId3" cstate="print"/>
          <a:stretch>
            <a:fillRect/>
          </a:stretch>
        </p:blipFill>
        <p:spPr>
          <a:xfrm>
            <a:off x="5181600" y="3200400"/>
            <a:ext cx="3149600" cy="3225800"/>
          </a:xfrm>
          <a:prstGeom prst="rect">
            <a:avLst/>
          </a:prstGeom>
        </p:spPr>
      </p:pic>
    </p:spTree>
    <p:extLst>
      <p:ext uri="{BB962C8B-B14F-4D97-AF65-F5344CB8AC3E}">
        <p14:creationId xmlns:p14="http://schemas.microsoft.com/office/powerpoint/2010/main" val="4197740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1752600"/>
          </a:xfrm>
        </p:spPr>
        <p:txBody>
          <a:bodyPr/>
          <a:lstStyle/>
          <a:p>
            <a:pPr marL="0" indent="0">
              <a:buNone/>
            </a:pPr>
            <a:r>
              <a:rPr lang="en-US" dirty="0">
                <a:solidFill>
                  <a:schemeClr val="tx2">
                    <a:lumMod val="60000"/>
                    <a:lumOff val="40000"/>
                  </a:schemeClr>
                </a:solidFill>
              </a:rPr>
              <a:t>X, Y and Z gradients are turn on and off quickly during scanning to produce slight variations in the direction of the gradient.</a:t>
            </a:r>
          </a:p>
        </p:txBody>
      </p:sp>
      <p:sp>
        <p:nvSpPr>
          <p:cNvPr id="4" name="Title 1"/>
          <p:cNvSpPr>
            <a:spLocks noGrp="1"/>
          </p:cNvSpPr>
          <p:nvPr>
            <p:ph type="title"/>
          </p:nvPr>
        </p:nvSpPr>
        <p:spPr/>
        <p:txBody>
          <a:bodyPr vert="horz" lIns="91440" tIns="45720" rIns="91440" bIns="45720" rtlCol="0" anchor="ctr">
            <a:normAutofit/>
          </a:bodyPr>
          <a:lstStyle/>
          <a:p>
            <a:r>
              <a:rPr lang="en-US" dirty="0">
                <a:solidFill>
                  <a:schemeClr val="accent1">
                    <a:lumMod val="75000"/>
                  </a:schemeClr>
                </a:solidFill>
              </a:rPr>
              <a:t>Gradient fields</a:t>
            </a:r>
          </a:p>
        </p:txBody>
      </p:sp>
      <p:pic>
        <p:nvPicPr>
          <p:cNvPr id="5" name="Picture 4" descr="xgrad.gif"/>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3352800"/>
            <a:ext cx="2768600" cy="207645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6" name="Picture 5" descr="ygrad.gif"/>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0400" y="3352800"/>
            <a:ext cx="2757081" cy="207384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7" name="Picture 6" descr="zgrad.gif"/>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48400" y="3352800"/>
            <a:ext cx="2709333" cy="203200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11811781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0" y="76200"/>
            <a:ext cx="9144000" cy="685800"/>
          </a:xfrm>
        </p:spPr>
        <p:txBody>
          <a:bodyPr vert="horz" lIns="91440" tIns="45720" rIns="91440" bIns="45720" rtlCol="0" anchor="ctr">
            <a:normAutofit/>
          </a:bodyPr>
          <a:lstStyle/>
          <a:p>
            <a:r>
              <a:rPr lang="en-US" kern="1200">
                <a:latin typeface="+mj-lt"/>
                <a:ea typeface="+mj-ea"/>
                <a:cs typeface="+mj-cs"/>
              </a:rPr>
              <a:t>Gradient fields</a:t>
            </a:r>
          </a:p>
        </p:txBody>
      </p:sp>
      <p:sp>
        <p:nvSpPr>
          <p:cNvPr id="3" name="Content Placeholder 2"/>
          <p:cNvSpPr>
            <a:spLocks noGrp="1"/>
          </p:cNvSpPr>
          <p:nvPr>
            <p:ph type="body" idx="1"/>
          </p:nvPr>
        </p:nvSpPr>
        <p:spPr>
          <a:xfrm>
            <a:off x="457200" y="1535113"/>
            <a:ext cx="4040188" cy="639762"/>
          </a:xfrm>
        </p:spPr>
        <p:txBody>
          <a:bodyPr vert="horz" lIns="91440" tIns="45720" rIns="91440" bIns="45720" rtlCol="0" anchor="b">
            <a:normAutofit/>
          </a:bodyPr>
          <a:lstStyle/>
          <a:p>
            <a:pPr>
              <a:lnSpc>
                <a:spcPct val="90000"/>
              </a:lnSpc>
            </a:pPr>
            <a:r>
              <a:rPr lang="en-US" sz="1300" b="1" kern="1200">
                <a:latin typeface="+mn-lt"/>
                <a:ea typeface="+mn-ea"/>
                <a:cs typeface="+mn-cs"/>
              </a:rPr>
              <a:t>At isocenter, the magnetic field and Larmor frequency remain unchanged it is always, i.e. 1.5T and f=63.87MHz</a:t>
            </a:r>
          </a:p>
        </p:txBody>
      </p:sp>
      <p:sp>
        <p:nvSpPr>
          <p:cNvPr id="6" name="Content Placeholder 2"/>
          <p:cNvSpPr txBox="1">
            <a:spLocks/>
          </p:cNvSpPr>
          <p:nvPr/>
        </p:nvSpPr>
        <p:spPr>
          <a:xfrm>
            <a:off x="457200" y="2174875"/>
            <a:ext cx="4040188" cy="395128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a:t>Example:</a:t>
            </a:r>
          </a:p>
          <a:p>
            <a:r>
              <a:rPr lang="en-US" sz="2400"/>
              <a:t>20mT/m = 0.02T for a 1.5T magnet. </a:t>
            </a:r>
          </a:p>
          <a:p>
            <a:r>
              <a:rPr lang="en-US" sz="2400"/>
              <a:t>Then for +10cm from iso:</a:t>
            </a:r>
          </a:p>
          <a:p>
            <a:r>
              <a:rPr lang="en-US" sz="2400"/>
              <a:t>f= 42.58 (1.5 + 0.1(0.02) = 42.58 (1.502) = 63.955MHZ</a:t>
            </a:r>
          </a:p>
          <a:p>
            <a:r>
              <a:rPr lang="en-US" sz="2400"/>
              <a:t>And for -10cm from iso:</a:t>
            </a:r>
          </a:p>
          <a:p>
            <a:r>
              <a:rPr lang="en-US" sz="2400"/>
              <a:t>f= 42.58 (1.5 - 0.1(0.02) = 42.58 (1.498) = 63.785MHZ</a:t>
            </a:r>
          </a:p>
        </p:txBody>
      </p:sp>
      <p:sp>
        <p:nvSpPr>
          <p:cNvPr id="16" name="Text Placeholder 4">
            <a:extLst>
              <a:ext uri="{FF2B5EF4-FFF2-40B4-BE49-F238E27FC236}">
                <a16:creationId xmlns:a16="http://schemas.microsoft.com/office/drawing/2014/main" id="{F57A8D10-2510-573F-AC46-3F64A1D71EC6}"/>
              </a:ext>
            </a:extLst>
          </p:cNvPr>
          <p:cNvSpPr>
            <a:spLocks noGrp="1"/>
          </p:cNvSpPr>
          <p:nvPr>
            <p:ph type="body" sz="quarter" idx="3"/>
          </p:nvPr>
        </p:nvSpPr>
        <p:spPr>
          <a:xfrm>
            <a:off x="4645025" y="1535113"/>
            <a:ext cx="4041775" cy="639762"/>
          </a:xfrm>
        </p:spPr>
        <p:txBody>
          <a:bodyPr/>
          <a:lstStyle/>
          <a:p>
            <a:endParaRPr lang="en-US"/>
          </a:p>
        </p:txBody>
      </p:sp>
      <p:pic>
        <p:nvPicPr>
          <p:cNvPr id="5" name="Picture 4" descr="gradfreqvariation.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5025" y="2514601"/>
            <a:ext cx="4426650" cy="3010122"/>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7" name="TextBox 6"/>
          <p:cNvSpPr txBox="1"/>
          <p:nvPr/>
        </p:nvSpPr>
        <p:spPr>
          <a:xfrm>
            <a:off x="7245190" y="2979262"/>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171894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2209800"/>
          </a:xfrm>
        </p:spPr>
        <p:txBody>
          <a:bodyPr/>
          <a:lstStyle/>
          <a:p>
            <a:r>
              <a:rPr lang="en-US" dirty="0">
                <a:solidFill>
                  <a:schemeClr val="tx2">
                    <a:lumMod val="60000"/>
                    <a:lumOff val="40000"/>
                  </a:schemeClr>
                </a:solidFill>
              </a:rPr>
              <a:t>The </a:t>
            </a:r>
            <a:r>
              <a:rPr lang="en-US" b="1" dirty="0">
                <a:solidFill>
                  <a:schemeClr val="tx2">
                    <a:lumMod val="60000"/>
                    <a:lumOff val="40000"/>
                  </a:schemeClr>
                </a:solidFill>
              </a:rPr>
              <a:t>maximum gradient field strength</a:t>
            </a:r>
            <a:r>
              <a:rPr lang="en-US" dirty="0">
                <a:solidFill>
                  <a:schemeClr val="tx2">
                    <a:lumMod val="60000"/>
                    <a:lumOff val="40000"/>
                  </a:schemeClr>
                </a:solidFill>
              </a:rPr>
              <a:t> is the strongest gradient strength a system can reach</a:t>
            </a:r>
          </a:p>
          <a:p>
            <a:r>
              <a:rPr lang="en-US" dirty="0">
                <a:solidFill>
                  <a:schemeClr val="tx2">
                    <a:lumMod val="60000"/>
                    <a:lumOff val="40000"/>
                  </a:schemeClr>
                </a:solidFill>
              </a:rPr>
              <a:t>The </a:t>
            </a:r>
            <a:r>
              <a:rPr lang="en-US" b="1" dirty="0">
                <a:solidFill>
                  <a:schemeClr val="tx2">
                    <a:lumMod val="60000"/>
                    <a:lumOff val="40000"/>
                  </a:schemeClr>
                </a:solidFill>
              </a:rPr>
              <a:t>slew rate</a:t>
            </a:r>
            <a:r>
              <a:rPr lang="en-US" dirty="0">
                <a:solidFill>
                  <a:schemeClr val="tx2">
                    <a:lumMod val="60000"/>
                    <a:lumOff val="40000"/>
                  </a:schemeClr>
                </a:solidFill>
              </a:rPr>
              <a:t> is the maximum rate of change a system can support</a:t>
            </a:r>
          </a:p>
        </p:txBody>
      </p:sp>
      <p:sp>
        <p:nvSpPr>
          <p:cNvPr id="4" name="Title 1"/>
          <p:cNvSpPr>
            <a:spLocks noGrp="1"/>
          </p:cNvSpPr>
          <p:nvPr>
            <p:ph type="title"/>
          </p:nvPr>
        </p:nvSpPr>
        <p:spPr/>
        <p:txBody>
          <a:bodyPr vert="horz" lIns="91440" tIns="45720" rIns="91440" bIns="45720" rtlCol="0" anchor="ctr">
            <a:normAutofit/>
          </a:bodyPr>
          <a:lstStyle/>
          <a:p>
            <a:r>
              <a:rPr lang="en-US" dirty="0">
                <a:solidFill>
                  <a:schemeClr val="accent1">
                    <a:lumMod val="75000"/>
                  </a:schemeClr>
                </a:solidFill>
              </a:rPr>
              <a:t>Gradient fields</a:t>
            </a:r>
          </a:p>
        </p:txBody>
      </p:sp>
      <p:pic>
        <p:nvPicPr>
          <p:cNvPr id="1026" name="Picture 2" descr="http://www.mrinotes.com/images/rtime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8329" y="3749188"/>
            <a:ext cx="3303673" cy="2194412"/>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xmlns="">
                <a:solidFill>
                  <a:srgbClr val="FFFFFF"/>
                </a:solidFill>
              </a14:hiddenFill>
            </a:ext>
          </a:extLst>
        </p:spPr>
      </p:pic>
      <p:pic>
        <p:nvPicPr>
          <p:cNvPr id="1028" name="Picture 4" descr="http://www.mrinotes.com/images/rtime.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45219" y="3749188"/>
            <a:ext cx="3250981" cy="2194412"/>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8429256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144000" cy="685800"/>
          </a:xfrm>
        </p:spPr>
        <p:txBody>
          <a:bodyPr anchor="ctr">
            <a:normAutofit/>
          </a:bodyPr>
          <a:lstStyle/>
          <a:p>
            <a:r>
              <a:rPr lang="en-US"/>
              <a:t>Radio Frequency Transmitter (RF Amplifier)</a:t>
            </a:r>
          </a:p>
        </p:txBody>
      </p:sp>
      <p:sp>
        <p:nvSpPr>
          <p:cNvPr id="3" name="Content Placeholder 2"/>
          <p:cNvSpPr>
            <a:spLocks noGrp="1"/>
          </p:cNvSpPr>
          <p:nvPr>
            <p:ph sz="half" idx="1"/>
          </p:nvPr>
        </p:nvSpPr>
        <p:spPr>
          <a:xfrm>
            <a:off x="457200" y="1600200"/>
            <a:ext cx="4038600" cy="4525963"/>
          </a:xfrm>
        </p:spPr>
        <p:txBody>
          <a:bodyPr>
            <a:normAutofit/>
          </a:bodyPr>
          <a:lstStyle/>
          <a:p>
            <a:pPr marL="0" indent="0">
              <a:lnSpc>
                <a:spcPct val="90000"/>
              </a:lnSpc>
              <a:buNone/>
            </a:pPr>
            <a:r>
              <a:rPr lang="en-US" sz="2400"/>
              <a:t>An RF field is applied repeatedly in the form of very brief pulses. The physical effect of applying an RF pulse to the dipole is equivalent to applying a magnetic field in the transverse direction.</a:t>
            </a:r>
          </a:p>
          <a:p>
            <a:pPr marL="0" indent="0">
              <a:lnSpc>
                <a:spcPct val="90000"/>
              </a:lnSpc>
              <a:buNone/>
            </a:pPr>
            <a:r>
              <a:rPr lang="en-US" sz="2400"/>
              <a:t>The dipoles then start spinning for a brief moment in the transverse direction before they go back to the normal state spinning around the B</a:t>
            </a:r>
            <a:r>
              <a:rPr lang="en-US" sz="2400" baseline="-25000"/>
              <a:t>0</a:t>
            </a:r>
            <a:r>
              <a:rPr lang="en-US" sz="2400"/>
              <a:t> field.</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8200" y="2348706"/>
            <a:ext cx="4038600" cy="3028950"/>
          </a:xfrm>
          <a:prstGeom prst="rect">
            <a:avLst/>
          </a:prstGeom>
          <a:noFill/>
        </p:spPr>
      </p:pic>
    </p:spTree>
    <p:extLst>
      <p:ext uri="{BB962C8B-B14F-4D97-AF65-F5344CB8AC3E}">
        <p14:creationId xmlns:p14="http://schemas.microsoft.com/office/powerpoint/2010/main" val="141942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48000" y="1905000"/>
            <a:ext cx="3633788" cy="3130229"/>
          </a:xfrm>
          <a:prstGeom prst="rect">
            <a:avLst/>
          </a:prstGeom>
        </p:spPr>
      </p:pic>
      <p:sp>
        <p:nvSpPr>
          <p:cNvPr id="5" name="Title 1"/>
          <p:cNvSpPr>
            <a:spLocks noGrp="1"/>
          </p:cNvSpPr>
          <p:nvPr>
            <p:ph type="title"/>
          </p:nvPr>
        </p:nvSpPr>
        <p:spPr/>
        <p:txBody>
          <a:bodyPr/>
          <a:lstStyle/>
          <a:p>
            <a:r>
              <a:rPr lang="en-US" dirty="0">
                <a:solidFill>
                  <a:schemeClr val="accent1">
                    <a:lumMod val="75000"/>
                  </a:schemeClr>
                </a:solidFill>
              </a:rPr>
              <a:t>Radio Frequency Transmitter (RF Amplifier)</a:t>
            </a:r>
          </a:p>
        </p:txBody>
      </p:sp>
    </p:spTree>
    <p:extLst>
      <p:ext uri="{BB962C8B-B14F-4D97-AF65-F5344CB8AC3E}">
        <p14:creationId xmlns:p14="http://schemas.microsoft.com/office/powerpoint/2010/main" val="423148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Flip Angle</a:t>
            </a:r>
          </a:p>
        </p:txBody>
      </p:sp>
      <p:sp>
        <p:nvSpPr>
          <p:cNvPr id="3" name="Content Placeholder 2"/>
          <p:cNvSpPr>
            <a:spLocks noGrp="1"/>
          </p:cNvSpPr>
          <p:nvPr>
            <p:ph idx="1"/>
          </p:nvPr>
        </p:nvSpPr>
        <p:spPr>
          <a:xfrm>
            <a:off x="152400" y="990601"/>
            <a:ext cx="8839200" cy="1600200"/>
          </a:xfrm>
        </p:spPr>
        <p:txBody>
          <a:bodyPr/>
          <a:lstStyle/>
          <a:p>
            <a:pPr marL="0" indent="0">
              <a:buNone/>
            </a:pPr>
            <a:r>
              <a:rPr lang="en-US" dirty="0">
                <a:solidFill>
                  <a:schemeClr val="tx2">
                    <a:lumMod val="60000"/>
                    <a:lumOff val="40000"/>
                  </a:schemeClr>
                </a:solidFill>
              </a:rPr>
              <a:t>By applying an appropriate RF pulse, we can achieve any flip angle. The most typical flip angles are 90 and 180 degrees.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3000" y="3393298"/>
            <a:ext cx="2857500" cy="2143125"/>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00600" y="3393297"/>
            <a:ext cx="2857500" cy="2143125"/>
          </a:xfrm>
          <a:prstGeom prst="rect">
            <a:avLst/>
          </a:prstGeom>
        </p:spPr>
      </p:pic>
    </p:spTree>
    <p:extLst>
      <p:ext uri="{BB962C8B-B14F-4D97-AF65-F5344CB8AC3E}">
        <p14:creationId xmlns:p14="http://schemas.microsoft.com/office/powerpoint/2010/main" val="3914079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Transmit Coils</a:t>
            </a:r>
          </a:p>
        </p:txBody>
      </p:sp>
      <p:sp>
        <p:nvSpPr>
          <p:cNvPr id="3" name="Content Placeholder 2"/>
          <p:cNvSpPr>
            <a:spLocks noGrp="1"/>
          </p:cNvSpPr>
          <p:nvPr>
            <p:ph idx="1"/>
          </p:nvPr>
        </p:nvSpPr>
        <p:spPr>
          <a:xfrm>
            <a:off x="152400" y="990601"/>
            <a:ext cx="8839200" cy="2514599"/>
          </a:xfrm>
        </p:spPr>
        <p:txBody>
          <a:bodyPr>
            <a:normAutofit/>
          </a:bodyPr>
          <a:lstStyle/>
          <a:p>
            <a:r>
              <a:rPr lang="en-US" sz="2000" dirty="0">
                <a:solidFill>
                  <a:schemeClr val="tx2">
                    <a:lumMod val="60000"/>
                    <a:lumOff val="40000"/>
                  </a:schemeClr>
                </a:solidFill>
              </a:rPr>
              <a:t>Some coils are transmit/receive or transceivers and some others are only receive coils.</a:t>
            </a:r>
          </a:p>
          <a:p>
            <a:r>
              <a:rPr lang="en-US" sz="2000" dirty="0">
                <a:solidFill>
                  <a:schemeClr val="tx2">
                    <a:lumMod val="60000"/>
                    <a:lumOff val="40000"/>
                  </a:schemeClr>
                </a:solidFill>
              </a:rPr>
              <a:t>Coils in charge of transmitting the RF signal, i.e. body coil, standard head coil, knee t/r coil; transmit the RF pulse generated by the RF amplifier and they are able to switch to receive mode or use a different coil to receive.</a:t>
            </a:r>
          </a:p>
          <a:p>
            <a:r>
              <a:rPr lang="en-US" sz="2000" dirty="0">
                <a:solidFill>
                  <a:schemeClr val="tx2">
                    <a:lumMod val="60000"/>
                    <a:lumOff val="40000"/>
                  </a:schemeClr>
                </a:solidFill>
              </a:rPr>
              <a:t>The most typical and efficient design for transmit/receive coils is the quadrature or birdcage design where we have two coils at 90 and 180 degrees (I and Q).</a:t>
            </a:r>
          </a:p>
        </p:txBody>
      </p:sp>
      <p:grpSp>
        <p:nvGrpSpPr>
          <p:cNvPr id="5" name="Group 4"/>
          <p:cNvGrpSpPr/>
          <p:nvPr/>
        </p:nvGrpSpPr>
        <p:grpSpPr>
          <a:xfrm>
            <a:off x="4267200" y="3352800"/>
            <a:ext cx="3657600" cy="2936875"/>
            <a:chOff x="1371600" y="914400"/>
            <a:chExt cx="6400800" cy="5029200"/>
          </a:xfrm>
        </p:grpSpPr>
        <p:pic>
          <p:nvPicPr>
            <p:cNvPr id="6" name="Picture 0" descr="RFCoil3.JPG"/>
            <p:cNvPicPr>
              <a:picLocks noChangeAspect="1" noChangeArrowheads="1"/>
            </p:cNvPicPr>
            <p:nvPr/>
          </p:nvPicPr>
          <p:blipFill>
            <a:blip r:embed="rId2" cstate="print"/>
            <a:srcRect/>
            <a:stretch>
              <a:fillRect/>
            </a:stretch>
          </p:blipFill>
          <p:spPr bwMode="auto">
            <a:xfrm>
              <a:off x="1600201" y="1295399"/>
              <a:ext cx="5943600" cy="4457700"/>
            </a:xfrm>
            <a:prstGeom prst="rect">
              <a:avLst/>
            </a:prstGeom>
            <a:no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7" name="Frame 6"/>
            <p:cNvSpPr/>
            <p:nvPr/>
          </p:nvSpPr>
          <p:spPr>
            <a:xfrm>
              <a:off x="1371600" y="914400"/>
              <a:ext cx="6400800" cy="5029200"/>
            </a:xfrm>
            <a:prstGeom prst="fram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 Box 3"/>
            <p:cNvSpPr txBox="1">
              <a:spLocks noChangeArrowheads="1"/>
            </p:cNvSpPr>
            <p:nvPr/>
          </p:nvSpPr>
          <p:spPr bwMode="auto">
            <a:xfrm>
              <a:off x="4695825" y="1590624"/>
              <a:ext cx="2409825" cy="62864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a:ln>
                    <a:noFill/>
                  </a:ln>
                  <a:solidFill>
                    <a:schemeClr val="tx1"/>
                  </a:solidFill>
                  <a:effectLst/>
                  <a:latin typeface="Calibri" pitchFamily="34" charset="0"/>
                  <a:cs typeface="Arial" pitchFamily="34" charset="0"/>
                </a:rPr>
                <a:t>Dimensions:  28.5”L X 25”W X 25”H</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a:ln>
                    <a:noFill/>
                  </a:ln>
                  <a:solidFill>
                    <a:schemeClr val="bg1"/>
                  </a:solidFill>
                  <a:effectLst/>
                  <a:latin typeface="Calibri" pitchFamily="34" charset="0"/>
                  <a:cs typeface="Arial" pitchFamily="34" charset="0"/>
                </a:rPr>
                <a:t>Weight:  40LBS</a:t>
              </a:r>
              <a:endParaRPr kumimoji="0" lang="en-US" sz="1800" b="0" i="0" u="none" strike="noStrike" cap="none" normalizeH="0" baseline="0" dirty="0">
                <a:ln>
                  <a:noFill/>
                </a:ln>
                <a:solidFill>
                  <a:schemeClr val="bg1"/>
                </a:solidFill>
                <a:effectLst/>
                <a:latin typeface="Arial" pitchFamily="34" charset="0"/>
                <a:cs typeface="Arial" pitchFamily="34" charset="0"/>
              </a:endParaRPr>
            </a:p>
          </p:txBody>
        </p:sp>
      </p:grpSp>
      <p:pic>
        <p:nvPicPr>
          <p:cNvPr id="2050" name="Picture 2" descr="http://www.mrinotes.com/images/birdcage.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3886200"/>
            <a:ext cx="2381250" cy="1781176"/>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770957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Receive coils</a:t>
            </a:r>
          </a:p>
        </p:txBody>
      </p:sp>
      <p:sp>
        <p:nvSpPr>
          <p:cNvPr id="3" name="Content Placeholder 2"/>
          <p:cNvSpPr>
            <a:spLocks noGrp="1"/>
          </p:cNvSpPr>
          <p:nvPr>
            <p:ph idx="1"/>
          </p:nvPr>
        </p:nvSpPr>
        <p:spPr/>
        <p:txBody>
          <a:bodyPr>
            <a:normAutofit fontScale="92500"/>
          </a:bodyPr>
          <a:lstStyle/>
          <a:p>
            <a:r>
              <a:rPr lang="en-US" dirty="0">
                <a:solidFill>
                  <a:schemeClr val="tx2">
                    <a:lumMod val="60000"/>
                    <a:lumOff val="40000"/>
                  </a:schemeClr>
                </a:solidFill>
              </a:rPr>
              <a:t>We cannot measure the longitudinal bulk magnetization</a:t>
            </a:r>
          </a:p>
          <a:p>
            <a:r>
              <a:rPr lang="en-US" dirty="0">
                <a:solidFill>
                  <a:schemeClr val="tx2">
                    <a:lumMod val="60000"/>
                    <a:lumOff val="40000"/>
                  </a:schemeClr>
                </a:solidFill>
              </a:rPr>
              <a:t>We are able though of detecting the bulk magnetization once we apply an RF pulse and we make it rotate in the transverse plane and we use a coil to detect the signal</a:t>
            </a:r>
          </a:p>
          <a:p>
            <a:r>
              <a:rPr lang="en-US" dirty="0">
                <a:solidFill>
                  <a:schemeClr val="tx2">
                    <a:lumMod val="60000"/>
                    <a:lumOff val="40000"/>
                  </a:schemeClr>
                </a:solidFill>
              </a:rPr>
              <a:t>The most basic form of a coils is just a copper loop. </a:t>
            </a:r>
          </a:p>
          <a:p>
            <a:r>
              <a:rPr lang="en-US" dirty="0">
                <a:solidFill>
                  <a:schemeClr val="tx2">
                    <a:lumMod val="60000"/>
                    <a:lumOff val="40000"/>
                  </a:schemeClr>
                </a:solidFill>
              </a:rPr>
              <a:t>The receiver coil detects the transverse component and converts it to a time varying voltage that would be digitized and process by the system.</a:t>
            </a:r>
          </a:p>
        </p:txBody>
      </p:sp>
    </p:spTree>
    <p:extLst>
      <p:ext uri="{BB962C8B-B14F-4D97-AF65-F5344CB8AC3E}">
        <p14:creationId xmlns:p14="http://schemas.microsoft.com/office/powerpoint/2010/main" val="13811617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1600199"/>
          </a:xfrm>
        </p:spPr>
        <p:txBody>
          <a:bodyPr>
            <a:normAutofit fontScale="70000" lnSpcReduction="20000"/>
          </a:bodyPr>
          <a:lstStyle/>
          <a:p>
            <a:r>
              <a:rPr lang="en-US" dirty="0">
                <a:solidFill>
                  <a:schemeClr val="tx2">
                    <a:lumMod val="60000"/>
                    <a:lumOff val="40000"/>
                  </a:schemeClr>
                </a:solidFill>
              </a:rPr>
              <a:t>As the name indicates the surface coil are dedicated coils that are positioned close to the anatomy to be examined </a:t>
            </a:r>
          </a:p>
          <a:p>
            <a:r>
              <a:rPr lang="en-US" dirty="0">
                <a:solidFill>
                  <a:schemeClr val="tx2">
                    <a:lumMod val="60000"/>
                    <a:lumOff val="40000"/>
                  </a:schemeClr>
                </a:solidFill>
              </a:rPr>
              <a:t>As the coil is smaller and in really close proximity to the area of study, the biggest advantage is a much higher SNR compared to using the body coil as a receive coil.</a:t>
            </a:r>
          </a:p>
        </p:txBody>
      </p:sp>
      <p:sp>
        <p:nvSpPr>
          <p:cNvPr id="4" name="Title 1"/>
          <p:cNvSpPr>
            <a:spLocks noGrp="1"/>
          </p:cNvSpPr>
          <p:nvPr>
            <p:ph type="title"/>
          </p:nvPr>
        </p:nvSpPr>
        <p:spPr/>
        <p:txBody>
          <a:bodyPr/>
          <a:lstStyle/>
          <a:p>
            <a:r>
              <a:rPr lang="en-US" dirty="0">
                <a:solidFill>
                  <a:schemeClr val="accent1">
                    <a:lumMod val="75000"/>
                  </a:schemeClr>
                </a:solidFill>
              </a:rPr>
              <a:t>Surface coils</a:t>
            </a:r>
          </a:p>
        </p:txBody>
      </p:sp>
      <p:pic>
        <p:nvPicPr>
          <p:cNvPr id="5" name="Picture 0" descr="BodyArraySurfaceCoil_PN2377425-2.JPG"/>
          <p:cNvPicPr>
            <a:picLocks noChangeAspect="1" noChangeArrowheads="1"/>
          </p:cNvPicPr>
          <p:nvPr/>
        </p:nvPicPr>
        <p:blipFill>
          <a:blip r:embed="rId2" cstate="print"/>
          <a:srcRect/>
          <a:stretch>
            <a:fillRect/>
          </a:stretch>
        </p:blipFill>
        <p:spPr bwMode="auto">
          <a:xfrm>
            <a:off x="1066800" y="2971800"/>
            <a:ext cx="3048000" cy="228600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6" name="Picture 0" descr="TorsoSurfaceCoil_PN2215261.JPG"/>
          <p:cNvPicPr>
            <a:picLocks noChangeAspect="1" noChangeArrowheads="1"/>
          </p:cNvPicPr>
          <p:nvPr/>
        </p:nvPicPr>
        <p:blipFill>
          <a:blip r:embed="rId3" cstate="print"/>
          <a:srcRect/>
          <a:stretch>
            <a:fillRect/>
          </a:stretch>
        </p:blipFill>
        <p:spPr bwMode="auto">
          <a:xfrm>
            <a:off x="5225562" y="2971800"/>
            <a:ext cx="3048000" cy="2286000"/>
          </a:xfrm>
          <a:prstGeom prst="rect">
            <a:avLst/>
          </a:prstGeom>
          <a:no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4011467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4419600" cy="2209799"/>
          </a:xfrm>
        </p:spPr>
        <p:txBody>
          <a:bodyPr>
            <a:normAutofit/>
          </a:bodyPr>
          <a:lstStyle/>
          <a:p>
            <a:r>
              <a:rPr lang="en-US" sz="2000" dirty="0">
                <a:solidFill>
                  <a:schemeClr val="tx2">
                    <a:lumMod val="60000"/>
                    <a:lumOff val="40000"/>
                  </a:schemeClr>
                </a:solidFill>
              </a:rPr>
              <a:t>The current induced in the coil is proportional to the rate of change of the magnetic flux linking the coil</a:t>
            </a:r>
          </a:p>
          <a:p>
            <a:r>
              <a:rPr lang="en-US" sz="2000" dirty="0">
                <a:solidFill>
                  <a:schemeClr val="tx2">
                    <a:lumMod val="60000"/>
                    <a:lumOff val="40000"/>
                  </a:schemeClr>
                </a:solidFill>
              </a:rPr>
              <a:t>Every rotation in the transverse plane induces a cycle to peak through the coil</a:t>
            </a:r>
          </a:p>
        </p:txBody>
      </p:sp>
      <p:sp>
        <p:nvSpPr>
          <p:cNvPr id="4" name="Title 1"/>
          <p:cNvSpPr>
            <a:spLocks noGrp="1"/>
          </p:cNvSpPr>
          <p:nvPr>
            <p:ph type="title"/>
          </p:nvPr>
        </p:nvSpPr>
        <p:spPr/>
        <p:txBody>
          <a:bodyPr/>
          <a:lstStyle/>
          <a:p>
            <a:r>
              <a:rPr lang="en-US" dirty="0">
                <a:solidFill>
                  <a:schemeClr val="accent1">
                    <a:lumMod val="75000"/>
                  </a:schemeClr>
                </a:solidFill>
              </a:rPr>
              <a:t>Receive coils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0200" y="762000"/>
            <a:ext cx="2857500" cy="2143125"/>
          </a:xfrm>
          <a:prstGeom prst="rect">
            <a:avLst/>
          </a:prstGeom>
        </p:spPr>
      </p:pic>
      <p:sp>
        <p:nvSpPr>
          <p:cNvPr id="6" name="Content Placeholder 2"/>
          <p:cNvSpPr txBox="1">
            <a:spLocks/>
          </p:cNvSpPr>
          <p:nvPr/>
        </p:nvSpPr>
        <p:spPr>
          <a:xfrm>
            <a:off x="4267200" y="3810000"/>
            <a:ext cx="4419600" cy="22097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000" dirty="0">
              <a:solidFill>
                <a:schemeClr val="tx2">
                  <a:lumMod val="60000"/>
                  <a:lumOff val="40000"/>
                </a:schemeClr>
              </a:solidFill>
            </a:endParaRPr>
          </a:p>
        </p:txBody>
      </p:sp>
      <p:pic>
        <p:nvPicPr>
          <p:cNvPr id="3074" name="Picture 2" descr="http://www.mrinotes.com/images/RF%20rec1.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3886200"/>
            <a:ext cx="2609850" cy="1809751"/>
          </a:xfrm>
          <a:prstGeom prst="rect">
            <a:avLst/>
          </a:prstGeom>
          <a:noFill/>
          <a:extLst>
            <a:ext uri="{909E8E84-426E-40dd-AFC4-6F175D3DCCD1}">
              <a14:hiddenFill xmlns:a14="http://schemas.microsoft.com/office/drawing/2010/main" xmlns="">
                <a:solidFill>
                  <a:srgbClr val="FFFFFF"/>
                </a:solidFill>
              </a14:hiddenFill>
            </a:ext>
          </a:extLst>
        </p:spPr>
      </p:pic>
      <p:sp>
        <p:nvSpPr>
          <p:cNvPr id="8" name="Content Placeholder 2"/>
          <p:cNvSpPr txBox="1">
            <a:spLocks/>
          </p:cNvSpPr>
          <p:nvPr/>
        </p:nvSpPr>
        <p:spPr>
          <a:xfrm>
            <a:off x="3660531" y="3838574"/>
            <a:ext cx="5040923" cy="2209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solidFill>
                  <a:schemeClr val="tx2">
                    <a:lumMod val="60000"/>
                    <a:lumOff val="40000"/>
                  </a:schemeClr>
                </a:solidFill>
              </a:rPr>
              <a:t>The frequency is the same as the spinning frequency of the transverse component.</a:t>
            </a:r>
          </a:p>
          <a:p>
            <a:r>
              <a:rPr lang="en-US" sz="2000" dirty="0">
                <a:solidFill>
                  <a:schemeClr val="tx2">
                    <a:lumMod val="60000"/>
                    <a:lumOff val="40000"/>
                  </a:schemeClr>
                </a:solidFill>
              </a:rPr>
              <a:t>If the signal would remain constant it would create a sinusoidal wave. In reality the signal dies off quickly and the detected signal will be a decaying sinusoidal wave.</a:t>
            </a:r>
          </a:p>
          <a:p>
            <a:endParaRPr lang="en-US" sz="2000" dirty="0">
              <a:solidFill>
                <a:schemeClr val="tx2">
                  <a:lumMod val="60000"/>
                  <a:lumOff val="40000"/>
                </a:schemeClr>
              </a:solidFill>
            </a:endParaRPr>
          </a:p>
        </p:txBody>
      </p:sp>
    </p:spTree>
    <p:extLst>
      <p:ext uri="{BB962C8B-B14F-4D97-AF65-F5344CB8AC3E}">
        <p14:creationId xmlns:p14="http://schemas.microsoft.com/office/powerpoint/2010/main" val="687343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FID</a:t>
            </a:r>
          </a:p>
        </p:txBody>
      </p:sp>
      <p:sp>
        <p:nvSpPr>
          <p:cNvPr id="3" name="Content Placeholder 2"/>
          <p:cNvSpPr>
            <a:spLocks noGrp="1"/>
          </p:cNvSpPr>
          <p:nvPr>
            <p:ph idx="1"/>
          </p:nvPr>
        </p:nvSpPr>
        <p:spPr>
          <a:xfrm>
            <a:off x="152400" y="990601"/>
            <a:ext cx="8839200" cy="1904999"/>
          </a:xfrm>
        </p:spPr>
        <p:txBody>
          <a:bodyPr>
            <a:normAutofit/>
          </a:bodyPr>
          <a:lstStyle/>
          <a:p>
            <a:r>
              <a:rPr lang="en-US" sz="2000" dirty="0">
                <a:solidFill>
                  <a:schemeClr val="tx2">
                    <a:lumMod val="60000"/>
                    <a:lumOff val="40000"/>
                  </a:schemeClr>
                </a:solidFill>
              </a:rPr>
              <a:t>Remember the signal received by the coil is a decaying sinusoid signal.</a:t>
            </a:r>
          </a:p>
          <a:p>
            <a:r>
              <a:rPr lang="en-US" sz="2000" dirty="0">
                <a:solidFill>
                  <a:schemeClr val="tx2">
                    <a:lumMod val="60000"/>
                    <a:lumOff val="40000"/>
                  </a:schemeClr>
                </a:solidFill>
              </a:rPr>
              <a:t>It is decaying because the amplitude of the transverse component magnetization decays.</a:t>
            </a:r>
          </a:p>
          <a:p>
            <a:r>
              <a:rPr lang="en-US" sz="2000" dirty="0">
                <a:solidFill>
                  <a:schemeClr val="tx2">
                    <a:lumMod val="60000"/>
                    <a:lumOff val="40000"/>
                  </a:schemeClr>
                </a:solidFill>
              </a:rPr>
              <a:t>It is sinusoidal because of the spinning in the transverse plane.</a:t>
            </a:r>
          </a:p>
          <a:p>
            <a:pPr marL="0" indent="0">
              <a:buNone/>
            </a:pPr>
            <a:r>
              <a:rPr lang="en-US" sz="2000" dirty="0">
                <a:solidFill>
                  <a:schemeClr val="tx2">
                    <a:lumMod val="60000"/>
                    <a:lumOff val="40000"/>
                  </a:schemeClr>
                </a:solidFill>
              </a:rPr>
              <a:t>This is called </a:t>
            </a:r>
            <a:r>
              <a:rPr lang="en-US" sz="2000" b="1" dirty="0">
                <a:solidFill>
                  <a:schemeClr val="tx2">
                    <a:lumMod val="60000"/>
                    <a:lumOff val="40000"/>
                  </a:schemeClr>
                </a:solidFill>
              </a:rPr>
              <a:t>Free Induction Decay or FID</a:t>
            </a:r>
            <a:r>
              <a:rPr lang="en-US" sz="2000" dirty="0">
                <a:solidFill>
                  <a:schemeClr val="tx2">
                    <a:lumMod val="60000"/>
                    <a:lumOff val="40000"/>
                  </a:schemeClr>
                </a:solidFill>
              </a:rPr>
              <a:t>. </a:t>
            </a:r>
          </a:p>
        </p:txBody>
      </p:sp>
      <p:pic>
        <p:nvPicPr>
          <p:cNvPr id="4098" name="Picture 2" descr="http://www.mrinotes.com/images/FID.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3276600"/>
            <a:ext cx="4486275" cy="2019301"/>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p:cNvSpPr txBox="1"/>
          <p:nvPr/>
        </p:nvSpPr>
        <p:spPr>
          <a:xfrm>
            <a:off x="5105400" y="4572000"/>
            <a:ext cx="3733800" cy="646331"/>
          </a:xfrm>
          <a:prstGeom prst="rect">
            <a:avLst/>
          </a:prstGeom>
          <a:noFill/>
        </p:spPr>
        <p:txBody>
          <a:bodyPr wrap="square" rtlCol="0">
            <a:spAutoFit/>
          </a:bodyPr>
          <a:lstStyle/>
          <a:p>
            <a:r>
              <a:rPr lang="en-US" sz="1200" dirty="0"/>
              <a:t>- Pink line shows the FID</a:t>
            </a:r>
          </a:p>
          <a:p>
            <a:r>
              <a:rPr lang="en-US" sz="1200" dirty="0"/>
              <a:t>- Blue line is the exponential line determined by the tissue T2.</a:t>
            </a:r>
          </a:p>
        </p:txBody>
      </p:sp>
    </p:spTree>
    <p:extLst>
      <p:ext uri="{BB962C8B-B14F-4D97-AF65-F5344CB8AC3E}">
        <p14:creationId xmlns:p14="http://schemas.microsoft.com/office/powerpoint/2010/main" val="17328878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T1</a:t>
            </a:r>
          </a:p>
        </p:txBody>
      </p:sp>
      <p:sp>
        <p:nvSpPr>
          <p:cNvPr id="3" name="Content Placeholder 2"/>
          <p:cNvSpPr>
            <a:spLocks noGrp="1"/>
          </p:cNvSpPr>
          <p:nvPr>
            <p:ph idx="1"/>
          </p:nvPr>
        </p:nvSpPr>
        <p:spPr>
          <a:xfrm>
            <a:off x="152400" y="990601"/>
            <a:ext cx="8839200" cy="2057399"/>
          </a:xfrm>
        </p:spPr>
        <p:txBody>
          <a:bodyPr>
            <a:noAutofit/>
          </a:bodyPr>
          <a:lstStyle/>
          <a:p>
            <a:r>
              <a:rPr lang="en-US" sz="2400" dirty="0">
                <a:solidFill>
                  <a:schemeClr val="tx2">
                    <a:lumMod val="60000"/>
                    <a:lumOff val="40000"/>
                  </a:schemeClr>
                </a:solidFill>
              </a:rPr>
              <a:t>As the RF pulse is turned off, the protons start to lose the energy and they begin to go back to their original low energy state spinning around the magnetic main field. The time that it takes for this to happen is what it is referred to as </a:t>
            </a:r>
            <a:r>
              <a:rPr lang="en-US" sz="2400" b="1" dirty="0">
                <a:solidFill>
                  <a:schemeClr val="tx2">
                    <a:lumMod val="60000"/>
                    <a:lumOff val="40000"/>
                  </a:schemeClr>
                </a:solidFill>
              </a:rPr>
              <a:t>T1 relaxation or T1 recovery.</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3000" y="3101120"/>
            <a:ext cx="2857500" cy="2857500"/>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10200" y="3578999"/>
            <a:ext cx="2857500" cy="2143125"/>
          </a:xfrm>
          <a:prstGeom prst="rect">
            <a:avLst/>
          </a:prstGeom>
        </p:spPr>
      </p:pic>
    </p:spTree>
    <p:extLst>
      <p:ext uri="{BB962C8B-B14F-4D97-AF65-F5344CB8AC3E}">
        <p14:creationId xmlns:p14="http://schemas.microsoft.com/office/powerpoint/2010/main" val="14632082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0" y="76200"/>
            <a:ext cx="9144000" cy="685800"/>
          </a:xfrm>
        </p:spPr>
        <p:txBody>
          <a:bodyPr anchor="ctr">
            <a:normAutofit/>
          </a:bodyPr>
          <a:lstStyle/>
          <a:p>
            <a:r>
              <a:rPr lang="en-US"/>
              <a:t>T1</a:t>
            </a:r>
          </a:p>
        </p:txBody>
      </p:sp>
      <p:sp>
        <p:nvSpPr>
          <p:cNvPr id="12" name="Text Placeholder 2">
            <a:extLst>
              <a:ext uri="{FF2B5EF4-FFF2-40B4-BE49-F238E27FC236}">
                <a16:creationId xmlns:a16="http://schemas.microsoft.com/office/drawing/2014/main" id="{0206ABC7-F5A9-DFF7-27FB-66D83C67AA7B}"/>
              </a:ext>
            </a:extLst>
          </p:cNvPr>
          <p:cNvSpPr>
            <a:spLocks noGrp="1"/>
          </p:cNvSpPr>
          <p:nvPr>
            <p:ph type="body" idx="1"/>
          </p:nvPr>
        </p:nvSpPr>
        <p:spPr>
          <a:xfrm>
            <a:off x="457200" y="1535113"/>
            <a:ext cx="4040188" cy="639762"/>
          </a:xfrm>
        </p:spPr>
        <p:txBody>
          <a:bodyPr/>
          <a:lstStyle/>
          <a:p>
            <a:endParaRPr lang="en-US"/>
          </a:p>
        </p:txBody>
      </p:sp>
      <p:pic>
        <p:nvPicPr>
          <p:cNvPr id="5" name="Picture 4" descr="http://www.simplyphysics.com/resources/page2_6c.gif"/>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20147" y="2667001"/>
            <a:ext cx="4377241" cy="2754906"/>
          </a:xfrm>
          <a:prstGeom prst="rect">
            <a:avLst/>
          </a:prstGeom>
          <a:noFill/>
          <a:extLst>
            <a:ext uri="{909E8E84-426E-40dd-AFC4-6F175D3DCCD1}">
              <a14:hiddenFill xmlns="" xmlns:a14="http://schemas.microsoft.com/office/drawing/2010/main">
                <a:solidFill>
                  <a:srgbClr val="FFFFFF"/>
                </a:solidFill>
              </a14:hiddenFill>
            </a:ext>
          </a:extLst>
        </p:spPr>
      </p:pic>
      <p:sp>
        <p:nvSpPr>
          <p:cNvPr id="7" name="TextBox 6"/>
          <p:cNvSpPr txBox="1"/>
          <p:nvPr/>
        </p:nvSpPr>
        <p:spPr>
          <a:xfrm>
            <a:off x="4645025" y="1535113"/>
            <a:ext cx="4041775" cy="639762"/>
          </a:xfrm>
          <a:prstGeom prst="rect">
            <a:avLst/>
          </a:prstGeom>
        </p:spPr>
        <p:txBody>
          <a:bodyPr vert="horz" lIns="91440" tIns="45720" rIns="91440" bIns="45720" rtlCol="0" anchor="b">
            <a:normAutofit/>
          </a:bodyPr>
          <a:lstStyle/>
          <a:p>
            <a:pPr>
              <a:lnSpc>
                <a:spcPct val="90000"/>
              </a:lnSpc>
              <a:spcBef>
                <a:spcPct val="20000"/>
              </a:spcBef>
            </a:pPr>
            <a:r>
              <a:rPr lang="en-US" sz="1900" b="1" kern="1200"/>
              <a:t>NOTE: T1 values are longer in general in higher magnetic fields.</a:t>
            </a:r>
          </a:p>
        </p:txBody>
      </p:sp>
      <p:sp>
        <p:nvSpPr>
          <p:cNvPr id="3" name="Content Placeholder 2"/>
          <p:cNvSpPr>
            <a:spLocks noGrp="1"/>
          </p:cNvSpPr>
          <p:nvPr>
            <p:ph sz="quarter" idx="4"/>
          </p:nvPr>
        </p:nvSpPr>
        <p:spPr>
          <a:xfrm>
            <a:off x="4645025" y="2174875"/>
            <a:ext cx="4041775" cy="3951288"/>
          </a:xfrm>
        </p:spPr>
        <p:txBody>
          <a:bodyPr>
            <a:normAutofit/>
          </a:bodyPr>
          <a:lstStyle/>
          <a:p>
            <a:r>
              <a:rPr lang="en-US"/>
              <a:t>T1 times are different for different tissues. </a:t>
            </a:r>
          </a:p>
          <a:p>
            <a:r>
              <a:rPr lang="en-US"/>
              <a:t>At time t=T1 after the excitation pulse, 63.2% of the magnetization has gone back to alignment with B</a:t>
            </a:r>
            <a:r>
              <a:rPr lang="en-US" baseline="-25000"/>
              <a:t>0</a:t>
            </a:r>
            <a:r>
              <a:rPr lang="en-US"/>
              <a:t>. </a:t>
            </a:r>
          </a:p>
          <a:p>
            <a:r>
              <a:rPr lang="en-US"/>
              <a:t>5 T1 times are required to go back to equilibrium.</a:t>
            </a:r>
          </a:p>
          <a:p>
            <a:pPr marL="0" indent="0">
              <a:buNone/>
            </a:pPr>
            <a:endParaRPr lang="en-US"/>
          </a:p>
        </p:txBody>
      </p:sp>
    </p:spTree>
    <p:extLst>
      <p:ext uri="{BB962C8B-B14F-4D97-AF65-F5344CB8AC3E}">
        <p14:creationId xmlns:p14="http://schemas.microsoft.com/office/powerpoint/2010/main" val="6239706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T2</a:t>
            </a:r>
          </a:p>
        </p:txBody>
      </p:sp>
      <p:sp>
        <p:nvSpPr>
          <p:cNvPr id="3" name="Content Placeholder 2"/>
          <p:cNvSpPr>
            <a:spLocks noGrp="1"/>
          </p:cNvSpPr>
          <p:nvPr>
            <p:ph idx="1"/>
          </p:nvPr>
        </p:nvSpPr>
        <p:spPr>
          <a:xfrm>
            <a:off x="152400" y="990601"/>
            <a:ext cx="8839200" cy="1600199"/>
          </a:xfrm>
        </p:spPr>
        <p:txBody>
          <a:bodyPr>
            <a:normAutofit fontScale="70000" lnSpcReduction="20000"/>
          </a:bodyPr>
          <a:lstStyle/>
          <a:p>
            <a:pPr marL="0" indent="0">
              <a:buNone/>
            </a:pPr>
            <a:r>
              <a:rPr lang="en-US" dirty="0">
                <a:solidFill>
                  <a:schemeClr val="tx2">
                    <a:lumMod val="60000"/>
                    <a:lumOff val="40000"/>
                  </a:schemeClr>
                </a:solidFill>
              </a:rPr>
              <a:t>The only reason we get a signal is because the RF pulse forces the protons to spin in phase. As soon as the RF signal disappears and the protons start to spin out of phase (spin dephasing), the transverse component starts to fall off. The time that it takes for the protons to be in the normal main magnetic field state rotating out of phase is what we call </a:t>
            </a:r>
            <a:r>
              <a:rPr lang="en-US" b="1" dirty="0">
                <a:solidFill>
                  <a:schemeClr val="tx2">
                    <a:lumMod val="60000"/>
                    <a:lumOff val="40000"/>
                  </a:schemeClr>
                </a:solidFill>
              </a:rPr>
              <a:t>T2 relaxation.</a:t>
            </a:r>
            <a:endParaRPr lang="en-US" dirty="0">
              <a:solidFill>
                <a:schemeClr val="tx2">
                  <a:lumMod val="60000"/>
                  <a:lumOff val="40000"/>
                </a:schemeClr>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800" y="3429000"/>
            <a:ext cx="2857500" cy="1371600"/>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4000" y="2895600"/>
            <a:ext cx="2857500" cy="2143125"/>
          </a:xfrm>
          <a:prstGeom prst="rect">
            <a:avLst/>
          </a:prstGeom>
        </p:spPr>
      </p:pic>
    </p:spTree>
    <p:extLst>
      <p:ext uri="{BB962C8B-B14F-4D97-AF65-F5344CB8AC3E}">
        <p14:creationId xmlns:p14="http://schemas.microsoft.com/office/powerpoint/2010/main" val="7383726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14400"/>
            <a:ext cx="8839200" cy="2362200"/>
          </a:xfrm>
        </p:spPr>
        <p:txBody>
          <a:bodyPr>
            <a:normAutofit fontScale="92500" lnSpcReduction="10000"/>
          </a:bodyPr>
          <a:lstStyle/>
          <a:p>
            <a:r>
              <a:rPr lang="en-US" dirty="0">
                <a:solidFill>
                  <a:schemeClr val="tx2">
                    <a:lumMod val="60000"/>
                    <a:lumOff val="40000"/>
                  </a:schemeClr>
                </a:solidFill>
              </a:rPr>
              <a:t>T2 times are different for different tissues. </a:t>
            </a:r>
          </a:p>
          <a:p>
            <a:r>
              <a:rPr lang="en-US" dirty="0">
                <a:solidFill>
                  <a:schemeClr val="tx2">
                    <a:lumMod val="60000"/>
                    <a:lumOff val="40000"/>
                  </a:schemeClr>
                </a:solidFill>
              </a:rPr>
              <a:t>At time t=T2 after the excitation pulse, 36.8% of the protons are out of phase. </a:t>
            </a:r>
          </a:p>
          <a:p>
            <a:r>
              <a:rPr lang="en-US" dirty="0">
                <a:solidFill>
                  <a:schemeClr val="tx2">
                    <a:lumMod val="60000"/>
                    <a:lumOff val="40000"/>
                  </a:schemeClr>
                </a:solidFill>
              </a:rPr>
              <a:t>5 T2 times are required to go back to equilibrium or relaxation be completed.</a:t>
            </a:r>
          </a:p>
          <a:p>
            <a:pPr marL="0" indent="0">
              <a:buNone/>
            </a:pPr>
            <a:endParaRPr lang="en-US" dirty="0"/>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3352800"/>
            <a:ext cx="4110404" cy="25908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Title 1"/>
          <p:cNvSpPr>
            <a:spLocks noGrp="1"/>
          </p:cNvSpPr>
          <p:nvPr>
            <p:ph type="title"/>
          </p:nvPr>
        </p:nvSpPr>
        <p:spPr/>
        <p:txBody>
          <a:bodyPr/>
          <a:lstStyle/>
          <a:p>
            <a:r>
              <a:rPr lang="en-US" dirty="0">
                <a:solidFill>
                  <a:schemeClr val="accent1">
                    <a:lumMod val="75000"/>
                  </a:schemeClr>
                </a:solidFill>
              </a:rPr>
              <a:t>T2</a:t>
            </a:r>
          </a:p>
        </p:txBody>
      </p:sp>
      <p:sp>
        <p:nvSpPr>
          <p:cNvPr id="6" name="TextBox 5"/>
          <p:cNvSpPr txBox="1"/>
          <p:nvPr/>
        </p:nvSpPr>
        <p:spPr>
          <a:xfrm>
            <a:off x="5105400" y="4873869"/>
            <a:ext cx="2971800" cy="923330"/>
          </a:xfrm>
          <a:prstGeom prst="rect">
            <a:avLst/>
          </a:prstGeom>
          <a:noFill/>
        </p:spPr>
        <p:txBody>
          <a:bodyPr wrap="square" rtlCol="0">
            <a:spAutoFit/>
          </a:bodyPr>
          <a:lstStyle/>
          <a:p>
            <a:r>
              <a:rPr lang="en-US" dirty="0"/>
              <a:t>NOTE: T2 values are unrelated to magnetic field strength.</a:t>
            </a:r>
          </a:p>
        </p:txBody>
      </p:sp>
    </p:spTree>
    <p:extLst>
      <p:ext uri="{BB962C8B-B14F-4D97-AF65-F5344CB8AC3E}">
        <p14:creationId xmlns:p14="http://schemas.microsoft.com/office/powerpoint/2010/main" val="32783553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T2*</a:t>
            </a:r>
          </a:p>
        </p:txBody>
      </p:sp>
      <p:sp>
        <p:nvSpPr>
          <p:cNvPr id="3" name="Content Placeholder 2"/>
          <p:cNvSpPr>
            <a:spLocks noGrp="1"/>
          </p:cNvSpPr>
          <p:nvPr>
            <p:ph idx="1"/>
          </p:nvPr>
        </p:nvSpPr>
        <p:spPr>
          <a:xfrm>
            <a:off x="152400" y="990601"/>
            <a:ext cx="8839200" cy="1600199"/>
          </a:xfrm>
        </p:spPr>
        <p:txBody>
          <a:bodyPr>
            <a:normAutofit fontScale="70000" lnSpcReduction="20000"/>
          </a:bodyPr>
          <a:lstStyle/>
          <a:p>
            <a:pPr marL="0" indent="0">
              <a:buNone/>
            </a:pPr>
            <a:r>
              <a:rPr lang="en-US" dirty="0">
                <a:solidFill>
                  <a:schemeClr val="tx2">
                    <a:lumMod val="60000"/>
                    <a:lumOff val="40000"/>
                  </a:schemeClr>
                </a:solidFill>
              </a:rPr>
              <a:t>In a perfect magnet, T2 would always happens the same. In the real world, magnets have imperfections and </a:t>
            </a:r>
            <a:r>
              <a:rPr lang="en-US" dirty="0" err="1">
                <a:solidFill>
                  <a:schemeClr val="tx2">
                    <a:lumMod val="60000"/>
                    <a:lumOff val="40000"/>
                  </a:schemeClr>
                </a:solidFill>
              </a:rPr>
              <a:t>inhomogeneities</a:t>
            </a:r>
            <a:r>
              <a:rPr lang="en-US" dirty="0">
                <a:solidFill>
                  <a:schemeClr val="tx2">
                    <a:lumMod val="60000"/>
                    <a:lumOff val="40000"/>
                  </a:schemeClr>
                </a:solidFill>
              </a:rPr>
              <a:t>. Patients also might have metal implants. The sum of all these random effects is called T2* (T2 star) .</a:t>
            </a:r>
          </a:p>
          <a:p>
            <a:pPr marL="0" indent="0">
              <a:buNone/>
            </a:pPr>
            <a:r>
              <a:rPr lang="en-US" dirty="0">
                <a:solidFill>
                  <a:schemeClr val="tx2">
                    <a:lumMod val="60000"/>
                    <a:lumOff val="40000"/>
                  </a:schemeClr>
                </a:solidFill>
              </a:rPr>
              <a:t>T2* is in reality, faster than T2.</a:t>
            </a:r>
          </a:p>
        </p:txBody>
      </p:sp>
      <p:pic>
        <p:nvPicPr>
          <p:cNvPr id="7170" name="Picture 2" descr="http://www.simplyphysics.com/resources/page2_9b.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9400" y="2819400"/>
            <a:ext cx="3390900" cy="229552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7085001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Spin Echo (SE)</a:t>
            </a:r>
          </a:p>
        </p:txBody>
      </p:sp>
      <p:sp>
        <p:nvSpPr>
          <p:cNvPr id="3" name="Content Placeholder 2"/>
          <p:cNvSpPr>
            <a:spLocks noGrp="1"/>
          </p:cNvSpPr>
          <p:nvPr>
            <p:ph idx="1"/>
          </p:nvPr>
        </p:nvSpPr>
        <p:spPr>
          <a:xfrm>
            <a:off x="152400" y="990601"/>
            <a:ext cx="8839200" cy="2209800"/>
          </a:xfrm>
        </p:spPr>
        <p:txBody>
          <a:bodyPr>
            <a:normAutofit fontScale="62500" lnSpcReduction="20000"/>
          </a:bodyPr>
          <a:lstStyle/>
          <a:p>
            <a:r>
              <a:rPr lang="en-US" dirty="0">
                <a:solidFill>
                  <a:schemeClr val="tx2">
                    <a:lumMod val="60000"/>
                    <a:lumOff val="40000"/>
                  </a:schemeClr>
                </a:solidFill>
              </a:rPr>
              <a:t>The simplest form of a scan is a spin echo.</a:t>
            </a:r>
          </a:p>
          <a:p>
            <a:r>
              <a:rPr lang="en-US" dirty="0">
                <a:solidFill>
                  <a:schemeClr val="tx2">
                    <a:lumMod val="60000"/>
                    <a:lumOff val="40000"/>
                  </a:schemeClr>
                </a:solidFill>
              </a:rPr>
              <a:t>It consists of a 90</a:t>
            </a:r>
            <a:r>
              <a:rPr lang="en-US" baseline="30000" dirty="0">
                <a:solidFill>
                  <a:schemeClr val="tx2">
                    <a:lumMod val="60000"/>
                    <a:lumOff val="40000"/>
                  </a:schemeClr>
                </a:solidFill>
              </a:rPr>
              <a:t>o</a:t>
            </a:r>
            <a:r>
              <a:rPr lang="en-US" dirty="0">
                <a:solidFill>
                  <a:schemeClr val="tx2">
                    <a:lumMod val="60000"/>
                    <a:lumOff val="40000"/>
                  </a:schemeClr>
                </a:solidFill>
              </a:rPr>
              <a:t> pulse followed by a 180</a:t>
            </a:r>
            <a:r>
              <a:rPr lang="en-US" baseline="30000" dirty="0">
                <a:solidFill>
                  <a:schemeClr val="tx2">
                    <a:lumMod val="60000"/>
                    <a:lumOff val="40000"/>
                  </a:schemeClr>
                </a:solidFill>
              </a:rPr>
              <a:t>o</a:t>
            </a:r>
            <a:r>
              <a:rPr lang="en-US" dirty="0">
                <a:solidFill>
                  <a:schemeClr val="tx2">
                    <a:lumMod val="60000"/>
                    <a:lumOff val="40000"/>
                  </a:schemeClr>
                </a:solidFill>
              </a:rPr>
              <a:t> pulse. Several hundreds of them one right after the other.</a:t>
            </a:r>
          </a:p>
          <a:p>
            <a:r>
              <a:rPr lang="en-US" dirty="0">
                <a:solidFill>
                  <a:schemeClr val="tx2">
                    <a:lumMod val="60000"/>
                    <a:lumOff val="40000"/>
                  </a:schemeClr>
                </a:solidFill>
              </a:rPr>
              <a:t>The delay between the 90</a:t>
            </a:r>
            <a:r>
              <a:rPr lang="en-US" baseline="30000" dirty="0">
                <a:solidFill>
                  <a:schemeClr val="tx2">
                    <a:lumMod val="60000"/>
                    <a:lumOff val="40000"/>
                  </a:schemeClr>
                </a:solidFill>
              </a:rPr>
              <a:t>o </a:t>
            </a:r>
            <a:r>
              <a:rPr lang="en-US" dirty="0">
                <a:solidFill>
                  <a:schemeClr val="tx2">
                    <a:lumMod val="60000"/>
                    <a:lumOff val="40000"/>
                  </a:schemeClr>
                </a:solidFill>
              </a:rPr>
              <a:t>pulse and the time the echo occurs is called </a:t>
            </a:r>
            <a:r>
              <a:rPr lang="en-US" b="1" dirty="0">
                <a:solidFill>
                  <a:schemeClr val="tx2">
                    <a:lumMod val="60000"/>
                    <a:lumOff val="40000"/>
                  </a:schemeClr>
                </a:solidFill>
              </a:rPr>
              <a:t>TE </a:t>
            </a:r>
            <a:r>
              <a:rPr lang="en-US" dirty="0">
                <a:solidFill>
                  <a:schemeClr val="tx2">
                    <a:lumMod val="60000"/>
                    <a:lumOff val="40000"/>
                  </a:schemeClr>
                </a:solidFill>
              </a:rPr>
              <a:t>or </a:t>
            </a:r>
            <a:r>
              <a:rPr lang="en-US" b="1" dirty="0">
                <a:solidFill>
                  <a:schemeClr val="tx2">
                    <a:lumMod val="60000"/>
                    <a:lumOff val="40000"/>
                  </a:schemeClr>
                </a:solidFill>
              </a:rPr>
              <a:t>echo time</a:t>
            </a:r>
            <a:r>
              <a:rPr lang="en-US" dirty="0">
                <a:solidFill>
                  <a:schemeClr val="tx2">
                    <a:lumMod val="60000"/>
                    <a:lumOff val="40000"/>
                  </a:schemeClr>
                </a:solidFill>
              </a:rPr>
              <a:t>.</a:t>
            </a:r>
          </a:p>
          <a:p>
            <a:r>
              <a:rPr lang="en-US" dirty="0">
                <a:solidFill>
                  <a:schemeClr val="tx2">
                    <a:lumMod val="60000"/>
                    <a:lumOff val="40000"/>
                  </a:schemeClr>
                </a:solidFill>
              </a:rPr>
              <a:t>The time delay between the 90</a:t>
            </a:r>
            <a:r>
              <a:rPr lang="en-US" baseline="30000" dirty="0">
                <a:solidFill>
                  <a:schemeClr val="tx2">
                    <a:lumMod val="60000"/>
                    <a:lumOff val="40000"/>
                  </a:schemeClr>
                </a:solidFill>
              </a:rPr>
              <a:t>o </a:t>
            </a:r>
            <a:r>
              <a:rPr lang="en-US" dirty="0">
                <a:solidFill>
                  <a:schemeClr val="tx2">
                    <a:lumMod val="60000"/>
                    <a:lumOff val="40000"/>
                  </a:schemeClr>
                </a:solidFill>
              </a:rPr>
              <a:t>and 180</a:t>
            </a:r>
            <a:r>
              <a:rPr lang="en-US" baseline="30000" dirty="0">
                <a:solidFill>
                  <a:schemeClr val="tx2">
                    <a:lumMod val="60000"/>
                    <a:lumOff val="40000"/>
                  </a:schemeClr>
                </a:solidFill>
              </a:rPr>
              <a:t>o</a:t>
            </a:r>
            <a:r>
              <a:rPr lang="en-US" dirty="0">
                <a:solidFill>
                  <a:schemeClr val="tx2">
                    <a:lumMod val="60000"/>
                    <a:lumOff val="40000"/>
                  </a:schemeClr>
                </a:solidFill>
              </a:rPr>
              <a:t> pulse is TE/2.</a:t>
            </a:r>
          </a:p>
          <a:p>
            <a:r>
              <a:rPr lang="en-US" dirty="0">
                <a:solidFill>
                  <a:schemeClr val="tx2">
                    <a:lumMod val="60000"/>
                    <a:lumOff val="40000"/>
                  </a:schemeClr>
                </a:solidFill>
              </a:rPr>
              <a:t>The time between successive 90</a:t>
            </a:r>
            <a:r>
              <a:rPr lang="en-US" baseline="30000" dirty="0">
                <a:solidFill>
                  <a:schemeClr val="tx2">
                    <a:lumMod val="60000"/>
                    <a:lumOff val="40000"/>
                  </a:schemeClr>
                </a:solidFill>
              </a:rPr>
              <a:t>o</a:t>
            </a:r>
            <a:r>
              <a:rPr lang="en-US" dirty="0">
                <a:solidFill>
                  <a:schemeClr val="tx2">
                    <a:lumMod val="60000"/>
                    <a:lumOff val="40000"/>
                  </a:schemeClr>
                </a:solidFill>
              </a:rPr>
              <a:t> pulses is called </a:t>
            </a:r>
            <a:r>
              <a:rPr lang="en-US" b="1" dirty="0">
                <a:solidFill>
                  <a:schemeClr val="tx2">
                    <a:lumMod val="60000"/>
                    <a:lumOff val="40000"/>
                  </a:schemeClr>
                </a:solidFill>
              </a:rPr>
              <a:t>TR </a:t>
            </a:r>
            <a:r>
              <a:rPr lang="en-US" dirty="0">
                <a:solidFill>
                  <a:schemeClr val="tx2">
                    <a:lumMod val="60000"/>
                    <a:lumOff val="40000"/>
                  </a:schemeClr>
                </a:solidFill>
              </a:rPr>
              <a:t> or </a:t>
            </a:r>
            <a:r>
              <a:rPr lang="en-US" b="1" dirty="0">
                <a:solidFill>
                  <a:schemeClr val="tx2">
                    <a:lumMod val="60000"/>
                    <a:lumOff val="40000"/>
                  </a:schemeClr>
                </a:solidFill>
              </a:rPr>
              <a:t>repetition time</a:t>
            </a:r>
            <a:r>
              <a:rPr lang="en-US" dirty="0">
                <a:solidFill>
                  <a:schemeClr val="tx2">
                    <a:lumMod val="60000"/>
                    <a:lumOff val="40000"/>
                  </a:schemeClr>
                </a:solidFill>
              </a:rPr>
              <a:t>.</a:t>
            </a:r>
          </a:p>
        </p:txBody>
      </p:sp>
      <p:pic>
        <p:nvPicPr>
          <p:cNvPr id="9218" name="Picture 2" descr="http://www.mrinotes.com/images/setime.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3657600"/>
            <a:ext cx="3152775" cy="2257426"/>
          </a:xfrm>
          <a:prstGeom prst="rect">
            <a:avLst/>
          </a:prstGeom>
          <a:noFill/>
          <a:extLst>
            <a:ext uri="{909E8E84-426E-40dd-AFC4-6F175D3DCCD1}">
              <a14:hiddenFill xmlns:a14="http://schemas.microsoft.com/office/drawing/2010/main" xmlns="">
                <a:solidFill>
                  <a:srgbClr val="FFFFFF"/>
                </a:solidFill>
              </a14:hiddenFill>
            </a:ext>
          </a:extLst>
        </p:spPr>
      </p:pic>
      <p:pic>
        <p:nvPicPr>
          <p:cNvPr id="9220" name="Picture 4" descr="http://www.mrinotes.com/images/spintime2.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3000" y="3695700"/>
            <a:ext cx="3105150" cy="224790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0302786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What’s an echo then?</a:t>
            </a:r>
          </a:p>
        </p:txBody>
      </p:sp>
      <p:sp>
        <p:nvSpPr>
          <p:cNvPr id="3" name="Content Placeholder 2"/>
          <p:cNvSpPr>
            <a:spLocks noGrp="1"/>
          </p:cNvSpPr>
          <p:nvPr>
            <p:ph idx="1"/>
          </p:nvPr>
        </p:nvSpPr>
        <p:spPr>
          <a:xfrm>
            <a:off x="152400" y="838200"/>
            <a:ext cx="3810000" cy="2895600"/>
          </a:xfrm>
        </p:spPr>
        <p:txBody>
          <a:bodyPr>
            <a:normAutofit fontScale="55000" lnSpcReduction="20000"/>
          </a:bodyPr>
          <a:lstStyle/>
          <a:p>
            <a:r>
              <a:rPr lang="en-US" dirty="0">
                <a:solidFill>
                  <a:schemeClr val="tx2">
                    <a:lumMod val="60000"/>
                    <a:lumOff val="40000"/>
                  </a:schemeClr>
                </a:solidFill>
              </a:rPr>
              <a:t>We don’t really work with the FID. </a:t>
            </a:r>
          </a:p>
          <a:p>
            <a:r>
              <a:rPr lang="en-US" dirty="0">
                <a:solidFill>
                  <a:schemeClr val="tx2">
                    <a:lumMod val="60000"/>
                    <a:lumOff val="40000"/>
                  </a:schemeClr>
                </a:solidFill>
              </a:rPr>
              <a:t>To be able to create more signal we use the 180-degree pulse to rephase the protons as these are dephasing. </a:t>
            </a:r>
          </a:p>
          <a:p>
            <a:r>
              <a:rPr lang="en-US" dirty="0">
                <a:solidFill>
                  <a:schemeClr val="tx2">
                    <a:lumMod val="60000"/>
                    <a:lumOff val="40000"/>
                  </a:schemeClr>
                </a:solidFill>
              </a:rPr>
              <a:t>The 180-degree pulse is also called </a:t>
            </a:r>
            <a:r>
              <a:rPr lang="en-US" b="1" dirty="0">
                <a:solidFill>
                  <a:schemeClr val="tx2">
                    <a:lumMod val="60000"/>
                    <a:lumOff val="40000"/>
                  </a:schemeClr>
                </a:solidFill>
              </a:rPr>
              <a:t>refocusing pulse.</a:t>
            </a:r>
            <a:r>
              <a:rPr lang="en-US" dirty="0">
                <a:solidFill>
                  <a:schemeClr val="tx2">
                    <a:lumMod val="60000"/>
                    <a:lumOff val="40000"/>
                  </a:schemeClr>
                </a:solidFill>
              </a:rPr>
              <a:t> </a:t>
            </a:r>
          </a:p>
          <a:p>
            <a:r>
              <a:rPr lang="en-US" dirty="0">
                <a:solidFill>
                  <a:schemeClr val="tx2">
                    <a:lumMod val="60000"/>
                    <a:lumOff val="40000"/>
                  </a:schemeClr>
                </a:solidFill>
              </a:rPr>
              <a:t>This rephasing and dephasing creates the usable signal called an </a:t>
            </a:r>
            <a:r>
              <a:rPr lang="en-US" b="1" dirty="0">
                <a:solidFill>
                  <a:schemeClr val="tx2">
                    <a:lumMod val="60000"/>
                    <a:lumOff val="40000"/>
                  </a:schemeClr>
                </a:solidFill>
              </a:rPr>
              <a:t>echo</a:t>
            </a:r>
            <a:r>
              <a:rPr lang="en-US" dirty="0">
                <a:solidFill>
                  <a:schemeClr val="tx2">
                    <a:lumMod val="60000"/>
                    <a:lumOff val="40000"/>
                  </a:schemeClr>
                </a:solidFill>
              </a:rPr>
              <a:t>, a mirror FID.</a:t>
            </a:r>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89538" y="3810000"/>
            <a:ext cx="3048000" cy="223953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0244" name="Picture 4" descr="http://www.simplyphysics.com/resources/page2_10b.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1600" y="3913840"/>
            <a:ext cx="2895600" cy="2031856"/>
          </a:xfrm>
          <a:prstGeom prst="rect">
            <a:avLst/>
          </a:prstGeom>
          <a:noFill/>
          <a:extLst>
            <a:ext uri="{909E8E84-426E-40dd-AFC4-6F175D3DCCD1}">
              <a14:hiddenFill xmlns:a14="http://schemas.microsoft.com/office/drawing/2010/main" xmlns="">
                <a:solidFill>
                  <a:srgbClr val="FFFFFF"/>
                </a:solidFill>
              </a14:hiddenFill>
            </a:ext>
          </a:extLst>
        </p:spPr>
      </p:pic>
      <p:pic>
        <p:nvPicPr>
          <p:cNvPr id="10246" name="Picture 6" descr="http://www.mrinotes.com/images/setimeannotatec.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3400" y="530557"/>
            <a:ext cx="4114800" cy="244124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8376923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Spatial Localization</a:t>
            </a:r>
          </a:p>
        </p:txBody>
      </p:sp>
      <p:sp>
        <p:nvSpPr>
          <p:cNvPr id="3" name="Content Placeholder 2"/>
          <p:cNvSpPr>
            <a:spLocks noGrp="1"/>
          </p:cNvSpPr>
          <p:nvPr>
            <p:ph idx="1"/>
          </p:nvPr>
        </p:nvSpPr>
        <p:spPr/>
        <p:txBody>
          <a:bodyPr/>
          <a:lstStyle/>
          <a:p>
            <a:r>
              <a:rPr lang="en-US" dirty="0">
                <a:solidFill>
                  <a:schemeClr val="tx2">
                    <a:lumMod val="60000"/>
                    <a:lumOff val="40000"/>
                  </a:schemeClr>
                </a:solidFill>
              </a:rPr>
              <a:t>We know then what happens with the signal but, how do we get the information about where that image is from?</a:t>
            </a:r>
          </a:p>
          <a:p>
            <a:r>
              <a:rPr lang="en-US" dirty="0">
                <a:solidFill>
                  <a:schemeClr val="tx2">
                    <a:lumMod val="60000"/>
                    <a:lumOff val="40000"/>
                  </a:schemeClr>
                </a:solidFill>
              </a:rPr>
              <a:t>We use the gradients to add the spatial localization to the image.</a:t>
            </a:r>
          </a:p>
          <a:p>
            <a:pPr marL="0" indent="0">
              <a:buNone/>
            </a:pPr>
            <a:endParaRPr lang="en-US" dirty="0">
              <a:solidFill>
                <a:schemeClr val="tx2">
                  <a:lumMod val="60000"/>
                  <a:lumOff val="40000"/>
                </a:schemeClr>
              </a:solidFill>
            </a:endParaRPr>
          </a:p>
        </p:txBody>
      </p:sp>
    </p:spTree>
    <p:extLst>
      <p:ext uri="{BB962C8B-B14F-4D97-AF65-F5344CB8AC3E}">
        <p14:creationId xmlns:p14="http://schemas.microsoft.com/office/powerpoint/2010/main" val="35551989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14401"/>
            <a:ext cx="8839200" cy="2133599"/>
          </a:xfrm>
        </p:spPr>
        <p:txBody>
          <a:bodyPr>
            <a:normAutofit fontScale="62500" lnSpcReduction="20000"/>
          </a:bodyPr>
          <a:lstStyle/>
          <a:p>
            <a:r>
              <a:rPr lang="en-US" dirty="0">
                <a:solidFill>
                  <a:schemeClr val="tx2">
                    <a:lumMod val="60000"/>
                    <a:lumOff val="40000"/>
                  </a:schemeClr>
                </a:solidFill>
              </a:rPr>
              <a:t>The </a:t>
            </a:r>
            <a:r>
              <a:rPr lang="en-US" b="1" u="sng" dirty="0">
                <a:solidFill>
                  <a:schemeClr val="tx2">
                    <a:lumMod val="60000"/>
                    <a:lumOff val="40000"/>
                  </a:schemeClr>
                </a:solidFill>
              </a:rPr>
              <a:t>slice-select gradient</a:t>
            </a:r>
            <a:r>
              <a:rPr lang="en-US" u="sng" dirty="0">
                <a:solidFill>
                  <a:schemeClr val="tx2">
                    <a:lumMod val="60000"/>
                    <a:lumOff val="40000"/>
                  </a:schemeClr>
                </a:solidFill>
              </a:rPr>
              <a:t> </a:t>
            </a:r>
            <a:r>
              <a:rPr lang="en-US" dirty="0">
                <a:solidFill>
                  <a:schemeClr val="tx2">
                    <a:lumMod val="60000"/>
                    <a:lumOff val="40000"/>
                  </a:schemeClr>
                </a:solidFill>
              </a:rPr>
              <a:t>determines which protons are going to be excited, therefore, it needs to be turned on during any of the excitation pulses, i.e. 90 and 180-degree pulses.</a:t>
            </a:r>
          </a:p>
          <a:p>
            <a:r>
              <a:rPr lang="en-US" dirty="0">
                <a:solidFill>
                  <a:schemeClr val="tx2">
                    <a:lumMod val="60000"/>
                    <a:lumOff val="40000"/>
                  </a:schemeClr>
                </a:solidFill>
              </a:rPr>
              <a:t>The </a:t>
            </a:r>
            <a:r>
              <a:rPr lang="en-US" b="1" u="sng" dirty="0">
                <a:solidFill>
                  <a:schemeClr val="tx2">
                    <a:lumMod val="60000"/>
                    <a:lumOff val="40000"/>
                  </a:schemeClr>
                </a:solidFill>
              </a:rPr>
              <a:t>phase-encoding gradient</a:t>
            </a:r>
            <a:r>
              <a:rPr lang="en-US" dirty="0">
                <a:solidFill>
                  <a:schemeClr val="tx2">
                    <a:lumMod val="60000"/>
                    <a:lumOff val="40000"/>
                  </a:schemeClr>
                </a:solidFill>
              </a:rPr>
              <a:t> is turned on to add a phase shift. This happens while we are waiting for the echo. The protons will keep that phase shift.</a:t>
            </a:r>
          </a:p>
          <a:p>
            <a:r>
              <a:rPr lang="en-US" dirty="0">
                <a:solidFill>
                  <a:schemeClr val="tx2">
                    <a:lumMod val="60000"/>
                    <a:lumOff val="40000"/>
                  </a:schemeClr>
                </a:solidFill>
              </a:rPr>
              <a:t>At the time of echo, we then turn on the </a:t>
            </a:r>
            <a:r>
              <a:rPr lang="en-US" b="1" u="sng" dirty="0">
                <a:solidFill>
                  <a:schemeClr val="tx2">
                    <a:lumMod val="60000"/>
                    <a:lumOff val="40000"/>
                  </a:schemeClr>
                </a:solidFill>
              </a:rPr>
              <a:t>frequency-encoding</a:t>
            </a:r>
            <a:r>
              <a:rPr lang="en-US" b="1" dirty="0">
                <a:solidFill>
                  <a:schemeClr val="tx2">
                    <a:lumMod val="60000"/>
                    <a:lumOff val="40000"/>
                  </a:schemeClr>
                </a:solidFill>
              </a:rPr>
              <a:t>  </a:t>
            </a:r>
            <a:r>
              <a:rPr lang="en-US" dirty="0">
                <a:solidFill>
                  <a:schemeClr val="tx2">
                    <a:lumMod val="60000"/>
                    <a:lumOff val="40000"/>
                  </a:schemeClr>
                </a:solidFill>
              </a:rPr>
              <a:t>or</a:t>
            </a:r>
            <a:r>
              <a:rPr lang="en-US" b="1" dirty="0">
                <a:solidFill>
                  <a:schemeClr val="tx2">
                    <a:lumMod val="60000"/>
                    <a:lumOff val="40000"/>
                  </a:schemeClr>
                </a:solidFill>
              </a:rPr>
              <a:t> </a:t>
            </a:r>
            <a:r>
              <a:rPr lang="en-US" b="1" u="sng" dirty="0">
                <a:solidFill>
                  <a:schemeClr val="tx2">
                    <a:lumMod val="60000"/>
                    <a:lumOff val="40000"/>
                  </a:schemeClr>
                </a:solidFill>
              </a:rPr>
              <a:t>readout gradient</a:t>
            </a:r>
            <a:r>
              <a:rPr lang="en-US" dirty="0">
                <a:solidFill>
                  <a:schemeClr val="tx2">
                    <a:lumMod val="60000"/>
                    <a:lumOff val="40000"/>
                  </a:schemeClr>
                </a:solidFill>
              </a:rPr>
              <a:t>, since we need the precession frequencies to be altered to read them.</a:t>
            </a:r>
            <a:endParaRPr lang="en-US" b="1" u="sng" dirty="0">
              <a:solidFill>
                <a:schemeClr val="tx2">
                  <a:lumMod val="60000"/>
                  <a:lumOff val="40000"/>
                </a:schemeClr>
              </a:solidFill>
            </a:endParaRPr>
          </a:p>
        </p:txBody>
      </p:sp>
      <p:sp>
        <p:nvSpPr>
          <p:cNvPr id="4" name="Title 1"/>
          <p:cNvSpPr>
            <a:spLocks noGrp="1"/>
          </p:cNvSpPr>
          <p:nvPr>
            <p:ph type="title"/>
          </p:nvPr>
        </p:nvSpPr>
        <p:spPr/>
        <p:txBody>
          <a:bodyPr/>
          <a:lstStyle/>
          <a:p>
            <a:r>
              <a:rPr lang="en-US" dirty="0">
                <a:solidFill>
                  <a:schemeClr val="accent1">
                    <a:lumMod val="75000"/>
                  </a:schemeClr>
                </a:solidFill>
              </a:rPr>
              <a:t>Spatial Localization</a:t>
            </a:r>
          </a:p>
        </p:txBody>
      </p:sp>
      <p:pic>
        <p:nvPicPr>
          <p:cNvPr id="11266" name="Picture 2" descr="Spin echo pulse diagra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97130" y="2971800"/>
            <a:ext cx="4238625" cy="3276601"/>
          </a:xfrm>
          <a:prstGeom prst="rect">
            <a:avLst/>
          </a:prstGeom>
          <a:noFill/>
          <a:extLst>
            <a:ext uri="{909E8E84-426E-40dd-AFC4-6F175D3DCCD1}">
              <a14:hiddenFill xmlns:a14="http://schemas.microsoft.com/office/drawing/2010/main" xmlns="">
                <a:solidFill>
                  <a:srgbClr val="FFFFFF"/>
                </a:solidFill>
              </a14:hiddenFill>
            </a:ext>
          </a:extLst>
        </p:spPr>
      </p:pic>
      <p:pic>
        <p:nvPicPr>
          <p:cNvPr id="1126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047" y="3137168"/>
            <a:ext cx="3124200" cy="294586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9212880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1524000"/>
          </a:xfrm>
        </p:spPr>
        <p:txBody>
          <a:bodyPr>
            <a:normAutofit fontScale="62500" lnSpcReduction="20000"/>
          </a:bodyPr>
          <a:lstStyle/>
          <a:p>
            <a:pPr marL="0" indent="0">
              <a:buNone/>
            </a:pPr>
            <a:r>
              <a:rPr lang="en-US" dirty="0">
                <a:solidFill>
                  <a:schemeClr val="tx2">
                    <a:lumMod val="60000"/>
                    <a:lumOff val="40000"/>
                  </a:schemeClr>
                </a:solidFill>
              </a:rPr>
              <a:t>Slice-select:</a:t>
            </a:r>
          </a:p>
          <a:p>
            <a:pPr>
              <a:buFontTx/>
              <a:buChar char="-"/>
            </a:pPr>
            <a:r>
              <a:rPr lang="en-US" dirty="0">
                <a:solidFill>
                  <a:schemeClr val="tx2">
                    <a:lumMod val="60000"/>
                    <a:lumOff val="40000"/>
                  </a:schemeClr>
                </a:solidFill>
              </a:rPr>
              <a:t>We can change the slice thickness by either changing the gradient field or changing the transmitting frequency bandwidth (BW).</a:t>
            </a:r>
          </a:p>
          <a:p>
            <a:pPr>
              <a:buFontTx/>
              <a:buChar char="-"/>
            </a:pPr>
            <a:r>
              <a:rPr lang="en-US" dirty="0">
                <a:solidFill>
                  <a:schemeClr val="tx2">
                    <a:lumMod val="60000"/>
                    <a:lumOff val="40000"/>
                  </a:schemeClr>
                </a:solidFill>
              </a:rPr>
              <a:t>Therefore, lower volumes and smaller slices will stress the gradient being used as slice.</a:t>
            </a:r>
          </a:p>
        </p:txBody>
      </p:sp>
      <p:sp>
        <p:nvSpPr>
          <p:cNvPr id="4" name="Title 1"/>
          <p:cNvSpPr>
            <a:spLocks noGrp="1"/>
          </p:cNvSpPr>
          <p:nvPr>
            <p:ph type="title"/>
          </p:nvPr>
        </p:nvSpPr>
        <p:spPr/>
        <p:txBody>
          <a:bodyPr/>
          <a:lstStyle/>
          <a:p>
            <a:r>
              <a:rPr lang="en-US" dirty="0">
                <a:solidFill>
                  <a:schemeClr val="accent1">
                    <a:lumMod val="75000"/>
                  </a:schemeClr>
                </a:solidFill>
              </a:rPr>
              <a:t>Spatial Localization</a:t>
            </a:r>
          </a:p>
        </p:txBody>
      </p:sp>
      <p:pic>
        <p:nvPicPr>
          <p:cNvPr id="2048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6338" y="2819400"/>
            <a:ext cx="6791325" cy="32004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472918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1219200"/>
          </a:xfrm>
        </p:spPr>
        <p:txBody>
          <a:bodyPr/>
          <a:lstStyle/>
          <a:p>
            <a:pPr marL="0" indent="0">
              <a:buNone/>
            </a:pPr>
            <a:r>
              <a:rPr lang="en-US" dirty="0">
                <a:solidFill>
                  <a:schemeClr val="tx2">
                    <a:lumMod val="60000"/>
                    <a:lumOff val="40000"/>
                  </a:schemeClr>
                </a:solidFill>
              </a:rPr>
              <a:t>The physical gradients assume different jobs depending on the scan plane that is being selected.</a:t>
            </a:r>
          </a:p>
        </p:txBody>
      </p:sp>
      <p:sp>
        <p:nvSpPr>
          <p:cNvPr id="4" name="Title 1"/>
          <p:cNvSpPr>
            <a:spLocks noGrp="1"/>
          </p:cNvSpPr>
          <p:nvPr>
            <p:ph type="title"/>
          </p:nvPr>
        </p:nvSpPr>
        <p:spPr/>
        <p:txBody>
          <a:bodyPr/>
          <a:lstStyle/>
          <a:p>
            <a:r>
              <a:rPr lang="en-US" dirty="0">
                <a:solidFill>
                  <a:schemeClr val="accent1">
                    <a:lumMod val="75000"/>
                  </a:schemeClr>
                </a:solidFill>
              </a:rPr>
              <a:t>Spatial Localization</a:t>
            </a:r>
          </a:p>
        </p:txBody>
      </p:sp>
      <p:sp>
        <p:nvSpPr>
          <p:cNvPr id="5" name="AutoShape 2" descr="Image result for scan plan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5" descr="Image result for scan plane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296" name="Picture 8" descr="Image result for scan plane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1200" y="2362200"/>
            <a:ext cx="5124450" cy="342900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8700506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618767065"/>
              </p:ext>
            </p:extLst>
          </p:nvPr>
        </p:nvGraphicFramePr>
        <p:xfrm>
          <a:off x="914400" y="990600"/>
          <a:ext cx="7576458" cy="2291080"/>
        </p:xfrm>
        <a:graphic>
          <a:graphicData uri="http://schemas.openxmlformats.org/drawingml/2006/table">
            <a:tbl>
              <a:tblPr firstRow="1" firstCol="1" bandRow="1">
                <a:tableStyleId>{5C22544A-7EE6-4342-B048-85BDC9FD1C3A}</a:tableStyleId>
              </a:tblPr>
              <a:tblGrid>
                <a:gridCol w="1262743">
                  <a:extLst>
                    <a:ext uri="{9D8B030D-6E8A-4147-A177-3AD203B41FA5}">
                      <a16:colId xmlns:a16="http://schemas.microsoft.com/office/drawing/2014/main" val="20000"/>
                    </a:ext>
                  </a:extLst>
                </a:gridCol>
                <a:gridCol w="1262743">
                  <a:extLst>
                    <a:ext uri="{9D8B030D-6E8A-4147-A177-3AD203B41FA5}">
                      <a16:colId xmlns:a16="http://schemas.microsoft.com/office/drawing/2014/main" val="20001"/>
                    </a:ext>
                  </a:extLst>
                </a:gridCol>
                <a:gridCol w="1262743">
                  <a:extLst>
                    <a:ext uri="{9D8B030D-6E8A-4147-A177-3AD203B41FA5}">
                      <a16:colId xmlns:a16="http://schemas.microsoft.com/office/drawing/2014/main" val="20002"/>
                    </a:ext>
                  </a:extLst>
                </a:gridCol>
                <a:gridCol w="1262743">
                  <a:extLst>
                    <a:ext uri="{9D8B030D-6E8A-4147-A177-3AD203B41FA5}">
                      <a16:colId xmlns:a16="http://schemas.microsoft.com/office/drawing/2014/main" val="20003"/>
                    </a:ext>
                  </a:extLst>
                </a:gridCol>
                <a:gridCol w="1262743">
                  <a:extLst>
                    <a:ext uri="{9D8B030D-6E8A-4147-A177-3AD203B41FA5}">
                      <a16:colId xmlns:a16="http://schemas.microsoft.com/office/drawing/2014/main" val="20004"/>
                    </a:ext>
                  </a:extLst>
                </a:gridCol>
                <a:gridCol w="1262743">
                  <a:extLst>
                    <a:ext uri="{9D8B030D-6E8A-4147-A177-3AD203B41FA5}">
                      <a16:colId xmlns:a16="http://schemas.microsoft.com/office/drawing/2014/main" val="20005"/>
                    </a:ext>
                  </a:extLst>
                </a:gridCol>
              </a:tblGrid>
              <a:tr h="370840">
                <a:tc>
                  <a:txBody>
                    <a:bodyPr/>
                    <a:lstStyle/>
                    <a:p>
                      <a:pPr algn="ctr"/>
                      <a:r>
                        <a:rPr lang="en-US" dirty="0"/>
                        <a:t>BODY</a:t>
                      </a:r>
                    </a:p>
                  </a:txBody>
                  <a:tcPr anchor="ctr">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dirty="0"/>
                        <a:t>SLICE</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Phase</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Direction</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Frequency</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Direction</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dirty="0"/>
                        <a:t>AXIAL</a:t>
                      </a:r>
                    </a:p>
                  </a:txBody>
                  <a:tcPr anchor="ctr">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Z</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Y</a:t>
                      </a:r>
                    </a:p>
                    <a:p>
                      <a:pPr algn="ctr"/>
                      <a:r>
                        <a:rPr lang="en-US" b="1" dirty="0"/>
                        <a:t>X</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b="1" dirty="0"/>
                        <a:t>AP</a:t>
                      </a:r>
                    </a:p>
                    <a:p>
                      <a:pPr algn="ctr"/>
                      <a:r>
                        <a:rPr lang="en-US" b="1" dirty="0"/>
                        <a:t>RL</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b="1" dirty="0"/>
                        <a:t>X</a:t>
                      </a:r>
                    </a:p>
                    <a:p>
                      <a:pPr algn="ctr"/>
                      <a:r>
                        <a:rPr lang="en-US" b="1" dirty="0"/>
                        <a:t>Y</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b="1" dirty="0"/>
                        <a:t>RL</a:t>
                      </a:r>
                    </a:p>
                    <a:p>
                      <a:pPr algn="ctr"/>
                      <a:r>
                        <a:rPr lang="en-US" b="1" dirty="0"/>
                        <a:t>AP</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370840">
                <a:tc>
                  <a:txBody>
                    <a:bodyPr/>
                    <a:lstStyle/>
                    <a:p>
                      <a:pPr algn="ctr"/>
                      <a:r>
                        <a:rPr lang="en-US" dirty="0"/>
                        <a:t>SAGITAL</a:t>
                      </a:r>
                    </a:p>
                  </a:txBody>
                  <a:tcPr anchor="ctr">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Y</a:t>
                      </a:r>
                    </a:p>
                    <a:p>
                      <a:pPr algn="ctr"/>
                      <a:r>
                        <a:rPr lang="en-US" b="1" dirty="0"/>
                        <a:t>Z</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AP</a:t>
                      </a:r>
                    </a:p>
                    <a:p>
                      <a:pPr algn="ctr"/>
                      <a:r>
                        <a:rPr lang="en-US" b="1" dirty="0"/>
                        <a:t>SI</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Z</a:t>
                      </a:r>
                    </a:p>
                    <a:p>
                      <a:pPr algn="ctr"/>
                      <a:r>
                        <a:rPr lang="en-US" b="1" dirty="0"/>
                        <a:t>Y</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SI</a:t>
                      </a:r>
                    </a:p>
                    <a:p>
                      <a:pPr algn="ctr"/>
                      <a:r>
                        <a:rPr lang="en-US" b="1" dirty="0"/>
                        <a:t>AP</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dirty="0"/>
                        <a:t>CORONAL</a:t>
                      </a:r>
                    </a:p>
                  </a:txBody>
                  <a:tcPr anchor="ctr">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b="1" dirty="0"/>
                        <a:t>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b="1" dirty="0"/>
                        <a:t>X</a:t>
                      </a:r>
                    </a:p>
                    <a:p>
                      <a:pPr algn="ctr"/>
                      <a:r>
                        <a:rPr lang="en-US" b="1" dirty="0"/>
                        <a:t>Z</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b="1" dirty="0"/>
                        <a:t>RL</a:t>
                      </a:r>
                    </a:p>
                    <a:p>
                      <a:pPr algn="ctr"/>
                      <a:r>
                        <a:rPr lang="en-US" b="1" dirty="0"/>
                        <a:t>SI</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b="1" dirty="0"/>
                        <a:t>Z</a:t>
                      </a:r>
                    </a:p>
                    <a:p>
                      <a:pPr algn="ctr"/>
                      <a:r>
                        <a:rPr lang="en-US" b="1" dirty="0"/>
                        <a:t>X</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b="1" dirty="0"/>
                        <a:t>SI</a:t>
                      </a:r>
                    </a:p>
                    <a:p>
                      <a:pPr algn="ctr"/>
                      <a:r>
                        <a:rPr lang="en-US" b="1" dirty="0"/>
                        <a:t>RL</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itle 1"/>
          <p:cNvSpPr>
            <a:spLocks noGrp="1"/>
          </p:cNvSpPr>
          <p:nvPr>
            <p:ph type="title"/>
          </p:nvPr>
        </p:nvSpPr>
        <p:spPr/>
        <p:txBody>
          <a:bodyPr/>
          <a:lstStyle/>
          <a:p>
            <a:r>
              <a:rPr lang="en-US" dirty="0">
                <a:solidFill>
                  <a:schemeClr val="accent1">
                    <a:lumMod val="75000"/>
                  </a:schemeClr>
                </a:solidFill>
              </a:rPr>
              <a:t>Spatial Localization</a:t>
            </a:r>
          </a:p>
        </p:txBody>
      </p:sp>
      <p:graphicFrame>
        <p:nvGraphicFramePr>
          <p:cNvPr id="7" name="Content Placeholder 4"/>
          <p:cNvGraphicFramePr>
            <a:graphicFrameLocks/>
          </p:cNvGraphicFramePr>
          <p:nvPr>
            <p:extLst>
              <p:ext uri="{D42A27DB-BD31-4B8C-83A1-F6EECF244321}">
                <p14:modId xmlns:p14="http://schemas.microsoft.com/office/powerpoint/2010/main" val="632740147"/>
              </p:ext>
            </p:extLst>
          </p:nvPr>
        </p:nvGraphicFramePr>
        <p:xfrm>
          <a:off x="914400" y="3352800"/>
          <a:ext cx="7576458" cy="2291080"/>
        </p:xfrm>
        <a:graphic>
          <a:graphicData uri="http://schemas.openxmlformats.org/drawingml/2006/table">
            <a:tbl>
              <a:tblPr firstRow="1" firstCol="1" bandRow="1">
                <a:tableStyleId>{5C22544A-7EE6-4342-B048-85BDC9FD1C3A}</a:tableStyleId>
              </a:tblPr>
              <a:tblGrid>
                <a:gridCol w="1262743">
                  <a:extLst>
                    <a:ext uri="{9D8B030D-6E8A-4147-A177-3AD203B41FA5}">
                      <a16:colId xmlns:a16="http://schemas.microsoft.com/office/drawing/2014/main" val="20000"/>
                    </a:ext>
                  </a:extLst>
                </a:gridCol>
                <a:gridCol w="1262743">
                  <a:extLst>
                    <a:ext uri="{9D8B030D-6E8A-4147-A177-3AD203B41FA5}">
                      <a16:colId xmlns:a16="http://schemas.microsoft.com/office/drawing/2014/main" val="20001"/>
                    </a:ext>
                  </a:extLst>
                </a:gridCol>
                <a:gridCol w="1262743">
                  <a:extLst>
                    <a:ext uri="{9D8B030D-6E8A-4147-A177-3AD203B41FA5}">
                      <a16:colId xmlns:a16="http://schemas.microsoft.com/office/drawing/2014/main" val="20002"/>
                    </a:ext>
                  </a:extLst>
                </a:gridCol>
                <a:gridCol w="1262743">
                  <a:extLst>
                    <a:ext uri="{9D8B030D-6E8A-4147-A177-3AD203B41FA5}">
                      <a16:colId xmlns:a16="http://schemas.microsoft.com/office/drawing/2014/main" val="20003"/>
                    </a:ext>
                  </a:extLst>
                </a:gridCol>
                <a:gridCol w="1262743">
                  <a:extLst>
                    <a:ext uri="{9D8B030D-6E8A-4147-A177-3AD203B41FA5}">
                      <a16:colId xmlns:a16="http://schemas.microsoft.com/office/drawing/2014/main" val="20004"/>
                    </a:ext>
                  </a:extLst>
                </a:gridCol>
                <a:gridCol w="1262743">
                  <a:extLst>
                    <a:ext uri="{9D8B030D-6E8A-4147-A177-3AD203B41FA5}">
                      <a16:colId xmlns:a16="http://schemas.microsoft.com/office/drawing/2014/main" val="20005"/>
                    </a:ext>
                  </a:extLst>
                </a:gridCol>
              </a:tblGrid>
              <a:tr h="370840">
                <a:tc>
                  <a:txBody>
                    <a:bodyPr/>
                    <a:lstStyle/>
                    <a:p>
                      <a:pPr algn="ctr"/>
                      <a:r>
                        <a:rPr lang="en-US" dirty="0"/>
                        <a:t>HEAD</a:t>
                      </a:r>
                    </a:p>
                  </a:txBody>
                  <a:tcPr anchor="ctr">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dirty="0"/>
                        <a:t>SLICE</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Phase</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Direction</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Frequency</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Direction</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dirty="0"/>
                        <a:t>AXIAL</a:t>
                      </a:r>
                    </a:p>
                  </a:txBody>
                  <a:tcPr anchor="ctr">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Z</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X</a:t>
                      </a:r>
                    </a:p>
                    <a:p>
                      <a:pPr algn="ctr"/>
                      <a:r>
                        <a:rPr lang="en-US" b="1" dirty="0"/>
                        <a:t>Y</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b="1" dirty="0"/>
                        <a:t>RL</a:t>
                      </a:r>
                    </a:p>
                    <a:p>
                      <a:pPr algn="ctr"/>
                      <a:r>
                        <a:rPr lang="en-US" b="1" dirty="0"/>
                        <a:t>AP</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b="1" dirty="0"/>
                        <a:t>Y</a:t>
                      </a:r>
                    </a:p>
                    <a:p>
                      <a:pPr algn="ctr"/>
                      <a:r>
                        <a:rPr lang="en-US" b="1" dirty="0"/>
                        <a:t>X</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b="1" dirty="0"/>
                        <a:t>AP</a:t>
                      </a:r>
                    </a:p>
                    <a:p>
                      <a:pPr algn="ctr"/>
                      <a:r>
                        <a:rPr lang="en-US" b="1"/>
                        <a:t>RL</a:t>
                      </a:r>
                      <a:endParaRPr lang="en-US" b="1" dirty="0"/>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370840">
                <a:tc>
                  <a:txBody>
                    <a:bodyPr/>
                    <a:lstStyle/>
                    <a:p>
                      <a:pPr algn="ctr"/>
                      <a:r>
                        <a:rPr lang="en-US" dirty="0"/>
                        <a:t>SAGITAL</a:t>
                      </a:r>
                    </a:p>
                  </a:txBody>
                  <a:tcPr anchor="ctr">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Y</a:t>
                      </a:r>
                    </a:p>
                    <a:p>
                      <a:pPr algn="ctr"/>
                      <a:r>
                        <a:rPr lang="en-US" b="1" dirty="0"/>
                        <a:t>Z</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AP</a:t>
                      </a:r>
                    </a:p>
                    <a:p>
                      <a:pPr algn="ctr"/>
                      <a:r>
                        <a:rPr lang="en-US" b="1" dirty="0"/>
                        <a:t>SI</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Z</a:t>
                      </a:r>
                    </a:p>
                    <a:p>
                      <a:pPr algn="ctr"/>
                      <a:r>
                        <a:rPr lang="en-US" b="1" dirty="0"/>
                        <a:t>Y</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SI</a:t>
                      </a:r>
                    </a:p>
                    <a:p>
                      <a:pPr algn="ctr"/>
                      <a:r>
                        <a:rPr lang="en-US" b="1" dirty="0"/>
                        <a:t>AP</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dirty="0"/>
                        <a:t>CORONAL</a:t>
                      </a:r>
                    </a:p>
                  </a:txBody>
                  <a:tcPr anchor="ctr">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b="1" dirty="0"/>
                        <a:t>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b="1" dirty="0"/>
                        <a:t>X</a:t>
                      </a:r>
                    </a:p>
                    <a:p>
                      <a:pPr algn="ctr"/>
                      <a:r>
                        <a:rPr lang="en-US" b="1" dirty="0"/>
                        <a:t>Z</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b="1" dirty="0"/>
                        <a:t>RL</a:t>
                      </a:r>
                    </a:p>
                    <a:p>
                      <a:pPr algn="ctr"/>
                      <a:r>
                        <a:rPr lang="en-US" b="1" dirty="0"/>
                        <a:t>SI</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b="1" dirty="0"/>
                        <a:t>Z</a:t>
                      </a:r>
                    </a:p>
                    <a:p>
                      <a:pPr algn="ctr"/>
                      <a:r>
                        <a:rPr lang="en-US" b="1" dirty="0"/>
                        <a:t>X</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b="1" dirty="0"/>
                        <a:t>SI</a:t>
                      </a:r>
                    </a:p>
                    <a:p>
                      <a:pPr algn="ctr"/>
                      <a:r>
                        <a:rPr lang="en-US" b="1" dirty="0"/>
                        <a:t>RL</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875492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Fourier Transform</a:t>
            </a:r>
          </a:p>
        </p:txBody>
      </p:sp>
      <p:sp>
        <p:nvSpPr>
          <p:cNvPr id="3" name="Content Placeholder 2"/>
          <p:cNvSpPr>
            <a:spLocks noGrp="1"/>
          </p:cNvSpPr>
          <p:nvPr>
            <p:ph idx="1"/>
          </p:nvPr>
        </p:nvSpPr>
        <p:spPr>
          <a:xfrm>
            <a:off x="152400" y="990600"/>
            <a:ext cx="5791200" cy="2305050"/>
          </a:xfrm>
        </p:spPr>
        <p:txBody>
          <a:bodyPr>
            <a:normAutofit fontScale="92500" lnSpcReduction="10000"/>
          </a:bodyPr>
          <a:lstStyle/>
          <a:p>
            <a:pPr marL="0" indent="0">
              <a:buNone/>
            </a:pPr>
            <a:r>
              <a:rPr lang="en-US" dirty="0">
                <a:solidFill>
                  <a:schemeClr val="tx2">
                    <a:lumMod val="60000"/>
                    <a:lumOff val="40000"/>
                  </a:schemeClr>
                </a:solidFill>
              </a:rPr>
              <a:t>Thanks to the French mathematician Joseph Fourier, we have algorithms that convert any waveform from the time domain into the frequency domain.</a:t>
            </a:r>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381000"/>
            <a:ext cx="2381250" cy="29146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3316" name="Picture 4" descr="http://www.mrinotes.com/images/ft.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3581400"/>
            <a:ext cx="3333750" cy="2381250"/>
          </a:xfrm>
          <a:prstGeom prst="rect">
            <a:avLst/>
          </a:prstGeom>
          <a:noFill/>
          <a:extLst>
            <a:ext uri="{909E8E84-426E-40dd-AFC4-6F175D3DCCD1}">
              <a14:hiddenFill xmlns:a14="http://schemas.microsoft.com/office/drawing/2010/main" xmlns="">
                <a:solidFill>
                  <a:srgbClr val="FFFFFF"/>
                </a:solidFill>
              </a14:hiddenFill>
            </a:ext>
          </a:extLst>
        </p:spPr>
      </p:pic>
      <p:sp>
        <p:nvSpPr>
          <p:cNvPr id="6" name="Content Placeholder 2"/>
          <p:cNvSpPr txBox="1">
            <a:spLocks/>
          </p:cNvSpPr>
          <p:nvPr/>
        </p:nvSpPr>
        <p:spPr>
          <a:xfrm>
            <a:off x="4724400" y="3632688"/>
            <a:ext cx="3752850" cy="230505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a:solidFill>
                  <a:schemeClr val="tx2">
                    <a:lumMod val="60000"/>
                    <a:lumOff val="40000"/>
                  </a:schemeClr>
                </a:solidFill>
              </a:rPr>
              <a:t>When the Fourier Transform (FT) operates in the one dimensional domain it is a 1-D FT.</a:t>
            </a:r>
          </a:p>
        </p:txBody>
      </p:sp>
    </p:spTree>
    <p:extLst>
      <p:ext uri="{BB962C8B-B14F-4D97-AF65-F5344CB8AC3E}">
        <p14:creationId xmlns:p14="http://schemas.microsoft.com/office/powerpoint/2010/main" val="1396544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2819399"/>
          </a:xfrm>
        </p:spPr>
        <p:txBody>
          <a:bodyPr>
            <a:normAutofit fontScale="85000" lnSpcReduction="10000"/>
          </a:bodyPr>
          <a:lstStyle/>
          <a:p>
            <a:pPr marL="0" indent="0">
              <a:buNone/>
            </a:pPr>
            <a:r>
              <a:rPr lang="en-US" dirty="0">
                <a:solidFill>
                  <a:schemeClr val="tx2">
                    <a:lumMod val="60000"/>
                    <a:lumOff val="40000"/>
                  </a:schemeClr>
                </a:solidFill>
              </a:rPr>
              <a:t>In a 2-D Fourier Transform, </a:t>
            </a:r>
            <a:r>
              <a:rPr lang="en-US" b="1" dirty="0">
                <a:solidFill>
                  <a:schemeClr val="tx2">
                    <a:lumMod val="60000"/>
                    <a:lumOff val="40000"/>
                  </a:schemeClr>
                </a:solidFill>
              </a:rPr>
              <a:t>raw data</a:t>
            </a:r>
            <a:r>
              <a:rPr lang="en-US" dirty="0">
                <a:solidFill>
                  <a:schemeClr val="tx2">
                    <a:lumMod val="60000"/>
                    <a:lumOff val="40000"/>
                  </a:schemeClr>
                </a:solidFill>
              </a:rPr>
              <a:t>, the collection of phase and frequency information, can be turned into 2D sine wave gratings that each have a particular amplitude and spatial frequency to form the images. With Fourier Transform we can turn raw data into and image or use Reverse Fourier Transform to decompose the image into the raw data. The frequency domain it is known as the </a:t>
            </a:r>
            <a:r>
              <a:rPr lang="en-US" b="1" dirty="0">
                <a:solidFill>
                  <a:schemeClr val="tx2">
                    <a:lumMod val="60000"/>
                    <a:lumOff val="40000"/>
                  </a:schemeClr>
                </a:solidFill>
              </a:rPr>
              <a:t>k-space.</a:t>
            </a:r>
          </a:p>
        </p:txBody>
      </p:sp>
      <p:sp>
        <p:nvSpPr>
          <p:cNvPr id="4" name="Title 1"/>
          <p:cNvSpPr>
            <a:spLocks noGrp="1"/>
          </p:cNvSpPr>
          <p:nvPr>
            <p:ph type="title"/>
          </p:nvPr>
        </p:nvSpPr>
        <p:spPr/>
        <p:txBody>
          <a:bodyPr/>
          <a:lstStyle/>
          <a:p>
            <a:r>
              <a:rPr lang="en-US" dirty="0">
                <a:solidFill>
                  <a:schemeClr val="accent1">
                    <a:lumMod val="75000"/>
                  </a:schemeClr>
                </a:solidFill>
              </a:rPr>
              <a:t>Fourier Transform</a:t>
            </a:r>
          </a:p>
        </p:txBody>
      </p:sp>
      <p:pic>
        <p:nvPicPr>
          <p:cNvPr id="15362" name="Picture 2" descr="http://www.mrinotes.com/images/kspcft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3716821"/>
            <a:ext cx="6400800" cy="258067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8850598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k-space</a:t>
            </a:r>
          </a:p>
        </p:txBody>
      </p:sp>
      <p:sp>
        <p:nvSpPr>
          <p:cNvPr id="3" name="Content Placeholder 2"/>
          <p:cNvSpPr>
            <a:spLocks noGrp="1"/>
          </p:cNvSpPr>
          <p:nvPr>
            <p:ph idx="1"/>
          </p:nvPr>
        </p:nvSpPr>
        <p:spPr>
          <a:xfrm>
            <a:off x="168088" y="914400"/>
            <a:ext cx="8839200" cy="1371600"/>
          </a:xfrm>
        </p:spPr>
        <p:txBody>
          <a:bodyPr>
            <a:normAutofit fontScale="92500" lnSpcReduction="20000"/>
          </a:bodyPr>
          <a:lstStyle/>
          <a:p>
            <a:r>
              <a:rPr lang="en-US" dirty="0">
                <a:solidFill>
                  <a:schemeClr val="tx2">
                    <a:lumMod val="60000"/>
                    <a:lumOff val="40000"/>
                  </a:schemeClr>
                </a:solidFill>
              </a:rPr>
              <a:t>It is a 2D plane with axes </a:t>
            </a:r>
            <a:r>
              <a:rPr lang="en-US" dirty="0" err="1">
                <a:solidFill>
                  <a:schemeClr val="tx2">
                    <a:lumMod val="60000"/>
                    <a:lumOff val="40000"/>
                  </a:schemeClr>
                </a:solidFill>
              </a:rPr>
              <a:t>kx</a:t>
            </a:r>
            <a:r>
              <a:rPr lang="en-US" dirty="0">
                <a:solidFill>
                  <a:schemeClr val="tx2">
                    <a:lumMod val="60000"/>
                    <a:lumOff val="40000"/>
                  </a:schemeClr>
                </a:solidFill>
              </a:rPr>
              <a:t> and </a:t>
            </a:r>
            <a:r>
              <a:rPr lang="en-US" dirty="0" err="1">
                <a:solidFill>
                  <a:schemeClr val="tx2">
                    <a:lumMod val="60000"/>
                    <a:lumOff val="40000"/>
                  </a:schemeClr>
                </a:solidFill>
              </a:rPr>
              <a:t>ky.</a:t>
            </a:r>
            <a:r>
              <a:rPr lang="en-US" dirty="0">
                <a:solidFill>
                  <a:schemeClr val="tx2">
                    <a:lumMod val="60000"/>
                    <a:lumOff val="40000"/>
                  </a:schemeClr>
                </a:solidFill>
              </a:rPr>
              <a:t> </a:t>
            </a:r>
          </a:p>
          <a:p>
            <a:r>
              <a:rPr lang="en-US" dirty="0">
                <a:solidFill>
                  <a:schemeClr val="tx2">
                    <a:lumMod val="60000"/>
                    <a:lumOff val="40000"/>
                  </a:schemeClr>
                </a:solidFill>
              </a:rPr>
              <a:t>Any point in the k-space corresponds to a particular 2D sinusoidal grating.</a:t>
            </a:r>
          </a:p>
        </p:txBody>
      </p:sp>
      <p:pic>
        <p:nvPicPr>
          <p:cNvPr id="1638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343" t="43077" r="61152" b="18462"/>
          <a:stretch/>
        </p:blipFill>
        <p:spPr bwMode="auto">
          <a:xfrm>
            <a:off x="1981200" y="2286000"/>
            <a:ext cx="4800600" cy="3508607"/>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TextBox 3"/>
          <p:cNvSpPr txBox="1"/>
          <p:nvPr/>
        </p:nvSpPr>
        <p:spPr>
          <a:xfrm>
            <a:off x="304800" y="5943600"/>
            <a:ext cx="8077200" cy="369332"/>
          </a:xfrm>
          <a:prstGeom prst="rect">
            <a:avLst/>
          </a:prstGeom>
          <a:noFill/>
        </p:spPr>
        <p:txBody>
          <a:bodyPr wrap="square" rtlCol="0">
            <a:spAutoFit/>
          </a:bodyPr>
          <a:lstStyle/>
          <a:p>
            <a:r>
              <a:rPr lang="en-US" dirty="0"/>
              <a:t>Note: Visit </a:t>
            </a:r>
            <a:r>
              <a:rPr lang="en-US" dirty="0">
                <a:hlinkClick r:id="rId3"/>
              </a:rPr>
              <a:t>http://www.mrinotes.com/</a:t>
            </a:r>
            <a:r>
              <a:rPr lang="en-US" dirty="0"/>
              <a:t> Chapter 3.4:k-space for image interaction</a:t>
            </a:r>
          </a:p>
        </p:txBody>
      </p:sp>
    </p:spTree>
    <p:extLst>
      <p:ext uri="{BB962C8B-B14F-4D97-AF65-F5344CB8AC3E}">
        <p14:creationId xmlns:p14="http://schemas.microsoft.com/office/powerpoint/2010/main" val="14906596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0" y="76200"/>
            <a:ext cx="9144000" cy="685800"/>
          </a:xfrm>
        </p:spPr>
        <p:txBody>
          <a:bodyPr anchor="ctr">
            <a:normAutofit/>
          </a:bodyPr>
          <a:lstStyle/>
          <a:p>
            <a:r>
              <a:rPr lang="en-US"/>
              <a:t>k-space</a:t>
            </a:r>
          </a:p>
        </p:txBody>
      </p:sp>
      <p:sp>
        <p:nvSpPr>
          <p:cNvPr id="3" name="Content Placeholder 2"/>
          <p:cNvSpPr>
            <a:spLocks noGrp="1"/>
          </p:cNvSpPr>
          <p:nvPr>
            <p:ph sz="half" idx="1"/>
          </p:nvPr>
        </p:nvSpPr>
        <p:spPr>
          <a:xfrm>
            <a:off x="228600" y="1600200"/>
            <a:ext cx="4267200" cy="4724400"/>
          </a:xfrm>
        </p:spPr>
        <p:txBody>
          <a:bodyPr>
            <a:normAutofit/>
          </a:bodyPr>
          <a:lstStyle/>
          <a:p>
            <a:pPr>
              <a:lnSpc>
                <a:spcPct val="90000"/>
              </a:lnSpc>
            </a:pPr>
            <a:r>
              <a:rPr lang="en-US" sz="1500" dirty="0"/>
              <a:t>Depending on the matrix selected, the k space will consist of n-rows by m-columns.</a:t>
            </a:r>
          </a:p>
          <a:p>
            <a:pPr>
              <a:lnSpc>
                <a:spcPct val="90000"/>
              </a:lnSpc>
            </a:pPr>
            <a:r>
              <a:rPr lang="en-US" sz="1500" dirty="0"/>
              <a:t>The number of points we need to get the k-space filled is known as the matrix size and usually represented by the letter N. We usually describe the matrix by its selection, </a:t>
            </a:r>
            <a:r>
              <a:rPr lang="en-US" sz="1500" dirty="0" err="1"/>
              <a:t>i.e</a:t>
            </a:r>
            <a:r>
              <a:rPr lang="en-US" sz="1500" dirty="0"/>
              <a:t> 256x256, 192x256, etc.</a:t>
            </a:r>
          </a:p>
          <a:p>
            <a:pPr>
              <a:lnSpc>
                <a:spcPct val="90000"/>
              </a:lnSpc>
            </a:pPr>
            <a:r>
              <a:rPr lang="en-US" sz="1500" dirty="0"/>
              <a:t>The x-axis of the k-space is the frequency-encoding information.</a:t>
            </a:r>
          </a:p>
          <a:p>
            <a:pPr>
              <a:lnSpc>
                <a:spcPct val="90000"/>
              </a:lnSpc>
            </a:pPr>
            <a:r>
              <a:rPr lang="en-US" sz="1500" dirty="0"/>
              <a:t>The y-axis of the k-space represents the phase-encoding information </a:t>
            </a:r>
          </a:p>
          <a:p>
            <a:pPr>
              <a:lnSpc>
                <a:spcPct val="90000"/>
              </a:lnSpc>
            </a:pPr>
            <a:r>
              <a:rPr lang="en-US" sz="1500" dirty="0"/>
              <a:t>The gradients control the position in the k-space</a:t>
            </a:r>
          </a:p>
          <a:p>
            <a:pPr>
              <a:lnSpc>
                <a:spcPct val="90000"/>
              </a:lnSpc>
            </a:pPr>
            <a:r>
              <a:rPr lang="en-US" sz="1500" dirty="0"/>
              <a:t>Phase-encoding information is acquired for all different frequencies until we have collected all the points of information for the desired matrix selected .</a:t>
            </a:r>
          </a:p>
        </p:txBody>
      </p:sp>
      <p:pic>
        <p:nvPicPr>
          <p:cNvPr id="17410" name="Picture 2" descr="http://www.mrinotes.com/images/kspacebasic2.gif"/>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648200" y="2520347"/>
            <a:ext cx="4038600" cy="2685669"/>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0363057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3581400" cy="3581399"/>
          </a:xfrm>
        </p:spPr>
        <p:txBody>
          <a:bodyPr>
            <a:normAutofit fontScale="92500" lnSpcReduction="10000"/>
          </a:bodyPr>
          <a:lstStyle/>
          <a:p>
            <a:r>
              <a:rPr lang="en-US" dirty="0">
                <a:solidFill>
                  <a:schemeClr val="tx2">
                    <a:lumMod val="60000"/>
                    <a:lumOff val="40000"/>
                  </a:schemeClr>
                </a:solidFill>
              </a:rPr>
              <a:t>The k-space has no one to one correlation with the real image. Each point contains information from every part of the image.</a:t>
            </a:r>
          </a:p>
        </p:txBody>
      </p:sp>
      <p:sp>
        <p:nvSpPr>
          <p:cNvPr id="4" name="Title 1"/>
          <p:cNvSpPr>
            <a:spLocks noGrp="1"/>
          </p:cNvSpPr>
          <p:nvPr>
            <p:ph type="title"/>
          </p:nvPr>
        </p:nvSpPr>
        <p:spPr/>
        <p:txBody>
          <a:bodyPr/>
          <a:lstStyle/>
          <a:p>
            <a:r>
              <a:rPr lang="en-US" dirty="0">
                <a:solidFill>
                  <a:schemeClr val="accent1">
                    <a:lumMod val="75000"/>
                  </a:schemeClr>
                </a:solidFill>
              </a:rPr>
              <a:t>k-space</a:t>
            </a:r>
          </a:p>
        </p:txBody>
      </p:sp>
      <p:pic>
        <p:nvPicPr>
          <p:cNvPr id="18434" name="Picture 2" descr="http://www.mrinotes.com/images/kspcregions.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86200" y="838200"/>
            <a:ext cx="4648200" cy="517207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4454897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4876800" cy="641350"/>
          </a:xfrm>
        </p:spPr>
        <p:txBody>
          <a:bodyPr vert="horz" lIns="91440" tIns="45720" rIns="91440" bIns="45720" rtlCol="0" anchor="ctr">
            <a:normAutofit/>
          </a:bodyPr>
          <a:lstStyle/>
          <a:p>
            <a:r>
              <a:rPr lang="en-US" sz="3600" dirty="0">
                <a:solidFill>
                  <a:schemeClr val="accent1">
                    <a:lumMod val="75000"/>
                  </a:schemeClr>
                </a:solidFill>
              </a:rPr>
              <a:t>Filling the k-space</a:t>
            </a:r>
          </a:p>
        </p:txBody>
      </p:sp>
      <p:sp>
        <p:nvSpPr>
          <p:cNvPr id="5" name="Text Placeholder 4"/>
          <p:cNvSpPr>
            <a:spLocks noGrp="1"/>
          </p:cNvSpPr>
          <p:nvPr>
            <p:ph type="body" sz="half" idx="2"/>
          </p:nvPr>
        </p:nvSpPr>
        <p:spPr>
          <a:xfrm>
            <a:off x="533400" y="1143000"/>
            <a:ext cx="3008313" cy="4691063"/>
          </a:xfrm>
        </p:spPr>
        <p:txBody>
          <a:bodyPr>
            <a:normAutofit/>
          </a:bodyPr>
          <a:lstStyle/>
          <a:p>
            <a:r>
              <a:rPr lang="en-US" sz="3000" dirty="0">
                <a:solidFill>
                  <a:schemeClr val="tx2">
                    <a:lumMod val="60000"/>
                    <a:lumOff val="40000"/>
                  </a:schemeClr>
                </a:solidFill>
              </a:rPr>
              <a:t>Depending on the sequence and options used, there are many ways of filling the information in the k-space</a:t>
            </a:r>
          </a:p>
        </p:txBody>
      </p:sp>
      <p:pic>
        <p:nvPicPr>
          <p:cNvPr id="19458" name="Picture 2" descr="k-space trajectorie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43400" y="304800"/>
            <a:ext cx="3940914" cy="1896766"/>
          </a:xfrm>
          <a:prstGeom prst="rect">
            <a:avLst/>
          </a:prstGeom>
          <a:noFill/>
          <a:extLst>
            <a:ext uri="{909E8E84-426E-40dd-AFC4-6F175D3DCCD1}">
              <a14:hiddenFill xmlns:a14="http://schemas.microsoft.com/office/drawing/2010/main" xmlns="">
                <a:solidFill>
                  <a:srgbClr val="FFFFFF"/>
                </a:solidFill>
              </a14:hiddenFill>
            </a:ext>
          </a:extLst>
        </p:spPr>
      </p:pic>
      <p:pic>
        <p:nvPicPr>
          <p:cNvPr id="19460" name="Picture 4" descr="http://mri-q.com/uploads/3/4/5/7/34572113/4421712_orig.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98114" y="2428401"/>
            <a:ext cx="3886200" cy="393283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7697959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solidFill>
                  <a:schemeClr val="accent1">
                    <a:lumMod val="75000"/>
                  </a:schemeClr>
                </a:solidFill>
              </a:rPr>
              <a:t>Image Contrast</a:t>
            </a:r>
          </a:p>
        </p:txBody>
      </p:sp>
      <p:pic>
        <p:nvPicPr>
          <p:cNvPr id="2150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249891" y="990600"/>
            <a:ext cx="6644217" cy="4983163"/>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38698613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0"/>
          <p:cNvSpPr>
            <a:spLocks noGrp="1"/>
          </p:cNvSpPr>
          <p:nvPr>
            <p:ph type="title"/>
          </p:nvPr>
        </p:nvSpPr>
        <p:spPr>
          <a:xfrm>
            <a:off x="0" y="76200"/>
            <a:ext cx="9144000" cy="685800"/>
          </a:xfrm>
        </p:spPr>
        <p:txBody>
          <a:bodyPr anchor="ctr">
            <a:normAutofit/>
          </a:bodyPr>
          <a:lstStyle/>
          <a:p>
            <a:r>
              <a:rPr lang="en-US"/>
              <a:t>Image Contrast</a:t>
            </a:r>
          </a:p>
        </p:txBody>
      </p:sp>
      <p:sp>
        <p:nvSpPr>
          <p:cNvPr id="3" name="Content Placeholder 2"/>
          <p:cNvSpPr>
            <a:spLocks noGrp="1"/>
          </p:cNvSpPr>
          <p:nvPr>
            <p:ph sz="half" idx="1"/>
          </p:nvPr>
        </p:nvSpPr>
        <p:spPr>
          <a:xfrm>
            <a:off x="457200" y="1600200"/>
            <a:ext cx="4038600" cy="4525963"/>
          </a:xfrm>
        </p:spPr>
        <p:txBody>
          <a:bodyPr>
            <a:normAutofit/>
          </a:bodyPr>
          <a:lstStyle/>
          <a:p>
            <a:pPr marL="0" indent="0">
              <a:buNone/>
            </a:pPr>
            <a:r>
              <a:rPr lang="en-US"/>
              <a:t>Three factors differentiate the types of tissues from an MR imaging perspective: T1 values, T2 values and Proton Density (PD) (number of active protons per unit volume of the tissue).</a:t>
            </a:r>
          </a:p>
          <a:p>
            <a:pPr marL="0" indent="0">
              <a:buNone/>
            </a:pPr>
            <a:endParaRPr lang="en-US"/>
          </a:p>
        </p:txBody>
      </p:sp>
      <p:pic>
        <p:nvPicPr>
          <p:cNvPr id="22530" name="Picture 2" descr="http://www.mrinotes.com/images/imc1f1gif.gif"/>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648200" y="2382361"/>
            <a:ext cx="4038600" cy="296164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6824393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3886200"/>
          </a:xfrm>
        </p:spPr>
        <p:txBody>
          <a:bodyPr>
            <a:normAutofit fontScale="92500" lnSpcReduction="10000"/>
          </a:bodyPr>
          <a:lstStyle/>
          <a:p>
            <a:r>
              <a:rPr lang="en-US" dirty="0">
                <a:solidFill>
                  <a:schemeClr val="tx2">
                    <a:lumMod val="60000"/>
                    <a:lumOff val="40000"/>
                  </a:schemeClr>
                </a:solidFill>
              </a:rPr>
              <a:t>T1 weighted images: emphasizes the contrast based on the different T1 values between tissues</a:t>
            </a:r>
          </a:p>
          <a:p>
            <a:r>
              <a:rPr lang="en-US" dirty="0">
                <a:solidFill>
                  <a:schemeClr val="tx2">
                    <a:lumMod val="60000"/>
                    <a:lumOff val="40000"/>
                  </a:schemeClr>
                </a:solidFill>
              </a:rPr>
              <a:t>T2 weighted images: emphasizes the contrast based on the different T2 values between tissues</a:t>
            </a:r>
          </a:p>
          <a:p>
            <a:r>
              <a:rPr lang="en-US" dirty="0">
                <a:solidFill>
                  <a:schemeClr val="tx2">
                    <a:lumMod val="60000"/>
                    <a:lumOff val="40000"/>
                  </a:schemeClr>
                </a:solidFill>
              </a:rPr>
              <a:t>PD weighted images: the contrast is determined by the difference in proton density values between tissues </a:t>
            </a:r>
          </a:p>
          <a:p>
            <a:pPr marL="0" indent="0">
              <a:buNone/>
            </a:pPr>
            <a:r>
              <a:rPr lang="en-US" dirty="0">
                <a:solidFill>
                  <a:schemeClr val="tx2">
                    <a:lumMod val="60000"/>
                    <a:lumOff val="40000"/>
                  </a:schemeClr>
                </a:solidFill>
              </a:rPr>
              <a:t>We control this by modifying the values of TR and TE. </a:t>
            </a:r>
          </a:p>
        </p:txBody>
      </p:sp>
      <p:sp>
        <p:nvSpPr>
          <p:cNvPr id="4" name="Title 10"/>
          <p:cNvSpPr>
            <a:spLocks noGrp="1"/>
          </p:cNvSpPr>
          <p:nvPr>
            <p:ph type="title"/>
          </p:nvPr>
        </p:nvSpPr>
        <p:spPr/>
        <p:txBody>
          <a:bodyPr/>
          <a:lstStyle/>
          <a:p>
            <a:r>
              <a:rPr lang="en-US" dirty="0">
                <a:solidFill>
                  <a:schemeClr val="accent1">
                    <a:lumMod val="75000"/>
                  </a:schemeClr>
                </a:solidFill>
              </a:rPr>
              <a:t>Image Contrast</a:t>
            </a:r>
          </a:p>
        </p:txBody>
      </p:sp>
    </p:spTree>
    <p:extLst>
      <p:ext uri="{BB962C8B-B14F-4D97-AF65-F5344CB8AC3E}">
        <p14:creationId xmlns:p14="http://schemas.microsoft.com/office/powerpoint/2010/main" val="2826719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599"/>
            <a:ext cx="3962400" cy="2401493"/>
          </a:xfrm>
        </p:spPr>
        <p:txBody>
          <a:bodyPr>
            <a:normAutofit fontScale="77500" lnSpcReduction="20000"/>
          </a:bodyPr>
          <a:lstStyle/>
          <a:p>
            <a:pPr marL="0" indent="0">
              <a:buNone/>
            </a:pPr>
            <a:r>
              <a:rPr lang="en-US" dirty="0">
                <a:solidFill>
                  <a:schemeClr val="tx2">
                    <a:lumMod val="60000"/>
                    <a:lumOff val="40000"/>
                  </a:schemeClr>
                </a:solidFill>
              </a:rPr>
              <a:t>Short TE:</a:t>
            </a:r>
          </a:p>
          <a:p>
            <a:pPr marL="0" indent="0">
              <a:buNone/>
            </a:pPr>
            <a:r>
              <a:rPr lang="en-US" dirty="0">
                <a:solidFill>
                  <a:schemeClr val="tx2">
                    <a:lumMod val="60000"/>
                    <a:lumOff val="40000"/>
                  </a:schemeClr>
                </a:solidFill>
              </a:rPr>
              <a:t>A short TE time does not give time for T2 relaxation, therefore, short TE times diminishes the contrast effect based on the tissue T2.</a:t>
            </a:r>
          </a:p>
        </p:txBody>
      </p:sp>
      <p:sp>
        <p:nvSpPr>
          <p:cNvPr id="4" name="Title 10"/>
          <p:cNvSpPr>
            <a:spLocks noGrp="1"/>
          </p:cNvSpPr>
          <p:nvPr>
            <p:ph type="title"/>
          </p:nvPr>
        </p:nvSpPr>
        <p:spPr>
          <a:xfrm>
            <a:off x="0" y="76200"/>
            <a:ext cx="9144000" cy="838200"/>
          </a:xfrm>
        </p:spPr>
        <p:txBody>
          <a:bodyPr>
            <a:normAutofit fontScale="90000"/>
          </a:bodyPr>
          <a:lstStyle/>
          <a:p>
            <a:r>
              <a:rPr lang="en-US" dirty="0">
                <a:solidFill>
                  <a:schemeClr val="accent1">
                    <a:lumMod val="75000"/>
                  </a:schemeClr>
                </a:solidFill>
              </a:rPr>
              <a:t>Image Contrast</a:t>
            </a:r>
            <a:br>
              <a:rPr lang="en-US" dirty="0">
                <a:solidFill>
                  <a:schemeClr val="accent1">
                    <a:lumMod val="75000"/>
                  </a:schemeClr>
                </a:solidFill>
              </a:rPr>
            </a:br>
            <a:r>
              <a:rPr lang="en-US" dirty="0">
                <a:solidFill>
                  <a:schemeClr val="accent1">
                    <a:lumMod val="75000"/>
                  </a:schemeClr>
                </a:solidFill>
              </a:rPr>
              <a:t>TE: reading the transverse component</a:t>
            </a:r>
          </a:p>
        </p:txBody>
      </p:sp>
      <p:pic>
        <p:nvPicPr>
          <p:cNvPr id="24578" name="Picture 2" descr="http://www.mrinotes.com/images/TeShort.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8201" y="990600"/>
            <a:ext cx="4081462" cy="2401493"/>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xmlns="">
                <a:solidFill>
                  <a:srgbClr val="FFFFFF"/>
                </a:solidFill>
              </a14:hiddenFill>
            </a:ext>
          </a:extLst>
        </p:spPr>
      </p:pic>
      <p:pic>
        <p:nvPicPr>
          <p:cNvPr id="24580" name="Picture 4" descr="http://www.mrinotes.com/images/Telong.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3810000"/>
            <a:ext cx="4114801" cy="2421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xmlns="">
                <a:solidFill>
                  <a:srgbClr val="FFFFFF"/>
                </a:solidFill>
              </a14:hiddenFill>
            </a:ext>
          </a:extLst>
        </p:spPr>
      </p:pic>
      <p:sp>
        <p:nvSpPr>
          <p:cNvPr id="7" name="Content Placeholder 2"/>
          <p:cNvSpPr txBox="1">
            <a:spLocks/>
          </p:cNvSpPr>
          <p:nvPr/>
        </p:nvSpPr>
        <p:spPr>
          <a:xfrm>
            <a:off x="4783930" y="3810000"/>
            <a:ext cx="3945731" cy="2362200"/>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a:solidFill>
                  <a:schemeClr val="tx2">
                    <a:lumMod val="60000"/>
                    <a:lumOff val="40000"/>
                  </a:schemeClr>
                </a:solidFill>
              </a:rPr>
              <a:t>Long TE:</a:t>
            </a:r>
          </a:p>
          <a:p>
            <a:pPr marL="0" indent="0">
              <a:buFont typeface="Arial" pitchFamily="34" charset="0"/>
              <a:buNone/>
            </a:pPr>
            <a:r>
              <a:rPr lang="en-US" dirty="0">
                <a:solidFill>
                  <a:schemeClr val="tx2">
                    <a:lumMod val="60000"/>
                    <a:lumOff val="40000"/>
                  </a:schemeClr>
                </a:solidFill>
              </a:rPr>
              <a:t>A long TE time allows for T2 relaxation, therefore, long TE times emphasizes the contrast effect based on the tissue T2. Maximum contrast is achieved when TE is about the average of the two T2 values of the tissue.</a:t>
            </a:r>
          </a:p>
        </p:txBody>
      </p:sp>
      <p:cxnSp>
        <p:nvCxnSpPr>
          <p:cNvPr id="6" name="Straight Connector 5"/>
          <p:cNvCxnSpPr/>
          <p:nvPr/>
        </p:nvCxnSpPr>
        <p:spPr>
          <a:xfrm>
            <a:off x="533400" y="3581400"/>
            <a:ext cx="8153400" cy="0"/>
          </a:xfrm>
          <a:prstGeom prst="line">
            <a:avLst/>
          </a:prstGeom>
          <a:ln w="28575"/>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2087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4038600" cy="2590799"/>
          </a:xfrm>
        </p:spPr>
        <p:txBody>
          <a:bodyPr>
            <a:normAutofit fontScale="70000" lnSpcReduction="20000"/>
          </a:bodyPr>
          <a:lstStyle/>
          <a:p>
            <a:pPr marL="0" indent="0">
              <a:buNone/>
            </a:pPr>
            <a:r>
              <a:rPr lang="en-US" dirty="0">
                <a:solidFill>
                  <a:schemeClr val="tx2">
                    <a:lumMod val="60000"/>
                    <a:lumOff val="40000"/>
                  </a:schemeClr>
                </a:solidFill>
              </a:rPr>
              <a:t>Long TR:</a:t>
            </a:r>
          </a:p>
          <a:p>
            <a:pPr marL="0" indent="0">
              <a:buNone/>
            </a:pPr>
            <a:r>
              <a:rPr lang="en-US" dirty="0">
                <a:solidFill>
                  <a:schemeClr val="tx2">
                    <a:lumMod val="60000"/>
                    <a:lumOff val="40000"/>
                  </a:schemeClr>
                </a:solidFill>
              </a:rPr>
              <a:t>A long TR time gives the protons enough time to go back to the equilibrium state precessing around the main magnetic field. Long TR times diminish the effect of the contrast based in the difference in the T1 value between tissues</a:t>
            </a:r>
          </a:p>
        </p:txBody>
      </p:sp>
      <p:sp>
        <p:nvSpPr>
          <p:cNvPr id="7" name="Title 10"/>
          <p:cNvSpPr txBox="1">
            <a:spLocks/>
          </p:cNvSpPr>
          <p:nvPr/>
        </p:nvSpPr>
        <p:spPr>
          <a:xfrm>
            <a:off x="41031" y="76200"/>
            <a:ext cx="9144000" cy="838200"/>
          </a:xfrm>
          <a:prstGeom prst="rect">
            <a:avLst/>
          </a:prstGeom>
        </p:spPr>
        <p:txBody>
          <a:bodyPr vert="horz" lIns="91440" tIns="45720" rIns="91440" bIns="45720" rtlCol="0" anchor="ctr">
            <a:normAutofit fontScale="82500" lnSpcReduction="20000"/>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Image Contrast</a:t>
            </a:r>
            <a:br>
              <a:rPr lang="en-US" dirty="0">
                <a:solidFill>
                  <a:schemeClr val="accent1">
                    <a:lumMod val="75000"/>
                  </a:schemeClr>
                </a:solidFill>
              </a:rPr>
            </a:br>
            <a:r>
              <a:rPr lang="en-US" dirty="0">
                <a:solidFill>
                  <a:schemeClr val="accent1">
                    <a:lumMod val="75000"/>
                  </a:schemeClr>
                </a:solidFill>
              </a:rPr>
              <a:t>TR: reading the longitudinal magnetization</a:t>
            </a:r>
          </a:p>
        </p:txBody>
      </p:sp>
      <p:pic>
        <p:nvPicPr>
          <p:cNvPr id="266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79705" y="1066800"/>
            <a:ext cx="4676726" cy="243840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cxnSp>
        <p:nvCxnSpPr>
          <p:cNvPr id="9" name="Straight Connector 8"/>
          <p:cNvCxnSpPr/>
          <p:nvPr/>
        </p:nvCxnSpPr>
        <p:spPr>
          <a:xfrm>
            <a:off x="533400" y="3581400"/>
            <a:ext cx="8153400" cy="0"/>
          </a:xfrm>
          <a:prstGeom prst="line">
            <a:avLst/>
          </a:prstGeom>
          <a:ln w="28575"/>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0" name="Content Placeholder 2"/>
          <p:cNvSpPr txBox="1">
            <a:spLocks/>
          </p:cNvSpPr>
          <p:nvPr/>
        </p:nvSpPr>
        <p:spPr>
          <a:xfrm>
            <a:off x="4689231" y="3722077"/>
            <a:ext cx="4267200" cy="25907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a:solidFill>
                  <a:schemeClr val="tx2">
                    <a:lumMod val="60000"/>
                    <a:lumOff val="40000"/>
                  </a:schemeClr>
                </a:solidFill>
              </a:rPr>
              <a:t>Short TR:</a:t>
            </a:r>
          </a:p>
          <a:p>
            <a:pPr marL="0" indent="0">
              <a:buFont typeface="Arial" pitchFamily="34" charset="0"/>
              <a:buNone/>
            </a:pPr>
            <a:r>
              <a:rPr lang="en-US" dirty="0">
                <a:solidFill>
                  <a:schemeClr val="tx2">
                    <a:lumMod val="60000"/>
                    <a:lumOff val="40000"/>
                  </a:schemeClr>
                </a:solidFill>
              </a:rPr>
              <a:t>A short TR emphasizes the T1 differences.</a:t>
            </a:r>
          </a:p>
        </p:txBody>
      </p:sp>
      <p:pic>
        <p:nvPicPr>
          <p:cNvPr id="26628" name="Picture 4" descr="http://www.mrinotes.com/images/trshort.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743461"/>
            <a:ext cx="3810000" cy="224176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4392462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0"/>
          <p:cNvSpPr>
            <a:spLocks noGrp="1"/>
          </p:cNvSpPr>
          <p:nvPr>
            <p:ph type="title"/>
          </p:nvPr>
        </p:nvSpPr>
        <p:spPr>
          <a:xfrm>
            <a:off x="457200" y="273050"/>
            <a:ext cx="3008313" cy="1162050"/>
          </a:xfrm>
        </p:spPr>
        <p:txBody>
          <a:bodyPr anchor="b">
            <a:normAutofit/>
          </a:bodyPr>
          <a:lstStyle/>
          <a:p>
            <a:r>
              <a:rPr lang="en-US"/>
              <a:t>Image Contrast</a:t>
            </a:r>
            <a:br>
              <a:rPr lang="en-US"/>
            </a:br>
            <a:r>
              <a:rPr lang="en-US"/>
              <a:t>PD: nobody’s land	</a:t>
            </a:r>
          </a:p>
        </p:txBody>
      </p:sp>
      <p:sp>
        <p:nvSpPr>
          <p:cNvPr id="10" name="Text Placeholder 3">
            <a:extLst>
              <a:ext uri="{FF2B5EF4-FFF2-40B4-BE49-F238E27FC236}">
                <a16:creationId xmlns:a16="http://schemas.microsoft.com/office/drawing/2014/main" id="{07977E75-8B51-7C5A-B52D-06FC4691C68E}"/>
              </a:ext>
            </a:extLst>
          </p:cNvPr>
          <p:cNvSpPr>
            <a:spLocks noGrp="1"/>
          </p:cNvSpPr>
          <p:nvPr>
            <p:ph type="body" sz="half" idx="2"/>
          </p:nvPr>
        </p:nvSpPr>
        <p:spPr>
          <a:xfrm>
            <a:off x="457200" y="1435100"/>
            <a:ext cx="3008313" cy="4691063"/>
          </a:xfrm>
        </p:spPr>
        <p:txBody>
          <a:bodyPr/>
          <a:lstStyle/>
          <a:p>
            <a:endParaRPr lang="en-US"/>
          </a:p>
        </p:txBody>
      </p:sp>
      <p:graphicFrame>
        <p:nvGraphicFramePr>
          <p:cNvPr id="6" name="Content Placeholder 2">
            <a:extLst>
              <a:ext uri="{FF2B5EF4-FFF2-40B4-BE49-F238E27FC236}">
                <a16:creationId xmlns:a16="http://schemas.microsoft.com/office/drawing/2014/main" id="{3CFDFF79-2B4A-CCFE-C9A4-82511D586D3D}"/>
              </a:ext>
            </a:extLst>
          </p:cNvPr>
          <p:cNvGraphicFramePr>
            <a:graphicFrameLocks noGrp="1"/>
          </p:cNvGraphicFramePr>
          <p:nvPr>
            <p:ph idx="1"/>
            <p:extLst>
              <p:ext uri="{D42A27DB-BD31-4B8C-83A1-F6EECF244321}">
                <p14:modId xmlns:p14="http://schemas.microsoft.com/office/powerpoint/2010/main" val="724588296"/>
              </p:ext>
            </p:extLst>
          </p:nvPr>
        </p:nvGraphicFramePr>
        <p:xfrm>
          <a:off x="3575050" y="273050"/>
          <a:ext cx="5111750" cy="5853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79333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3554" name="Picture 2" descr="Image result for image weighting contrast table mr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838200"/>
            <a:ext cx="6606988" cy="51054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Title 10"/>
          <p:cNvSpPr>
            <a:spLocks noGrp="1"/>
          </p:cNvSpPr>
          <p:nvPr>
            <p:ph type="title"/>
          </p:nvPr>
        </p:nvSpPr>
        <p:spPr/>
        <p:txBody>
          <a:bodyPr/>
          <a:lstStyle/>
          <a:p>
            <a:r>
              <a:rPr lang="en-US" dirty="0">
                <a:solidFill>
                  <a:schemeClr val="accent1">
                    <a:lumMod val="75000"/>
                  </a:schemeClr>
                </a:solidFill>
              </a:rPr>
              <a:t>Image Contrast</a:t>
            </a:r>
          </a:p>
        </p:txBody>
      </p:sp>
    </p:spTree>
    <p:extLst>
      <p:ext uri="{BB962C8B-B14F-4D97-AF65-F5344CB8AC3E}">
        <p14:creationId xmlns:p14="http://schemas.microsoft.com/office/powerpoint/2010/main" val="2858774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chemeClr val="tx2">
                    <a:lumMod val="60000"/>
                    <a:lumOff val="40000"/>
                  </a:schemeClr>
                </a:solidFill>
              </a:rPr>
              <a:t>Videos</a:t>
            </a:r>
          </a:p>
        </p:txBody>
      </p:sp>
      <p:sp>
        <p:nvSpPr>
          <p:cNvPr id="5" name="Content Placeholder 4"/>
          <p:cNvSpPr>
            <a:spLocks noGrp="1"/>
          </p:cNvSpPr>
          <p:nvPr>
            <p:ph idx="1"/>
          </p:nvPr>
        </p:nvSpPr>
        <p:spPr/>
        <p:txBody>
          <a:bodyPr/>
          <a:lstStyle/>
          <a:p>
            <a:r>
              <a:rPr lang="en-US" dirty="0">
                <a:hlinkClick r:id="rId2"/>
              </a:rPr>
              <a:t>https://www.youtube.com/watch?v=Ok9ILIYzmaY</a:t>
            </a:r>
            <a:endParaRPr lang="en-US" dirty="0"/>
          </a:p>
          <a:p>
            <a:endParaRPr lang="en-US" dirty="0"/>
          </a:p>
          <a:p>
            <a:r>
              <a:rPr lang="en-US" dirty="0">
                <a:hlinkClick r:id="rId3"/>
              </a:rPr>
              <a:t>https://www.youtube.com/watch?v=1CGzk-nV06g</a:t>
            </a:r>
            <a:endParaRPr lang="en-US" dirty="0"/>
          </a:p>
          <a:p>
            <a:r>
              <a:rPr lang="en-US" dirty="0">
                <a:hlinkClick r:id="rId4"/>
              </a:rPr>
              <a:t>https://www.youtube.com/watch?v=pGcZvSG805Y</a:t>
            </a:r>
            <a:endParaRPr lang="en-US" dirty="0"/>
          </a:p>
          <a:p>
            <a:endParaRPr lang="en-US" dirty="0"/>
          </a:p>
          <a:p>
            <a:endParaRPr lang="en-US" dirty="0"/>
          </a:p>
        </p:txBody>
      </p:sp>
    </p:spTree>
    <p:extLst>
      <p:ext uri="{BB962C8B-B14F-4D97-AF65-F5344CB8AC3E}">
        <p14:creationId xmlns:p14="http://schemas.microsoft.com/office/powerpoint/2010/main" val="18453532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hlinkClick r:id="rId2"/>
              </a:rPr>
              <a:t>https://www.youtube.com/watch?v=p3WnFYBnghU</a:t>
            </a:r>
            <a:endParaRPr lang="en-US" dirty="0"/>
          </a:p>
          <a:p>
            <a:r>
              <a:rPr lang="en-US" dirty="0">
                <a:hlinkClick r:id="rId3"/>
              </a:rPr>
              <a:t>https://www.youtube.com/watch?v=XCrpMwz6Z1g</a:t>
            </a:r>
            <a:endParaRPr lang="en-US" dirty="0"/>
          </a:p>
          <a:p>
            <a:r>
              <a:rPr lang="en-US">
                <a:hlinkClick r:id="rId4"/>
              </a:rPr>
              <a:t>https://www.youtube.com/watch?v=MiL0wCZr0Mw</a:t>
            </a:r>
            <a:endParaRPr lang="en-US"/>
          </a:p>
          <a:p>
            <a:endParaRPr lang="en-US" dirty="0"/>
          </a:p>
          <a:p>
            <a:endParaRPr lang="en-US" dirty="0"/>
          </a:p>
        </p:txBody>
      </p:sp>
      <p:sp>
        <p:nvSpPr>
          <p:cNvPr id="4" name="Title 3"/>
          <p:cNvSpPr>
            <a:spLocks noGrp="1"/>
          </p:cNvSpPr>
          <p:nvPr>
            <p:ph type="title"/>
          </p:nvPr>
        </p:nvSpPr>
        <p:spPr/>
        <p:txBody>
          <a:bodyPr/>
          <a:lstStyle/>
          <a:p>
            <a:r>
              <a:rPr lang="en-US" dirty="0">
                <a:solidFill>
                  <a:schemeClr val="tx2">
                    <a:lumMod val="60000"/>
                    <a:lumOff val="40000"/>
                  </a:schemeClr>
                </a:solidFill>
              </a:rPr>
              <a:t>Videos</a:t>
            </a:r>
          </a:p>
        </p:txBody>
      </p:sp>
    </p:spTree>
    <p:extLst>
      <p:ext uri="{BB962C8B-B14F-4D97-AF65-F5344CB8AC3E}">
        <p14:creationId xmlns:p14="http://schemas.microsoft.com/office/powerpoint/2010/main" val="18987343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hlinkClick r:id="rId2"/>
              </a:rPr>
              <a:t>https://www.youtube.com/watch?v=lKp67IqQjH4&amp;list=PL40F1EE0DF59D777A&amp;index=1</a:t>
            </a:r>
            <a:endParaRPr lang="en-US" dirty="0"/>
          </a:p>
          <a:p>
            <a:r>
              <a:rPr lang="en-US" dirty="0">
                <a:hlinkClick r:id="rId3"/>
              </a:rPr>
              <a:t>https://www.youtube.com/watch?v=is8TscwFOvM&amp;index=2&amp;list=PL40F1EE0DF59D777A</a:t>
            </a:r>
            <a:endParaRPr lang="en-US" dirty="0"/>
          </a:p>
          <a:p>
            <a:r>
              <a:rPr lang="en-US" dirty="0">
                <a:hlinkClick r:id="rId4"/>
              </a:rPr>
              <a:t>https://www.youtube.com/watch?v=_7oZMA0OuK4&amp;list=PL40F1EE0DF59D777A&amp;index=3</a:t>
            </a:r>
            <a:endParaRPr lang="en-US" dirty="0"/>
          </a:p>
          <a:p>
            <a:r>
              <a:rPr lang="en-US" dirty="0">
                <a:hlinkClick r:id="rId5"/>
              </a:rPr>
              <a:t>https://www.youtube.com/watch?v=GDElT6Tz7_Q&amp;list=PL40F1EE0DF59D777A&amp;index=4</a:t>
            </a:r>
            <a:endParaRPr lang="en-US" dirty="0"/>
          </a:p>
          <a:p>
            <a:r>
              <a:rPr lang="en-US" dirty="0">
                <a:hlinkClick r:id="rId6"/>
              </a:rPr>
              <a:t>https://www.youtube.com/watch?v=ZHtfnNAz-UM&amp;list=PL40F1EE0DF59D777A&amp;index=5</a:t>
            </a:r>
            <a:endParaRPr lang="en-US" dirty="0"/>
          </a:p>
          <a:p>
            <a:r>
              <a:rPr lang="en-US" dirty="0">
                <a:hlinkClick r:id="rId7"/>
              </a:rPr>
              <a:t>https://www.youtube.com/watch?v=LvyADhrgc_s&amp;list=PL40F1EE0DF59D777A&amp;index=6</a:t>
            </a:r>
            <a:endParaRPr lang="en-US" dirty="0"/>
          </a:p>
          <a:p>
            <a:r>
              <a:rPr lang="en-US" dirty="0">
                <a:hlinkClick r:id="rId8"/>
              </a:rPr>
              <a:t>https://www.youtube.com/watch?v=p3WnFYBnghU</a:t>
            </a:r>
            <a:endParaRPr lang="en-US" dirty="0"/>
          </a:p>
          <a:p>
            <a:endParaRPr lang="en-US" dirty="0"/>
          </a:p>
          <a:p>
            <a:endParaRPr lang="en-US" dirty="0"/>
          </a:p>
        </p:txBody>
      </p:sp>
      <p:sp>
        <p:nvSpPr>
          <p:cNvPr id="4" name="Title 3"/>
          <p:cNvSpPr>
            <a:spLocks noGrp="1"/>
          </p:cNvSpPr>
          <p:nvPr>
            <p:ph type="title"/>
          </p:nvPr>
        </p:nvSpPr>
        <p:spPr/>
        <p:txBody>
          <a:bodyPr/>
          <a:lstStyle/>
          <a:p>
            <a:r>
              <a:rPr lang="en-US" dirty="0">
                <a:solidFill>
                  <a:schemeClr val="tx2">
                    <a:lumMod val="60000"/>
                    <a:lumOff val="40000"/>
                  </a:schemeClr>
                </a:solidFill>
              </a:rPr>
              <a:t>Videos</a:t>
            </a:r>
          </a:p>
        </p:txBody>
      </p:sp>
    </p:spTree>
    <p:extLst>
      <p:ext uri="{BB962C8B-B14F-4D97-AF65-F5344CB8AC3E}">
        <p14:creationId xmlns:p14="http://schemas.microsoft.com/office/powerpoint/2010/main" val="26308181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Book</a:t>
            </a:r>
          </a:p>
        </p:txBody>
      </p:sp>
      <p:sp>
        <p:nvSpPr>
          <p:cNvPr id="3" name="Content Placeholder 2"/>
          <p:cNvSpPr>
            <a:spLocks noGrp="1"/>
          </p:cNvSpPr>
          <p:nvPr>
            <p:ph idx="1"/>
          </p:nvPr>
        </p:nvSpPr>
        <p:spPr/>
        <p:txBody>
          <a:bodyPr/>
          <a:lstStyle/>
          <a:p>
            <a:r>
              <a:rPr lang="en-US" dirty="0">
                <a:hlinkClick r:id="rId2"/>
              </a:rPr>
              <a:t>http://www.mri-physics.net/textuk.html</a:t>
            </a:r>
            <a:endParaRPr lang="en-US" dirty="0"/>
          </a:p>
          <a:p>
            <a:endParaRPr lang="en-US" dirty="0"/>
          </a:p>
        </p:txBody>
      </p:sp>
    </p:spTree>
    <p:extLst>
      <p:ext uri="{BB962C8B-B14F-4D97-AF65-F5344CB8AC3E}">
        <p14:creationId xmlns:p14="http://schemas.microsoft.com/office/powerpoint/2010/main" val="749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	</a:t>
            </a:r>
          </a:p>
        </p:txBody>
      </p:sp>
      <p:sp>
        <p:nvSpPr>
          <p:cNvPr id="3" name="Content Placeholder 2"/>
          <p:cNvSpPr>
            <a:spLocks noGrp="1"/>
          </p:cNvSpPr>
          <p:nvPr>
            <p:ph idx="1"/>
          </p:nvPr>
        </p:nvSpPr>
        <p:spPr/>
        <p:txBody>
          <a:bodyPr>
            <a:normAutofit fontScale="85000" lnSpcReduction="20000"/>
          </a:bodyPr>
          <a:lstStyle/>
          <a:p>
            <a:r>
              <a:rPr lang="en-US" dirty="0">
                <a:hlinkClick r:id="rId2"/>
              </a:rPr>
              <a:t>http://medicalphysicsweb.org/cws/article/research/60077</a:t>
            </a:r>
            <a:endParaRPr lang="en-US" dirty="0"/>
          </a:p>
          <a:p>
            <a:r>
              <a:rPr lang="en-US" dirty="0">
                <a:hlinkClick r:id="rId3"/>
              </a:rPr>
              <a:t>http://www.mrinotes.com/</a:t>
            </a:r>
            <a:endParaRPr lang="en-US" dirty="0"/>
          </a:p>
          <a:p>
            <a:r>
              <a:rPr lang="en-US" dirty="0">
                <a:hlinkClick r:id="rId4"/>
              </a:rPr>
              <a:t>http://mri-q.com/superconductive-design.html</a:t>
            </a:r>
            <a:endParaRPr lang="en-US" dirty="0"/>
          </a:p>
          <a:p>
            <a:r>
              <a:rPr lang="en-US" dirty="0">
                <a:hlinkClick r:id="rId5"/>
              </a:rPr>
              <a:t>http://mri-q.com/gradient-coils.html</a:t>
            </a:r>
            <a:endParaRPr lang="en-US" dirty="0"/>
          </a:p>
          <a:p>
            <a:r>
              <a:rPr lang="en-US" dirty="0">
                <a:hlinkClick r:id="rId6"/>
              </a:rPr>
              <a:t>https://en.wikipedia.org/wiki/Body_water</a:t>
            </a:r>
            <a:endParaRPr lang="en-US" dirty="0"/>
          </a:p>
          <a:p>
            <a:r>
              <a:rPr lang="en-US" dirty="0">
                <a:hlinkClick r:id="rId7"/>
              </a:rPr>
              <a:t>https://en.wikipedia.org/wiki/Body_fat_percentage</a:t>
            </a:r>
            <a:endParaRPr lang="en-US" dirty="0"/>
          </a:p>
          <a:p>
            <a:r>
              <a:rPr lang="en-US" dirty="0">
                <a:hlinkClick r:id="rId8"/>
              </a:rPr>
              <a:t>http://www.howequipmentworks.com/mri_basics/</a:t>
            </a:r>
            <a:endParaRPr lang="en-US" dirty="0"/>
          </a:p>
          <a:p>
            <a:r>
              <a:rPr lang="en-US" dirty="0">
                <a:hlinkClick r:id="rId9"/>
              </a:rPr>
              <a:t>http://www.xrayphysics.com/sequences.html</a:t>
            </a:r>
            <a:endParaRPr lang="en-US" dirty="0"/>
          </a:p>
          <a:p>
            <a:r>
              <a:rPr lang="en-US" dirty="0">
                <a:hlinkClick r:id="rId10"/>
              </a:rPr>
              <a:t>http://www.xrayphysics.com/spatial.html#k</a:t>
            </a:r>
            <a:endParaRPr lang="en-US" dirty="0"/>
          </a:p>
          <a:p>
            <a:r>
              <a:rPr lang="en-US" dirty="0">
                <a:hlinkClick r:id="rId11"/>
              </a:rPr>
              <a:t>http://www.simplyphysics.com/page2_11.html</a:t>
            </a:r>
            <a:endParaRPr lang="en-US" dirty="0"/>
          </a:p>
          <a:p>
            <a:r>
              <a:rPr lang="en-US" dirty="0">
                <a:hlinkClick r:id="rId12"/>
              </a:rPr>
              <a:t>http://www.mridoc.com/physics/</a:t>
            </a:r>
            <a:endParaRPr lang="en-US" dirty="0"/>
          </a:p>
          <a:p>
            <a:r>
              <a:rPr lang="en-US" dirty="0">
                <a:hlinkClick r:id="rId13"/>
              </a:rPr>
              <a:t>http://www.sprawls.org/mripmt/MRI01/index.html</a:t>
            </a: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05869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23250</TotalTime>
  <Words>3734</Words>
  <Application>Microsoft Office PowerPoint</Application>
  <PresentationFormat>On-screen Show (4:3)</PresentationFormat>
  <Paragraphs>374</Paragraphs>
  <Slides>65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Aparajita</vt:lpstr>
      <vt:lpstr>Arial</vt:lpstr>
      <vt:lpstr>Arial Rounded MT Bold</vt:lpstr>
      <vt:lpstr>Calibri</vt:lpstr>
      <vt:lpstr>Office Theme</vt:lpstr>
      <vt:lpstr>MRI BASIC PHYSICS</vt:lpstr>
      <vt:lpstr>Objectives:</vt:lpstr>
      <vt:lpstr>Back to basics… everything starts with the Atom</vt:lpstr>
      <vt:lpstr>Remember your school physics?</vt:lpstr>
      <vt:lpstr>MRI Signal</vt:lpstr>
      <vt:lpstr>WATER IN THE HUMAN BODY  (H2O)</vt:lpstr>
      <vt:lpstr>FAT IN THE HUMAN BODY</vt:lpstr>
      <vt:lpstr>Why do we use the hydrogen?</vt:lpstr>
      <vt:lpstr>Magnetic momentum</vt:lpstr>
      <vt:lpstr>Spin Quantum Number (I)</vt:lpstr>
      <vt:lpstr>Gyromagnetic ratio</vt:lpstr>
      <vt:lpstr>Don’t get that?</vt:lpstr>
      <vt:lpstr>Random Spin</vt:lpstr>
      <vt:lpstr>Precession</vt:lpstr>
      <vt:lpstr>Larmor frequency</vt:lpstr>
      <vt:lpstr>Spin state in the magnetic field</vt:lpstr>
      <vt:lpstr>Spin Excess</vt:lpstr>
      <vt:lpstr>Spin Excess</vt:lpstr>
      <vt:lpstr>Components of dipole moment</vt:lpstr>
      <vt:lpstr>Bulk Magnetization</vt:lpstr>
      <vt:lpstr>Bulk Magnetization</vt:lpstr>
      <vt:lpstr>Gradient coil</vt:lpstr>
      <vt:lpstr>Gradient coil</vt:lpstr>
      <vt:lpstr>Gradient fields</vt:lpstr>
      <vt:lpstr>Gradient fields</vt:lpstr>
      <vt:lpstr>Gradient fields</vt:lpstr>
      <vt:lpstr>Gradient fields</vt:lpstr>
      <vt:lpstr>Radio Frequency Transmitter (RF Amplifier)</vt:lpstr>
      <vt:lpstr>Radio Frequency Transmitter (RF Amplifier)</vt:lpstr>
      <vt:lpstr>Flip Angle</vt:lpstr>
      <vt:lpstr>Transmit Coils</vt:lpstr>
      <vt:lpstr>Receive coils</vt:lpstr>
      <vt:lpstr>Surface coils</vt:lpstr>
      <vt:lpstr>Receive coils</vt:lpstr>
      <vt:lpstr>FID</vt:lpstr>
      <vt:lpstr>T1</vt:lpstr>
      <vt:lpstr>T1</vt:lpstr>
      <vt:lpstr>T2</vt:lpstr>
      <vt:lpstr>T2</vt:lpstr>
      <vt:lpstr>T2*</vt:lpstr>
      <vt:lpstr>Spin Echo (SE)</vt:lpstr>
      <vt:lpstr>What’s an echo then?</vt:lpstr>
      <vt:lpstr>Spatial Localization</vt:lpstr>
      <vt:lpstr>Spatial Localization</vt:lpstr>
      <vt:lpstr>Spatial Localization</vt:lpstr>
      <vt:lpstr>Spatial Localization</vt:lpstr>
      <vt:lpstr>Spatial Localization</vt:lpstr>
      <vt:lpstr>Fourier Transform</vt:lpstr>
      <vt:lpstr>Fourier Transform</vt:lpstr>
      <vt:lpstr>k-space</vt:lpstr>
      <vt:lpstr>k-space</vt:lpstr>
      <vt:lpstr>k-space</vt:lpstr>
      <vt:lpstr>Filling the k-space</vt:lpstr>
      <vt:lpstr>Image Contrast</vt:lpstr>
      <vt:lpstr>Image Contrast</vt:lpstr>
      <vt:lpstr>Image Contrast</vt:lpstr>
      <vt:lpstr>Image Contrast TE: reading the transverse component</vt:lpstr>
      <vt:lpstr>PowerPoint Presentation</vt:lpstr>
      <vt:lpstr>Image Contrast PD: nobody’s land </vt:lpstr>
      <vt:lpstr>Image Contrast</vt:lpstr>
      <vt:lpstr>Videos</vt:lpstr>
      <vt:lpstr>Videos</vt:lpstr>
      <vt:lpstr>Videos</vt:lpstr>
      <vt:lpstr>Book</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alicia.bostic</dc:creator>
  <cp:lastModifiedBy>Mike J</cp:lastModifiedBy>
  <cp:revision>140</cp:revision>
  <cp:lastPrinted>2016-08-24T16:43:15Z</cp:lastPrinted>
  <dcterms:created xsi:type="dcterms:W3CDTF">2013-11-14T01:22:54Z</dcterms:created>
  <dcterms:modified xsi:type="dcterms:W3CDTF">2025-07-29T14:35:17Z</dcterms:modified>
</cp:coreProperties>
</file>