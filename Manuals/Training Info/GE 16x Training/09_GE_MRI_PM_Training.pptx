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8" r:id="rId3"/>
    <p:sldId id="269" r:id="rId4"/>
    <p:sldId id="271" r:id="rId5"/>
    <p:sldId id="272" r:id="rId6"/>
    <p:sldId id="273" r:id="rId7"/>
    <p:sldId id="283" r:id="rId8"/>
    <p:sldId id="305" r:id="rId9"/>
    <p:sldId id="285" r:id="rId10"/>
    <p:sldId id="298" r:id="rId11"/>
    <p:sldId id="277" r:id="rId12"/>
    <p:sldId id="275" r:id="rId13"/>
    <p:sldId id="278" r:id="rId14"/>
    <p:sldId id="293" r:id="rId15"/>
    <p:sldId id="294" r:id="rId16"/>
    <p:sldId id="295" r:id="rId17"/>
    <p:sldId id="299" r:id="rId18"/>
    <p:sldId id="300" r:id="rId19"/>
    <p:sldId id="301" r:id="rId20"/>
    <p:sldId id="302" r:id="rId21"/>
    <p:sldId id="304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52" autoAdjust="0"/>
  </p:normalViewPr>
  <p:slideViewPr>
    <p:cSldViewPr>
      <p:cViewPr varScale="1">
        <p:scale>
          <a:sx n="94" d="100"/>
          <a:sy n="94" d="100"/>
        </p:scale>
        <p:origin x="888" y="2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J" userId="22cf0bdf11e74b3e" providerId="LiveId" clId="{A491DAE5-5C62-456A-BC7B-190AB9399AA0}"/>
    <pc:docChg chg="modSld">
      <pc:chgData name="Mike J" userId="22cf0bdf11e74b3e" providerId="LiveId" clId="{A491DAE5-5C62-456A-BC7B-190AB9399AA0}" dt="2025-06-12T14:25:09.732" v="15" actId="20577"/>
      <pc:docMkLst>
        <pc:docMk/>
      </pc:docMkLst>
      <pc:sldChg chg="modSp mod">
        <pc:chgData name="Mike J" userId="22cf0bdf11e74b3e" providerId="LiveId" clId="{A491DAE5-5C62-456A-BC7B-190AB9399AA0}" dt="2025-06-12T14:25:09.732" v="15" actId="20577"/>
        <pc:sldMkLst>
          <pc:docMk/>
          <pc:sldMk cId="1845353230" sldId="268"/>
        </pc:sldMkLst>
        <pc:spChg chg="mod">
          <ac:chgData name="Mike J" userId="22cf0bdf11e74b3e" providerId="LiveId" clId="{A491DAE5-5C62-456A-BC7B-190AB9399AA0}" dt="2025-06-12T14:17:13.094" v="9" actId="20577"/>
          <ac:spMkLst>
            <pc:docMk/>
            <pc:sldMk cId="1845353230" sldId="268"/>
            <ac:spMk id="4" creationId="{00000000-0000-0000-0000-000000000000}"/>
          </ac:spMkLst>
        </pc:spChg>
        <pc:spChg chg="mod">
          <ac:chgData name="Mike J" userId="22cf0bdf11e74b3e" providerId="LiveId" clId="{A491DAE5-5C62-456A-BC7B-190AB9399AA0}" dt="2025-06-12T14:25:09.732" v="15" actId="20577"/>
          <ac:spMkLst>
            <pc:docMk/>
            <pc:sldMk cId="1845353230" sldId="26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450-DE6C-4663-AAB7-BE98778311CB}" type="datetimeFigureOut">
              <a:rPr lang="en-US" smtClean="0"/>
              <a:pPr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5DB-33AA-4ACF-912B-D8E7E874F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 descr="RETHINK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76199" y="6360651"/>
            <a:ext cx="2895601" cy="456675"/>
          </a:xfrm>
          <a:prstGeom prst="rect">
            <a:avLst/>
          </a:prstGeom>
        </p:spPr>
      </p:pic>
      <p:pic>
        <p:nvPicPr>
          <p:cNvPr id="9" name="Picture 8" descr="BC logo 2014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934200" y="6264695"/>
            <a:ext cx="2023699" cy="593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10400" y="6211669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76200"/>
            <a:ext cx="457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2014 Leadership Meeting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24000" y="2514600"/>
            <a:ext cx="63528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GE MR PM Procedure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GE MR PM </a:t>
            </a:r>
            <a:r>
              <a:rPr lang="en-US"/>
              <a:t>Procedure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u="sng" dirty="0"/>
              <a:t>Objective</a:t>
            </a:r>
          </a:p>
          <a:p>
            <a:pPr algn="ctr">
              <a:buNone/>
            </a:pPr>
            <a:r>
              <a:rPr lang="en-US" sz="2400" dirty="0"/>
              <a:t>Build upon your current basic knowledge and perform a standard PM on a GE MRI system</a:t>
            </a:r>
          </a:p>
          <a:p>
            <a:pPr algn="ctr">
              <a:buNone/>
            </a:pPr>
            <a:endParaRPr lang="en-US" sz="2400" dirty="0"/>
          </a:p>
          <a:p>
            <a:pPr algn="ctr">
              <a:buNone/>
            </a:pPr>
            <a:r>
              <a:rPr lang="en-US" u="sng" dirty="0"/>
              <a:t>Materials Needed</a:t>
            </a:r>
          </a:p>
          <a:p>
            <a:pPr algn="ctr">
              <a:buNone/>
            </a:pPr>
            <a:r>
              <a:rPr lang="en-US" sz="2400" dirty="0"/>
              <a:t>“GE MR </a:t>
            </a:r>
            <a:r>
              <a:rPr lang="en-US" sz="2400"/>
              <a:t>PM Protocols” </a:t>
            </a:r>
            <a:r>
              <a:rPr lang="en-US" sz="2400" dirty="0"/>
              <a:t>Word Document</a:t>
            </a:r>
          </a:p>
          <a:p>
            <a:pPr algn="ctr">
              <a:buNone/>
            </a:pPr>
            <a:r>
              <a:rPr lang="en-US" sz="2400" dirty="0"/>
              <a:t>GE Documentation for your system</a:t>
            </a:r>
          </a:p>
          <a:p>
            <a:pPr algn="ctr">
              <a:buNone/>
            </a:pPr>
            <a:r>
              <a:rPr lang="en-US" sz="2400" dirty="0"/>
              <a:t>Basic system and scanning knowledge</a:t>
            </a:r>
          </a:p>
          <a:p>
            <a:pPr algn="ctr">
              <a:buNone/>
            </a:pPr>
            <a:r>
              <a:rPr lang="en-US" sz="2400" dirty="0"/>
              <a:t>Vacuum</a:t>
            </a:r>
          </a:p>
          <a:p>
            <a:pPr algn="ctr">
              <a:buNone/>
            </a:pPr>
            <a:r>
              <a:rPr lang="en-US" sz="2400" dirty="0"/>
              <a:t>Flat blade screwdriver</a:t>
            </a:r>
          </a:p>
          <a:p>
            <a:pPr algn="ctr">
              <a:buNone/>
            </a:pPr>
            <a:r>
              <a:rPr lang="en-US" sz="2400" dirty="0"/>
              <a:t>Philips screwdriver</a:t>
            </a:r>
          </a:p>
          <a:p>
            <a:pPr algn="ctr">
              <a:buNone/>
            </a:pPr>
            <a:r>
              <a:rPr lang="en-US" sz="2400" dirty="0"/>
              <a:t>PM checklist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5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First Things First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Preliminary system checks and backups</a:t>
            </a:r>
          </a:p>
          <a:p>
            <a:pPr lvl="1"/>
            <a:r>
              <a:rPr lang="en-US" dirty="0"/>
              <a:t>Before you get started tearing into the system it’s a good idea to see where your at and get the software backed up.</a:t>
            </a:r>
          </a:p>
          <a:p>
            <a:pPr lvl="1"/>
            <a:r>
              <a:rPr lang="en-US" dirty="0"/>
              <a:t>Create a Save Info (next slide)</a:t>
            </a:r>
          </a:p>
          <a:p>
            <a:pPr lvl="1"/>
            <a:r>
              <a:rPr lang="en-US" dirty="0"/>
              <a:t>Check the error log for any glaring issues</a:t>
            </a:r>
          </a:p>
          <a:p>
            <a:pPr lvl="1"/>
            <a:r>
              <a:rPr lang="en-US" dirty="0"/>
              <a:t>Ask the Technologist(s) if they have had any reoccurring issues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5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 descr="A computer screen with a notepad&#10;&#10;Description automatically generated">
            <a:extLst>
              <a:ext uri="{FF2B5EF4-FFF2-40B4-BE49-F238E27FC236}">
                <a16:creationId xmlns:a16="http://schemas.microsoft.com/office/drawing/2014/main" id="{D6772186-797E-5302-75CA-2F30B64C1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57" y="990600"/>
            <a:ext cx="6636208" cy="46482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Save Info/GI</a:t>
            </a:r>
          </a:p>
        </p:txBody>
      </p:sp>
      <p:sp>
        <p:nvSpPr>
          <p:cNvPr id="6" name="Oval 5"/>
          <p:cNvSpPr/>
          <p:nvPr/>
        </p:nvSpPr>
        <p:spPr>
          <a:xfrm>
            <a:off x="877200" y="3169444"/>
            <a:ext cx="531019" cy="1452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93819" y="3314700"/>
            <a:ext cx="914400" cy="1452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408219" y="3002168"/>
            <a:ext cx="9144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909093" y="1371600"/>
            <a:ext cx="23601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do a Save Info: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the Tools page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“Guided Install”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“FE mode”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Click start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Type in the password</a:t>
            </a:r>
          </a:p>
          <a:p>
            <a:r>
              <a:rPr lang="en-US" dirty="0"/>
              <a:t>   and hit enter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5F82C1C-E178-B901-BA89-DC0434EEFD3F}"/>
              </a:ext>
            </a:extLst>
          </p:cNvPr>
          <p:cNvSpPr/>
          <p:nvPr/>
        </p:nvSpPr>
        <p:spPr>
          <a:xfrm>
            <a:off x="482933" y="3962400"/>
            <a:ext cx="914400" cy="1452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 descr="A computer screen with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EB415F60-0979-1D5E-42EF-2EFEDAFEB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90600"/>
            <a:ext cx="6252308" cy="39624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Save Info Page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34200" y="1295400"/>
            <a:ext cx="20746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Select the </a:t>
            </a:r>
          </a:p>
          <a:p>
            <a:r>
              <a:rPr lang="en-US" dirty="0"/>
              <a:t>  “Save/Restore” tab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“Save</a:t>
            </a:r>
          </a:p>
          <a:p>
            <a:r>
              <a:rPr lang="en-US" dirty="0"/>
              <a:t>   Information”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Wait a few minutes</a:t>
            </a:r>
          </a:p>
          <a:p>
            <a:r>
              <a:rPr lang="en-US" dirty="0"/>
              <a:t>  for it to complete</a:t>
            </a:r>
          </a:p>
        </p:txBody>
      </p:sp>
      <p:sp>
        <p:nvSpPr>
          <p:cNvPr id="6" name="Oval 5"/>
          <p:cNvSpPr/>
          <p:nvPr/>
        </p:nvSpPr>
        <p:spPr>
          <a:xfrm>
            <a:off x="1677149" y="2667000"/>
            <a:ext cx="602325" cy="2383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657600" y="1752600"/>
            <a:ext cx="6858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u="sng" dirty="0"/>
              <a:t>What scans are we going to do?</a:t>
            </a:r>
          </a:p>
          <a:p>
            <a:pPr algn="ctr"/>
            <a:r>
              <a:rPr lang="en-US" sz="2800" dirty="0"/>
              <a:t>DQA Z ISO &amp; GRAD CALS</a:t>
            </a:r>
          </a:p>
          <a:p>
            <a:pPr algn="ctr"/>
            <a:r>
              <a:rPr lang="en-US" sz="2800" dirty="0"/>
              <a:t>DC Offsets</a:t>
            </a:r>
          </a:p>
          <a:p>
            <a:pPr algn="ctr"/>
            <a:r>
              <a:rPr lang="en-US" sz="2800" dirty="0"/>
              <a:t>LVshim</a:t>
            </a:r>
          </a:p>
          <a:p>
            <a:pPr algn="ctr"/>
            <a:r>
              <a:rPr lang="en-US" sz="2800" dirty="0"/>
              <a:t>Head and Body SNR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DQA Z ISO/GRAD CAL Procedure</a:t>
            </a:r>
          </a:p>
        </p:txBody>
      </p:sp>
      <p:pic>
        <p:nvPicPr>
          <p:cNvPr id="4" name="Content Placeholder 3" descr="20151112_200408491_iO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9906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6934200" y="1066800"/>
            <a:ext cx="2362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up the Head Coil </a:t>
            </a:r>
          </a:p>
          <a:p>
            <a:r>
              <a:rPr lang="en-US" dirty="0"/>
              <a:t>and DQA III Phantom</a:t>
            </a:r>
          </a:p>
          <a:p>
            <a:r>
              <a:rPr lang="en-US" dirty="0"/>
              <a:t>like this and landmark </a:t>
            </a:r>
          </a:p>
          <a:p>
            <a:r>
              <a:rPr lang="en-US" dirty="0"/>
              <a:t>on the center, advance</a:t>
            </a:r>
          </a:p>
          <a:p>
            <a:r>
              <a:rPr lang="en-US" dirty="0"/>
              <a:t>to scan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DQA TOOL</a:t>
            </a:r>
          </a:p>
        </p:txBody>
      </p:sp>
      <p:pic>
        <p:nvPicPr>
          <p:cNvPr id="8" name="Content Placeholder 7" descr="A computer screen with a screen&#10;&#10;Description automatically generated with medium confidence">
            <a:extLst>
              <a:ext uri="{FF2B5EF4-FFF2-40B4-BE49-F238E27FC236}">
                <a16:creationId xmlns:a16="http://schemas.microsoft.com/office/drawing/2014/main" id="{F8FEF502-9C8A-2A6E-2EA7-26A40BF58A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990600"/>
            <a:ext cx="6296887" cy="5619973"/>
          </a:xfr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96FCAC1-F539-4436-A8D9-9E19D1673FCA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26E206-0D74-388C-A060-B2B61F5CFC7F}"/>
              </a:ext>
            </a:extLst>
          </p:cNvPr>
          <p:cNvSpPr/>
          <p:nvPr/>
        </p:nvSpPr>
        <p:spPr>
          <a:xfrm>
            <a:off x="1143000" y="2971800"/>
            <a:ext cx="9906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31C78E8-7E03-052B-6148-ECA0DC49860D}"/>
              </a:ext>
            </a:extLst>
          </p:cNvPr>
          <p:cNvSpPr/>
          <p:nvPr/>
        </p:nvSpPr>
        <p:spPr>
          <a:xfrm>
            <a:off x="2438400" y="2971800"/>
            <a:ext cx="10668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FC18B1-BB4B-852A-09BC-CAE6971E814E}"/>
              </a:ext>
            </a:extLst>
          </p:cNvPr>
          <p:cNvSpPr txBox="1"/>
          <p:nvPr/>
        </p:nvSpPr>
        <p:spPr>
          <a:xfrm>
            <a:off x="7391400" y="990600"/>
            <a:ext cx="18273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the Tools Desktop,</a:t>
            </a:r>
          </a:p>
          <a:p>
            <a:r>
              <a:rPr lang="en-US" dirty="0"/>
              <a:t>select “Calibrations”</a:t>
            </a:r>
          </a:p>
          <a:p>
            <a:r>
              <a:rPr lang="en-US" dirty="0"/>
              <a:t>then “DQA Calibrations” to </a:t>
            </a:r>
          </a:p>
          <a:p>
            <a:r>
              <a:rPr lang="en-US" dirty="0"/>
              <a:t>start the tool</a:t>
            </a:r>
          </a:p>
        </p:txBody>
      </p:sp>
    </p:spTree>
    <p:extLst>
      <p:ext uri="{BB962C8B-B14F-4D97-AF65-F5344CB8AC3E}">
        <p14:creationId xmlns:p14="http://schemas.microsoft.com/office/powerpoint/2010/main" val="1692923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DQA Z ISO</a:t>
            </a:r>
          </a:p>
        </p:txBody>
      </p:sp>
      <p:pic>
        <p:nvPicPr>
          <p:cNvPr id="6" name="Content Placeholder 5" descr="iso4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990600"/>
            <a:ext cx="6166035" cy="4983163"/>
          </a:xfrm>
        </p:spPr>
      </p:pic>
      <p:sp>
        <p:nvSpPr>
          <p:cNvPr id="7" name="TextBox 6"/>
          <p:cNvSpPr txBox="1"/>
          <p:nvPr/>
        </p:nvSpPr>
        <p:spPr>
          <a:xfrm>
            <a:off x="6477000" y="1219200"/>
            <a:ext cx="2251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ISO center image</a:t>
            </a:r>
          </a:p>
          <a:p>
            <a:r>
              <a:rPr lang="en-US" dirty="0"/>
              <a:t> should look like this.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DC Offsets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1066800"/>
            <a:ext cx="252511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only need to run for </a:t>
            </a:r>
          </a:p>
          <a:p>
            <a:r>
              <a:rPr lang="en-US" dirty="0"/>
              <a:t>Normal Mode. Unless </a:t>
            </a:r>
          </a:p>
          <a:p>
            <a:r>
              <a:rPr lang="en-US" dirty="0"/>
              <a:t>You have a </a:t>
            </a:r>
            <a:r>
              <a:rPr lang="en-US" dirty="0" err="1"/>
              <a:t>Twinspeed</a:t>
            </a:r>
            <a:endParaRPr lang="en-US" dirty="0"/>
          </a:p>
          <a:p>
            <a:r>
              <a:rPr lang="en-US" dirty="0"/>
              <a:t>System. </a:t>
            </a:r>
          </a:p>
          <a:p>
            <a:endParaRPr lang="en-US" dirty="0"/>
          </a:p>
          <a:p>
            <a:r>
              <a:rPr lang="en-US" dirty="0"/>
              <a:t>This scan doesn’t require</a:t>
            </a:r>
          </a:p>
          <a:p>
            <a:r>
              <a:rPr lang="en-US" dirty="0"/>
              <a:t>Any coil or phantom.</a:t>
            </a:r>
          </a:p>
          <a:p>
            <a:endParaRPr lang="en-US" dirty="0"/>
          </a:p>
          <a:p>
            <a:r>
              <a:rPr lang="en-US" dirty="0"/>
              <a:t>Its done when it says</a:t>
            </a:r>
          </a:p>
          <a:p>
            <a:r>
              <a:rPr lang="en-US" dirty="0"/>
              <a:t>“test complete” Takes </a:t>
            </a:r>
          </a:p>
          <a:p>
            <a:r>
              <a:rPr lang="en-US" dirty="0"/>
              <a:t>About 3 minutes.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1" name="Picture 10" descr="A computer screen with a message&#10;&#10;Description automatically generated">
            <a:extLst>
              <a:ext uri="{FF2B5EF4-FFF2-40B4-BE49-F238E27FC236}">
                <a16:creationId xmlns:a16="http://schemas.microsoft.com/office/drawing/2014/main" id="{6AE1DDAE-E42D-5D7F-00A9-29502F2C2D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838200"/>
            <a:ext cx="6039180" cy="55822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Phantom Setup</a:t>
            </a:r>
          </a:p>
        </p:txBody>
      </p:sp>
      <p:pic>
        <p:nvPicPr>
          <p:cNvPr id="4" name="Content Placeholder 3" descr="20151112_184426741_iO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9906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7010400" y="1219200"/>
            <a:ext cx="21436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Advance to scan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Save Series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Scan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Record the TG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LV Shim Tool and Analysis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Content Placeholder 7" descr="A white board with a number on it&#10;&#10;Description automatically generated">
            <a:extLst>
              <a:ext uri="{FF2B5EF4-FFF2-40B4-BE49-F238E27FC236}">
                <a16:creationId xmlns:a16="http://schemas.microsoft.com/office/drawing/2014/main" id="{06721640-85E3-F76B-6B93-A248653C2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030480"/>
            <a:ext cx="6410430" cy="4983163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6B3C11-8B35-2AA7-84E5-6D050AD461EC}"/>
              </a:ext>
            </a:extLst>
          </p:cNvPr>
          <p:cNvSpPr txBox="1"/>
          <p:nvPr/>
        </p:nvSpPr>
        <p:spPr>
          <a:xfrm>
            <a:off x="6982062" y="1295400"/>
            <a:ext cx="22366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On the Tools Desktop,</a:t>
            </a:r>
          </a:p>
          <a:p>
            <a:r>
              <a:rPr lang="en-US"/>
              <a:t>select “Calibrations”</a:t>
            </a:r>
          </a:p>
          <a:p>
            <a:r>
              <a:rPr lang="en-US"/>
              <a:t>then “LV Shim” to </a:t>
            </a:r>
          </a:p>
          <a:p>
            <a:r>
              <a:rPr lang="en-US"/>
              <a:t>start the tool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Sample Images</a:t>
            </a:r>
          </a:p>
        </p:txBody>
      </p:sp>
      <p:pic>
        <p:nvPicPr>
          <p:cNvPr id="4" name="Content Placeholder 3" descr="lvshimfirstset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990600"/>
            <a:ext cx="6166035" cy="498316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and Body SNR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Head and Body SNR scans are very similar.  They use very similar Protocols and Phantoms.</a:t>
            </a:r>
          </a:p>
          <a:p>
            <a:pPr>
              <a:buNone/>
            </a:pPr>
            <a:r>
              <a:rPr lang="en-US" dirty="0"/>
              <a:t>The SNR numbers obtained are subjective and are specific to your machine.  </a:t>
            </a:r>
          </a:p>
          <a:p>
            <a:pPr>
              <a:buNone/>
            </a:pPr>
            <a:r>
              <a:rPr lang="en-US" dirty="0"/>
              <a:t>We can use numbers from other scanners to get a range that your machine should be within. </a:t>
            </a:r>
          </a:p>
          <a:p>
            <a:pPr>
              <a:buNone/>
            </a:pPr>
            <a:r>
              <a:rPr lang="en-US" dirty="0"/>
              <a:t> The SNR number are mainly used to detect a trending issue but can be use for troubleshooting.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and Body SNR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2971800" cy="5486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 u="sng" dirty="0"/>
              <a:t>Head SNR</a:t>
            </a:r>
            <a:endParaRPr lang="en-US" sz="1400" b="1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Series Description – </a:t>
            </a:r>
            <a:r>
              <a:rPr lang="en-US" sz="1400" b="1" dirty="0"/>
              <a:t>Head SNR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Patient Position – </a:t>
            </a:r>
            <a:r>
              <a:rPr lang="en-US" sz="1400" b="1" dirty="0"/>
              <a:t>Supine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Patient Entry - </a:t>
            </a:r>
            <a:r>
              <a:rPr lang="en-US" sz="1400" b="1" dirty="0"/>
              <a:t>Head First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Coil - </a:t>
            </a:r>
            <a:r>
              <a:rPr lang="en-US" sz="1400" b="1" dirty="0"/>
              <a:t>Head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Plane - </a:t>
            </a:r>
            <a:r>
              <a:rPr lang="en-US" sz="1400" b="1" dirty="0"/>
              <a:t>Axial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Mode - </a:t>
            </a:r>
            <a:r>
              <a:rPr lang="en-US" sz="1400" b="1" dirty="0"/>
              <a:t>2D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Pulse </a:t>
            </a:r>
            <a:r>
              <a:rPr lang="en-US" sz="1400" dirty="0" err="1"/>
              <a:t>Seq</a:t>
            </a:r>
            <a:r>
              <a:rPr lang="en-US" sz="1400" dirty="0"/>
              <a:t> - </a:t>
            </a:r>
            <a:r>
              <a:rPr lang="en-US" sz="1400" b="1" dirty="0"/>
              <a:t>Spin Echo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# of Echoes 1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TE </a:t>
            </a:r>
            <a:r>
              <a:rPr lang="en-US" sz="1400" b="1" dirty="0"/>
              <a:t>[20]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TR </a:t>
            </a:r>
            <a:r>
              <a:rPr lang="en-US" sz="1400" b="1" dirty="0"/>
              <a:t>[500]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FOV </a:t>
            </a:r>
            <a:r>
              <a:rPr lang="en-US" sz="1400" b="1" dirty="0"/>
              <a:t>[24]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Slice Thickness </a:t>
            </a:r>
            <a:r>
              <a:rPr lang="en-US" sz="1400" b="1" dirty="0"/>
              <a:t>[3]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Spacing </a:t>
            </a:r>
            <a:r>
              <a:rPr lang="en-US" sz="1400" b="1" dirty="0"/>
              <a:t>[1.5]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Start </a:t>
            </a:r>
            <a:r>
              <a:rPr lang="en-US" sz="1400" b="1" dirty="0"/>
              <a:t>0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End </a:t>
            </a:r>
            <a:r>
              <a:rPr lang="en-US" sz="1400" b="1" dirty="0"/>
              <a:t>0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# of Slices 1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L/R Center 0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P/A Center 0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Freq </a:t>
            </a:r>
            <a:r>
              <a:rPr lang="en-US" sz="1400" b="1" dirty="0"/>
              <a:t>[256]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Phase </a:t>
            </a:r>
            <a:r>
              <a:rPr lang="en-US" sz="1400" b="1" dirty="0"/>
              <a:t>[256]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NEX </a:t>
            </a:r>
            <a:r>
              <a:rPr lang="en-US" sz="1400" b="1" dirty="0"/>
              <a:t>[1]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Phase FOV 1.00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Freq Dir </a:t>
            </a:r>
            <a:r>
              <a:rPr lang="en-US" sz="1400" b="1" dirty="0"/>
              <a:t>[A/P]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Auto Center Freq </a:t>
            </a:r>
            <a:r>
              <a:rPr lang="en-US" sz="1400" b="1" dirty="0"/>
              <a:t>[Peak]</a:t>
            </a:r>
            <a:endParaRPr lang="en-US" sz="1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91200" y="685800"/>
            <a:ext cx="2438400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400" b="1" u="sng" dirty="0"/>
              <a:t>Body SNR</a:t>
            </a:r>
            <a:endParaRPr lang="en-US" sz="1400" b="1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Series Description - </a:t>
            </a:r>
            <a:r>
              <a:rPr lang="en-US" sz="1400" b="1" dirty="0"/>
              <a:t>Body SNR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Patient Position – </a:t>
            </a:r>
            <a:r>
              <a:rPr lang="en-US" sz="1400" b="1" dirty="0"/>
              <a:t>Supine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Patient Entry - </a:t>
            </a:r>
            <a:r>
              <a:rPr lang="en-US" sz="1400" b="1" dirty="0"/>
              <a:t>Head First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Coil - </a:t>
            </a:r>
            <a:r>
              <a:rPr lang="en-US" sz="1400" b="1" dirty="0"/>
              <a:t>Body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Plane - </a:t>
            </a:r>
            <a:r>
              <a:rPr lang="en-US" sz="1400" b="1" dirty="0"/>
              <a:t>Axial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Mode - </a:t>
            </a:r>
            <a:r>
              <a:rPr lang="en-US" sz="1400" b="1" dirty="0"/>
              <a:t>2D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Pulse </a:t>
            </a:r>
            <a:r>
              <a:rPr lang="en-US" sz="1400" dirty="0" err="1"/>
              <a:t>Seq</a:t>
            </a:r>
            <a:r>
              <a:rPr lang="en-US" sz="1400" dirty="0"/>
              <a:t> - </a:t>
            </a:r>
            <a:r>
              <a:rPr lang="en-US" sz="1400" b="1" dirty="0"/>
              <a:t>Spin Echo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# of Echoes 1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TE </a:t>
            </a:r>
            <a:r>
              <a:rPr lang="en-US" sz="1400" b="1" dirty="0"/>
              <a:t>[20]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TR </a:t>
            </a:r>
            <a:r>
              <a:rPr lang="en-US" sz="1400" b="1" dirty="0"/>
              <a:t>[500]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FOV </a:t>
            </a:r>
            <a:r>
              <a:rPr lang="en-US" sz="1400" b="1" dirty="0"/>
              <a:t>[48]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Slice Thickness </a:t>
            </a:r>
            <a:r>
              <a:rPr lang="en-US" sz="1400" b="1" dirty="0"/>
              <a:t>[3]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Spacing </a:t>
            </a:r>
            <a:r>
              <a:rPr lang="en-US" sz="1400" b="1" dirty="0"/>
              <a:t>[1.5]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Start </a:t>
            </a:r>
            <a:r>
              <a:rPr lang="en-US" sz="1400" b="1" dirty="0"/>
              <a:t>0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End </a:t>
            </a:r>
            <a:r>
              <a:rPr lang="en-US" sz="1400" b="1" dirty="0"/>
              <a:t>0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# of Slices 1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L/R Center 0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P/A Center 0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Freq </a:t>
            </a:r>
            <a:r>
              <a:rPr lang="en-US" sz="1400" b="1" dirty="0"/>
              <a:t>[256]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Phase </a:t>
            </a:r>
            <a:r>
              <a:rPr lang="en-US" sz="1400" b="1" dirty="0"/>
              <a:t>[256]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NEX </a:t>
            </a:r>
            <a:r>
              <a:rPr lang="en-US" sz="1400" b="1" dirty="0"/>
              <a:t>[1]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Phase FOV 1.00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Freq Dir </a:t>
            </a:r>
            <a:r>
              <a:rPr lang="en-US" sz="1400" b="1" dirty="0"/>
              <a:t>[A/P]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Auto Center Freq </a:t>
            </a:r>
            <a:r>
              <a:rPr lang="en-US" sz="1400" b="1" dirty="0"/>
              <a:t>[Peak]</a:t>
            </a: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SNR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1600200"/>
            <a:ext cx="335880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Put the Head TLT phantom </a:t>
            </a:r>
          </a:p>
          <a:p>
            <a:r>
              <a:rPr lang="en-US" dirty="0"/>
              <a:t>into the head coil at the </a:t>
            </a:r>
          </a:p>
          <a:p>
            <a:r>
              <a:rPr lang="en-US" dirty="0"/>
              <a:t>same spot that the DQA </a:t>
            </a:r>
          </a:p>
          <a:p>
            <a:r>
              <a:rPr lang="en-US" dirty="0"/>
              <a:t>phantom was.</a:t>
            </a:r>
          </a:p>
          <a:p>
            <a:endParaRPr lang="en-US" dirty="0"/>
          </a:p>
          <a:p>
            <a:r>
              <a:rPr lang="en-US" dirty="0"/>
              <a:t>Answer yes to the pop-ups. When</a:t>
            </a:r>
          </a:p>
          <a:p>
            <a:r>
              <a:rPr lang="en-US" dirty="0"/>
              <a:t>Scans are finished it will pop-up</a:t>
            </a:r>
          </a:p>
          <a:p>
            <a:r>
              <a:rPr lang="en-US" dirty="0"/>
              <a:t>SNR, Noise, TG, and Center Freq.</a:t>
            </a:r>
          </a:p>
          <a:p>
            <a:r>
              <a:rPr lang="en-US" dirty="0"/>
              <a:t>Numbers.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9" name="Content Placeholder 8" descr="A computer screen with a message&#10;&#10;Description automatically generated">
            <a:extLst>
              <a:ext uri="{FF2B5EF4-FFF2-40B4-BE49-F238E27FC236}">
                <a16:creationId xmlns:a16="http://schemas.microsoft.com/office/drawing/2014/main" id="{825F40A1-AE63-2804-B936-B3E69ACBC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66" y="1524000"/>
            <a:ext cx="5285534" cy="396240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Body SNR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7554" y="1447800"/>
            <a:ext cx="259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Body SNR is performed </a:t>
            </a:r>
          </a:p>
          <a:p>
            <a:r>
              <a:rPr lang="en-US" dirty="0"/>
              <a:t>the same way as the Head, but with the Body </a:t>
            </a:r>
          </a:p>
          <a:p>
            <a:r>
              <a:rPr lang="en-US" dirty="0"/>
              <a:t>Phantom.  Scan and </a:t>
            </a:r>
          </a:p>
          <a:p>
            <a:r>
              <a:rPr lang="en-US" dirty="0"/>
              <a:t>analyze with the head </a:t>
            </a:r>
          </a:p>
          <a:p>
            <a:r>
              <a:rPr lang="en-US" dirty="0"/>
              <a:t>instructions.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Content Placeholder 8" descr="A computer screen with a message&#10;&#10;Description automatically generated">
            <a:extLst>
              <a:ext uri="{FF2B5EF4-FFF2-40B4-BE49-F238E27FC236}">
                <a16:creationId xmlns:a16="http://schemas.microsoft.com/office/drawing/2014/main" id="{63084A31-F5DD-1BA6-C77B-495701DB7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524000"/>
            <a:ext cx="5761754" cy="3687763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pPr algn="ctr"/>
            <a:r>
              <a:rPr lang="en-US" dirty="0"/>
              <a:t>Safety and Regulatory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990601"/>
            <a:ext cx="5867400" cy="43434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Check O2 Monitor Operation (if applicable)</a:t>
            </a:r>
          </a:p>
          <a:p>
            <a:r>
              <a:rPr lang="en-US" dirty="0"/>
              <a:t>Check Peripheral Pulse Gating Cable</a:t>
            </a:r>
          </a:p>
          <a:p>
            <a:r>
              <a:rPr lang="en-US" dirty="0"/>
              <a:t>Check Patient Pneumatic Alert System</a:t>
            </a:r>
          </a:p>
          <a:p>
            <a:r>
              <a:rPr lang="en-US" dirty="0"/>
              <a:t>Check Emergency Release of Cradle</a:t>
            </a:r>
          </a:p>
          <a:p>
            <a:r>
              <a:rPr lang="en-US" dirty="0"/>
              <a:t>Check Emergency Release of Patient Transport</a:t>
            </a:r>
          </a:p>
          <a:p>
            <a:r>
              <a:rPr lang="en-US" dirty="0"/>
              <a:t>Check Patient Transport Casters</a:t>
            </a:r>
          </a:p>
          <a:p>
            <a:r>
              <a:rPr lang="en-US" dirty="0"/>
              <a:t>Check Patient </a:t>
            </a:r>
            <a:r>
              <a:rPr lang="en-US" dirty="0" err="1"/>
              <a:t>Armboard</a:t>
            </a:r>
            <a:r>
              <a:rPr lang="en-US" dirty="0"/>
              <a:t> Setscrews</a:t>
            </a:r>
          </a:p>
          <a:p>
            <a:r>
              <a:rPr lang="en-US" dirty="0"/>
              <a:t>Verify That Cradle Must Be At Home To Lower Table</a:t>
            </a:r>
          </a:p>
          <a:p>
            <a:r>
              <a:rPr lang="en-US" dirty="0"/>
              <a:t>Check Cradle Longitudinal Drive Clutch</a:t>
            </a:r>
          </a:p>
          <a:p>
            <a:r>
              <a:rPr lang="en-US" dirty="0"/>
              <a:t>Check All Cradle and Carriage Wheels</a:t>
            </a:r>
          </a:p>
          <a:p>
            <a:r>
              <a:rPr lang="en-US" dirty="0"/>
              <a:t>Check Emergency Off Circuits</a:t>
            </a:r>
          </a:p>
          <a:p>
            <a:r>
              <a:rPr lang="en-US" dirty="0"/>
              <a:t>Check Power Monitor Functional Test</a:t>
            </a:r>
          </a:p>
          <a:p>
            <a:r>
              <a:rPr lang="en-US" dirty="0"/>
              <a:t>Check Magnet Run Down Unit (ERU, MRU)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914400"/>
            <a:ext cx="3886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Not Applicable</a:t>
            </a:r>
          </a:p>
          <a:p>
            <a:pPr algn="r"/>
            <a:r>
              <a:rPr lang="en-US" sz="2000" dirty="0"/>
              <a:t>Under System Level Procedures</a:t>
            </a:r>
          </a:p>
          <a:p>
            <a:pPr algn="r"/>
            <a:r>
              <a:rPr lang="en-US" sz="2000" dirty="0"/>
              <a:t>Squeeze the Patient alert bulb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System Level Procedures</a:t>
            </a:r>
          </a:p>
          <a:p>
            <a:pPr algn="r"/>
            <a:r>
              <a:rPr lang="en-US" sz="2000" dirty="0"/>
              <a:t>Under RF Cabinet, Select yours</a:t>
            </a:r>
          </a:p>
          <a:p>
            <a:pPr algn="r"/>
            <a:r>
              <a:rPr lang="en-US" sz="2000" dirty="0"/>
              <a:t>See GE MRI Signa Excite </a:t>
            </a:r>
            <a:r>
              <a:rPr lang="en-US" sz="2000" dirty="0" err="1"/>
              <a:t>Hdxt</a:t>
            </a:r>
            <a:r>
              <a:rPr lang="en-US" sz="2000" dirty="0"/>
              <a:t> training PPT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pPr algn="ctr"/>
            <a:r>
              <a:rPr lang="en-US" dirty="0"/>
              <a:t>Other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200" y="914400"/>
            <a:ext cx="5791200" cy="1295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2000" dirty="0"/>
              <a:t>Check Gradient Coil Cooling Unit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Check Dock Pedal Springs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Check Patient Transport Hydraulic Fluid Level 	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Check Patient Alignment Lights 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914400"/>
            <a:ext cx="3886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Under Blowers and Chillers  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Magnet Enclosures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</a:pPr>
            <a:r>
              <a:rPr lang="en-US" dirty="0"/>
              <a:t>Delete Error Log and Remove Excess "core"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Delete the Error Log:</a:t>
            </a:r>
          </a:p>
          <a:p>
            <a:pPr lvl="1"/>
            <a:r>
              <a:rPr lang="en-US" dirty="0"/>
              <a:t>In a c-shell type </a:t>
            </a:r>
            <a:r>
              <a:rPr lang="en-US" dirty="0" err="1"/>
              <a:t>storelog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Remove core files:</a:t>
            </a:r>
          </a:p>
          <a:p>
            <a:pPr>
              <a:buNone/>
            </a:pPr>
            <a:r>
              <a:rPr lang="en-US" dirty="0"/>
              <a:t>In a c-shell type </a:t>
            </a:r>
            <a:r>
              <a:rPr lang="en-US" dirty="0" err="1"/>
              <a:t>cd</a:t>
            </a:r>
            <a:r>
              <a:rPr lang="en-US" dirty="0"/>
              <a:t> /</a:t>
            </a:r>
            <a:r>
              <a:rPr lang="en-US" dirty="0" err="1"/>
              <a:t>usr</a:t>
            </a:r>
            <a:r>
              <a:rPr lang="en-US" dirty="0"/>
              <a:t>/g/service/log &lt;enter&gt;</a:t>
            </a:r>
          </a:p>
          <a:p>
            <a:pPr>
              <a:buNone/>
            </a:pPr>
            <a:r>
              <a:rPr lang="en-US" dirty="0"/>
              <a:t>Type </a:t>
            </a:r>
            <a:r>
              <a:rPr lang="en-US" dirty="0" err="1"/>
              <a:t>rm</a:t>
            </a:r>
            <a:r>
              <a:rPr lang="en-US" dirty="0"/>
              <a:t> –</a:t>
            </a:r>
            <a:r>
              <a:rPr lang="en-US" dirty="0" err="1"/>
              <a:t>rf</a:t>
            </a:r>
            <a:r>
              <a:rPr lang="en-US" dirty="0"/>
              <a:t> *core*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pPr algn="ctr"/>
            <a:r>
              <a:rPr lang="en-US" dirty="0"/>
              <a:t>Magnet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914400"/>
            <a:ext cx="5334000" cy="19812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2000" dirty="0"/>
              <a:t>Record Magnet Pressure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</a:pPr>
            <a:r>
              <a:rPr lang="en-US" sz="2000" dirty="0"/>
              <a:t>Record Shield Cooler Hours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Calculate Lost Hours of Shield Cooler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Record Helium Level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Record Static Shield Cooler Compressor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914400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Check the gauge on the magnet and the Magnet Monitor</a:t>
            </a:r>
          </a:p>
          <a:p>
            <a:pPr algn="r"/>
            <a:r>
              <a:rPr lang="en-US" sz="2000" dirty="0"/>
              <a:t>On the front of the Shield Cooler</a:t>
            </a:r>
          </a:p>
          <a:p>
            <a:pPr algn="r"/>
            <a:r>
              <a:rPr lang="en-US" sz="2000" dirty="0"/>
              <a:t>See below</a:t>
            </a:r>
          </a:p>
          <a:p>
            <a:pPr algn="r"/>
            <a:r>
              <a:rPr lang="en-US" sz="2000" dirty="0"/>
              <a:t>On the Magnet Monitor</a:t>
            </a:r>
          </a:p>
          <a:p>
            <a:pPr algn="r"/>
            <a:r>
              <a:rPr lang="en-US" sz="2000" dirty="0"/>
              <a:t>Gauge on the Shield Cooler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30480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Calculate Lost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Hours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3733800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the hours you recorded on the last PM and subtract them from the hours on this PM.  That will give you a total minutes lost.  Divide by 60 to get the total hours.  If there has been a helium loss since the last PM, this could account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6096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values get recorded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4271</TotalTime>
  <Words>1076</Words>
  <Application>Microsoft Office PowerPoint</Application>
  <PresentationFormat>On-screen Show (4:3)</PresentationFormat>
  <Paragraphs>228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Basic GE MR PM Procedure </vt:lpstr>
      <vt:lpstr>First Things First</vt:lpstr>
      <vt:lpstr>Save Info/GI</vt:lpstr>
      <vt:lpstr>Save Info Page 3</vt:lpstr>
      <vt:lpstr>System Scanning</vt:lpstr>
      <vt:lpstr>DQA Z ISO/GRAD CAL Procedure</vt:lpstr>
      <vt:lpstr>DQA TOOL</vt:lpstr>
      <vt:lpstr>DQA Z ISO</vt:lpstr>
      <vt:lpstr>DC Offsets</vt:lpstr>
      <vt:lpstr>LV Shim Phantom Setup</vt:lpstr>
      <vt:lpstr>LV Shim Tool and Analysis</vt:lpstr>
      <vt:lpstr>LV Shim Sample Images</vt:lpstr>
      <vt:lpstr>Head and Body SNR</vt:lpstr>
      <vt:lpstr>Head and Body SNR Protocol</vt:lpstr>
      <vt:lpstr>Head SNR Procedure</vt:lpstr>
      <vt:lpstr>Body SNR </vt:lpstr>
      <vt:lpstr>Safety and Regulatory Checks</vt:lpstr>
      <vt:lpstr>Other Checks</vt:lpstr>
      <vt:lpstr>Delete Error Log and Remove Excess "core" Files</vt:lpstr>
      <vt:lpstr>Magnet Checks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alicia.bostic</dc:creator>
  <cp:lastModifiedBy>Mike J</cp:lastModifiedBy>
  <cp:revision>121</cp:revision>
  <dcterms:created xsi:type="dcterms:W3CDTF">2013-11-14T01:22:54Z</dcterms:created>
  <dcterms:modified xsi:type="dcterms:W3CDTF">2025-06-12T14:25:11Z</dcterms:modified>
</cp:coreProperties>
</file>