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6" r:id="rId2"/>
    <p:sldId id="277" r:id="rId3"/>
    <p:sldId id="287" r:id="rId4"/>
    <p:sldId id="286" r:id="rId5"/>
    <p:sldId id="288" r:id="rId6"/>
    <p:sldId id="279" r:id="rId7"/>
    <p:sldId id="278" r:id="rId8"/>
    <p:sldId id="273" r:id="rId9"/>
    <p:sldId id="280" r:id="rId10"/>
    <p:sldId id="281" r:id="rId11"/>
    <p:sldId id="28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44250-1568-44F8-976A-056F1812A0B8}" v="10" dt="2024-05-08T01:43:40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52" autoAdjust="0"/>
  </p:normalViewPr>
  <p:slideViewPr>
    <p:cSldViewPr>
      <p:cViewPr>
        <p:scale>
          <a:sx n="88" d="100"/>
          <a:sy n="88" d="100"/>
        </p:scale>
        <p:origin x="75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24544250-1568-44F8-976A-056F1812A0B8}"/>
    <pc:docChg chg="undo custSel delSld modSld">
      <pc:chgData name="Mike J" userId="22cf0bdf11e74b3e" providerId="LiveId" clId="{24544250-1568-44F8-976A-056F1812A0B8}" dt="2024-05-08T01:45:28.789" v="46"/>
      <pc:docMkLst>
        <pc:docMk/>
      </pc:docMkLst>
      <pc:sldChg chg="del">
        <pc:chgData name="Mike J" userId="22cf0bdf11e74b3e" providerId="LiveId" clId="{24544250-1568-44F8-976A-056F1812A0B8}" dt="2024-05-08T01:43:56.248" v="39" actId="47"/>
        <pc:sldMkLst>
          <pc:docMk/>
          <pc:sldMk cId="0" sldId="257"/>
        </pc:sldMkLst>
      </pc:sldChg>
      <pc:sldChg chg="modSp mod">
        <pc:chgData name="Mike J" userId="22cf0bdf11e74b3e" providerId="LiveId" clId="{24544250-1568-44F8-976A-056F1812A0B8}" dt="2024-05-08T01:41:31.153" v="36" actId="20577"/>
        <pc:sldMkLst>
          <pc:docMk/>
          <pc:sldMk cId="3263910147" sldId="273"/>
        </pc:sldMkLst>
        <pc:spChg chg="mod">
          <ac:chgData name="Mike J" userId="22cf0bdf11e74b3e" providerId="LiveId" clId="{24544250-1568-44F8-976A-056F1812A0B8}" dt="2024-05-08T01:41:31.153" v="36" actId="20577"/>
          <ac:spMkLst>
            <pc:docMk/>
            <pc:sldMk cId="3263910147" sldId="273"/>
            <ac:spMk id="2" creationId="{00000000-0000-0000-0000-000000000000}"/>
          </ac:spMkLst>
        </pc:spChg>
        <pc:spChg chg="mod">
          <ac:chgData name="Mike J" userId="22cf0bdf11e74b3e" providerId="LiveId" clId="{24544250-1568-44F8-976A-056F1812A0B8}" dt="2024-05-08T01:41:03.682" v="31" actId="20577"/>
          <ac:spMkLst>
            <pc:docMk/>
            <pc:sldMk cId="3263910147" sldId="273"/>
            <ac:spMk id="3" creationId="{00000000-0000-0000-0000-000000000000}"/>
          </ac:spMkLst>
        </pc:spChg>
      </pc:sldChg>
      <pc:sldChg chg="del">
        <pc:chgData name="Mike J" userId="22cf0bdf11e74b3e" providerId="LiveId" clId="{24544250-1568-44F8-976A-056F1812A0B8}" dt="2024-05-08T01:44:05.811" v="40" actId="47"/>
        <pc:sldMkLst>
          <pc:docMk/>
          <pc:sldMk cId="405869717" sldId="274"/>
        </pc:sldMkLst>
      </pc:sldChg>
      <pc:sldChg chg="delSp mod">
        <pc:chgData name="Mike J" userId="22cf0bdf11e74b3e" providerId="LiveId" clId="{24544250-1568-44F8-976A-056F1812A0B8}" dt="2024-05-08T01:37:24.317" v="0" actId="478"/>
        <pc:sldMkLst>
          <pc:docMk/>
          <pc:sldMk cId="449625969" sldId="276"/>
        </pc:sldMkLst>
        <pc:picChg chg="del">
          <ac:chgData name="Mike J" userId="22cf0bdf11e74b3e" providerId="LiveId" clId="{24544250-1568-44F8-976A-056F1812A0B8}" dt="2024-05-08T01:37:24.317" v="0" actId="478"/>
          <ac:picMkLst>
            <pc:docMk/>
            <pc:sldMk cId="449625969" sldId="276"/>
            <ac:picMk id="7" creationId="{00000000-0000-0000-0000-000000000000}"/>
          </ac:picMkLst>
        </pc:picChg>
      </pc:sldChg>
      <pc:sldChg chg="modSp mod">
        <pc:chgData name="Mike J" userId="22cf0bdf11e74b3e" providerId="LiveId" clId="{24544250-1568-44F8-976A-056F1812A0B8}" dt="2024-05-08T01:40:21.739" v="17" actId="20577"/>
        <pc:sldMkLst>
          <pc:docMk/>
          <pc:sldMk cId="2290824747" sldId="278"/>
        </pc:sldMkLst>
        <pc:spChg chg="mod">
          <ac:chgData name="Mike J" userId="22cf0bdf11e74b3e" providerId="LiveId" clId="{24544250-1568-44F8-976A-056F1812A0B8}" dt="2024-05-08T01:40:21.739" v="17" actId="20577"/>
          <ac:spMkLst>
            <pc:docMk/>
            <pc:sldMk cId="2290824747" sldId="278"/>
            <ac:spMk id="2" creationId="{00000000-0000-0000-0000-000000000000}"/>
          </ac:spMkLst>
        </pc:spChg>
      </pc:sldChg>
      <pc:sldChg chg="addSp delSp modSp mod modClrScheme chgLayout">
        <pc:chgData name="Mike J" userId="22cf0bdf11e74b3e" providerId="LiveId" clId="{24544250-1568-44F8-976A-056F1812A0B8}" dt="2024-05-08T01:39:02.433" v="3" actId="26606"/>
        <pc:sldMkLst>
          <pc:docMk/>
          <pc:sldMk cId="2327137578" sldId="286"/>
        </pc:sldMkLst>
        <pc:spChg chg="mod">
          <ac:chgData name="Mike J" userId="22cf0bdf11e74b3e" providerId="LiveId" clId="{24544250-1568-44F8-976A-056F1812A0B8}" dt="2024-05-08T01:39:02.433" v="3" actId="26606"/>
          <ac:spMkLst>
            <pc:docMk/>
            <pc:sldMk cId="2327137578" sldId="286"/>
            <ac:spMk id="2" creationId="{00000000-0000-0000-0000-000000000000}"/>
          </ac:spMkLst>
        </pc:spChg>
        <pc:spChg chg="mod ord">
          <ac:chgData name="Mike J" userId="22cf0bdf11e74b3e" providerId="LiveId" clId="{24544250-1568-44F8-976A-056F1812A0B8}" dt="2024-05-08T01:39:02.433" v="3" actId="26606"/>
          <ac:spMkLst>
            <pc:docMk/>
            <pc:sldMk cId="2327137578" sldId="286"/>
            <ac:spMk id="4" creationId="{00000000-0000-0000-0000-000000000000}"/>
          </ac:spMkLst>
        </pc:spChg>
        <pc:spChg chg="mod ord">
          <ac:chgData name="Mike J" userId="22cf0bdf11e74b3e" providerId="LiveId" clId="{24544250-1568-44F8-976A-056F1812A0B8}" dt="2024-05-08T01:39:02.433" v="3" actId="26606"/>
          <ac:spMkLst>
            <pc:docMk/>
            <pc:sldMk cId="2327137578" sldId="286"/>
            <ac:spMk id="6" creationId="{00000000-0000-0000-0000-000000000000}"/>
          </ac:spMkLst>
        </pc:spChg>
        <pc:spChg chg="add del mod">
          <ac:chgData name="Mike J" userId="22cf0bdf11e74b3e" providerId="LiveId" clId="{24544250-1568-44F8-976A-056F1812A0B8}" dt="2024-05-08T01:39:02.402" v="2" actId="26606"/>
          <ac:spMkLst>
            <pc:docMk/>
            <pc:sldMk cId="2327137578" sldId="286"/>
            <ac:spMk id="11" creationId="{B133AB8F-73DF-81C9-7655-32882EB89874}"/>
          </ac:spMkLst>
        </pc:spChg>
        <pc:spChg chg="add mod">
          <ac:chgData name="Mike J" userId="22cf0bdf11e74b3e" providerId="LiveId" clId="{24544250-1568-44F8-976A-056F1812A0B8}" dt="2024-05-08T01:39:02.433" v="3" actId="26606"/>
          <ac:spMkLst>
            <pc:docMk/>
            <pc:sldMk cId="2327137578" sldId="286"/>
            <ac:spMk id="13" creationId="{55AEE534-E9A3-3079-9F58-3B4ACE9320D1}"/>
          </ac:spMkLst>
        </pc:spChg>
        <pc:picChg chg="mod">
          <ac:chgData name="Mike J" userId="22cf0bdf11e74b3e" providerId="LiveId" clId="{24544250-1568-44F8-976A-056F1812A0B8}" dt="2024-05-08T01:39:02.433" v="3" actId="26606"/>
          <ac:picMkLst>
            <pc:docMk/>
            <pc:sldMk cId="2327137578" sldId="286"/>
            <ac:picMk id="5" creationId="{00000000-0000-0000-0000-000000000000}"/>
          </ac:picMkLst>
        </pc:picChg>
      </pc:sldChg>
      <pc:sldChg chg="addSp modSp mod modClrScheme chgLayout">
        <pc:chgData name="Mike J" userId="22cf0bdf11e74b3e" providerId="LiveId" clId="{24544250-1568-44F8-976A-056F1812A0B8}" dt="2024-05-08T01:39:18.643" v="4" actId="26606"/>
        <pc:sldMkLst>
          <pc:docMk/>
          <pc:sldMk cId="1423321895" sldId="288"/>
        </pc:sldMkLst>
        <pc:spChg chg="mod">
          <ac:chgData name="Mike J" userId="22cf0bdf11e74b3e" providerId="LiveId" clId="{24544250-1568-44F8-976A-056F1812A0B8}" dt="2024-05-08T01:39:18.643" v="4" actId="26606"/>
          <ac:spMkLst>
            <pc:docMk/>
            <pc:sldMk cId="1423321895" sldId="288"/>
            <ac:spMk id="4" creationId="{00000000-0000-0000-0000-000000000000}"/>
          </ac:spMkLst>
        </pc:spChg>
        <pc:spChg chg="mod ord">
          <ac:chgData name="Mike J" userId="22cf0bdf11e74b3e" providerId="LiveId" clId="{24544250-1568-44F8-976A-056F1812A0B8}" dt="2024-05-08T01:39:18.643" v="4" actId="26606"/>
          <ac:spMkLst>
            <pc:docMk/>
            <pc:sldMk cId="1423321895" sldId="288"/>
            <ac:spMk id="5" creationId="{00000000-0000-0000-0000-000000000000}"/>
          </ac:spMkLst>
        </pc:spChg>
        <pc:spChg chg="mod">
          <ac:chgData name="Mike J" userId="22cf0bdf11e74b3e" providerId="LiveId" clId="{24544250-1568-44F8-976A-056F1812A0B8}" dt="2024-05-08T01:39:18.643" v="4" actId="26606"/>
          <ac:spMkLst>
            <pc:docMk/>
            <pc:sldMk cId="1423321895" sldId="288"/>
            <ac:spMk id="6" creationId="{00000000-0000-0000-0000-000000000000}"/>
          </ac:spMkLst>
        </pc:spChg>
        <pc:spChg chg="add mod">
          <ac:chgData name="Mike J" userId="22cf0bdf11e74b3e" providerId="LiveId" clId="{24544250-1568-44F8-976A-056F1812A0B8}" dt="2024-05-08T01:39:18.643" v="4" actId="26606"/>
          <ac:spMkLst>
            <pc:docMk/>
            <pc:sldMk cId="1423321895" sldId="288"/>
            <ac:spMk id="12" creationId="{2A1BC44A-0A98-3B33-7C7D-4E0146F54BBA}"/>
          </ac:spMkLst>
        </pc:spChg>
        <pc:picChg chg="mod">
          <ac:chgData name="Mike J" userId="22cf0bdf11e74b3e" providerId="LiveId" clId="{24544250-1568-44F8-976A-056F1812A0B8}" dt="2024-05-08T01:39:18.643" v="4" actId="26606"/>
          <ac:picMkLst>
            <pc:docMk/>
            <pc:sldMk cId="1423321895" sldId="288"/>
            <ac:picMk id="7" creationId="{00000000-0000-0000-0000-000000000000}"/>
          </ac:picMkLst>
        </pc:picChg>
      </pc:sldChg>
      <pc:sldChg chg="modSp mod">
        <pc:chgData name="Mike J" userId="22cf0bdf11e74b3e" providerId="LiveId" clId="{24544250-1568-44F8-976A-056F1812A0B8}" dt="2024-05-08T01:45:28.789" v="46"/>
        <pc:sldMkLst>
          <pc:docMk/>
          <pc:sldMk cId="1168575570" sldId="289"/>
        </pc:sldMkLst>
        <pc:spChg chg="mod">
          <ac:chgData name="Mike J" userId="22cf0bdf11e74b3e" providerId="LiveId" clId="{24544250-1568-44F8-976A-056F1812A0B8}" dt="2024-05-08T01:45:28.789" v="46"/>
          <ac:spMkLst>
            <pc:docMk/>
            <pc:sldMk cId="1168575570" sldId="289"/>
            <ac:spMk id="6" creationId="{00000000-0000-0000-0000-000000000000}"/>
          </ac:spMkLst>
        </pc:spChg>
        <pc:picChg chg="mod">
          <ac:chgData name="Mike J" userId="22cf0bdf11e74b3e" providerId="LiveId" clId="{24544250-1568-44F8-976A-056F1812A0B8}" dt="2024-05-08T01:43:40.514" v="38" actId="1076"/>
          <ac:picMkLst>
            <pc:docMk/>
            <pc:sldMk cId="1168575570" sldId="289"/>
            <ac:picMk id="410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5/7/2024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ri-q.com/how-to-ramp.html" TargetMode="Externa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75231" y="6211668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white"/>
                </a:solidFill>
              </a:rPr>
              <a:t>2014 Leadership Meeting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MRI BASIC 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44962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 develop a basic understanding of the major components of an MRI system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 understand how a magnet is made and works</a:t>
            </a:r>
          </a:p>
        </p:txBody>
      </p:sp>
    </p:spTree>
    <p:extLst>
      <p:ext uri="{BB962C8B-B14F-4D97-AF65-F5344CB8AC3E}">
        <p14:creationId xmlns:p14="http://schemas.microsoft.com/office/powerpoint/2010/main" val="420120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" r="9615"/>
          <a:stretch/>
        </p:blipFill>
        <p:spPr bwMode="auto">
          <a:xfrm>
            <a:off x="308506" y="2133600"/>
            <a:ext cx="4415894" cy="2631803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505200" y="1101997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Resistive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52400" y="2286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Types of Magnets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5400" y="2362200"/>
            <a:ext cx="34289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Magnets that are created by connecting it to a current source.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They use electricity to generate the magnetic field.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Very low fields 0.2-0.3T.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Low power and site requirements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Can easily be de-energized.</a:t>
            </a:r>
          </a:p>
        </p:txBody>
      </p:sp>
    </p:spTree>
    <p:extLst>
      <p:ext uri="{BB962C8B-B14F-4D97-AF65-F5344CB8AC3E}">
        <p14:creationId xmlns:p14="http://schemas.microsoft.com/office/powerpoint/2010/main" val="21619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Types of Magnets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5AEE534-E9A3-3079-9F58-3B4ACE932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 descr="1344449.jpg"/>
          <p:cNvPicPr>
            <a:picLocks noChangeAspect="1"/>
          </p:cNvPicPr>
          <p:nvPr/>
        </p:nvPicPr>
        <p:blipFill rotWithShape="1">
          <a:blip r:embed="rId2" cstate="print"/>
          <a:srcRect l="25519" r="16711" b="2"/>
          <a:stretch/>
        </p:blipFill>
        <p:spPr>
          <a:xfrm>
            <a:off x="457200" y="2174875"/>
            <a:ext cx="4040188" cy="3951288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2400" b="1" kern="1200">
                <a:latin typeface="+mn-lt"/>
                <a:ea typeface="+mn-ea"/>
                <a:cs typeface="+mn-cs"/>
              </a:rPr>
              <a:t>Permanent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/>
              <a:t>Magnets made out of magnetic permanent materials (rare earth).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/>
              <a:t>The major advantage is the low cost since magnet is always present and does not need cryogens or electricity.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/>
              <a:t>Disadvantages include, weight, transport, low magnetic fields and disposing of the magnets.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/>
              <a:t>Usually 0.2-0.45T (Low field)</a:t>
            </a:r>
          </a:p>
        </p:txBody>
      </p:sp>
    </p:spTree>
    <p:extLst>
      <p:ext uri="{BB962C8B-B14F-4D97-AF65-F5344CB8AC3E}">
        <p14:creationId xmlns:p14="http://schemas.microsoft.com/office/powerpoint/2010/main" val="232713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Types of Magnets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1BC44A-0A98-3B33-7C7D-4E0146F54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Electromagnets made from coils of superconductive wiring.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The coil needs to be immersed in cryogens and cooled to cryogenic temperatures in order to create the magnetic field by inducing a current and keeping the resistance at zero.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Very high fields 0.5T-20T.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High cost due to cryogens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Safety risk derived from high fields, cryogens and quenches.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2400" b="1" kern="1200">
                <a:latin typeface="+mn-lt"/>
                <a:ea typeface="+mn-ea"/>
                <a:cs typeface="+mn-cs"/>
              </a:rPr>
              <a:t>Superconducting</a:t>
            </a:r>
          </a:p>
        </p:txBody>
      </p:sp>
      <p:pic>
        <p:nvPicPr>
          <p:cNvPr id="7" name="Picture 6" descr="029_left_column_02.jpg"/>
          <p:cNvPicPr>
            <a:picLocks noChangeAspect="1"/>
          </p:cNvPicPr>
          <p:nvPr/>
        </p:nvPicPr>
        <p:blipFill rotWithShape="1">
          <a:blip r:embed="rId2" cstate="print"/>
          <a:srcRect l="9744" r="22061" b="-2"/>
          <a:stretch/>
        </p:blipFill>
        <p:spPr>
          <a:xfrm>
            <a:off x="4645025" y="2174875"/>
            <a:ext cx="4041775" cy="395128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32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53"/>
          <p:cNvSpPr/>
          <p:nvPr/>
        </p:nvSpPr>
        <p:spPr>
          <a:xfrm rot="4597665">
            <a:off x="4420579" y="1192358"/>
            <a:ext cx="457200" cy="6725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75227" y="1916119"/>
            <a:ext cx="477627" cy="36988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657600" y="4686708"/>
            <a:ext cx="382101" cy="6472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094899" y="4686708"/>
            <a:ext cx="382101" cy="6472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060377" y="1981200"/>
            <a:ext cx="66867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4"/>
          <p:cNvGrpSpPr/>
          <p:nvPr/>
        </p:nvGrpSpPr>
        <p:grpSpPr>
          <a:xfrm>
            <a:off x="4481076" y="2683018"/>
            <a:ext cx="1579412" cy="594324"/>
            <a:chOff x="6512512" y="2955524"/>
            <a:chExt cx="1259888" cy="489752"/>
          </a:xfrm>
        </p:grpSpPr>
        <p:grpSp>
          <p:nvGrpSpPr>
            <p:cNvPr id="3" name="Group 92"/>
            <p:cNvGrpSpPr/>
            <p:nvPr/>
          </p:nvGrpSpPr>
          <p:grpSpPr>
            <a:xfrm>
              <a:off x="6512512" y="2955524"/>
              <a:ext cx="650288" cy="473476"/>
              <a:chOff x="6629400" y="2879324"/>
              <a:chExt cx="650288" cy="473476"/>
            </a:xfrm>
          </p:grpSpPr>
          <p:grpSp>
            <p:nvGrpSpPr>
              <p:cNvPr id="4" name="Group 86"/>
              <p:cNvGrpSpPr/>
              <p:nvPr/>
            </p:nvGrpSpPr>
            <p:grpSpPr>
              <a:xfrm>
                <a:off x="6629400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35" name="Freeform 34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" name="Group 87"/>
              <p:cNvGrpSpPr/>
              <p:nvPr/>
            </p:nvGrpSpPr>
            <p:grpSpPr>
              <a:xfrm>
                <a:off x="6937158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31" name="Freeform 30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Freeform 32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" name="Freeform 33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" name="Group 93"/>
            <p:cNvGrpSpPr/>
            <p:nvPr/>
          </p:nvGrpSpPr>
          <p:grpSpPr>
            <a:xfrm>
              <a:off x="7122112" y="2971800"/>
              <a:ext cx="650288" cy="473476"/>
              <a:chOff x="6629400" y="2879324"/>
              <a:chExt cx="650288" cy="473476"/>
            </a:xfrm>
          </p:grpSpPr>
          <p:grpSp>
            <p:nvGrpSpPr>
              <p:cNvPr id="7" name="Group 86"/>
              <p:cNvGrpSpPr/>
              <p:nvPr/>
            </p:nvGrpSpPr>
            <p:grpSpPr>
              <a:xfrm>
                <a:off x="6629400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25" name="Freeform 24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Freeform 26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Freeform 27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8" name="Group 87"/>
              <p:cNvGrpSpPr/>
              <p:nvPr/>
            </p:nvGrpSpPr>
            <p:grpSpPr>
              <a:xfrm>
                <a:off x="6937158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21" name="Freeform 20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Freeform 21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" name="Freeform 22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Freeform 23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39" name="TextBox 38"/>
          <p:cNvSpPr txBox="1"/>
          <p:nvPr/>
        </p:nvSpPr>
        <p:spPr>
          <a:xfrm>
            <a:off x="4706146" y="2412392"/>
            <a:ext cx="12640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Normal </a:t>
            </a:r>
            <a:r>
              <a:rPr lang="en-US" sz="900" b="1" dirty="0"/>
              <a:t>pressure </a:t>
            </a:r>
            <a:r>
              <a:rPr lang="en-US" sz="800" b="1" dirty="0"/>
              <a:t> ≈ 4 psi (± .1 psi)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1766" y="4205396"/>
            <a:ext cx="162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Liquid Helium</a:t>
            </a:r>
          </a:p>
        </p:txBody>
      </p:sp>
      <p:sp>
        <p:nvSpPr>
          <p:cNvPr id="43" name="Rectangle 42"/>
          <p:cNvSpPr/>
          <p:nvPr/>
        </p:nvSpPr>
        <p:spPr>
          <a:xfrm rot="4597665">
            <a:off x="4841003" y="1730478"/>
            <a:ext cx="554821" cy="843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3208713" y="1673634"/>
            <a:ext cx="3725487" cy="3606339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3571875" y="2057400"/>
            <a:ext cx="2961285" cy="286657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Chord 45"/>
          <p:cNvSpPr/>
          <p:nvPr/>
        </p:nvSpPr>
        <p:spPr>
          <a:xfrm rot="16200000">
            <a:off x="3635440" y="1967464"/>
            <a:ext cx="2876665" cy="2961288"/>
          </a:xfrm>
          <a:prstGeom prst="chord">
            <a:avLst>
              <a:gd name="adj1" fmla="val 2883436"/>
              <a:gd name="adj2" fmla="val 187302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Sun 47"/>
          <p:cNvSpPr/>
          <p:nvPr/>
        </p:nvSpPr>
        <p:spPr>
          <a:xfrm>
            <a:off x="5888947" y="1809173"/>
            <a:ext cx="164187" cy="179162"/>
          </a:xfrm>
          <a:prstGeom prst="sun">
            <a:avLst>
              <a:gd name="adj" fmla="val 3670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5985812" y="1977220"/>
            <a:ext cx="0" cy="653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766553" y="2002935"/>
            <a:ext cx="364732" cy="130788"/>
          </a:xfrm>
          <a:prstGeom prst="rect">
            <a:avLst/>
          </a:prstGeom>
          <a:solidFill>
            <a:srgbClr val="E66618"/>
          </a:solidFill>
          <a:ln w="6350">
            <a:solidFill>
              <a:srgbClr val="E666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5475607" y="2079835"/>
            <a:ext cx="364732" cy="0"/>
          </a:xfrm>
          <a:prstGeom prst="line">
            <a:avLst/>
          </a:prstGeom>
          <a:ln w="28575">
            <a:solidFill>
              <a:srgbClr val="E666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924016" y="1869138"/>
            <a:ext cx="58258" cy="438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983253" y="2081210"/>
            <a:ext cx="286576" cy="0"/>
          </a:xfrm>
          <a:prstGeom prst="line">
            <a:avLst/>
          </a:prstGeom>
          <a:ln w="28575">
            <a:solidFill>
              <a:srgbClr val="E666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104"/>
          <p:cNvGrpSpPr/>
          <p:nvPr/>
        </p:nvGrpSpPr>
        <p:grpSpPr>
          <a:xfrm>
            <a:off x="4114800" y="2085976"/>
            <a:ext cx="2057400" cy="380999"/>
            <a:chOff x="6512512" y="2955524"/>
            <a:chExt cx="1259888" cy="489752"/>
          </a:xfrm>
        </p:grpSpPr>
        <p:grpSp>
          <p:nvGrpSpPr>
            <p:cNvPr id="13" name="Group 92"/>
            <p:cNvGrpSpPr/>
            <p:nvPr/>
          </p:nvGrpSpPr>
          <p:grpSpPr>
            <a:xfrm>
              <a:off x="6512512" y="2955524"/>
              <a:ext cx="650288" cy="473476"/>
              <a:chOff x="6629400" y="2879324"/>
              <a:chExt cx="650288" cy="473476"/>
            </a:xfrm>
          </p:grpSpPr>
          <p:grpSp>
            <p:nvGrpSpPr>
              <p:cNvPr id="14" name="Group 86"/>
              <p:cNvGrpSpPr/>
              <p:nvPr/>
            </p:nvGrpSpPr>
            <p:grpSpPr>
              <a:xfrm>
                <a:off x="6629400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74" name="Freeform 22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5" name="Freeform 23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Freeform 24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Freeform 25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6" name="Group 87"/>
              <p:cNvGrpSpPr/>
              <p:nvPr/>
            </p:nvGrpSpPr>
            <p:grpSpPr>
              <a:xfrm>
                <a:off x="6937158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70" name="Freeform 69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Freeform 19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2" name="Freeform 20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3" name="Freeform 21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17" name="Group 93"/>
            <p:cNvGrpSpPr/>
            <p:nvPr/>
          </p:nvGrpSpPr>
          <p:grpSpPr>
            <a:xfrm>
              <a:off x="7122112" y="2971800"/>
              <a:ext cx="650288" cy="473476"/>
              <a:chOff x="6629400" y="2879324"/>
              <a:chExt cx="650288" cy="473476"/>
            </a:xfrm>
          </p:grpSpPr>
          <p:grpSp>
            <p:nvGrpSpPr>
              <p:cNvPr id="18" name="Group 86"/>
              <p:cNvGrpSpPr/>
              <p:nvPr/>
            </p:nvGrpSpPr>
            <p:grpSpPr>
              <a:xfrm>
                <a:off x="6629400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64" name="Freeform 63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5" name="Freeform 13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7" name="Freeform 15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9" name="Group 87"/>
              <p:cNvGrpSpPr/>
              <p:nvPr/>
            </p:nvGrpSpPr>
            <p:grpSpPr>
              <a:xfrm>
                <a:off x="6937158" y="2879324"/>
                <a:ext cx="342530" cy="473476"/>
                <a:chOff x="7048870" y="1524000"/>
                <a:chExt cx="342530" cy="473476"/>
              </a:xfrm>
            </p:grpSpPr>
            <p:sp>
              <p:nvSpPr>
                <p:cNvPr id="60" name="Freeform 59"/>
                <p:cNvSpPr/>
                <p:nvPr/>
              </p:nvSpPr>
              <p:spPr>
                <a:xfrm>
                  <a:off x="70488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1" name="Freeform 60"/>
                <p:cNvSpPr/>
                <p:nvPr/>
              </p:nvSpPr>
              <p:spPr>
                <a:xfrm>
                  <a:off x="71250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Freeform 61"/>
                <p:cNvSpPr/>
                <p:nvPr/>
              </p:nvSpPr>
              <p:spPr>
                <a:xfrm>
                  <a:off x="72012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Freeform 62"/>
                <p:cNvSpPr/>
                <p:nvPr/>
              </p:nvSpPr>
              <p:spPr>
                <a:xfrm>
                  <a:off x="7277470" y="1524000"/>
                  <a:ext cx="113930" cy="473476"/>
                </a:xfrm>
                <a:custGeom>
                  <a:avLst/>
                  <a:gdLst>
                    <a:gd name="connsiteX0" fmla="*/ 0 w 62144"/>
                    <a:gd name="connsiteY0" fmla="*/ 0 h 603682"/>
                    <a:gd name="connsiteX1" fmla="*/ 53266 w 62144"/>
                    <a:gd name="connsiteY1" fmla="*/ 213064 h 603682"/>
                    <a:gd name="connsiteX2" fmla="*/ 8878 w 62144"/>
                    <a:gd name="connsiteY2" fmla="*/ 390618 h 603682"/>
                    <a:gd name="connsiteX3" fmla="*/ 62144 w 62144"/>
                    <a:gd name="connsiteY3" fmla="*/ 603682 h 603682"/>
                    <a:gd name="connsiteX4" fmla="*/ 62144 w 62144"/>
                    <a:gd name="connsiteY4" fmla="*/ 603682 h 60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144" h="603682">
                      <a:moveTo>
                        <a:pt x="0" y="0"/>
                      </a:moveTo>
                      <a:cubicBezTo>
                        <a:pt x="25893" y="73980"/>
                        <a:pt x="51786" y="147961"/>
                        <a:pt x="53266" y="213064"/>
                      </a:cubicBezTo>
                      <a:cubicBezTo>
                        <a:pt x="54746" y="278167"/>
                        <a:pt x="7398" y="325515"/>
                        <a:pt x="8878" y="390618"/>
                      </a:cubicBezTo>
                      <a:cubicBezTo>
                        <a:pt x="10358" y="455721"/>
                        <a:pt x="62144" y="603682"/>
                        <a:pt x="62144" y="603682"/>
                      </a:cubicBezTo>
                      <a:lnTo>
                        <a:pt x="62144" y="603682"/>
                      </a:lnTo>
                    </a:path>
                  </a:pathLst>
                </a:custGeom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0" name="Group 32"/>
          <p:cNvGrpSpPr/>
          <p:nvPr/>
        </p:nvGrpSpPr>
        <p:grpSpPr>
          <a:xfrm rot="507613">
            <a:off x="3754556" y="1371600"/>
            <a:ext cx="1141294" cy="393065"/>
            <a:chOff x="5884279" y="1644934"/>
            <a:chExt cx="698358" cy="304800"/>
          </a:xfrm>
        </p:grpSpPr>
        <p:grpSp>
          <p:nvGrpSpPr>
            <p:cNvPr id="29" name="Group 8"/>
            <p:cNvGrpSpPr/>
            <p:nvPr/>
          </p:nvGrpSpPr>
          <p:grpSpPr>
            <a:xfrm rot="14704917">
              <a:off x="6109532" y="1476629"/>
              <a:ext cx="304800" cy="641410"/>
              <a:chOff x="5257800" y="1981200"/>
              <a:chExt cx="304800" cy="641410"/>
            </a:xfrm>
          </p:grpSpPr>
          <p:grpSp>
            <p:nvGrpSpPr>
              <p:cNvPr id="30" name="Group 7"/>
              <p:cNvGrpSpPr/>
              <p:nvPr/>
            </p:nvGrpSpPr>
            <p:grpSpPr>
              <a:xfrm>
                <a:off x="5257800" y="1981200"/>
                <a:ext cx="304800" cy="543752"/>
                <a:chOff x="5257800" y="1981200"/>
                <a:chExt cx="304800" cy="543752"/>
              </a:xfrm>
              <a:solidFill>
                <a:srgbClr val="C1BEC2"/>
              </a:solidFill>
            </p:grpSpPr>
            <p:sp>
              <p:nvSpPr>
                <p:cNvPr id="83" name="Rounded Rectangle 82"/>
                <p:cNvSpPr/>
                <p:nvPr/>
              </p:nvSpPr>
              <p:spPr>
                <a:xfrm>
                  <a:off x="5334000" y="2220152"/>
                  <a:ext cx="152400" cy="304800"/>
                </a:xfrm>
                <a:prstGeom prst="roundRect">
                  <a:avLst>
                    <a:gd name="adj" fmla="val 37638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5257800" y="1981200"/>
                  <a:ext cx="304800" cy="3048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2" name="Rounded Rectangle 81"/>
              <p:cNvSpPr/>
              <p:nvPr/>
            </p:nvSpPr>
            <p:spPr>
              <a:xfrm>
                <a:off x="5334000" y="2438400"/>
                <a:ext cx="152400" cy="184210"/>
              </a:xfrm>
              <a:prstGeom prst="roundRect">
                <a:avLst>
                  <a:gd name="adj" fmla="val 37638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0" name="TextBox 79"/>
            <p:cNvSpPr txBox="1"/>
            <p:nvPr/>
          </p:nvSpPr>
          <p:spPr>
            <a:xfrm rot="20135902">
              <a:off x="5884279" y="1728492"/>
              <a:ext cx="609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Coldhead</a:t>
              </a: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4491395" y="4503307"/>
            <a:ext cx="152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Liquid He</a:t>
            </a:r>
          </a:p>
        </p:txBody>
      </p:sp>
      <p:sp>
        <p:nvSpPr>
          <p:cNvPr id="86" name="Oval 85"/>
          <p:cNvSpPr/>
          <p:nvPr/>
        </p:nvSpPr>
        <p:spPr>
          <a:xfrm>
            <a:off x="4267200" y="2762250"/>
            <a:ext cx="1601354" cy="1489612"/>
          </a:xfrm>
          <a:prstGeom prst="ellipse">
            <a:avLst/>
          </a:prstGeom>
          <a:noFill/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Donut 86"/>
          <p:cNvSpPr/>
          <p:nvPr/>
        </p:nvSpPr>
        <p:spPr>
          <a:xfrm>
            <a:off x="4191000" y="2667000"/>
            <a:ext cx="1719456" cy="1664464"/>
          </a:xfrm>
          <a:prstGeom prst="donut">
            <a:avLst>
              <a:gd name="adj" fmla="val 4390"/>
            </a:avLst>
          </a:prstGeom>
          <a:solidFill>
            <a:schemeClr val="accent3">
              <a:lumMod val="75000"/>
            </a:schemeClr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8" name="Donut 87"/>
          <p:cNvSpPr/>
          <p:nvPr/>
        </p:nvSpPr>
        <p:spPr>
          <a:xfrm>
            <a:off x="3200400" y="1660986"/>
            <a:ext cx="3725487" cy="3606339"/>
          </a:xfrm>
          <a:prstGeom prst="donut">
            <a:avLst>
              <a:gd name="adj" fmla="val 10170"/>
            </a:avLst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Freeform 88"/>
          <p:cNvSpPr/>
          <p:nvPr/>
        </p:nvSpPr>
        <p:spPr>
          <a:xfrm rot="227777">
            <a:off x="4743670" y="1530771"/>
            <a:ext cx="224051" cy="589507"/>
          </a:xfrm>
          <a:custGeom>
            <a:avLst/>
            <a:gdLst>
              <a:gd name="connsiteX0" fmla="*/ 166255 w 166255"/>
              <a:gd name="connsiteY0" fmla="*/ 573578 h 573578"/>
              <a:gd name="connsiteX1" fmla="*/ 141316 w 166255"/>
              <a:gd name="connsiteY1" fmla="*/ 133004 h 573578"/>
              <a:gd name="connsiteX2" fmla="*/ 33251 w 166255"/>
              <a:gd name="connsiteY2" fmla="*/ 174567 h 573578"/>
              <a:gd name="connsiteX3" fmla="*/ 0 w 166255"/>
              <a:gd name="connsiteY3" fmla="*/ 0 h 573578"/>
              <a:gd name="connsiteX4" fmla="*/ 0 w 166255"/>
              <a:gd name="connsiteY4" fmla="*/ 0 h 573578"/>
              <a:gd name="connsiteX0" fmla="*/ 166255 w 216131"/>
              <a:gd name="connsiteY0" fmla="*/ 573578 h 573578"/>
              <a:gd name="connsiteX1" fmla="*/ 216131 w 216131"/>
              <a:gd name="connsiteY1" fmla="*/ 167640 h 573578"/>
              <a:gd name="connsiteX2" fmla="*/ 33251 w 216131"/>
              <a:gd name="connsiteY2" fmla="*/ 174567 h 573578"/>
              <a:gd name="connsiteX3" fmla="*/ 0 w 216131"/>
              <a:gd name="connsiteY3" fmla="*/ 0 h 573578"/>
              <a:gd name="connsiteX4" fmla="*/ 0 w 216131"/>
              <a:gd name="connsiteY4" fmla="*/ 0 h 573578"/>
              <a:gd name="connsiteX0" fmla="*/ 166255 w 166255"/>
              <a:gd name="connsiteY0" fmla="*/ 573578 h 573578"/>
              <a:gd name="connsiteX1" fmla="*/ 139931 w 166255"/>
              <a:gd name="connsiteY1" fmla="*/ 167640 h 573578"/>
              <a:gd name="connsiteX2" fmla="*/ 33251 w 166255"/>
              <a:gd name="connsiteY2" fmla="*/ 174567 h 573578"/>
              <a:gd name="connsiteX3" fmla="*/ 0 w 166255"/>
              <a:gd name="connsiteY3" fmla="*/ 0 h 573578"/>
              <a:gd name="connsiteX4" fmla="*/ 0 w 166255"/>
              <a:gd name="connsiteY4" fmla="*/ 0 h 573578"/>
              <a:gd name="connsiteX0" fmla="*/ 166255 w 166255"/>
              <a:gd name="connsiteY0" fmla="*/ 573578 h 573578"/>
              <a:gd name="connsiteX1" fmla="*/ 139931 w 166255"/>
              <a:gd name="connsiteY1" fmla="*/ 167640 h 573578"/>
              <a:gd name="connsiteX2" fmla="*/ 139931 w 166255"/>
              <a:gd name="connsiteY2" fmla="*/ 91440 h 573578"/>
              <a:gd name="connsiteX3" fmla="*/ 0 w 166255"/>
              <a:gd name="connsiteY3" fmla="*/ 0 h 573578"/>
              <a:gd name="connsiteX4" fmla="*/ 0 w 166255"/>
              <a:gd name="connsiteY4" fmla="*/ 0 h 573578"/>
              <a:gd name="connsiteX0" fmla="*/ 178724 w 178724"/>
              <a:gd name="connsiteY0" fmla="*/ 573578 h 573578"/>
              <a:gd name="connsiteX1" fmla="*/ 152400 w 178724"/>
              <a:gd name="connsiteY1" fmla="*/ 167640 h 573578"/>
              <a:gd name="connsiteX2" fmla="*/ 152400 w 178724"/>
              <a:gd name="connsiteY2" fmla="*/ 91440 h 573578"/>
              <a:gd name="connsiteX3" fmla="*/ 12469 w 178724"/>
              <a:gd name="connsiteY3" fmla="*/ 0 h 573578"/>
              <a:gd name="connsiteX4" fmla="*/ 0 w 178724"/>
              <a:gd name="connsiteY4" fmla="*/ 15240 h 573578"/>
              <a:gd name="connsiteX0" fmla="*/ 178724 w 178724"/>
              <a:gd name="connsiteY0" fmla="*/ 573578 h 573578"/>
              <a:gd name="connsiteX1" fmla="*/ 152400 w 178724"/>
              <a:gd name="connsiteY1" fmla="*/ 167640 h 573578"/>
              <a:gd name="connsiteX2" fmla="*/ 152400 w 178724"/>
              <a:gd name="connsiteY2" fmla="*/ 91440 h 573578"/>
              <a:gd name="connsiteX3" fmla="*/ 12469 w 178724"/>
              <a:gd name="connsiteY3" fmla="*/ 0 h 573578"/>
              <a:gd name="connsiteX4" fmla="*/ 0 w 178724"/>
              <a:gd name="connsiteY4" fmla="*/ 167640 h 573578"/>
              <a:gd name="connsiteX0" fmla="*/ 178724 w 178724"/>
              <a:gd name="connsiteY0" fmla="*/ 558338 h 558338"/>
              <a:gd name="connsiteX1" fmla="*/ 152400 w 178724"/>
              <a:gd name="connsiteY1" fmla="*/ 152400 h 558338"/>
              <a:gd name="connsiteX2" fmla="*/ 152400 w 178724"/>
              <a:gd name="connsiteY2" fmla="*/ 76200 h 558338"/>
              <a:gd name="connsiteX3" fmla="*/ 0 w 178724"/>
              <a:gd name="connsiteY3" fmla="*/ 0 h 558338"/>
              <a:gd name="connsiteX4" fmla="*/ 0 w 178724"/>
              <a:gd name="connsiteY4" fmla="*/ 152400 h 558338"/>
              <a:gd name="connsiteX0" fmla="*/ 178724 w 178724"/>
              <a:gd name="connsiteY0" fmla="*/ 482138 h 482138"/>
              <a:gd name="connsiteX1" fmla="*/ 152400 w 178724"/>
              <a:gd name="connsiteY1" fmla="*/ 76200 h 482138"/>
              <a:gd name="connsiteX2" fmla="*/ 152400 w 178724"/>
              <a:gd name="connsiteY2" fmla="*/ 0 h 482138"/>
              <a:gd name="connsiteX3" fmla="*/ 0 w 178724"/>
              <a:gd name="connsiteY3" fmla="*/ 76200 h 482138"/>
              <a:gd name="connsiteX0" fmla="*/ 178724 w 178724"/>
              <a:gd name="connsiteY0" fmla="*/ 482138 h 482138"/>
              <a:gd name="connsiteX1" fmla="*/ 152400 w 178724"/>
              <a:gd name="connsiteY1" fmla="*/ 76200 h 482138"/>
              <a:gd name="connsiteX2" fmla="*/ 152400 w 178724"/>
              <a:gd name="connsiteY2" fmla="*/ 0 h 482138"/>
              <a:gd name="connsiteX3" fmla="*/ 0 w 178724"/>
              <a:gd name="connsiteY3" fmla="*/ 0 h 482138"/>
              <a:gd name="connsiteX0" fmla="*/ 178724 w 178724"/>
              <a:gd name="connsiteY0" fmla="*/ 485783 h 485783"/>
              <a:gd name="connsiteX1" fmla="*/ 152400 w 178724"/>
              <a:gd name="connsiteY1" fmla="*/ 79845 h 485783"/>
              <a:gd name="connsiteX2" fmla="*/ 136301 w 178724"/>
              <a:gd name="connsiteY2" fmla="*/ 0 h 485783"/>
              <a:gd name="connsiteX3" fmla="*/ 0 w 178724"/>
              <a:gd name="connsiteY3" fmla="*/ 3645 h 48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724" h="485783">
                <a:moveTo>
                  <a:pt x="178724" y="485783"/>
                </a:moveTo>
                <a:lnTo>
                  <a:pt x="152400" y="79845"/>
                </a:lnTo>
                <a:lnTo>
                  <a:pt x="136301" y="0"/>
                </a:lnTo>
                <a:lnTo>
                  <a:pt x="0" y="3645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Freeform 89"/>
          <p:cNvSpPr/>
          <p:nvPr/>
        </p:nvSpPr>
        <p:spPr>
          <a:xfrm>
            <a:off x="4772025" y="1562100"/>
            <a:ext cx="99506" cy="647290"/>
          </a:xfrm>
          <a:custGeom>
            <a:avLst/>
            <a:gdLst>
              <a:gd name="connsiteX0" fmla="*/ 74815 w 74815"/>
              <a:gd name="connsiteY0" fmla="*/ 0 h 432262"/>
              <a:gd name="connsiteX1" fmla="*/ 8313 w 74815"/>
              <a:gd name="connsiteY1" fmla="*/ 133004 h 432262"/>
              <a:gd name="connsiteX2" fmla="*/ 0 w 74815"/>
              <a:gd name="connsiteY2" fmla="*/ 241069 h 432262"/>
              <a:gd name="connsiteX3" fmla="*/ 0 w 74815"/>
              <a:gd name="connsiteY3" fmla="*/ 357447 h 432262"/>
              <a:gd name="connsiteX4" fmla="*/ 0 w 74815"/>
              <a:gd name="connsiteY4" fmla="*/ 432262 h 432262"/>
              <a:gd name="connsiteX0" fmla="*/ 74815 w 74815"/>
              <a:gd name="connsiteY0" fmla="*/ 0 h 432262"/>
              <a:gd name="connsiteX1" fmla="*/ 8313 w 74815"/>
              <a:gd name="connsiteY1" fmla="*/ 84507 h 432262"/>
              <a:gd name="connsiteX2" fmla="*/ 0 w 74815"/>
              <a:gd name="connsiteY2" fmla="*/ 241069 h 432262"/>
              <a:gd name="connsiteX3" fmla="*/ 0 w 74815"/>
              <a:gd name="connsiteY3" fmla="*/ 357447 h 432262"/>
              <a:gd name="connsiteX4" fmla="*/ 0 w 74815"/>
              <a:gd name="connsiteY4" fmla="*/ 432262 h 432262"/>
              <a:gd name="connsiteX0" fmla="*/ 74815 w 84513"/>
              <a:gd name="connsiteY0" fmla="*/ 0 h 432262"/>
              <a:gd name="connsiteX1" fmla="*/ 84513 w 84513"/>
              <a:gd name="connsiteY1" fmla="*/ 8307 h 432262"/>
              <a:gd name="connsiteX2" fmla="*/ 8313 w 84513"/>
              <a:gd name="connsiteY2" fmla="*/ 84507 h 432262"/>
              <a:gd name="connsiteX3" fmla="*/ 0 w 84513"/>
              <a:gd name="connsiteY3" fmla="*/ 241069 h 432262"/>
              <a:gd name="connsiteX4" fmla="*/ 0 w 84513"/>
              <a:gd name="connsiteY4" fmla="*/ 357447 h 432262"/>
              <a:gd name="connsiteX5" fmla="*/ 0 w 84513"/>
              <a:gd name="connsiteY5" fmla="*/ 432262 h 432262"/>
              <a:gd name="connsiteX0" fmla="*/ 74815 w 84513"/>
              <a:gd name="connsiteY0" fmla="*/ 69075 h 501337"/>
              <a:gd name="connsiteX1" fmla="*/ 84513 w 84513"/>
              <a:gd name="connsiteY1" fmla="*/ 1182 h 501337"/>
              <a:gd name="connsiteX2" fmla="*/ 8313 w 84513"/>
              <a:gd name="connsiteY2" fmla="*/ 153582 h 501337"/>
              <a:gd name="connsiteX3" fmla="*/ 0 w 84513"/>
              <a:gd name="connsiteY3" fmla="*/ 310144 h 501337"/>
              <a:gd name="connsiteX4" fmla="*/ 0 w 84513"/>
              <a:gd name="connsiteY4" fmla="*/ 426522 h 501337"/>
              <a:gd name="connsiteX5" fmla="*/ 0 w 84513"/>
              <a:gd name="connsiteY5" fmla="*/ 501337 h 501337"/>
              <a:gd name="connsiteX0" fmla="*/ 74815 w 87688"/>
              <a:gd name="connsiteY0" fmla="*/ 69075 h 501337"/>
              <a:gd name="connsiteX1" fmla="*/ 84513 w 87688"/>
              <a:gd name="connsiteY1" fmla="*/ 1182 h 501337"/>
              <a:gd name="connsiteX2" fmla="*/ 8313 w 87688"/>
              <a:gd name="connsiteY2" fmla="*/ 153582 h 501337"/>
              <a:gd name="connsiteX3" fmla="*/ 0 w 87688"/>
              <a:gd name="connsiteY3" fmla="*/ 310144 h 501337"/>
              <a:gd name="connsiteX4" fmla="*/ 0 w 87688"/>
              <a:gd name="connsiteY4" fmla="*/ 426522 h 501337"/>
              <a:gd name="connsiteX5" fmla="*/ 0 w 87688"/>
              <a:gd name="connsiteY5" fmla="*/ 501337 h 501337"/>
              <a:gd name="connsiteX0" fmla="*/ 74815 w 109912"/>
              <a:gd name="connsiteY0" fmla="*/ 69075 h 501337"/>
              <a:gd name="connsiteX1" fmla="*/ 84513 w 109912"/>
              <a:gd name="connsiteY1" fmla="*/ 1182 h 501337"/>
              <a:gd name="connsiteX2" fmla="*/ 84512 w 109912"/>
              <a:gd name="connsiteY2" fmla="*/ 153583 h 501337"/>
              <a:gd name="connsiteX3" fmla="*/ 0 w 109912"/>
              <a:gd name="connsiteY3" fmla="*/ 310144 h 501337"/>
              <a:gd name="connsiteX4" fmla="*/ 0 w 109912"/>
              <a:gd name="connsiteY4" fmla="*/ 426522 h 501337"/>
              <a:gd name="connsiteX5" fmla="*/ 0 w 109912"/>
              <a:gd name="connsiteY5" fmla="*/ 501337 h 501337"/>
              <a:gd name="connsiteX0" fmla="*/ 74815 w 109912"/>
              <a:gd name="connsiteY0" fmla="*/ 69075 h 501337"/>
              <a:gd name="connsiteX1" fmla="*/ 84513 w 109912"/>
              <a:gd name="connsiteY1" fmla="*/ 1182 h 501337"/>
              <a:gd name="connsiteX2" fmla="*/ 84512 w 109912"/>
              <a:gd name="connsiteY2" fmla="*/ 153583 h 501337"/>
              <a:gd name="connsiteX3" fmla="*/ 84512 w 109912"/>
              <a:gd name="connsiteY3" fmla="*/ 305983 h 501337"/>
              <a:gd name="connsiteX4" fmla="*/ 0 w 109912"/>
              <a:gd name="connsiteY4" fmla="*/ 426522 h 501337"/>
              <a:gd name="connsiteX5" fmla="*/ 0 w 109912"/>
              <a:gd name="connsiteY5" fmla="*/ 501337 h 501337"/>
              <a:gd name="connsiteX0" fmla="*/ 74815 w 109912"/>
              <a:gd name="connsiteY0" fmla="*/ 69075 h 501337"/>
              <a:gd name="connsiteX1" fmla="*/ 84513 w 109912"/>
              <a:gd name="connsiteY1" fmla="*/ 1182 h 501337"/>
              <a:gd name="connsiteX2" fmla="*/ 84512 w 109912"/>
              <a:gd name="connsiteY2" fmla="*/ 153583 h 501337"/>
              <a:gd name="connsiteX3" fmla="*/ 84512 w 109912"/>
              <a:gd name="connsiteY3" fmla="*/ 305983 h 501337"/>
              <a:gd name="connsiteX4" fmla="*/ 84512 w 109912"/>
              <a:gd name="connsiteY4" fmla="*/ 382183 h 501337"/>
              <a:gd name="connsiteX5" fmla="*/ 0 w 109912"/>
              <a:gd name="connsiteY5" fmla="*/ 501337 h 501337"/>
              <a:gd name="connsiteX0" fmla="*/ 0 w 35097"/>
              <a:gd name="connsiteY0" fmla="*/ 69075 h 458383"/>
              <a:gd name="connsiteX1" fmla="*/ 9698 w 35097"/>
              <a:gd name="connsiteY1" fmla="*/ 1182 h 458383"/>
              <a:gd name="connsiteX2" fmla="*/ 9697 w 35097"/>
              <a:gd name="connsiteY2" fmla="*/ 153583 h 458383"/>
              <a:gd name="connsiteX3" fmla="*/ 9697 w 35097"/>
              <a:gd name="connsiteY3" fmla="*/ 305983 h 458383"/>
              <a:gd name="connsiteX4" fmla="*/ 9697 w 35097"/>
              <a:gd name="connsiteY4" fmla="*/ 382183 h 458383"/>
              <a:gd name="connsiteX5" fmla="*/ 9697 w 35097"/>
              <a:gd name="connsiteY5" fmla="*/ 458383 h 458383"/>
              <a:gd name="connsiteX0" fmla="*/ 0 w 101600"/>
              <a:gd name="connsiteY0" fmla="*/ 1183 h 458383"/>
              <a:gd name="connsiteX1" fmla="*/ 76201 w 101600"/>
              <a:gd name="connsiteY1" fmla="*/ 1182 h 458383"/>
              <a:gd name="connsiteX2" fmla="*/ 76200 w 101600"/>
              <a:gd name="connsiteY2" fmla="*/ 153583 h 458383"/>
              <a:gd name="connsiteX3" fmla="*/ 76200 w 101600"/>
              <a:gd name="connsiteY3" fmla="*/ 305983 h 458383"/>
              <a:gd name="connsiteX4" fmla="*/ 76200 w 101600"/>
              <a:gd name="connsiteY4" fmla="*/ 382183 h 458383"/>
              <a:gd name="connsiteX5" fmla="*/ 76200 w 101600"/>
              <a:gd name="connsiteY5" fmla="*/ 458383 h 458383"/>
              <a:gd name="connsiteX0" fmla="*/ 0 w 101600"/>
              <a:gd name="connsiteY0" fmla="*/ 0 h 457200"/>
              <a:gd name="connsiteX1" fmla="*/ 76200 w 101600"/>
              <a:gd name="connsiteY1" fmla="*/ 76200 h 457200"/>
              <a:gd name="connsiteX2" fmla="*/ 76200 w 101600"/>
              <a:gd name="connsiteY2" fmla="*/ 152400 h 457200"/>
              <a:gd name="connsiteX3" fmla="*/ 76200 w 101600"/>
              <a:gd name="connsiteY3" fmla="*/ 304800 h 457200"/>
              <a:gd name="connsiteX4" fmla="*/ 76200 w 101600"/>
              <a:gd name="connsiteY4" fmla="*/ 381000 h 457200"/>
              <a:gd name="connsiteX5" fmla="*/ 76200 w 101600"/>
              <a:gd name="connsiteY5" fmla="*/ 457200 h 457200"/>
              <a:gd name="connsiteX0" fmla="*/ 0 w 101600"/>
              <a:gd name="connsiteY0" fmla="*/ 0 h 457200"/>
              <a:gd name="connsiteX1" fmla="*/ 76200 w 101600"/>
              <a:gd name="connsiteY1" fmla="*/ 76200 h 457200"/>
              <a:gd name="connsiteX2" fmla="*/ 76200 w 101600"/>
              <a:gd name="connsiteY2" fmla="*/ 228599 h 457200"/>
              <a:gd name="connsiteX3" fmla="*/ 76200 w 101600"/>
              <a:gd name="connsiteY3" fmla="*/ 304800 h 457200"/>
              <a:gd name="connsiteX4" fmla="*/ 76200 w 101600"/>
              <a:gd name="connsiteY4" fmla="*/ 381000 h 457200"/>
              <a:gd name="connsiteX5" fmla="*/ 76200 w 101600"/>
              <a:gd name="connsiteY5" fmla="*/ 457200 h 457200"/>
              <a:gd name="connsiteX0" fmla="*/ 0 w 125413"/>
              <a:gd name="connsiteY0" fmla="*/ 0 h 457200"/>
              <a:gd name="connsiteX1" fmla="*/ 76200 w 125413"/>
              <a:gd name="connsiteY1" fmla="*/ 76200 h 457200"/>
              <a:gd name="connsiteX2" fmla="*/ 76200 w 125413"/>
              <a:gd name="connsiteY2" fmla="*/ 228599 h 457200"/>
              <a:gd name="connsiteX3" fmla="*/ 76200 w 125413"/>
              <a:gd name="connsiteY3" fmla="*/ 304800 h 457200"/>
              <a:gd name="connsiteX4" fmla="*/ 76200 w 125413"/>
              <a:gd name="connsiteY4" fmla="*/ 381000 h 457200"/>
              <a:gd name="connsiteX5" fmla="*/ 76200 w 125413"/>
              <a:gd name="connsiteY5" fmla="*/ 457200 h 457200"/>
              <a:gd name="connsiteX0" fmla="*/ 0 w 79375"/>
              <a:gd name="connsiteY0" fmla="*/ 0 h 457200"/>
              <a:gd name="connsiteX1" fmla="*/ 76200 w 79375"/>
              <a:gd name="connsiteY1" fmla="*/ 76200 h 457200"/>
              <a:gd name="connsiteX2" fmla="*/ 76200 w 79375"/>
              <a:gd name="connsiteY2" fmla="*/ 228599 h 457200"/>
              <a:gd name="connsiteX3" fmla="*/ 76200 w 79375"/>
              <a:gd name="connsiteY3" fmla="*/ 304800 h 457200"/>
              <a:gd name="connsiteX4" fmla="*/ 76200 w 79375"/>
              <a:gd name="connsiteY4" fmla="*/ 381000 h 457200"/>
              <a:gd name="connsiteX5" fmla="*/ 76200 w 79375"/>
              <a:gd name="connsiteY5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375" h="457200">
                <a:moveTo>
                  <a:pt x="0" y="0"/>
                </a:moveTo>
                <a:cubicBezTo>
                  <a:pt x="58" y="1182"/>
                  <a:pt x="76142" y="75018"/>
                  <a:pt x="76200" y="76200"/>
                </a:cubicBezTo>
                <a:cubicBezTo>
                  <a:pt x="79375" y="115094"/>
                  <a:pt x="73026" y="127793"/>
                  <a:pt x="76200" y="228599"/>
                </a:cubicBezTo>
                <a:lnTo>
                  <a:pt x="76200" y="304800"/>
                </a:lnTo>
                <a:lnTo>
                  <a:pt x="76200" y="381000"/>
                </a:lnTo>
                <a:lnTo>
                  <a:pt x="76200" y="457200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ardrop 90"/>
          <p:cNvSpPr/>
          <p:nvPr/>
        </p:nvSpPr>
        <p:spPr>
          <a:xfrm rot="17820000">
            <a:off x="4779105" y="2282802"/>
            <a:ext cx="154303" cy="89068"/>
          </a:xfrm>
          <a:prstGeom prst="teardrop">
            <a:avLst>
              <a:gd name="adj" fmla="val 1932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ardrop 91"/>
          <p:cNvSpPr/>
          <p:nvPr/>
        </p:nvSpPr>
        <p:spPr>
          <a:xfrm rot="17820000">
            <a:off x="4801142" y="2406627"/>
            <a:ext cx="154303" cy="89068"/>
          </a:xfrm>
          <a:prstGeom prst="teardrop">
            <a:avLst>
              <a:gd name="adj" fmla="val 1932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4800600" y="2153609"/>
            <a:ext cx="114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Gas He</a:t>
            </a:r>
          </a:p>
        </p:txBody>
      </p:sp>
      <p:sp>
        <p:nvSpPr>
          <p:cNvPr id="94" name="Oval 93"/>
          <p:cNvSpPr/>
          <p:nvPr/>
        </p:nvSpPr>
        <p:spPr>
          <a:xfrm>
            <a:off x="4724400" y="1524000"/>
            <a:ext cx="95525" cy="9247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/>
          <p:cNvSpPr/>
          <p:nvPr/>
        </p:nvSpPr>
        <p:spPr>
          <a:xfrm>
            <a:off x="4333875" y="2790825"/>
            <a:ext cx="1432880" cy="138705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/>
          <p:cNvSpPr/>
          <p:nvPr/>
        </p:nvSpPr>
        <p:spPr>
          <a:xfrm>
            <a:off x="4381500" y="2838450"/>
            <a:ext cx="1337354" cy="129458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4410075" y="2886075"/>
            <a:ext cx="1282518" cy="1219199"/>
          </a:xfrm>
          <a:prstGeom prst="ellipse">
            <a:avLst/>
          </a:prstGeom>
          <a:noFill/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4524647" y="4939128"/>
            <a:ext cx="1528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Vacuum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5415935" y="2278553"/>
            <a:ext cx="2579" cy="5272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90" idx="2"/>
            <a:endCxn id="90" idx="4"/>
          </p:cNvCxnSpPr>
          <p:nvPr/>
        </p:nvCxnSpPr>
        <p:spPr>
          <a:xfrm>
            <a:off x="4867551" y="1885744"/>
            <a:ext cx="0" cy="2157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5634298" y="4299561"/>
            <a:ext cx="7379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-452 F°</a:t>
            </a:r>
          </a:p>
          <a:p>
            <a:r>
              <a:rPr lang="en-US" sz="1100" b="1" dirty="0"/>
              <a:t>4K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33400" y="2286000"/>
            <a:ext cx="1905000" cy="12192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/>
          <p:cNvSpPr/>
          <p:nvPr/>
        </p:nvSpPr>
        <p:spPr>
          <a:xfrm>
            <a:off x="669174" y="2446713"/>
            <a:ext cx="1066800" cy="76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1" name="Picture 110" descr="Cross sectional image of abdom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426" y="2506287"/>
            <a:ext cx="970624" cy="686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" name="Group 50"/>
          <p:cNvGrpSpPr/>
          <p:nvPr/>
        </p:nvGrpSpPr>
        <p:grpSpPr>
          <a:xfrm>
            <a:off x="838200" y="3733800"/>
            <a:ext cx="609600" cy="1371600"/>
            <a:chOff x="609600" y="3733800"/>
            <a:chExt cx="609600" cy="1371600"/>
          </a:xfrm>
        </p:grpSpPr>
        <p:sp>
          <p:nvSpPr>
            <p:cNvPr id="113" name="Rectangle 112"/>
            <p:cNvSpPr/>
            <p:nvPr/>
          </p:nvSpPr>
          <p:spPr>
            <a:xfrm>
              <a:off x="609600" y="3733800"/>
              <a:ext cx="609600" cy="1371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85800" y="3886200"/>
              <a:ext cx="457200" cy="76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/>
            <p:cNvSpPr/>
            <p:nvPr/>
          </p:nvSpPr>
          <p:spPr>
            <a:xfrm>
              <a:off x="872490" y="4114800"/>
              <a:ext cx="76200" cy="76200"/>
            </a:xfrm>
            <a:prstGeom prst="ellips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Oval 115"/>
            <p:cNvSpPr/>
            <p:nvPr/>
          </p:nvSpPr>
          <p:spPr>
            <a:xfrm>
              <a:off x="1062990" y="4953000"/>
              <a:ext cx="76200" cy="762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7" name="Straight Connector 116"/>
            <p:cNvCxnSpPr/>
            <p:nvPr/>
          </p:nvCxnSpPr>
          <p:spPr>
            <a:xfrm>
              <a:off x="71247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86487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78867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95631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110871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103251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54"/>
          <p:cNvGrpSpPr/>
          <p:nvPr/>
        </p:nvGrpSpPr>
        <p:grpSpPr>
          <a:xfrm>
            <a:off x="1524000" y="3733800"/>
            <a:ext cx="609600" cy="1371600"/>
            <a:chOff x="609600" y="3733800"/>
            <a:chExt cx="609600" cy="1371600"/>
          </a:xfrm>
        </p:grpSpPr>
        <p:sp>
          <p:nvSpPr>
            <p:cNvPr id="124" name="Rectangle 123"/>
            <p:cNvSpPr/>
            <p:nvPr/>
          </p:nvSpPr>
          <p:spPr>
            <a:xfrm>
              <a:off x="609600" y="3733800"/>
              <a:ext cx="609600" cy="1371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685800" y="3886200"/>
              <a:ext cx="457200" cy="76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/>
            <p:cNvSpPr/>
            <p:nvPr/>
          </p:nvSpPr>
          <p:spPr>
            <a:xfrm>
              <a:off x="872490" y="4114800"/>
              <a:ext cx="76200" cy="76200"/>
            </a:xfrm>
            <a:prstGeom prst="ellips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/>
            <p:cNvSpPr/>
            <p:nvPr/>
          </p:nvSpPr>
          <p:spPr>
            <a:xfrm>
              <a:off x="1062990" y="4953000"/>
              <a:ext cx="76200" cy="762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8" name="Straight Connector 127"/>
            <p:cNvCxnSpPr/>
            <p:nvPr/>
          </p:nvCxnSpPr>
          <p:spPr>
            <a:xfrm>
              <a:off x="71247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>
              <a:off x="86487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>
              <a:off x="78867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95631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>
              <a:off x="110871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>
              <a:off x="1032510" y="4267200"/>
              <a:ext cx="0" cy="4572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Straight Arrow Connector 133"/>
          <p:cNvCxnSpPr>
            <a:stCxn id="113" idx="0"/>
          </p:cNvCxnSpPr>
          <p:nvPr/>
        </p:nvCxnSpPr>
        <p:spPr>
          <a:xfrm flipV="1">
            <a:off x="1143000" y="3505200"/>
            <a:ext cx="76200" cy="2286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62000" y="518160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Image Reconstruction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76400" y="2362200"/>
            <a:ext cx="4572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Patient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689042" y="2438400"/>
            <a:ext cx="381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Exam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76400" y="2531456"/>
            <a:ext cx="381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Date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21856" y="2539884"/>
            <a:ext cx="5298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1/1/2014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58298" y="2438400"/>
            <a:ext cx="5298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Chest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04304" y="2362200"/>
            <a:ext cx="5298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Smith, P.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676400" y="2819400"/>
            <a:ext cx="533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Reference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664524" y="2907476"/>
            <a:ext cx="533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Sequence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76400" y="2993218"/>
            <a:ext cx="609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Slice mm    2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5235" y="424432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Magnetic Resonance Imaging System</a:t>
            </a:r>
          </a:p>
        </p:txBody>
      </p:sp>
      <p:sp>
        <p:nvSpPr>
          <p:cNvPr id="147" name="Oval 146"/>
          <p:cNvSpPr/>
          <p:nvPr/>
        </p:nvSpPr>
        <p:spPr>
          <a:xfrm>
            <a:off x="4486275" y="2952751"/>
            <a:ext cx="1133475" cy="10858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Line Callout 3 163"/>
          <p:cNvSpPr/>
          <p:nvPr/>
        </p:nvSpPr>
        <p:spPr>
          <a:xfrm>
            <a:off x="6934200" y="1828800"/>
            <a:ext cx="1143000" cy="685800"/>
          </a:xfrm>
          <a:prstGeom prst="borderCallout3">
            <a:avLst>
              <a:gd name="adj1" fmla="val 184250"/>
              <a:gd name="adj2" fmla="val -131078"/>
              <a:gd name="adj3" fmla="val 59947"/>
              <a:gd name="adj4" fmla="val -18754"/>
              <a:gd name="adj5" fmla="val 260"/>
              <a:gd name="adj6" fmla="val 202"/>
              <a:gd name="adj7" fmla="val 281"/>
              <a:gd name="adj8" fmla="val 10071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TextBox 164"/>
          <p:cNvSpPr txBox="1"/>
          <p:nvPr/>
        </p:nvSpPr>
        <p:spPr>
          <a:xfrm>
            <a:off x="6934200" y="1991380"/>
            <a:ext cx="114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Energy Source</a:t>
            </a:r>
          </a:p>
          <a:p>
            <a:pPr algn="ctr"/>
            <a:r>
              <a:rPr lang="en-US" sz="1100" dirty="0"/>
              <a:t>RF Transmitter</a:t>
            </a:r>
          </a:p>
        </p:txBody>
      </p:sp>
      <p:pic>
        <p:nvPicPr>
          <p:cNvPr id="166" name="Picture 165" descr="Cross sectional image of abdom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9170" y="3227952"/>
            <a:ext cx="855528" cy="545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1" name="Block Arc 170"/>
          <p:cNvSpPr/>
          <p:nvPr/>
        </p:nvSpPr>
        <p:spPr>
          <a:xfrm rot="21207144">
            <a:off x="4516148" y="3201489"/>
            <a:ext cx="943228" cy="369881"/>
          </a:xfrm>
          <a:prstGeom prst="blockArc">
            <a:avLst>
              <a:gd name="adj1" fmla="val 12469452"/>
              <a:gd name="adj2" fmla="val 20936630"/>
              <a:gd name="adj3" fmla="val 20206"/>
            </a:avLst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2" name="Curved Connector 66"/>
          <p:cNvCxnSpPr>
            <a:stCxn id="170" idx="1"/>
            <a:endCxn id="124" idx="3"/>
          </p:cNvCxnSpPr>
          <p:nvPr/>
        </p:nvCxnSpPr>
        <p:spPr>
          <a:xfrm rot="16200000" flipH="1" flipV="1">
            <a:off x="3086242" y="2729914"/>
            <a:ext cx="737043" cy="2642327"/>
          </a:xfrm>
          <a:prstGeom prst="curvedConnector4">
            <a:avLst>
              <a:gd name="adj1" fmla="val 52445"/>
              <a:gd name="adj2" fmla="val 65832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 rot="20881886">
            <a:off x="2300057" y="4203687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Data flow</a:t>
            </a:r>
          </a:p>
        </p:txBody>
      </p:sp>
      <p:sp>
        <p:nvSpPr>
          <p:cNvPr id="167" name="Line Callout 3 166"/>
          <p:cNvSpPr/>
          <p:nvPr/>
        </p:nvSpPr>
        <p:spPr>
          <a:xfrm>
            <a:off x="7239000" y="4876800"/>
            <a:ext cx="1219200" cy="685800"/>
          </a:xfrm>
          <a:prstGeom prst="borderCallout3">
            <a:avLst>
              <a:gd name="adj1" fmla="val -168981"/>
              <a:gd name="adj2" fmla="val -158877"/>
              <a:gd name="adj3" fmla="val -89220"/>
              <a:gd name="adj4" fmla="val 28545"/>
              <a:gd name="adj5" fmla="val -80231"/>
              <a:gd name="adj6" fmla="val 51120"/>
              <a:gd name="adj7" fmla="val -4462"/>
              <a:gd name="adj8" fmla="val 52450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7010400" y="5029200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/>
              <a:t>Energy Detection</a:t>
            </a:r>
          </a:p>
          <a:p>
            <a:pPr algn="ctr"/>
            <a:r>
              <a:rPr lang="en-US" sz="1100" dirty="0"/>
              <a:t>RF Receive Coil</a:t>
            </a:r>
          </a:p>
        </p:txBody>
      </p:sp>
      <p:sp>
        <p:nvSpPr>
          <p:cNvPr id="155" name="Sun 154"/>
          <p:cNvSpPr/>
          <p:nvPr/>
        </p:nvSpPr>
        <p:spPr>
          <a:xfrm>
            <a:off x="5325769" y="1154774"/>
            <a:ext cx="130971" cy="147638"/>
          </a:xfrm>
          <a:prstGeom prst="sun">
            <a:avLst>
              <a:gd name="adj" fmla="val 3670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6" name="Straight Connector 155"/>
          <p:cNvCxnSpPr/>
          <p:nvPr/>
        </p:nvCxnSpPr>
        <p:spPr>
          <a:xfrm rot="5400000">
            <a:off x="5362474" y="1329747"/>
            <a:ext cx="538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5243945" y="1340024"/>
            <a:ext cx="290945" cy="107776"/>
          </a:xfrm>
          <a:prstGeom prst="rect">
            <a:avLst/>
          </a:prstGeom>
          <a:solidFill>
            <a:srgbClr val="E66618"/>
          </a:solidFill>
          <a:ln w="6350">
            <a:solidFill>
              <a:srgbClr val="E666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8" name="Straight Connector 157"/>
          <p:cNvCxnSpPr/>
          <p:nvPr/>
        </p:nvCxnSpPr>
        <p:spPr>
          <a:xfrm>
            <a:off x="4953000" y="1393912"/>
            <a:ext cx="290945" cy="0"/>
          </a:xfrm>
          <a:prstGeom prst="line">
            <a:avLst/>
          </a:prstGeom>
          <a:ln w="28575">
            <a:solidFill>
              <a:srgbClr val="E666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5313654" y="1143000"/>
            <a:ext cx="145473" cy="161664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0" name="Straight Connector 159"/>
          <p:cNvCxnSpPr/>
          <p:nvPr/>
        </p:nvCxnSpPr>
        <p:spPr>
          <a:xfrm rot="2220000">
            <a:off x="5333549" y="1209605"/>
            <a:ext cx="581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5444835" y="1395287"/>
            <a:ext cx="228600" cy="0"/>
          </a:xfrm>
          <a:prstGeom prst="line">
            <a:avLst/>
          </a:prstGeom>
          <a:ln w="28575">
            <a:solidFill>
              <a:srgbClr val="E666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762000" y="1902023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Image Display</a:t>
            </a:r>
          </a:p>
        </p:txBody>
      </p:sp>
      <p:sp>
        <p:nvSpPr>
          <p:cNvPr id="170" name="Block Arc 169"/>
          <p:cNvSpPr/>
          <p:nvPr/>
        </p:nvSpPr>
        <p:spPr>
          <a:xfrm rot="10530847">
            <a:off x="4670806" y="3395689"/>
            <a:ext cx="943228" cy="369881"/>
          </a:xfrm>
          <a:prstGeom prst="blockArc">
            <a:avLst>
              <a:gd name="adj1" fmla="val 12469452"/>
              <a:gd name="adj2" fmla="val 20936630"/>
              <a:gd name="adj3" fmla="val 20206"/>
            </a:avLst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0" name="Group 149"/>
          <p:cNvGrpSpPr/>
          <p:nvPr/>
        </p:nvGrpSpPr>
        <p:grpSpPr>
          <a:xfrm>
            <a:off x="381000" y="1219200"/>
            <a:ext cx="3250722" cy="381000"/>
            <a:chOff x="2286000" y="2514600"/>
            <a:chExt cx="3250722" cy="381000"/>
          </a:xfrm>
        </p:grpSpPr>
        <p:grpSp>
          <p:nvGrpSpPr>
            <p:cNvPr id="151" name="Group 4"/>
            <p:cNvGrpSpPr/>
            <p:nvPr/>
          </p:nvGrpSpPr>
          <p:grpSpPr>
            <a:xfrm>
              <a:off x="2286000" y="2514600"/>
              <a:ext cx="609600" cy="381000"/>
              <a:chOff x="609600" y="2362200"/>
              <a:chExt cx="1295400" cy="1371600"/>
            </a:xfrm>
          </p:grpSpPr>
          <p:sp>
            <p:nvSpPr>
              <p:cNvPr id="183" name="Rectangle 5"/>
              <p:cNvSpPr/>
              <p:nvPr/>
            </p:nvSpPr>
            <p:spPr>
              <a:xfrm>
                <a:off x="609600" y="2362200"/>
                <a:ext cx="1295400" cy="137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p:sp>
            <p:nvSpPr>
              <p:cNvPr id="184" name="TextBox 6"/>
              <p:cNvSpPr txBox="1"/>
              <p:nvPr/>
            </p:nvSpPr>
            <p:spPr>
              <a:xfrm>
                <a:off x="609600" y="2554069"/>
                <a:ext cx="1295400" cy="443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dirty="0"/>
                  <a:t>Subject  to be Imaged</a:t>
                </a:r>
              </a:p>
            </p:txBody>
          </p:sp>
        </p:grpSp>
        <p:grpSp>
          <p:nvGrpSpPr>
            <p:cNvPr id="152" name="Group 7"/>
            <p:cNvGrpSpPr/>
            <p:nvPr/>
          </p:nvGrpSpPr>
          <p:grpSpPr>
            <a:xfrm>
              <a:off x="2936879" y="2514600"/>
              <a:ext cx="645459" cy="381000"/>
              <a:chOff x="584661" y="2362200"/>
              <a:chExt cx="1371600" cy="1371600"/>
            </a:xfrm>
          </p:grpSpPr>
          <p:sp>
            <p:nvSpPr>
              <p:cNvPr id="179" name="Rectangle 178"/>
              <p:cNvSpPr/>
              <p:nvPr/>
            </p:nvSpPr>
            <p:spPr>
              <a:xfrm>
                <a:off x="609600" y="2362200"/>
                <a:ext cx="1295400" cy="137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584661" y="2554069"/>
                <a:ext cx="1371600" cy="886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dirty="0"/>
                  <a:t>Energy Source    to be Detected</a:t>
                </a:r>
              </a:p>
            </p:txBody>
          </p:sp>
        </p:grpSp>
        <p:grpSp>
          <p:nvGrpSpPr>
            <p:cNvPr id="153" name="Group 10"/>
            <p:cNvGrpSpPr/>
            <p:nvPr/>
          </p:nvGrpSpPr>
          <p:grpSpPr>
            <a:xfrm>
              <a:off x="3607278" y="2514600"/>
              <a:ext cx="609600" cy="381000"/>
              <a:chOff x="609600" y="2362200"/>
              <a:chExt cx="1295400" cy="1371600"/>
            </a:xfrm>
          </p:grpSpPr>
          <p:sp>
            <p:nvSpPr>
              <p:cNvPr id="176" name="Rectangle 175"/>
              <p:cNvSpPr/>
              <p:nvPr/>
            </p:nvSpPr>
            <p:spPr>
              <a:xfrm>
                <a:off x="609600" y="2362200"/>
                <a:ext cx="1295400" cy="137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p:sp>
            <p:nvSpPr>
              <p:cNvPr id="178" name="TextBox 177"/>
              <p:cNvSpPr txBox="1"/>
              <p:nvPr/>
            </p:nvSpPr>
            <p:spPr>
              <a:xfrm>
                <a:off x="609600" y="2554069"/>
                <a:ext cx="1295400" cy="581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dirty="0"/>
                  <a:t>Energy Detection Device</a:t>
                </a:r>
              </a:p>
            </p:txBody>
          </p:sp>
        </p:grpSp>
        <p:grpSp>
          <p:nvGrpSpPr>
            <p:cNvPr id="162" name="Group 13"/>
            <p:cNvGrpSpPr/>
            <p:nvPr/>
          </p:nvGrpSpPr>
          <p:grpSpPr>
            <a:xfrm>
              <a:off x="4201060" y="2514600"/>
              <a:ext cx="717176" cy="381000"/>
              <a:chOff x="457200" y="2362200"/>
              <a:chExt cx="1524000" cy="1371600"/>
            </a:xfrm>
          </p:grpSpPr>
          <p:sp>
            <p:nvSpPr>
              <p:cNvPr id="174" name="Rectangle 173"/>
              <p:cNvSpPr/>
              <p:nvPr/>
            </p:nvSpPr>
            <p:spPr>
              <a:xfrm>
                <a:off x="609600" y="2362200"/>
                <a:ext cx="1295400" cy="137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457200" y="2554069"/>
                <a:ext cx="1524000" cy="581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dirty="0"/>
                  <a:t>Image Reconstruction Mechanism  </a:t>
                </a:r>
              </a:p>
            </p:txBody>
          </p:sp>
        </p:grpSp>
        <p:grpSp>
          <p:nvGrpSpPr>
            <p:cNvPr id="163" name="Group 16"/>
            <p:cNvGrpSpPr/>
            <p:nvPr/>
          </p:nvGrpSpPr>
          <p:grpSpPr>
            <a:xfrm>
              <a:off x="4927122" y="2514600"/>
              <a:ext cx="609600" cy="381000"/>
              <a:chOff x="609600" y="2362200"/>
              <a:chExt cx="1295400" cy="1371600"/>
            </a:xfrm>
          </p:grpSpPr>
          <p:sp>
            <p:nvSpPr>
              <p:cNvPr id="169" name="Rectangle 168"/>
              <p:cNvSpPr/>
              <p:nvPr/>
            </p:nvSpPr>
            <p:spPr>
              <a:xfrm>
                <a:off x="609600" y="2362200"/>
                <a:ext cx="1295400" cy="137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609600" y="2741960"/>
                <a:ext cx="1295400" cy="443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dirty="0"/>
                  <a:t>Image Display Device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7913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 Vessel</a:t>
            </a:r>
          </a:p>
        </p:txBody>
      </p:sp>
      <p:pic>
        <p:nvPicPr>
          <p:cNvPr id="1026" name="Picture 2" descr="http://mri-q.com/uploads/3/4/5/7/34572113/9652071_orig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486694"/>
            <a:ext cx="504825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82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1 Tesla = 10,000 Gauss</a:t>
            </a:r>
          </a:p>
          <a:p>
            <a:r>
              <a:rPr lang="en-US" sz="2400" dirty="0"/>
              <a:t>Earth magnetism 0.5 gauss</a:t>
            </a:r>
          </a:p>
          <a:p>
            <a:r>
              <a:rPr lang="en-US" sz="2400" dirty="0"/>
              <a:t>Most magnets are 30,000 to 60,000 stronger than the earth magnetic field</a:t>
            </a:r>
          </a:p>
          <a:p>
            <a:r>
              <a:rPr lang="en-US" sz="2400" dirty="0"/>
              <a:t>Most magnets 1.5T, a few 3T some old 1T</a:t>
            </a:r>
          </a:p>
          <a:p>
            <a:r>
              <a:rPr lang="en-US" sz="2400" dirty="0"/>
              <a:t>Many 7T or higher are for clinical research around the world right now. Mostly universities and research hospitals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883" y="3886200"/>
            <a:ext cx="35718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910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1219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Magnet</a:t>
            </a:r>
          </a:p>
        </p:txBody>
      </p:sp>
      <p:grpSp>
        <p:nvGrpSpPr>
          <p:cNvPr id="5" name="Group 81"/>
          <p:cNvGrpSpPr/>
          <p:nvPr/>
        </p:nvGrpSpPr>
        <p:grpSpPr>
          <a:xfrm>
            <a:off x="304800" y="2040575"/>
            <a:ext cx="1524000" cy="1528950"/>
            <a:chOff x="304800" y="1981200"/>
            <a:chExt cx="1524000" cy="1528950"/>
          </a:xfrm>
        </p:grpSpPr>
        <p:sp>
          <p:nvSpPr>
            <p:cNvPr id="57" name="Cube 56"/>
            <p:cNvSpPr/>
            <p:nvPr/>
          </p:nvSpPr>
          <p:spPr>
            <a:xfrm>
              <a:off x="533400" y="3205350"/>
              <a:ext cx="228600" cy="304800"/>
            </a:xfrm>
            <a:prstGeom prst="cub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Cube 33"/>
            <p:cNvSpPr/>
            <p:nvPr/>
          </p:nvSpPr>
          <p:spPr>
            <a:xfrm flipH="1">
              <a:off x="1412175" y="3200400"/>
              <a:ext cx="228600" cy="304800"/>
            </a:xfrm>
            <a:prstGeom prst="cub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Donut 10"/>
            <p:cNvSpPr/>
            <p:nvPr/>
          </p:nvSpPr>
          <p:spPr>
            <a:xfrm>
              <a:off x="304800" y="1981200"/>
              <a:ext cx="1524000" cy="1524000"/>
            </a:xfrm>
            <a:prstGeom prst="donu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61"/>
          <p:cNvGrpSpPr/>
          <p:nvPr/>
        </p:nvGrpSpPr>
        <p:grpSpPr>
          <a:xfrm>
            <a:off x="3281550" y="1828800"/>
            <a:ext cx="762000" cy="1752600"/>
            <a:chOff x="3581400" y="1828800"/>
            <a:chExt cx="762000" cy="1752600"/>
          </a:xfrm>
        </p:grpSpPr>
        <p:sp>
          <p:nvSpPr>
            <p:cNvPr id="58" name="Rectangle 57"/>
            <p:cNvSpPr/>
            <p:nvPr/>
          </p:nvSpPr>
          <p:spPr>
            <a:xfrm>
              <a:off x="3581400" y="1828800"/>
              <a:ext cx="762000" cy="1752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ame 59"/>
            <p:cNvSpPr/>
            <p:nvPr/>
          </p:nvSpPr>
          <p:spPr>
            <a:xfrm>
              <a:off x="3617025" y="1876300"/>
              <a:ext cx="685800" cy="1600200"/>
            </a:xfrm>
            <a:prstGeom prst="frame">
              <a:avLst>
                <a:gd name="adj1" fmla="val 817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2"/>
          <p:cNvGrpSpPr/>
          <p:nvPr/>
        </p:nvGrpSpPr>
        <p:grpSpPr>
          <a:xfrm>
            <a:off x="2314700" y="1828800"/>
            <a:ext cx="762000" cy="1752600"/>
            <a:chOff x="3581400" y="1828800"/>
            <a:chExt cx="762000" cy="1752600"/>
          </a:xfrm>
        </p:grpSpPr>
        <p:sp>
          <p:nvSpPr>
            <p:cNvPr id="64" name="Rectangle 63"/>
            <p:cNvSpPr/>
            <p:nvPr/>
          </p:nvSpPr>
          <p:spPr>
            <a:xfrm>
              <a:off x="3581400" y="1828800"/>
              <a:ext cx="762000" cy="1752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ame 64"/>
            <p:cNvSpPr/>
            <p:nvPr/>
          </p:nvSpPr>
          <p:spPr>
            <a:xfrm>
              <a:off x="3617025" y="1876300"/>
              <a:ext cx="685800" cy="1600200"/>
            </a:xfrm>
            <a:prstGeom prst="frame">
              <a:avLst>
                <a:gd name="adj1" fmla="val 817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426525" y="22214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485" y="1981200"/>
            <a:ext cx="461665" cy="1129384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b="1" dirty="0"/>
              <a:t>Gradients</a:t>
            </a:r>
          </a:p>
        </p:txBody>
      </p:sp>
      <p:grpSp>
        <p:nvGrpSpPr>
          <p:cNvPr id="8" name="Group 67"/>
          <p:cNvGrpSpPr/>
          <p:nvPr/>
        </p:nvGrpSpPr>
        <p:grpSpPr>
          <a:xfrm>
            <a:off x="5943600" y="1828800"/>
            <a:ext cx="762000" cy="1752600"/>
            <a:chOff x="3581400" y="1828800"/>
            <a:chExt cx="762000" cy="1752600"/>
          </a:xfrm>
        </p:grpSpPr>
        <p:sp>
          <p:nvSpPr>
            <p:cNvPr id="69" name="Rectangle 68"/>
            <p:cNvSpPr/>
            <p:nvPr/>
          </p:nvSpPr>
          <p:spPr>
            <a:xfrm>
              <a:off x="3581400" y="1828800"/>
              <a:ext cx="762000" cy="1752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ame 69"/>
            <p:cNvSpPr/>
            <p:nvPr/>
          </p:nvSpPr>
          <p:spPr>
            <a:xfrm>
              <a:off x="3617025" y="1876300"/>
              <a:ext cx="685800" cy="1600200"/>
            </a:xfrm>
            <a:prstGeom prst="frame">
              <a:avLst>
                <a:gd name="adj1" fmla="val 817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979225" y="1981200"/>
            <a:ext cx="738664" cy="129540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b="1" dirty="0"/>
              <a:t>Systems Operations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3800" y="12192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Computing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3600" y="1219200"/>
            <a:ext cx="1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Source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0" y="1219200"/>
            <a:ext cx="99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Spatial Encoding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8800" y="1219200"/>
            <a:ext cx="134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System Functions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3962400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Coldhead</a:t>
            </a:r>
          </a:p>
          <a:p>
            <a:r>
              <a:rPr lang="en-US" dirty="0"/>
              <a:t>Compressor</a:t>
            </a:r>
          </a:p>
          <a:p>
            <a:r>
              <a:rPr lang="en-US" dirty="0"/>
              <a:t>Lines</a:t>
            </a:r>
          </a:p>
          <a:p>
            <a:r>
              <a:rPr lang="en-US" dirty="0"/>
              <a:t>Chiller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81200" y="3962400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 Power Supply</a:t>
            </a:r>
          </a:p>
          <a:p>
            <a:r>
              <a:rPr lang="en-US" dirty="0"/>
              <a:t>RF Amp</a:t>
            </a:r>
          </a:p>
          <a:p>
            <a:r>
              <a:rPr lang="en-US" dirty="0"/>
              <a:t>Gradient Power Supply</a:t>
            </a:r>
          </a:p>
          <a:p>
            <a:r>
              <a:rPr lang="en-US" dirty="0"/>
              <a:t>Gradient Amps (X,Y,Z)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91400" y="3962400"/>
            <a:ext cx="198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Operation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Reconstruction</a:t>
            </a:r>
          </a:p>
          <a:p>
            <a:r>
              <a:rPr lang="en-US" dirty="0"/>
              <a:t>Communications</a:t>
            </a:r>
          </a:p>
          <a:p>
            <a:r>
              <a:rPr lang="en-US" dirty="0"/>
              <a:t>Image Display</a:t>
            </a:r>
          </a:p>
          <a:p>
            <a:r>
              <a:rPr lang="en-US" dirty="0"/>
              <a:t>PACS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15000" y="3962400"/>
            <a:ext cx="175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Movements </a:t>
            </a:r>
          </a:p>
          <a:p>
            <a:r>
              <a:rPr lang="en-US" dirty="0"/>
              <a:t>System Interface &amp; Connectivity</a:t>
            </a:r>
          </a:p>
          <a:p>
            <a:r>
              <a:rPr lang="en-US" dirty="0"/>
              <a:t>Safety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644104" y="474604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Basic Functional Components of any Magnetic Resonant Imaging System  </a:t>
            </a:r>
          </a:p>
        </p:txBody>
      </p:sp>
      <p:grpSp>
        <p:nvGrpSpPr>
          <p:cNvPr id="9" name="Group 86"/>
          <p:cNvGrpSpPr/>
          <p:nvPr/>
        </p:nvGrpSpPr>
        <p:grpSpPr>
          <a:xfrm>
            <a:off x="7543800" y="1905000"/>
            <a:ext cx="1295400" cy="1676400"/>
            <a:chOff x="7543800" y="1905000"/>
            <a:chExt cx="1295400" cy="1676400"/>
          </a:xfrm>
        </p:grpSpPr>
        <p:sp>
          <p:nvSpPr>
            <p:cNvPr id="13" name="Rectangle 12"/>
            <p:cNvSpPr/>
            <p:nvPr/>
          </p:nvSpPr>
          <p:spPr>
            <a:xfrm>
              <a:off x="7543800" y="1905000"/>
              <a:ext cx="609600" cy="1676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0" y="2091267"/>
              <a:ext cx="457200" cy="9313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7806690" y="2370667"/>
              <a:ext cx="76200" cy="93133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764667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79907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72287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89051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804291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96671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8229600" y="1905000"/>
              <a:ext cx="609600" cy="1676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305800" y="2091267"/>
              <a:ext cx="457200" cy="9313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/>
            <p:cNvSpPr/>
            <p:nvPr/>
          </p:nvSpPr>
          <p:spPr>
            <a:xfrm>
              <a:off x="8492490" y="2370667"/>
              <a:ext cx="76200" cy="93133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/>
            <p:cNvSpPr/>
            <p:nvPr/>
          </p:nvSpPr>
          <p:spPr>
            <a:xfrm flipV="1">
              <a:off x="8686800" y="3352799"/>
              <a:ext cx="76200" cy="76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833247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48487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840867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57631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872871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652510" y="2556933"/>
              <a:ext cx="0" cy="558800"/>
            </a:xfrm>
            <a:prstGeom prst="lin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7645878" y="2286000"/>
              <a:ext cx="461665" cy="1129384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System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305800" y="2286000"/>
              <a:ext cx="461665" cy="1129384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Imaging</a:t>
              </a:r>
            </a:p>
          </p:txBody>
        </p:sp>
        <p:sp>
          <p:nvSpPr>
            <p:cNvPr id="86" name="Oval 85"/>
            <p:cNvSpPr/>
            <p:nvPr/>
          </p:nvSpPr>
          <p:spPr>
            <a:xfrm flipV="1">
              <a:off x="8001000" y="3352800"/>
              <a:ext cx="76200" cy="76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296014" y="1219200"/>
            <a:ext cx="1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Detector 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53314" y="1905000"/>
            <a:ext cx="838200" cy="100616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ounded Rectangle 58"/>
          <p:cNvSpPr/>
          <p:nvPr/>
        </p:nvSpPr>
        <p:spPr>
          <a:xfrm>
            <a:off x="4682268" y="2030771"/>
            <a:ext cx="193431" cy="188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ounded Rectangle 60"/>
          <p:cNvSpPr/>
          <p:nvPr/>
        </p:nvSpPr>
        <p:spPr>
          <a:xfrm>
            <a:off x="5069129" y="2030771"/>
            <a:ext cx="193431" cy="188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ounded Rectangle 79"/>
          <p:cNvSpPr/>
          <p:nvPr/>
        </p:nvSpPr>
        <p:spPr>
          <a:xfrm>
            <a:off x="4682268" y="2282313"/>
            <a:ext cx="193431" cy="188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ounded Rectangle 80"/>
          <p:cNvSpPr/>
          <p:nvPr/>
        </p:nvSpPr>
        <p:spPr>
          <a:xfrm>
            <a:off x="5069129" y="2282313"/>
            <a:ext cx="193431" cy="188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ounded Rectangle 87"/>
          <p:cNvSpPr/>
          <p:nvPr/>
        </p:nvSpPr>
        <p:spPr>
          <a:xfrm>
            <a:off x="4682268" y="2533855"/>
            <a:ext cx="193431" cy="188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ounded Rectangle 88"/>
          <p:cNvSpPr/>
          <p:nvPr/>
        </p:nvSpPr>
        <p:spPr>
          <a:xfrm>
            <a:off x="5069129" y="2533855"/>
            <a:ext cx="193431" cy="188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Freeform 89"/>
          <p:cNvSpPr/>
          <p:nvPr/>
        </p:nvSpPr>
        <p:spPr>
          <a:xfrm>
            <a:off x="4687134" y="2823960"/>
            <a:ext cx="359489" cy="686994"/>
          </a:xfrm>
          <a:custGeom>
            <a:avLst/>
            <a:gdLst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36762 w 854015"/>
              <a:gd name="connsiteY14" fmla="*/ 1388853 h 1664898"/>
              <a:gd name="connsiteX15" fmla="*/ 828136 w 854015"/>
              <a:gd name="connsiteY15" fmla="*/ 1423359 h 1664898"/>
              <a:gd name="connsiteX16" fmla="*/ 810883 w 854015"/>
              <a:gd name="connsiteY16" fmla="*/ 1449238 h 1664898"/>
              <a:gd name="connsiteX17" fmla="*/ 767751 w 854015"/>
              <a:gd name="connsiteY17" fmla="*/ 1509623 h 1664898"/>
              <a:gd name="connsiteX18" fmla="*/ 698740 w 854015"/>
              <a:gd name="connsiteY18" fmla="*/ 1535502 h 1664898"/>
              <a:gd name="connsiteX19" fmla="*/ 646981 w 854015"/>
              <a:gd name="connsiteY19" fmla="*/ 1570008 h 1664898"/>
              <a:gd name="connsiteX20" fmla="*/ 621102 w 854015"/>
              <a:gd name="connsiteY20" fmla="*/ 1595887 h 1664898"/>
              <a:gd name="connsiteX21" fmla="*/ 586596 w 854015"/>
              <a:gd name="connsiteY21" fmla="*/ 1613140 h 1664898"/>
              <a:gd name="connsiteX22" fmla="*/ 560717 w 854015"/>
              <a:gd name="connsiteY22" fmla="*/ 1630393 h 1664898"/>
              <a:gd name="connsiteX23" fmla="*/ 457200 w 854015"/>
              <a:gd name="connsiteY23" fmla="*/ 1656272 h 1664898"/>
              <a:gd name="connsiteX24" fmla="*/ 310551 w 854015"/>
              <a:gd name="connsiteY24" fmla="*/ 1664898 h 1664898"/>
              <a:gd name="connsiteX25" fmla="*/ 215661 w 854015"/>
              <a:gd name="connsiteY25" fmla="*/ 1647645 h 1664898"/>
              <a:gd name="connsiteX26" fmla="*/ 155276 w 854015"/>
              <a:gd name="connsiteY26" fmla="*/ 1621766 h 1664898"/>
              <a:gd name="connsiteX27" fmla="*/ 129396 w 854015"/>
              <a:gd name="connsiteY27" fmla="*/ 1613140 h 1664898"/>
              <a:gd name="connsiteX28" fmla="*/ 77638 w 854015"/>
              <a:gd name="connsiteY28" fmla="*/ 1570008 h 1664898"/>
              <a:gd name="connsiteX29" fmla="*/ 25879 w 854015"/>
              <a:gd name="connsiteY29" fmla="*/ 1535502 h 1664898"/>
              <a:gd name="connsiteX30" fmla="*/ 0 w 854015"/>
              <a:gd name="connsiteY30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36762 w 854015"/>
              <a:gd name="connsiteY14" fmla="*/ 1388853 h 1664898"/>
              <a:gd name="connsiteX15" fmla="*/ 828136 w 854015"/>
              <a:gd name="connsiteY15" fmla="*/ 1423359 h 1664898"/>
              <a:gd name="connsiteX16" fmla="*/ 810883 w 854015"/>
              <a:gd name="connsiteY16" fmla="*/ 1449238 h 1664898"/>
              <a:gd name="connsiteX17" fmla="*/ 767751 w 854015"/>
              <a:gd name="connsiteY17" fmla="*/ 1509623 h 1664898"/>
              <a:gd name="connsiteX18" fmla="*/ 646981 w 854015"/>
              <a:gd name="connsiteY18" fmla="*/ 1570008 h 1664898"/>
              <a:gd name="connsiteX19" fmla="*/ 621102 w 854015"/>
              <a:gd name="connsiteY19" fmla="*/ 1595887 h 1664898"/>
              <a:gd name="connsiteX20" fmla="*/ 586596 w 854015"/>
              <a:gd name="connsiteY20" fmla="*/ 1613140 h 1664898"/>
              <a:gd name="connsiteX21" fmla="*/ 560717 w 854015"/>
              <a:gd name="connsiteY21" fmla="*/ 1630393 h 1664898"/>
              <a:gd name="connsiteX22" fmla="*/ 457200 w 854015"/>
              <a:gd name="connsiteY22" fmla="*/ 1656272 h 1664898"/>
              <a:gd name="connsiteX23" fmla="*/ 310551 w 854015"/>
              <a:gd name="connsiteY23" fmla="*/ 1664898 h 1664898"/>
              <a:gd name="connsiteX24" fmla="*/ 215661 w 854015"/>
              <a:gd name="connsiteY24" fmla="*/ 1647645 h 1664898"/>
              <a:gd name="connsiteX25" fmla="*/ 155276 w 854015"/>
              <a:gd name="connsiteY25" fmla="*/ 1621766 h 1664898"/>
              <a:gd name="connsiteX26" fmla="*/ 129396 w 854015"/>
              <a:gd name="connsiteY26" fmla="*/ 1613140 h 1664898"/>
              <a:gd name="connsiteX27" fmla="*/ 77638 w 854015"/>
              <a:gd name="connsiteY27" fmla="*/ 1570008 h 1664898"/>
              <a:gd name="connsiteX28" fmla="*/ 25879 w 854015"/>
              <a:gd name="connsiteY28" fmla="*/ 1535502 h 1664898"/>
              <a:gd name="connsiteX29" fmla="*/ 0 w 854015"/>
              <a:gd name="connsiteY29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36762 w 854015"/>
              <a:gd name="connsiteY14" fmla="*/ 1388853 h 1664898"/>
              <a:gd name="connsiteX15" fmla="*/ 828136 w 854015"/>
              <a:gd name="connsiteY15" fmla="*/ 1423359 h 1664898"/>
              <a:gd name="connsiteX16" fmla="*/ 810883 w 854015"/>
              <a:gd name="connsiteY16" fmla="*/ 1449238 h 1664898"/>
              <a:gd name="connsiteX17" fmla="*/ 767751 w 854015"/>
              <a:gd name="connsiteY17" fmla="*/ 1509623 h 1664898"/>
              <a:gd name="connsiteX18" fmla="*/ 646981 w 854015"/>
              <a:gd name="connsiteY18" fmla="*/ 1570008 h 1664898"/>
              <a:gd name="connsiteX19" fmla="*/ 586596 w 854015"/>
              <a:gd name="connsiteY19" fmla="*/ 1613140 h 1664898"/>
              <a:gd name="connsiteX20" fmla="*/ 560717 w 854015"/>
              <a:gd name="connsiteY20" fmla="*/ 1630393 h 1664898"/>
              <a:gd name="connsiteX21" fmla="*/ 457200 w 854015"/>
              <a:gd name="connsiteY21" fmla="*/ 1656272 h 1664898"/>
              <a:gd name="connsiteX22" fmla="*/ 310551 w 854015"/>
              <a:gd name="connsiteY22" fmla="*/ 1664898 h 1664898"/>
              <a:gd name="connsiteX23" fmla="*/ 215661 w 854015"/>
              <a:gd name="connsiteY23" fmla="*/ 1647645 h 1664898"/>
              <a:gd name="connsiteX24" fmla="*/ 155276 w 854015"/>
              <a:gd name="connsiteY24" fmla="*/ 1621766 h 1664898"/>
              <a:gd name="connsiteX25" fmla="*/ 129396 w 854015"/>
              <a:gd name="connsiteY25" fmla="*/ 1613140 h 1664898"/>
              <a:gd name="connsiteX26" fmla="*/ 77638 w 854015"/>
              <a:gd name="connsiteY26" fmla="*/ 1570008 h 1664898"/>
              <a:gd name="connsiteX27" fmla="*/ 25879 w 854015"/>
              <a:gd name="connsiteY27" fmla="*/ 1535502 h 1664898"/>
              <a:gd name="connsiteX28" fmla="*/ 0 w 854015"/>
              <a:gd name="connsiteY28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36762 w 854015"/>
              <a:gd name="connsiteY14" fmla="*/ 1388853 h 1664898"/>
              <a:gd name="connsiteX15" fmla="*/ 828136 w 854015"/>
              <a:gd name="connsiteY15" fmla="*/ 1423359 h 1664898"/>
              <a:gd name="connsiteX16" fmla="*/ 810883 w 854015"/>
              <a:gd name="connsiteY16" fmla="*/ 1449238 h 1664898"/>
              <a:gd name="connsiteX17" fmla="*/ 767751 w 854015"/>
              <a:gd name="connsiteY17" fmla="*/ 1509623 h 1664898"/>
              <a:gd name="connsiteX18" fmla="*/ 586596 w 854015"/>
              <a:gd name="connsiteY18" fmla="*/ 1613140 h 1664898"/>
              <a:gd name="connsiteX19" fmla="*/ 560717 w 854015"/>
              <a:gd name="connsiteY19" fmla="*/ 1630393 h 1664898"/>
              <a:gd name="connsiteX20" fmla="*/ 457200 w 854015"/>
              <a:gd name="connsiteY20" fmla="*/ 1656272 h 1664898"/>
              <a:gd name="connsiteX21" fmla="*/ 310551 w 854015"/>
              <a:gd name="connsiteY21" fmla="*/ 1664898 h 1664898"/>
              <a:gd name="connsiteX22" fmla="*/ 215661 w 854015"/>
              <a:gd name="connsiteY22" fmla="*/ 1647645 h 1664898"/>
              <a:gd name="connsiteX23" fmla="*/ 155276 w 854015"/>
              <a:gd name="connsiteY23" fmla="*/ 1621766 h 1664898"/>
              <a:gd name="connsiteX24" fmla="*/ 129396 w 854015"/>
              <a:gd name="connsiteY24" fmla="*/ 1613140 h 1664898"/>
              <a:gd name="connsiteX25" fmla="*/ 77638 w 854015"/>
              <a:gd name="connsiteY25" fmla="*/ 1570008 h 1664898"/>
              <a:gd name="connsiteX26" fmla="*/ 25879 w 854015"/>
              <a:gd name="connsiteY26" fmla="*/ 1535502 h 1664898"/>
              <a:gd name="connsiteX27" fmla="*/ 0 w 854015"/>
              <a:gd name="connsiteY27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36762 w 854015"/>
              <a:gd name="connsiteY14" fmla="*/ 1388853 h 1664898"/>
              <a:gd name="connsiteX15" fmla="*/ 828136 w 854015"/>
              <a:gd name="connsiteY15" fmla="*/ 1423359 h 1664898"/>
              <a:gd name="connsiteX16" fmla="*/ 810883 w 854015"/>
              <a:gd name="connsiteY16" fmla="*/ 1449238 h 1664898"/>
              <a:gd name="connsiteX17" fmla="*/ 767751 w 854015"/>
              <a:gd name="connsiteY17" fmla="*/ 1509623 h 1664898"/>
              <a:gd name="connsiteX18" fmla="*/ 560717 w 854015"/>
              <a:gd name="connsiteY18" fmla="*/ 1630393 h 1664898"/>
              <a:gd name="connsiteX19" fmla="*/ 457200 w 854015"/>
              <a:gd name="connsiteY19" fmla="*/ 1656272 h 1664898"/>
              <a:gd name="connsiteX20" fmla="*/ 310551 w 854015"/>
              <a:gd name="connsiteY20" fmla="*/ 1664898 h 1664898"/>
              <a:gd name="connsiteX21" fmla="*/ 215661 w 854015"/>
              <a:gd name="connsiteY21" fmla="*/ 1647645 h 1664898"/>
              <a:gd name="connsiteX22" fmla="*/ 155276 w 854015"/>
              <a:gd name="connsiteY22" fmla="*/ 1621766 h 1664898"/>
              <a:gd name="connsiteX23" fmla="*/ 129396 w 854015"/>
              <a:gd name="connsiteY23" fmla="*/ 1613140 h 1664898"/>
              <a:gd name="connsiteX24" fmla="*/ 77638 w 854015"/>
              <a:gd name="connsiteY24" fmla="*/ 1570008 h 1664898"/>
              <a:gd name="connsiteX25" fmla="*/ 25879 w 854015"/>
              <a:gd name="connsiteY25" fmla="*/ 1535502 h 1664898"/>
              <a:gd name="connsiteX26" fmla="*/ 0 w 854015"/>
              <a:gd name="connsiteY26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36762 w 854015"/>
              <a:gd name="connsiteY14" fmla="*/ 1388853 h 1664898"/>
              <a:gd name="connsiteX15" fmla="*/ 810883 w 854015"/>
              <a:gd name="connsiteY15" fmla="*/ 1449238 h 1664898"/>
              <a:gd name="connsiteX16" fmla="*/ 767751 w 854015"/>
              <a:gd name="connsiteY16" fmla="*/ 1509623 h 1664898"/>
              <a:gd name="connsiteX17" fmla="*/ 560717 w 854015"/>
              <a:gd name="connsiteY17" fmla="*/ 1630393 h 1664898"/>
              <a:gd name="connsiteX18" fmla="*/ 457200 w 854015"/>
              <a:gd name="connsiteY18" fmla="*/ 1656272 h 1664898"/>
              <a:gd name="connsiteX19" fmla="*/ 310551 w 854015"/>
              <a:gd name="connsiteY19" fmla="*/ 1664898 h 1664898"/>
              <a:gd name="connsiteX20" fmla="*/ 215661 w 854015"/>
              <a:gd name="connsiteY20" fmla="*/ 1647645 h 1664898"/>
              <a:gd name="connsiteX21" fmla="*/ 155276 w 854015"/>
              <a:gd name="connsiteY21" fmla="*/ 1621766 h 1664898"/>
              <a:gd name="connsiteX22" fmla="*/ 129396 w 854015"/>
              <a:gd name="connsiteY22" fmla="*/ 1613140 h 1664898"/>
              <a:gd name="connsiteX23" fmla="*/ 77638 w 854015"/>
              <a:gd name="connsiteY23" fmla="*/ 1570008 h 1664898"/>
              <a:gd name="connsiteX24" fmla="*/ 25879 w 854015"/>
              <a:gd name="connsiteY24" fmla="*/ 1535502 h 1664898"/>
              <a:gd name="connsiteX25" fmla="*/ 0 w 854015"/>
              <a:gd name="connsiteY25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08517 w 854015"/>
              <a:gd name="connsiteY14" fmla="*/ 1281619 h 1664898"/>
              <a:gd name="connsiteX15" fmla="*/ 810883 w 854015"/>
              <a:gd name="connsiteY15" fmla="*/ 1449238 h 1664898"/>
              <a:gd name="connsiteX16" fmla="*/ 767751 w 854015"/>
              <a:gd name="connsiteY16" fmla="*/ 1509623 h 1664898"/>
              <a:gd name="connsiteX17" fmla="*/ 560717 w 854015"/>
              <a:gd name="connsiteY17" fmla="*/ 1630393 h 1664898"/>
              <a:gd name="connsiteX18" fmla="*/ 457200 w 854015"/>
              <a:gd name="connsiteY18" fmla="*/ 1656272 h 1664898"/>
              <a:gd name="connsiteX19" fmla="*/ 310551 w 854015"/>
              <a:gd name="connsiteY19" fmla="*/ 1664898 h 1664898"/>
              <a:gd name="connsiteX20" fmla="*/ 215661 w 854015"/>
              <a:gd name="connsiteY20" fmla="*/ 1647645 h 1664898"/>
              <a:gd name="connsiteX21" fmla="*/ 155276 w 854015"/>
              <a:gd name="connsiteY21" fmla="*/ 1621766 h 1664898"/>
              <a:gd name="connsiteX22" fmla="*/ 129396 w 854015"/>
              <a:gd name="connsiteY22" fmla="*/ 1613140 h 1664898"/>
              <a:gd name="connsiteX23" fmla="*/ 77638 w 854015"/>
              <a:gd name="connsiteY23" fmla="*/ 1570008 h 1664898"/>
              <a:gd name="connsiteX24" fmla="*/ 25879 w 854015"/>
              <a:gd name="connsiteY24" fmla="*/ 1535502 h 1664898"/>
              <a:gd name="connsiteX25" fmla="*/ 0 w 854015"/>
              <a:gd name="connsiteY25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10883 w 854015"/>
              <a:gd name="connsiteY14" fmla="*/ 1449238 h 1664898"/>
              <a:gd name="connsiteX15" fmla="*/ 767751 w 854015"/>
              <a:gd name="connsiteY15" fmla="*/ 1509623 h 1664898"/>
              <a:gd name="connsiteX16" fmla="*/ 560717 w 854015"/>
              <a:gd name="connsiteY16" fmla="*/ 1630393 h 1664898"/>
              <a:gd name="connsiteX17" fmla="*/ 457200 w 854015"/>
              <a:gd name="connsiteY17" fmla="*/ 1656272 h 1664898"/>
              <a:gd name="connsiteX18" fmla="*/ 310551 w 854015"/>
              <a:gd name="connsiteY18" fmla="*/ 1664898 h 1664898"/>
              <a:gd name="connsiteX19" fmla="*/ 215661 w 854015"/>
              <a:gd name="connsiteY19" fmla="*/ 1647645 h 1664898"/>
              <a:gd name="connsiteX20" fmla="*/ 155276 w 854015"/>
              <a:gd name="connsiteY20" fmla="*/ 1621766 h 1664898"/>
              <a:gd name="connsiteX21" fmla="*/ 129396 w 854015"/>
              <a:gd name="connsiteY21" fmla="*/ 1613140 h 1664898"/>
              <a:gd name="connsiteX22" fmla="*/ 77638 w 854015"/>
              <a:gd name="connsiteY22" fmla="*/ 1570008 h 1664898"/>
              <a:gd name="connsiteX23" fmla="*/ 25879 w 854015"/>
              <a:gd name="connsiteY23" fmla="*/ 1535502 h 1664898"/>
              <a:gd name="connsiteX24" fmla="*/ 0 w 854015"/>
              <a:gd name="connsiteY24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69922 w 854015"/>
              <a:gd name="connsiteY7" fmla="*/ 496784 h 1664898"/>
              <a:gd name="connsiteX8" fmla="*/ 785004 w 854015"/>
              <a:gd name="connsiteY8" fmla="*/ 569344 h 1664898"/>
              <a:gd name="connsiteX9" fmla="*/ 810883 w 854015"/>
              <a:gd name="connsiteY9" fmla="*/ 629728 h 1664898"/>
              <a:gd name="connsiteX10" fmla="*/ 819510 w 854015"/>
              <a:gd name="connsiteY10" fmla="*/ 733245 h 1664898"/>
              <a:gd name="connsiteX11" fmla="*/ 828136 w 854015"/>
              <a:gd name="connsiteY11" fmla="*/ 759125 h 1664898"/>
              <a:gd name="connsiteX12" fmla="*/ 836762 w 854015"/>
              <a:gd name="connsiteY12" fmla="*/ 888521 h 1664898"/>
              <a:gd name="connsiteX13" fmla="*/ 854015 w 854015"/>
              <a:gd name="connsiteY13" fmla="*/ 1026544 h 1664898"/>
              <a:gd name="connsiteX14" fmla="*/ 845389 w 854015"/>
              <a:gd name="connsiteY14" fmla="*/ 1250830 h 1664898"/>
              <a:gd name="connsiteX15" fmla="*/ 810883 w 854015"/>
              <a:gd name="connsiteY15" fmla="*/ 1449238 h 1664898"/>
              <a:gd name="connsiteX16" fmla="*/ 767751 w 854015"/>
              <a:gd name="connsiteY16" fmla="*/ 1509623 h 1664898"/>
              <a:gd name="connsiteX17" fmla="*/ 560717 w 854015"/>
              <a:gd name="connsiteY17" fmla="*/ 1630393 h 1664898"/>
              <a:gd name="connsiteX18" fmla="*/ 457200 w 854015"/>
              <a:gd name="connsiteY18" fmla="*/ 1656272 h 1664898"/>
              <a:gd name="connsiteX19" fmla="*/ 310551 w 854015"/>
              <a:gd name="connsiteY19" fmla="*/ 1664898 h 1664898"/>
              <a:gd name="connsiteX20" fmla="*/ 215661 w 854015"/>
              <a:gd name="connsiteY20" fmla="*/ 1647645 h 1664898"/>
              <a:gd name="connsiteX21" fmla="*/ 155276 w 854015"/>
              <a:gd name="connsiteY21" fmla="*/ 1621766 h 1664898"/>
              <a:gd name="connsiteX22" fmla="*/ 129396 w 854015"/>
              <a:gd name="connsiteY22" fmla="*/ 1613140 h 1664898"/>
              <a:gd name="connsiteX23" fmla="*/ 77638 w 854015"/>
              <a:gd name="connsiteY23" fmla="*/ 1570008 h 1664898"/>
              <a:gd name="connsiteX24" fmla="*/ 25879 w 854015"/>
              <a:gd name="connsiteY24" fmla="*/ 1535502 h 1664898"/>
              <a:gd name="connsiteX25" fmla="*/ 0 w 854015"/>
              <a:gd name="connsiteY25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59125 w 854015"/>
              <a:gd name="connsiteY5" fmla="*/ 491706 h 1664898"/>
              <a:gd name="connsiteX6" fmla="*/ 767751 w 854015"/>
              <a:gd name="connsiteY6" fmla="*/ 526211 h 1664898"/>
              <a:gd name="connsiteX7" fmla="*/ 785004 w 854015"/>
              <a:gd name="connsiteY7" fmla="*/ 569344 h 1664898"/>
              <a:gd name="connsiteX8" fmla="*/ 810883 w 854015"/>
              <a:gd name="connsiteY8" fmla="*/ 629728 h 1664898"/>
              <a:gd name="connsiteX9" fmla="*/ 819510 w 854015"/>
              <a:gd name="connsiteY9" fmla="*/ 733245 h 1664898"/>
              <a:gd name="connsiteX10" fmla="*/ 828136 w 854015"/>
              <a:gd name="connsiteY10" fmla="*/ 759125 h 1664898"/>
              <a:gd name="connsiteX11" fmla="*/ 836762 w 854015"/>
              <a:gd name="connsiteY11" fmla="*/ 888521 h 1664898"/>
              <a:gd name="connsiteX12" fmla="*/ 854015 w 854015"/>
              <a:gd name="connsiteY12" fmla="*/ 1026544 h 1664898"/>
              <a:gd name="connsiteX13" fmla="*/ 845389 w 854015"/>
              <a:gd name="connsiteY13" fmla="*/ 1250830 h 1664898"/>
              <a:gd name="connsiteX14" fmla="*/ 810883 w 854015"/>
              <a:gd name="connsiteY14" fmla="*/ 1449238 h 1664898"/>
              <a:gd name="connsiteX15" fmla="*/ 767751 w 854015"/>
              <a:gd name="connsiteY15" fmla="*/ 1509623 h 1664898"/>
              <a:gd name="connsiteX16" fmla="*/ 560717 w 854015"/>
              <a:gd name="connsiteY16" fmla="*/ 1630393 h 1664898"/>
              <a:gd name="connsiteX17" fmla="*/ 457200 w 854015"/>
              <a:gd name="connsiteY17" fmla="*/ 1656272 h 1664898"/>
              <a:gd name="connsiteX18" fmla="*/ 310551 w 854015"/>
              <a:gd name="connsiteY18" fmla="*/ 1664898 h 1664898"/>
              <a:gd name="connsiteX19" fmla="*/ 215661 w 854015"/>
              <a:gd name="connsiteY19" fmla="*/ 1647645 h 1664898"/>
              <a:gd name="connsiteX20" fmla="*/ 155276 w 854015"/>
              <a:gd name="connsiteY20" fmla="*/ 1621766 h 1664898"/>
              <a:gd name="connsiteX21" fmla="*/ 129396 w 854015"/>
              <a:gd name="connsiteY21" fmla="*/ 1613140 h 1664898"/>
              <a:gd name="connsiteX22" fmla="*/ 77638 w 854015"/>
              <a:gd name="connsiteY22" fmla="*/ 1570008 h 1664898"/>
              <a:gd name="connsiteX23" fmla="*/ 25879 w 854015"/>
              <a:gd name="connsiteY23" fmla="*/ 1535502 h 1664898"/>
              <a:gd name="connsiteX24" fmla="*/ 0 w 854015"/>
              <a:gd name="connsiteY24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67751 w 854015"/>
              <a:gd name="connsiteY5" fmla="*/ 526211 h 1664898"/>
              <a:gd name="connsiteX6" fmla="*/ 785004 w 854015"/>
              <a:gd name="connsiteY6" fmla="*/ 569344 h 1664898"/>
              <a:gd name="connsiteX7" fmla="*/ 810883 w 854015"/>
              <a:gd name="connsiteY7" fmla="*/ 629728 h 1664898"/>
              <a:gd name="connsiteX8" fmla="*/ 819510 w 854015"/>
              <a:gd name="connsiteY8" fmla="*/ 733245 h 1664898"/>
              <a:gd name="connsiteX9" fmla="*/ 828136 w 854015"/>
              <a:gd name="connsiteY9" fmla="*/ 759125 h 1664898"/>
              <a:gd name="connsiteX10" fmla="*/ 836762 w 854015"/>
              <a:gd name="connsiteY10" fmla="*/ 888521 h 1664898"/>
              <a:gd name="connsiteX11" fmla="*/ 854015 w 854015"/>
              <a:gd name="connsiteY11" fmla="*/ 1026544 h 1664898"/>
              <a:gd name="connsiteX12" fmla="*/ 845389 w 854015"/>
              <a:gd name="connsiteY12" fmla="*/ 1250830 h 1664898"/>
              <a:gd name="connsiteX13" fmla="*/ 810883 w 854015"/>
              <a:gd name="connsiteY13" fmla="*/ 1449238 h 1664898"/>
              <a:gd name="connsiteX14" fmla="*/ 767751 w 854015"/>
              <a:gd name="connsiteY14" fmla="*/ 1509623 h 1664898"/>
              <a:gd name="connsiteX15" fmla="*/ 560717 w 854015"/>
              <a:gd name="connsiteY15" fmla="*/ 1630393 h 1664898"/>
              <a:gd name="connsiteX16" fmla="*/ 457200 w 854015"/>
              <a:gd name="connsiteY16" fmla="*/ 1656272 h 1664898"/>
              <a:gd name="connsiteX17" fmla="*/ 310551 w 854015"/>
              <a:gd name="connsiteY17" fmla="*/ 1664898 h 1664898"/>
              <a:gd name="connsiteX18" fmla="*/ 215661 w 854015"/>
              <a:gd name="connsiteY18" fmla="*/ 1647645 h 1664898"/>
              <a:gd name="connsiteX19" fmla="*/ 155276 w 854015"/>
              <a:gd name="connsiteY19" fmla="*/ 1621766 h 1664898"/>
              <a:gd name="connsiteX20" fmla="*/ 129396 w 854015"/>
              <a:gd name="connsiteY20" fmla="*/ 1613140 h 1664898"/>
              <a:gd name="connsiteX21" fmla="*/ 77638 w 854015"/>
              <a:gd name="connsiteY21" fmla="*/ 1570008 h 1664898"/>
              <a:gd name="connsiteX22" fmla="*/ 25879 w 854015"/>
              <a:gd name="connsiteY22" fmla="*/ 1535502 h 1664898"/>
              <a:gd name="connsiteX23" fmla="*/ 0 w 854015"/>
              <a:gd name="connsiteY23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41872 w 854015"/>
              <a:gd name="connsiteY4" fmla="*/ 448574 h 1664898"/>
              <a:gd name="connsiteX5" fmla="*/ 767751 w 854015"/>
              <a:gd name="connsiteY5" fmla="*/ 526211 h 1664898"/>
              <a:gd name="connsiteX6" fmla="*/ 810883 w 854015"/>
              <a:gd name="connsiteY6" fmla="*/ 629728 h 1664898"/>
              <a:gd name="connsiteX7" fmla="*/ 819510 w 854015"/>
              <a:gd name="connsiteY7" fmla="*/ 733245 h 1664898"/>
              <a:gd name="connsiteX8" fmla="*/ 828136 w 854015"/>
              <a:gd name="connsiteY8" fmla="*/ 759125 h 1664898"/>
              <a:gd name="connsiteX9" fmla="*/ 836762 w 854015"/>
              <a:gd name="connsiteY9" fmla="*/ 888521 h 1664898"/>
              <a:gd name="connsiteX10" fmla="*/ 854015 w 854015"/>
              <a:gd name="connsiteY10" fmla="*/ 1026544 h 1664898"/>
              <a:gd name="connsiteX11" fmla="*/ 845389 w 854015"/>
              <a:gd name="connsiteY11" fmla="*/ 1250830 h 1664898"/>
              <a:gd name="connsiteX12" fmla="*/ 810883 w 854015"/>
              <a:gd name="connsiteY12" fmla="*/ 1449238 h 1664898"/>
              <a:gd name="connsiteX13" fmla="*/ 767751 w 854015"/>
              <a:gd name="connsiteY13" fmla="*/ 1509623 h 1664898"/>
              <a:gd name="connsiteX14" fmla="*/ 560717 w 854015"/>
              <a:gd name="connsiteY14" fmla="*/ 1630393 h 1664898"/>
              <a:gd name="connsiteX15" fmla="*/ 457200 w 854015"/>
              <a:gd name="connsiteY15" fmla="*/ 1656272 h 1664898"/>
              <a:gd name="connsiteX16" fmla="*/ 310551 w 854015"/>
              <a:gd name="connsiteY16" fmla="*/ 1664898 h 1664898"/>
              <a:gd name="connsiteX17" fmla="*/ 215661 w 854015"/>
              <a:gd name="connsiteY17" fmla="*/ 1647645 h 1664898"/>
              <a:gd name="connsiteX18" fmla="*/ 155276 w 854015"/>
              <a:gd name="connsiteY18" fmla="*/ 1621766 h 1664898"/>
              <a:gd name="connsiteX19" fmla="*/ 129396 w 854015"/>
              <a:gd name="connsiteY19" fmla="*/ 1613140 h 1664898"/>
              <a:gd name="connsiteX20" fmla="*/ 77638 w 854015"/>
              <a:gd name="connsiteY20" fmla="*/ 1570008 h 1664898"/>
              <a:gd name="connsiteX21" fmla="*/ 25879 w 854015"/>
              <a:gd name="connsiteY21" fmla="*/ 1535502 h 1664898"/>
              <a:gd name="connsiteX22" fmla="*/ 0 w 854015"/>
              <a:gd name="connsiteY22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628408 w 854015"/>
              <a:gd name="connsiteY4" fmla="*/ 542951 h 1664898"/>
              <a:gd name="connsiteX5" fmla="*/ 767751 w 854015"/>
              <a:gd name="connsiteY5" fmla="*/ 526211 h 1664898"/>
              <a:gd name="connsiteX6" fmla="*/ 810883 w 854015"/>
              <a:gd name="connsiteY6" fmla="*/ 629728 h 1664898"/>
              <a:gd name="connsiteX7" fmla="*/ 819510 w 854015"/>
              <a:gd name="connsiteY7" fmla="*/ 733245 h 1664898"/>
              <a:gd name="connsiteX8" fmla="*/ 828136 w 854015"/>
              <a:gd name="connsiteY8" fmla="*/ 759125 h 1664898"/>
              <a:gd name="connsiteX9" fmla="*/ 836762 w 854015"/>
              <a:gd name="connsiteY9" fmla="*/ 888521 h 1664898"/>
              <a:gd name="connsiteX10" fmla="*/ 854015 w 854015"/>
              <a:gd name="connsiteY10" fmla="*/ 1026544 h 1664898"/>
              <a:gd name="connsiteX11" fmla="*/ 845389 w 854015"/>
              <a:gd name="connsiteY11" fmla="*/ 1250830 h 1664898"/>
              <a:gd name="connsiteX12" fmla="*/ 810883 w 854015"/>
              <a:gd name="connsiteY12" fmla="*/ 1449238 h 1664898"/>
              <a:gd name="connsiteX13" fmla="*/ 767751 w 854015"/>
              <a:gd name="connsiteY13" fmla="*/ 1509623 h 1664898"/>
              <a:gd name="connsiteX14" fmla="*/ 560717 w 854015"/>
              <a:gd name="connsiteY14" fmla="*/ 1630393 h 1664898"/>
              <a:gd name="connsiteX15" fmla="*/ 457200 w 854015"/>
              <a:gd name="connsiteY15" fmla="*/ 1656272 h 1664898"/>
              <a:gd name="connsiteX16" fmla="*/ 310551 w 854015"/>
              <a:gd name="connsiteY16" fmla="*/ 1664898 h 1664898"/>
              <a:gd name="connsiteX17" fmla="*/ 215661 w 854015"/>
              <a:gd name="connsiteY17" fmla="*/ 1647645 h 1664898"/>
              <a:gd name="connsiteX18" fmla="*/ 155276 w 854015"/>
              <a:gd name="connsiteY18" fmla="*/ 1621766 h 1664898"/>
              <a:gd name="connsiteX19" fmla="*/ 129396 w 854015"/>
              <a:gd name="connsiteY19" fmla="*/ 1613140 h 1664898"/>
              <a:gd name="connsiteX20" fmla="*/ 77638 w 854015"/>
              <a:gd name="connsiteY20" fmla="*/ 1570008 h 1664898"/>
              <a:gd name="connsiteX21" fmla="*/ 25879 w 854015"/>
              <a:gd name="connsiteY21" fmla="*/ 1535502 h 1664898"/>
              <a:gd name="connsiteX22" fmla="*/ 0 w 854015"/>
              <a:gd name="connsiteY22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67751 w 854015"/>
              <a:gd name="connsiteY4" fmla="*/ 526211 h 1664898"/>
              <a:gd name="connsiteX5" fmla="*/ 810883 w 854015"/>
              <a:gd name="connsiteY5" fmla="*/ 629728 h 1664898"/>
              <a:gd name="connsiteX6" fmla="*/ 819510 w 854015"/>
              <a:gd name="connsiteY6" fmla="*/ 733245 h 1664898"/>
              <a:gd name="connsiteX7" fmla="*/ 828136 w 854015"/>
              <a:gd name="connsiteY7" fmla="*/ 759125 h 1664898"/>
              <a:gd name="connsiteX8" fmla="*/ 836762 w 854015"/>
              <a:gd name="connsiteY8" fmla="*/ 888521 h 1664898"/>
              <a:gd name="connsiteX9" fmla="*/ 854015 w 854015"/>
              <a:gd name="connsiteY9" fmla="*/ 1026544 h 1664898"/>
              <a:gd name="connsiteX10" fmla="*/ 845389 w 854015"/>
              <a:gd name="connsiteY10" fmla="*/ 1250830 h 1664898"/>
              <a:gd name="connsiteX11" fmla="*/ 810883 w 854015"/>
              <a:gd name="connsiteY11" fmla="*/ 1449238 h 1664898"/>
              <a:gd name="connsiteX12" fmla="*/ 767751 w 854015"/>
              <a:gd name="connsiteY12" fmla="*/ 1509623 h 1664898"/>
              <a:gd name="connsiteX13" fmla="*/ 560717 w 854015"/>
              <a:gd name="connsiteY13" fmla="*/ 1630393 h 1664898"/>
              <a:gd name="connsiteX14" fmla="*/ 457200 w 854015"/>
              <a:gd name="connsiteY14" fmla="*/ 1656272 h 1664898"/>
              <a:gd name="connsiteX15" fmla="*/ 310551 w 854015"/>
              <a:gd name="connsiteY15" fmla="*/ 1664898 h 1664898"/>
              <a:gd name="connsiteX16" fmla="*/ 215661 w 854015"/>
              <a:gd name="connsiteY16" fmla="*/ 1647645 h 1664898"/>
              <a:gd name="connsiteX17" fmla="*/ 155276 w 854015"/>
              <a:gd name="connsiteY17" fmla="*/ 1621766 h 1664898"/>
              <a:gd name="connsiteX18" fmla="*/ 129396 w 854015"/>
              <a:gd name="connsiteY18" fmla="*/ 1613140 h 1664898"/>
              <a:gd name="connsiteX19" fmla="*/ 77638 w 854015"/>
              <a:gd name="connsiteY19" fmla="*/ 1570008 h 1664898"/>
              <a:gd name="connsiteX20" fmla="*/ 25879 w 854015"/>
              <a:gd name="connsiteY20" fmla="*/ 1535502 h 1664898"/>
              <a:gd name="connsiteX21" fmla="*/ 0 w 854015"/>
              <a:gd name="connsiteY21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67751 w 854015"/>
              <a:gd name="connsiteY4" fmla="*/ 526211 h 1664898"/>
              <a:gd name="connsiteX5" fmla="*/ 819510 w 854015"/>
              <a:gd name="connsiteY5" fmla="*/ 733245 h 1664898"/>
              <a:gd name="connsiteX6" fmla="*/ 828136 w 854015"/>
              <a:gd name="connsiteY6" fmla="*/ 759125 h 1664898"/>
              <a:gd name="connsiteX7" fmla="*/ 836762 w 854015"/>
              <a:gd name="connsiteY7" fmla="*/ 888521 h 1664898"/>
              <a:gd name="connsiteX8" fmla="*/ 854015 w 854015"/>
              <a:gd name="connsiteY8" fmla="*/ 1026544 h 1664898"/>
              <a:gd name="connsiteX9" fmla="*/ 845389 w 854015"/>
              <a:gd name="connsiteY9" fmla="*/ 1250830 h 1664898"/>
              <a:gd name="connsiteX10" fmla="*/ 810883 w 854015"/>
              <a:gd name="connsiteY10" fmla="*/ 1449238 h 1664898"/>
              <a:gd name="connsiteX11" fmla="*/ 767751 w 854015"/>
              <a:gd name="connsiteY11" fmla="*/ 1509623 h 1664898"/>
              <a:gd name="connsiteX12" fmla="*/ 560717 w 854015"/>
              <a:gd name="connsiteY12" fmla="*/ 1630393 h 1664898"/>
              <a:gd name="connsiteX13" fmla="*/ 457200 w 854015"/>
              <a:gd name="connsiteY13" fmla="*/ 1656272 h 1664898"/>
              <a:gd name="connsiteX14" fmla="*/ 310551 w 854015"/>
              <a:gd name="connsiteY14" fmla="*/ 1664898 h 1664898"/>
              <a:gd name="connsiteX15" fmla="*/ 215661 w 854015"/>
              <a:gd name="connsiteY15" fmla="*/ 1647645 h 1664898"/>
              <a:gd name="connsiteX16" fmla="*/ 155276 w 854015"/>
              <a:gd name="connsiteY16" fmla="*/ 1621766 h 1664898"/>
              <a:gd name="connsiteX17" fmla="*/ 129396 w 854015"/>
              <a:gd name="connsiteY17" fmla="*/ 1613140 h 1664898"/>
              <a:gd name="connsiteX18" fmla="*/ 77638 w 854015"/>
              <a:gd name="connsiteY18" fmla="*/ 1570008 h 1664898"/>
              <a:gd name="connsiteX19" fmla="*/ 25879 w 854015"/>
              <a:gd name="connsiteY19" fmla="*/ 1535502 h 1664898"/>
              <a:gd name="connsiteX20" fmla="*/ 0 w 854015"/>
              <a:gd name="connsiteY20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767751 w 854015"/>
              <a:gd name="connsiteY4" fmla="*/ 526211 h 1664898"/>
              <a:gd name="connsiteX5" fmla="*/ 819510 w 854015"/>
              <a:gd name="connsiteY5" fmla="*/ 733245 h 1664898"/>
              <a:gd name="connsiteX6" fmla="*/ 836762 w 854015"/>
              <a:gd name="connsiteY6" fmla="*/ 888521 h 1664898"/>
              <a:gd name="connsiteX7" fmla="*/ 854015 w 854015"/>
              <a:gd name="connsiteY7" fmla="*/ 1026544 h 1664898"/>
              <a:gd name="connsiteX8" fmla="*/ 845389 w 854015"/>
              <a:gd name="connsiteY8" fmla="*/ 1250830 h 1664898"/>
              <a:gd name="connsiteX9" fmla="*/ 810883 w 854015"/>
              <a:gd name="connsiteY9" fmla="*/ 1449238 h 1664898"/>
              <a:gd name="connsiteX10" fmla="*/ 767751 w 854015"/>
              <a:gd name="connsiteY10" fmla="*/ 1509623 h 1664898"/>
              <a:gd name="connsiteX11" fmla="*/ 560717 w 854015"/>
              <a:gd name="connsiteY11" fmla="*/ 1630393 h 1664898"/>
              <a:gd name="connsiteX12" fmla="*/ 457200 w 854015"/>
              <a:gd name="connsiteY12" fmla="*/ 1656272 h 1664898"/>
              <a:gd name="connsiteX13" fmla="*/ 310551 w 854015"/>
              <a:gd name="connsiteY13" fmla="*/ 1664898 h 1664898"/>
              <a:gd name="connsiteX14" fmla="*/ 215661 w 854015"/>
              <a:gd name="connsiteY14" fmla="*/ 1647645 h 1664898"/>
              <a:gd name="connsiteX15" fmla="*/ 155276 w 854015"/>
              <a:gd name="connsiteY15" fmla="*/ 1621766 h 1664898"/>
              <a:gd name="connsiteX16" fmla="*/ 129396 w 854015"/>
              <a:gd name="connsiteY16" fmla="*/ 1613140 h 1664898"/>
              <a:gd name="connsiteX17" fmla="*/ 77638 w 854015"/>
              <a:gd name="connsiteY17" fmla="*/ 1570008 h 1664898"/>
              <a:gd name="connsiteX18" fmla="*/ 25879 w 854015"/>
              <a:gd name="connsiteY18" fmla="*/ 1535502 h 1664898"/>
              <a:gd name="connsiteX19" fmla="*/ 0 w 854015"/>
              <a:gd name="connsiteY19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808517 w 854015"/>
              <a:gd name="connsiteY4" fmla="*/ 542951 h 1664898"/>
              <a:gd name="connsiteX5" fmla="*/ 819510 w 854015"/>
              <a:gd name="connsiteY5" fmla="*/ 733245 h 1664898"/>
              <a:gd name="connsiteX6" fmla="*/ 836762 w 854015"/>
              <a:gd name="connsiteY6" fmla="*/ 888521 h 1664898"/>
              <a:gd name="connsiteX7" fmla="*/ 854015 w 854015"/>
              <a:gd name="connsiteY7" fmla="*/ 1026544 h 1664898"/>
              <a:gd name="connsiteX8" fmla="*/ 845389 w 854015"/>
              <a:gd name="connsiteY8" fmla="*/ 1250830 h 1664898"/>
              <a:gd name="connsiteX9" fmla="*/ 810883 w 854015"/>
              <a:gd name="connsiteY9" fmla="*/ 1449238 h 1664898"/>
              <a:gd name="connsiteX10" fmla="*/ 767751 w 854015"/>
              <a:gd name="connsiteY10" fmla="*/ 1509623 h 1664898"/>
              <a:gd name="connsiteX11" fmla="*/ 560717 w 854015"/>
              <a:gd name="connsiteY11" fmla="*/ 1630393 h 1664898"/>
              <a:gd name="connsiteX12" fmla="*/ 457200 w 854015"/>
              <a:gd name="connsiteY12" fmla="*/ 1656272 h 1664898"/>
              <a:gd name="connsiteX13" fmla="*/ 310551 w 854015"/>
              <a:gd name="connsiteY13" fmla="*/ 1664898 h 1664898"/>
              <a:gd name="connsiteX14" fmla="*/ 215661 w 854015"/>
              <a:gd name="connsiteY14" fmla="*/ 1647645 h 1664898"/>
              <a:gd name="connsiteX15" fmla="*/ 155276 w 854015"/>
              <a:gd name="connsiteY15" fmla="*/ 1621766 h 1664898"/>
              <a:gd name="connsiteX16" fmla="*/ 129396 w 854015"/>
              <a:gd name="connsiteY16" fmla="*/ 1613140 h 1664898"/>
              <a:gd name="connsiteX17" fmla="*/ 77638 w 854015"/>
              <a:gd name="connsiteY17" fmla="*/ 1570008 h 1664898"/>
              <a:gd name="connsiteX18" fmla="*/ 25879 w 854015"/>
              <a:gd name="connsiteY18" fmla="*/ 1535502 h 1664898"/>
              <a:gd name="connsiteX19" fmla="*/ 0 w 854015"/>
              <a:gd name="connsiteY19" fmla="*/ 1500996 h 1664898"/>
              <a:gd name="connsiteX0" fmla="*/ 681487 w 854015"/>
              <a:gd name="connsiteY0" fmla="*/ 0 h 1664898"/>
              <a:gd name="connsiteX1" fmla="*/ 707366 w 854015"/>
              <a:gd name="connsiteY1" fmla="*/ 112144 h 1664898"/>
              <a:gd name="connsiteX2" fmla="*/ 715993 w 854015"/>
              <a:gd name="connsiteY2" fmla="*/ 146649 h 1664898"/>
              <a:gd name="connsiteX3" fmla="*/ 724619 w 854015"/>
              <a:gd name="connsiteY3" fmla="*/ 198408 h 1664898"/>
              <a:gd name="connsiteX4" fmla="*/ 808517 w 854015"/>
              <a:gd name="connsiteY4" fmla="*/ 542951 h 1664898"/>
              <a:gd name="connsiteX5" fmla="*/ 836762 w 854015"/>
              <a:gd name="connsiteY5" fmla="*/ 888521 h 1664898"/>
              <a:gd name="connsiteX6" fmla="*/ 854015 w 854015"/>
              <a:gd name="connsiteY6" fmla="*/ 1026544 h 1664898"/>
              <a:gd name="connsiteX7" fmla="*/ 845389 w 854015"/>
              <a:gd name="connsiteY7" fmla="*/ 1250830 h 1664898"/>
              <a:gd name="connsiteX8" fmla="*/ 810883 w 854015"/>
              <a:gd name="connsiteY8" fmla="*/ 1449238 h 1664898"/>
              <a:gd name="connsiteX9" fmla="*/ 767751 w 854015"/>
              <a:gd name="connsiteY9" fmla="*/ 1509623 h 1664898"/>
              <a:gd name="connsiteX10" fmla="*/ 560717 w 854015"/>
              <a:gd name="connsiteY10" fmla="*/ 1630393 h 1664898"/>
              <a:gd name="connsiteX11" fmla="*/ 457200 w 854015"/>
              <a:gd name="connsiteY11" fmla="*/ 1656272 h 1664898"/>
              <a:gd name="connsiteX12" fmla="*/ 310551 w 854015"/>
              <a:gd name="connsiteY12" fmla="*/ 1664898 h 1664898"/>
              <a:gd name="connsiteX13" fmla="*/ 215661 w 854015"/>
              <a:gd name="connsiteY13" fmla="*/ 1647645 h 1664898"/>
              <a:gd name="connsiteX14" fmla="*/ 155276 w 854015"/>
              <a:gd name="connsiteY14" fmla="*/ 1621766 h 1664898"/>
              <a:gd name="connsiteX15" fmla="*/ 129396 w 854015"/>
              <a:gd name="connsiteY15" fmla="*/ 1613140 h 1664898"/>
              <a:gd name="connsiteX16" fmla="*/ 77638 w 854015"/>
              <a:gd name="connsiteY16" fmla="*/ 1570008 h 1664898"/>
              <a:gd name="connsiteX17" fmla="*/ 25879 w 854015"/>
              <a:gd name="connsiteY17" fmla="*/ 1535502 h 1664898"/>
              <a:gd name="connsiteX18" fmla="*/ 0 w 854015"/>
              <a:gd name="connsiteY18" fmla="*/ 1500996 h 1664898"/>
              <a:gd name="connsiteX0" fmla="*/ 681487 w 849701"/>
              <a:gd name="connsiteY0" fmla="*/ 0 h 1664898"/>
              <a:gd name="connsiteX1" fmla="*/ 707366 w 849701"/>
              <a:gd name="connsiteY1" fmla="*/ 112144 h 1664898"/>
              <a:gd name="connsiteX2" fmla="*/ 715993 w 849701"/>
              <a:gd name="connsiteY2" fmla="*/ 146649 h 1664898"/>
              <a:gd name="connsiteX3" fmla="*/ 724619 w 849701"/>
              <a:gd name="connsiteY3" fmla="*/ 198408 h 1664898"/>
              <a:gd name="connsiteX4" fmla="*/ 808517 w 849701"/>
              <a:gd name="connsiteY4" fmla="*/ 542951 h 1664898"/>
              <a:gd name="connsiteX5" fmla="*/ 836762 w 849701"/>
              <a:gd name="connsiteY5" fmla="*/ 888521 h 1664898"/>
              <a:gd name="connsiteX6" fmla="*/ 845389 w 849701"/>
              <a:gd name="connsiteY6" fmla="*/ 1250830 h 1664898"/>
              <a:gd name="connsiteX7" fmla="*/ 810883 w 849701"/>
              <a:gd name="connsiteY7" fmla="*/ 1449238 h 1664898"/>
              <a:gd name="connsiteX8" fmla="*/ 767751 w 849701"/>
              <a:gd name="connsiteY8" fmla="*/ 1509623 h 1664898"/>
              <a:gd name="connsiteX9" fmla="*/ 560717 w 849701"/>
              <a:gd name="connsiteY9" fmla="*/ 1630393 h 1664898"/>
              <a:gd name="connsiteX10" fmla="*/ 457200 w 849701"/>
              <a:gd name="connsiteY10" fmla="*/ 1656272 h 1664898"/>
              <a:gd name="connsiteX11" fmla="*/ 310551 w 849701"/>
              <a:gd name="connsiteY11" fmla="*/ 1664898 h 1664898"/>
              <a:gd name="connsiteX12" fmla="*/ 215661 w 849701"/>
              <a:gd name="connsiteY12" fmla="*/ 1647645 h 1664898"/>
              <a:gd name="connsiteX13" fmla="*/ 155276 w 849701"/>
              <a:gd name="connsiteY13" fmla="*/ 1621766 h 1664898"/>
              <a:gd name="connsiteX14" fmla="*/ 129396 w 849701"/>
              <a:gd name="connsiteY14" fmla="*/ 1613140 h 1664898"/>
              <a:gd name="connsiteX15" fmla="*/ 77638 w 849701"/>
              <a:gd name="connsiteY15" fmla="*/ 1570008 h 1664898"/>
              <a:gd name="connsiteX16" fmla="*/ 25879 w 849701"/>
              <a:gd name="connsiteY16" fmla="*/ 1535502 h 1664898"/>
              <a:gd name="connsiteX17" fmla="*/ 0 w 849701"/>
              <a:gd name="connsiteY17" fmla="*/ 1500996 h 1664898"/>
              <a:gd name="connsiteX0" fmla="*/ 681487 w 849701"/>
              <a:gd name="connsiteY0" fmla="*/ 0 h 1664898"/>
              <a:gd name="connsiteX1" fmla="*/ 707366 w 849701"/>
              <a:gd name="connsiteY1" fmla="*/ 112144 h 1664898"/>
              <a:gd name="connsiteX2" fmla="*/ 715993 w 849701"/>
              <a:gd name="connsiteY2" fmla="*/ 146649 h 1664898"/>
              <a:gd name="connsiteX3" fmla="*/ 724619 w 849701"/>
              <a:gd name="connsiteY3" fmla="*/ 198408 h 1664898"/>
              <a:gd name="connsiteX4" fmla="*/ 808517 w 849701"/>
              <a:gd name="connsiteY4" fmla="*/ 542951 h 1664898"/>
              <a:gd name="connsiteX5" fmla="*/ 836762 w 849701"/>
              <a:gd name="connsiteY5" fmla="*/ 888521 h 1664898"/>
              <a:gd name="connsiteX6" fmla="*/ 845389 w 849701"/>
              <a:gd name="connsiteY6" fmla="*/ 1250830 h 1664898"/>
              <a:gd name="connsiteX7" fmla="*/ 810883 w 849701"/>
              <a:gd name="connsiteY7" fmla="*/ 1449238 h 1664898"/>
              <a:gd name="connsiteX8" fmla="*/ 560717 w 849701"/>
              <a:gd name="connsiteY8" fmla="*/ 1630393 h 1664898"/>
              <a:gd name="connsiteX9" fmla="*/ 457200 w 849701"/>
              <a:gd name="connsiteY9" fmla="*/ 1656272 h 1664898"/>
              <a:gd name="connsiteX10" fmla="*/ 310551 w 849701"/>
              <a:gd name="connsiteY10" fmla="*/ 1664898 h 1664898"/>
              <a:gd name="connsiteX11" fmla="*/ 215661 w 849701"/>
              <a:gd name="connsiteY11" fmla="*/ 1647645 h 1664898"/>
              <a:gd name="connsiteX12" fmla="*/ 155276 w 849701"/>
              <a:gd name="connsiteY12" fmla="*/ 1621766 h 1664898"/>
              <a:gd name="connsiteX13" fmla="*/ 129396 w 849701"/>
              <a:gd name="connsiteY13" fmla="*/ 1613140 h 1664898"/>
              <a:gd name="connsiteX14" fmla="*/ 77638 w 849701"/>
              <a:gd name="connsiteY14" fmla="*/ 1570008 h 1664898"/>
              <a:gd name="connsiteX15" fmla="*/ 25879 w 849701"/>
              <a:gd name="connsiteY15" fmla="*/ 1535502 h 1664898"/>
              <a:gd name="connsiteX16" fmla="*/ 0 w 849701"/>
              <a:gd name="connsiteY16" fmla="*/ 1500996 h 1664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9701" h="1664898">
                <a:moveTo>
                  <a:pt x="681487" y="0"/>
                </a:moveTo>
                <a:cubicBezTo>
                  <a:pt x="711181" y="89082"/>
                  <a:pt x="689447" y="13593"/>
                  <a:pt x="707366" y="112144"/>
                </a:cubicBezTo>
                <a:cubicBezTo>
                  <a:pt x="709487" y="123808"/>
                  <a:pt x="713668" y="135024"/>
                  <a:pt x="715993" y="146649"/>
                </a:cubicBezTo>
                <a:cubicBezTo>
                  <a:pt x="719423" y="163800"/>
                  <a:pt x="721744" y="181155"/>
                  <a:pt x="724619" y="198408"/>
                </a:cubicBezTo>
                <a:cubicBezTo>
                  <a:pt x="733245" y="261668"/>
                  <a:pt x="794140" y="471064"/>
                  <a:pt x="808517" y="542951"/>
                </a:cubicBezTo>
                <a:cubicBezTo>
                  <a:pt x="827208" y="657970"/>
                  <a:pt x="829179" y="807922"/>
                  <a:pt x="836762" y="888521"/>
                </a:cubicBezTo>
                <a:cubicBezTo>
                  <a:pt x="842907" y="1006501"/>
                  <a:pt x="849702" y="1157377"/>
                  <a:pt x="845389" y="1250830"/>
                </a:cubicBezTo>
                <a:cubicBezTo>
                  <a:pt x="838200" y="1321279"/>
                  <a:pt x="823823" y="1406106"/>
                  <a:pt x="810883" y="1449238"/>
                </a:cubicBezTo>
                <a:cubicBezTo>
                  <a:pt x="763438" y="1512498"/>
                  <a:pt x="619664" y="1595887"/>
                  <a:pt x="560717" y="1630393"/>
                </a:cubicBezTo>
                <a:cubicBezTo>
                  <a:pt x="529772" y="1644146"/>
                  <a:pt x="490920" y="1653340"/>
                  <a:pt x="457200" y="1656272"/>
                </a:cubicBezTo>
                <a:cubicBezTo>
                  <a:pt x="408417" y="1660514"/>
                  <a:pt x="359434" y="1662023"/>
                  <a:pt x="310551" y="1664898"/>
                </a:cubicBezTo>
                <a:cubicBezTo>
                  <a:pt x="261667" y="1657915"/>
                  <a:pt x="256342" y="1659268"/>
                  <a:pt x="215661" y="1647645"/>
                </a:cubicBezTo>
                <a:cubicBezTo>
                  <a:pt x="175188" y="1636081"/>
                  <a:pt x="201300" y="1641490"/>
                  <a:pt x="155276" y="1621766"/>
                </a:cubicBezTo>
                <a:cubicBezTo>
                  <a:pt x="146918" y="1618184"/>
                  <a:pt x="138023" y="1616015"/>
                  <a:pt x="129396" y="1613140"/>
                </a:cubicBezTo>
                <a:cubicBezTo>
                  <a:pt x="36912" y="1551483"/>
                  <a:pt x="177277" y="1647505"/>
                  <a:pt x="77638" y="1570008"/>
                </a:cubicBezTo>
                <a:cubicBezTo>
                  <a:pt x="61270" y="1557278"/>
                  <a:pt x="25879" y="1535502"/>
                  <a:pt x="25879" y="1535502"/>
                </a:cubicBezTo>
                <a:cubicBezTo>
                  <a:pt x="15220" y="1503523"/>
                  <a:pt x="25386" y="1513690"/>
                  <a:pt x="0" y="1500996"/>
                </a:cubicBezTo>
              </a:path>
            </a:pathLst>
          </a:cu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ounded Rectangle 90"/>
          <p:cNvSpPr/>
          <p:nvPr/>
        </p:nvSpPr>
        <p:spPr>
          <a:xfrm>
            <a:off x="4908544" y="1964918"/>
            <a:ext cx="142945" cy="8803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4400914" y="3962400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Surface Coil</a:t>
            </a:r>
          </a:p>
          <a:p>
            <a:r>
              <a:rPr lang="en-US" dirty="0"/>
              <a:t>Body Coil</a:t>
            </a:r>
          </a:p>
          <a:p>
            <a:r>
              <a:rPr lang="en-US" dirty="0"/>
              <a:t>T/R Coil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4541329" y="3263799"/>
            <a:ext cx="212791" cy="290038"/>
            <a:chOff x="4541329" y="3263799"/>
            <a:chExt cx="212791" cy="290038"/>
          </a:xfrm>
        </p:grpSpPr>
        <p:sp>
          <p:nvSpPr>
            <p:cNvPr id="92" name="Rounded Rectangle 91"/>
            <p:cNvSpPr/>
            <p:nvPr/>
          </p:nvSpPr>
          <p:spPr>
            <a:xfrm rot="7549631">
              <a:off x="4567206" y="3366924"/>
              <a:ext cx="211337" cy="162490"/>
            </a:xfrm>
            <a:prstGeom prst="roundRect">
              <a:avLst>
                <a:gd name="adj" fmla="val 2584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ounded Rectangle 81"/>
            <p:cNvSpPr/>
            <p:nvPr/>
          </p:nvSpPr>
          <p:spPr>
            <a:xfrm rot="7549631">
              <a:off x="4466743" y="3338385"/>
              <a:ext cx="272736" cy="123564"/>
            </a:xfrm>
            <a:prstGeom prst="roundRect">
              <a:avLst>
                <a:gd name="adj" fmla="val 2584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173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Straight Connector 138"/>
          <p:cNvCxnSpPr/>
          <p:nvPr/>
        </p:nvCxnSpPr>
        <p:spPr>
          <a:xfrm flipH="1">
            <a:off x="7162800" y="2476500"/>
            <a:ext cx="381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8"/>
          <p:cNvGrpSpPr/>
          <p:nvPr/>
        </p:nvGrpSpPr>
        <p:grpSpPr>
          <a:xfrm rot="21540000">
            <a:off x="3965575" y="40412"/>
            <a:ext cx="870240" cy="1331188"/>
            <a:chOff x="3965575" y="40412"/>
            <a:chExt cx="870240" cy="1331188"/>
          </a:xfrm>
        </p:grpSpPr>
        <p:sp>
          <p:nvSpPr>
            <p:cNvPr id="172" name="Can 171"/>
            <p:cNvSpPr/>
            <p:nvPr/>
          </p:nvSpPr>
          <p:spPr>
            <a:xfrm>
              <a:off x="3965575" y="990600"/>
              <a:ext cx="150645" cy="381000"/>
            </a:xfrm>
            <a:prstGeom prst="ca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Can 172"/>
            <p:cNvSpPr/>
            <p:nvPr/>
          </p:nvSpPr>
          <p:spPr>
            <a:xfrm rot="5400000">
              <a:off x="4101320" y="828935"/>
              <a:ext cx="183747" cy="452812"/>
            </a:xfrm>
            <a:prstGeom prst="can">
              <a:avLst>
                <a:gd name="adj" fmla="val 288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an 173"/>
            <p:cNvSpPr/>
            <p:nvPr/>
          </p:nvSpPr>
          <p:spPr>
            <a:xfrm>
              <a:off x="4265180" y="228600"/>
              <a:ext cx="154420" cy="893330"/>
            </a:xfrm>
            <a:prstGeom prst="can">
              <a:avLst>
                <a:gd name="adj" fmla="val 288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Diagonal Stripe 137"/>
            <p:cNvSpPr/>
            <p:nvPr/>
          </p:nvSpPr>
          <p:spPr>
            <a:xfrm rot="19468418" flipV="1">
              <a:off x="4325722" y="40412"/>
              <a:ext cx="510093" cy="385061"/>
            </a:xfrm>
            <a:prstGeom prst="diagStripe">
              <a:avLst>
                <a:gd name="adj" fmla="val 377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47" name="Straight Connector 146"/>
          <p:cNvCxnSpPr/>
          <p:nvPr/>
        </p:nvCxnSpPr>
        <p:spPr>
          <a:xfrm>
            <a:off x="7772400" y="3886200"/>
            <a:ext cx="0" cy="16002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Block Arc 113"/>
          <p:cNvSpPr/>
          <p:nvPr/>
        </p:nvSpPr>
        <p:spPr>
          <a:xfrm rot="5400000">
            <a:off x="2113147" y="2342418"/>
            <a:ext cx="1242952" cy="87066"/>
          </a:xfrm>
          <a:prstGeom prst="blockArc">
            <a:avLst>
              <a:gd name="adj1" fmla="val 10800000"/>
              <a:gd name="adj2" fmla="val 21502816"/>
              <a:gd name="adj3" fmla="val 3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Block Arc 110"/>
          <p:cNvSpPr/>
          <p:nvPr/>
        </p:nvSpPr>
        <p:spPr>
          <a:xfrm rot="5400000">
            <a:off x="4014849" y="2362201"/>
            <a:ext cx="1242952" cy="104899"/>
          </a:xfrm>
          <a:prstGeom prst="blockArc">
            <a:avLst>
              <a:gd name="adj1" fmla="val 10800000"/>
              <a:gd name="adj2" fmla="val 21502816"/>
              <a:gd name="adj3" fmla="val 3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Block Arc 100"/>
          <p:cNvSpPr/>
          <p:nvPr/>
        </p:nvSpPr>
        <p:spPr>
          <a:xfrm rot="5400000">
            <a:off x="1608613" y="2253838"/>
            <a:ext cx="2233550" cy="316675"/>
          </a:xfrm>
          <a:prstGeom prst="blockArc">
            <a:avLst>
              <a:gd name="adj1" fmla="val 10800000"/>
              <a:gd name="adj2" fmla="val 21502816"/>
              <a:gd name="adj3" fmla="val 3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Block Arc 98"/>
          <p:cNvSpPr/>
          <p:nvPr/>
        </p:nvSpPr>
        <p:spPr>
          <a:xfrm rot="5400000">
            <a:off x="3513612" y="2253837"/>
            <a:ext cx="2233550" cy="316675"/>
          </a:xfrm>
          <a:prstGeom prst="blockArc">
            <a:avLst>
              <a:gd name="adj1" fmla="val 10800000"/>
              <a:gd name="adj2" fmla="val 21502816"/>
              <a:gd name="adj3" fmla="val 3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5" name="Shape 134"/>
          <p:cNvCxnSpPr>
            <a:stCxn id="44" idx="1"/>
            <a:endCxn id="119" idx="3"/>
          </p:cNvCxnSpPr>
          <p:nvPr/>
        </p:nvCxnSpPr>
        <p:spPr>
          <a:xfrm rot="10800000">
            <a:off x="7696200" y="685800"/>
            <a:ext cx="838200" cy="2286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53"/>
          <p:cNvGrpSpPr/>
          <p:nvPr/>
        </p:nvGrpSpPr>
        <p:grpSpPr>
          <a:xfrm>
            <a:off x="4427551" y="2476500"/>
            <a:ext cx="4114800" cy="3264372"/>
            <a:chOff x="4427551" y="2476500"/>
            <a:chExt cx="4114800" cy="3264372"/>
          </a:xfrm>
        </p:grpSpPr>
        <p:cxnSp>
          <p:nvCxnSpPr>
            <p:cNvPr id="107" name="Straight Connector 106"/>
            <p:cNvCxnSpPr/>
            <p:nvPr/>
          </p:nvCxnSpPr>
          <p:spPr>
            <a:xfrm flipH="1">
              <a:off x="7162800" y="3886200"/>
              <a:ext cx="381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flipH="1">
              <a:off x="7162800" y="4267200"/>
              <a:ext cx="381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H="1">
              <a:off x="7162800" y="4724400"/>
              <a:ext cx="381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427551" y="2895600"/>
              <a:ext cx="4038600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4427551" y="2945922"/>
              <a:ext cx="3962400" cy="25878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8001000" y="3792748"/>
              <a:ext cx="381000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4427551" y="2819400"/>
              <a:ext cx="4114800" cy="25878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7315200" y="3657600"/>
              <a:ext cx="914400" cy="381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96514" y="3648974"/>
              <a:ext cx="6858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Gradient Amplifier 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831348" y="3674168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X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333886" y="4088928"/>
              <a:ext cx="914400" cy="381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315200" y="4080302"/>
              <a:ext cx="6858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Gradient Amplifier 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850034" y="4105496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Y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333886" y="4546128"/>
              <a:ext cx="914400" cy="381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315200" y="4537502"/>
              <a:ext cx="6858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Gradient Amplifier 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850034" y="4562696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Z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333886" y="5029200"/>
              <a:ext cx="914400" cy="71167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451782" y="5087591"/>
              <a:ext cx="6858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Gradient Power Supply </a:t>
              </a:r>
            </a:p>
          </p:txBody>
        </p:sp>
        <p:cxnSp>
          <p:nvCxnSpPr>
            <p:cNvPr id="89" name="Straight Connector 88"/>
            <p:cNvCxnSpPr/>
            <p:nvPr/>
          </p:nvCxnSpPr>
          <p:spPr>
            <a:xfrm>
              <a:off x="8382000" y="2954548"/>
              <a:ext cx="0" cy="83820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8458200" y="2895600"/>
              <a:ext cx="0" cy="144780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8534400" y="2845278"/>
              <a:ext cx="0" cy="190500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H="1">
              <a:off x="8077200" y="4343400"/>
              <a:ext cx="381000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H="1">
              <a:off x="8153400" y="4741652"/>
              <a:ext cx="381000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H="1">
              <a:off x="7152894" y="2476500"/>
              <a:ext cx="9906" cy="22479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" name="Straight Connector 116"/>
          <p:cNvCxnSpPr/>
          <p:nvPr/>
        </p:nvCxnSpPr>
        <p:spPr>
          <a:xfrm>
            <a:off x="3200400" y="2743200"/>
            <a:ext cx="3429000" cy="20464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1"/>
          <p:cNvGrpSpPr/>
          <p:nvPr/>
        </p:nvGrpSpPr>
        <p:grpSpPr>
          <a:xfrm>
            <a:off x="1524000" y="3200400"/>
            <a:ext cx="1066800" cy="304800"/>
            <a:chOff x="1524000" y="3200400"/>
            <a:chExt cx="1066800" cy="304800"/>
          </a:xfrm>
        </p:grpSpPr>
        <p:grpSp>
          <p:nvGrpSpPr>
            <p:cNvPr id="17" name="Group 37"/>
            <p:cNvGrpSpPr/>
            <p:nvPr/>
          </p:nvGrpSpPr>
          <p:grpSpPr>
            <a:xfrm>
              <a:off x="1524000" y="3200400"/>
              <a:ext cx="304800" cy="304800"/>
              <a:chOff x="7086600" y="2667000"/>
              <a:chExt cx="304800" cy="304800"/>
            </a:xfrm>
          </p:grpSpPr>
          <p:sp>
            <p:nvSpPr>
              <p:cNvPr id="36" name="Donut 35"/>
              <p:cNvSpPr/>
              <p:nvPr/>
            </p:nvSpPr>
            <p:spPr>
              <a:xfrm>
                <a:off x="7086600" y="2667000"/>
                <a:ext cx="304800" cy="304800"/>
              </a:xfrm>
              <a:prstGeom prst="donu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7162800" y="2743200"/>
                <a:ext cx="152400" cy="1524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38"/>
            <p:cNvGrpSpPr/>
            <p:nvPr/>
          </p:nvGrpSpPr>
          <p:grpSpPr>
            <a:xfrm>
              <a:off x="2286000" y="3200400"/>
              <a:ext cx="304800" cy="304800"/>
              <a:chOff x="7086600" y="2667000"/>
              <a:chExt cx="304800" cy="304800"/>
            </a:xfrm>
          </p:grpSpPr>
          <p:sp>
            <p:nvSpPr>
              <p:cNvPr id="40" name="Donut 39"/>
              <p:cNvSpPr/>
              <p:nvPr/>
            </p:nvSpPr>
            <p:spPr>
              <a:xfrm>
                <a:off x="7086600" y="2667000"/>
                <a:ext cx="304800" cy="304800"/>
              </a:xfrm>
              <a:prstGeom prst="donu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7162800" y="2743200"/>
                <a:ext cx="152400" cy="1524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3454917" y="1334269"/>
            <a:ext cx="451362" cy="209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33400" y="609600"/>
            <a:ext cx="5334000" cy="37338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43000" y="4066401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RF Shield/Faraday Cage/Screen Room/Enclosure/Scan Room 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7800" y="2590800"/>
            <a:ext cx="1219200" cy="76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1295400" y="2515736"/>
            <a:ext cx="3581400" cy="76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676400" y="2667000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Patient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295400"/>
            <a:ext cx="1905000" cy="5049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3" name="TextBox 12"/>
          <p:cNvSpPr txBox="1"/>
          <p:nvPr/>
        </p:nvSpPr>
        <p:spPr>
          <a:xfrm>
            <a:off x="3141452" y="1399401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Magnet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895600" y="1764522"/>
            <a:ext cx="1600200" cy="261610"/>
            <a:chOff x="2819400" y="1600200"/>
            <a:chExt cx="1752600" cy="261610"/>
          </a:xfrm>
        </p:grpSpPr>
        <p:sp>
          <p:nvSpPr>
            <p:cNvPr id="19" name="Rectangle 18"/>
            <p:cNvSpPr/>
            <p:nvPr/>
          </p:nvSpPr>
          <p:spPr>
            <a:xfrm>
              <a:off x="2819400" y="1634704"/>
              <a:ext cx="1752600" cy="17546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69771" y="1600200"/>
              <a:ext cx="12100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Gradient Coils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2819400" y="2786218"/>
            <a:ext cx="1752600" cy="1754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743200" y="2971800"/>
            <a:ext cx="1905000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TextBox 24"/>
          <p:cNvSpPr txBox="1"/>
          <p:nvPr/>
        </p:nvSpPr>
        <p:spPr>
          <a:xfrm>
            <a:off x="3149139" y="3075801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Magnet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4200" y="1985188"/>
            <a:ext cx="1143000" cy="1034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353936" y="1907852"/>
            <a:ext cx="685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RF Coil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4200" y="2683764"/>
            <a:ext cx="1143000" cy="1034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353936" y="2606428"/>
            <a:ext cx="685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RF Coil</a:t>
            </a:r>
          </a:p>
        </p:txBody>
      </p:sp>
      <p:grpSp>
        <p:nvGrpSpPr>
          <p:cNvPr id="23" name="Group 50"/>
          <p:cNvGrpSpPr/>
          <p:nvPr/>
        </p:nvGrpSpPr>
        <p:grpSpPr>
          <a:xfrm>
            <a:off x="8534400" y="533400"/>
            <a:ext cx="304800" cy="762000"/>
            <a:chOff x="609600" y="3733800"/>
            <a:chExt cx="609600" cy="1371600"/>
          </a:xfrm>
        </p:grpSpPr>
        <p:sp>
          <p:nvSpPr>
            <p:cNvPr id="44" name="Rectangle 43"/>
            <p:cNvSpPr/>
            <p:nvPr/>
          </p:nvSpPr>
          <p:spPr>
            <a:xfrm>
              <a:off x="609600" y="3733800"/>
              <a:ext cx="609600" cy="1371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5800" y="3886200"/>
              <a:ext cx="457200" cy="76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872490" y="4114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1062990" y="4953000"/>
              <a:ext cx="76200" cy="762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71247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86487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78867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95631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110871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103251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132"/>
          <p:cNvGrpSpPr/>
          <p:nvPr/>
        </p:nvGrpSpPr>
        <p:grpSpPr>
          <a:xfrm>
            <a:off x="6324600" y="228600"/>
            <a:ext cx="1379258" cy="914400"/>
            <a:chOff x="1066800" y="4953000"/>
            <a:chExt cx="1379258" cy="914400"/>
          </a:xfrm>
        </p:grpSpPr>
        <p:sp>
          <p:nvSpPr>
            <p:cNvPr id="119" name="Rounded Rectangle 118"/>
            <p:cNvSpPr/>
            <p:nvPr/>
          </p:nvSpPr>
          <p:spPr>
            <a:xfrm>
              <a:off x="1066800" y="4953000"/>
              <a:ext cx="1371600" cy="914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762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143000" y="5029200"/>
              <a:ext cx="768096" cy="571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1" name="Picture 120" descr="Cross sectional image of abdomen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83826" y="5069856"/>
              <a:ext cx="698849" cy="514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" name="TextBox 122"/>
            <p:cNvSpPr txBox="1"/>
            <p:nvPr/>
          </p:nvSpPr>
          <p:spPr>
            <a:xfrm>
              <a:off x="1819276" y="4976810"/>
              <a:ext cx="405384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Patient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843086" y="5050629"/>
              <a:ext cx="317442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Exam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824038" y="5134161"/>
              <a:ext cx="350520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Date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2064543" y="5135446"/>
              <a:ext cx="38151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1/1/2014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016923" y="5055391"/>
              <a:ext cx="38151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Chest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043720" y="4976810"/>
              <a:ext cx="38151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Smith, P.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854332" y="5323716"/>
              <a:ext cx="46024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" dirty="0"/>
                <a:t>Reference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811503" y="5411792"/>
              <a:ext cx="472124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dirty="0"/>
                <a:t>Sequence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861382" y="5488010"/>
              <a:ext cx="515112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" dirty="0"/>
                <a:t>Slice mm    2 </a:t>
              </a:r>
            </a:p>
          </p:txBody>
        </p:sp>
      </p:grpSp>
      <p:cxnSp>
        <p:nvCxnSpPr>
          <p:cNvPr id="115" name="Straight Connector 114"/>
          <p:cNvCxnSpPr/>
          <p:nvPr/>
        </p:nvCxnSpPr>
        <p:spPr>
          <a:xfrm>
            <a:off x="6629400" y="2743200"/>
            <a:ext cx="0" cy="205740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Block Arc 101"/>
          <p:cNvSpPr/>
          <p:nvPr/>
        </p:nvSpPr>
        <p:spPr>
          <a:xfrm rot="16200000" flipH="1">
            <a:off x="1632363" y="2253838"/>
            <a:ext cx="2233550" cy="316675"/>
          </a:xfrm>
          <a:prstGeom prst="blockArc">
            <a:avLst>
              <a:gd name="adj1" fmla="val 10800000"/>
              <a:gd name="adj2" fmla="val 21502816"/>
              <a:gd name="adj3" fmla="val 3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6" name="Block Arc 105"/>
          <p:cNvSpPr/>
          <p:nvPr/>
        </p:nvSpPr>
        <p:spPr>
          <a:xfrm rot="16200000" flipH="1">
            <a:off x="3525487" y="2253838"/>
            <a:ext cx="2233550" cy="316675"/>
          </a:xfrm>
          <a:prstGeom prst="blockArc">
            <a:avLst>
              <a:gd name="adj1" fmla="val 10800000"/>
              <a:gd name="adj2" fmla="val 21502816"/>
              <a:gd name="adj3" fmla="val 3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Rounded Rectangle 115"/>
          <p:cNvSpPr/>
          <p:nvPr/>
        </p:nvSpPr>
        <p:spPr>
          <a:xfrm rot="240000">
            <a:off x="3352800" y="2216531"/>
            <a:ext cx="533400" cy="4571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hape 145"/>
          <p:cNvCxnSpPr>
            <a:endCxn id="132" idx="3"/>
          </p:cNvCxnSpPr>
          <p:nvPr/>
        </p:nvCxnSpPr>
        <p:spPr>
          <a:xfrm rot="10800000" flipV="1">
            <a:off x="7486650" y="1231898"/>
            <a:ext cx="1047750" cy="330201"/>
          </a:xfrm>
          <a:prstGeom prst="curved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hape 147"/>
          <p:cNvCxnSpPr>
            <a:stCxn id="132" idx="1"/>
          </p:cNvCxnSpPr>
          <p:nvPr/>
        </p:nvCxnSpPr>
        <p:spPr>
          <a:xfrm rot="5400000">
            <a:off x="6049899" y="3249549"/>
            <a:ext cx="2171700" cy="701802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>
            <a:off x="3887145" y="2260217"/>
            <a:ext cx="4799655" cy="326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 flipV="1">
            <a:off x="8672775" y="1301010"/>
            <a:ext cx="0" cy="990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72" name="Group 151"/>
          <p:cNvGrpSpPr/>
          <p:nvPr/>
        </p:nvGrpSpPr>
        <p:grpSpPr>
          <a:xfrm>
            <a:off x="5670012" y="1828800"/>
            <a:ext cx="400110" cy="1828800"/>
            <a:chOff x="6205540" y="2133600"/>
            <a:chExt cx="400110" cy="1828800"/>
          </a:xfrm>
        </p:grpSpPr>
        <p:sp>
          <p:nvSpPr>
            <p:cNvPr id="7" name="Rectangle 6"/>
            <p:cNvSpPr/>
            <p:nvPr/>
          </p:nvSpPr>
          <p:spPr>
            <a:xfrm>
              <a:off x="6324600" y="2133600"/>
              <a:ext cx="152400" cy="18288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05540" y="2260122"/>
              <a:ext cx="400110" cy="1524000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ctr"/>
              <a:r>
                <a:rPr lang="en-US" sz="1400" dirty="0"/>
                <a:t>Penetration Panel</a:t>
              </a:r>
            </a:p>
          </p:txBody>
        </p:sp>
      </p:grpSp>
      <p:sp>
        <p:nvSpPr>
          <p:cNvPr id="112" name="Rectangle 111"/>
          <p:cNvSpPr/>
          <p:nvPr/>
        </p:nvSpPr>
        <p:spPr>
          <a:xfrm>
            <a:off x="6172200" y="4648200"/>
            <a:ext cx="914400" cy="7116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6096000" y="4724400"/>
            <a:ext cx="948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RF Power Supply &amp; Amplifier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24200" y="2755070"/>
            <a:ext cx="11048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Gradient Coils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71573" y="584582"/>
            <a:ext cx="457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22" name="TextBox 121"/>
          <p:cNvSpPr txBox="1"/>
          <p:nvPr/>
        </p:nvSpPr>
        <p:spPr>
          <a:xfrm rot="5400000">
            <a:off x="8352711" y="867490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Imaging</a:t>
            </a:r>
          </a:p>
        </p:txBody>
      </p:sp>
      <p:sp>
        <p:nvSpPr>
          <p:cNvPr id="132" name="Rectangle 131"/>
          <p:cNvSpPr/>
          <p:nvPr/>
        </p:nvSpPr>
        <p:spPr>
          <a:xfrm rot="16200000">
            <a:off x="7010400" y="1828800"/>
            <a:ext cx="952500" cy="4191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7181850" y="167640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Systems </a:t>
            </a:r>
          </a:p>
          <a:p>
            <a:pPr algn="ctr"/>
            <a:r>
              <a:rPr lang="en-US" sz="1000" dirty="0"/>
              <a:t>Cabinet</a:t>
            </a:r>
          </a:p>
        </p:txBody>
      </p:sp>
      <p:sp>
        <p:nvSpPr>
          <p:cNvPr id="137" name="TextBox 136"/>
          <p:cNvSpPr txBox="1"/>
          <p:nvPr/>
        </p:nvSpPr>
        <p:spPr>
          <a:xfrm rot="21660000">
            <a:off x="4114800" y="191897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Vent Stack</a:t>
            </a:r>
          </a:p>
        </p:txBody>
      </p:sp>
      <p:sp>
        <p:nvSpPr>
          <p:cNvPr id="140" name="TextBox 139"/>
          <p:cNvSpPr txBox="1"/>
          <p:nvPr/>
        </p:nvSpPr>
        <p:spPr>
          <a:xfrm rot="261630">
            <a:off x="3278034" y="2074652"/>
            <a:ext cx="685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Surface Coil</a:t>
            </a:r>
          </a:p>
        </p:txBody>
      </p:sp>
    </p:spTree>
    <p:extLst>
      <p:ext uri="{BB962C8B-B14F-4D97-AF65-F5344CB8AC3E}">
        <p14:creationId xmlns:p14="http://schemas.microsoft.com/office/powerpoint/2010/main" val="245489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How do we make a magnet?</a:t>
            </a:r>
          </a:p>
        </p:txBody>
      </p:sp>
      <p:pic>
        <p:nvPicPr>
          <p:cNvPr id="4100" name="Picture 4" descr="http://mri-q.com/uploads/3/4/5/7/34572113/1149567_orig.gif?4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6971604" cy="344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90600" y="4038600"/>
            <a:ext cx="76961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During ramping, a heater circuit is turned on causing a finite resistance to develop in resistor R. Once current begins to flow, the heater is turned off, and the resistance of R falls to zero, allowing the current to continue indefinitely through the superconducting loop in "persistence mode".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410200"/>
            <a:ext cx="6338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Ramping the magnet - Questions and Answers ​in MRI (mri-q.com)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575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4148</TotalTime>
  <Words>532</Words>
  <Application>Microsoft Office PowerPoint</Application>
  <PresentationFormat>On-screen Show (4:3)</PresentationFormat>
  <Paragraphs>130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Rounded MT Bold</vt:lpstr>
      <vt:lpstr>Calibri</vt:lpstr>
      <vt:lpstr>Office Theme</vt:lpstr>
      <vt:lpstr>MRI BASIC SYSTEM OVERVIEW</vt:lpstr>
      <vt:lpstr>Objectives:</vt:lpstr>
      <vt:lpstr>PowerPoint Presentation</vt:lpstr>
      <vt:lpstr>Types of Magnets</vt:lpstr>
      <vt:lpstr>Types of Magnets</vt:lpstr>
      <vt:lpstr>PowerPoint Presentation</vt:lpstr>
      <vt:lpstr>Magnet Vessel</vt:lpstr>
      <vt:lpstr>Tesla</vt:lpstr>
      <vt:lpstr>PowerPoint Presentation</vt:lpstr>
      <vt:lpstr>PowerPoint Presentation</vt:lpstr>
      <vt:lpstr>How do we make a magnet?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54</cp:revision>
  <dcterms:created xsi:type="dcterms:W3CDTF">2013-11-14T01:22:54Z</dcterms:created>
  <dcterms:modified xsi:type="dcterms:W3CDTF">2024-05-08T01:45:37Z</dcterms:modified>
</cp:coreProperties>
</file>