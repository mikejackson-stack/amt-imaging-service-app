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Lst>
  <p:notesMasterIdLst>
    <p:notesMasterId r:id="rId41"/>
  </p:notesMasterIdLst>
  <p:sldIdLst>
    <p:sldId id="274" r:id="rId3"/>
    <p:sldId id="275" r:id="rId4"/>
    <p:sldId id="276" r:id="rId5"/>
    <p:sldId id="296" r:id="rId6"/>
    <p:sldId id="303" r:id="rId7"/>
    <p:sldId id="308" r:id="rId8"/>
    <p:sldId id="313" r:id="rId9"/>
    <p:sldId id="309" r:id="rId10"/>
    <p:sldId id="302" r:id="rId11"/>
    <p:sldId id="301" r:id="rId12"/>
    <p:sldId id="300" r:id="rId13"/>
    <p:sldId id="299" r:id="rId14"/>
    <p:sldId id="256" r:id="rId15"/>
    <p:sldId id="277" r:id="rId16"/>
    <p:sldId id="279" r:id="rId17"/>
    <p:sldId id="278" r:id="rId18"/>
    <p:sldId id="257" r:id="rId19"/>
    <p:sldId id="258" r:id="rId20"/>
    <p:sldId id="259" r:id="rId21"/>
    <p:sldId id="260" r:id="rId22"/>
    <p:sldId id="261" r:id="rId23"/>
    <p:sldId id="262" r:id="rId24"/>
    <p:sldId id="263" r:id="rId25"/>
    <p:sldId id="264" r:id="rId26"/>
    <p:sldId id="265" r:id="rId27"/>
    <p:sldId id="286" r:id="rId28"/>
    <p:sldId id="266" r:id="rId29"/>
    <p:sldId id="267" r:id="rId30"/>
    <p:sldId id="268" r:id="rId31"/>
    <p:sldId id="326" r:id="rId32"/>
    <p:sldId id="327" r:id="rId33"/>
    <p:sldId id="269" r:id="rId34"/>
    <p:sldId id="270" r:id="rId35"/>
    <p:sldId id="271" r:id="rId36"/>
    <p:sldId id="288" r:id="rId37"/>
    <p:sldId id="272" r:id="rId38"/>
    <p:sldId id="273" r:id="rId39"/>
    <p:sldId id="328" r:id="rId40"/>
  </p:sldIdLst>
  <p:sldSz cx="9118600" cy="6832600"/>
  <p:notesSz cx="9118600" cy="6832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5F5D17-F7D0-4744-AF29-A0449A0B2E70}" v="17" dt="2024-05-17T15:51:04.73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6" autoAdjust="0"/>
    <p:restoredTop sz="94660"/>
  </p:normalViewPr>
  <p:slideViewPr>
    <p:cSldViewPr>
      <p:cViewPr varScale="1">
        <p:scale>
          <a:sx n="92" d="100"/>
          <a:sy n="92" d="100"/>
        </p:scale>
        <p:origin x="66" y="23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J" userId="22cf0bdf11e74b3e" providerId="LiveId" clId="{C95F5D17-F7D0-4744-AF29-A0449A0B2E70}"/>
    <pc:docChg chg="undo custSel addSld delSld modSld sldOrd addMainMaster delMainMaster">
      <pc:chgData name="Mike J" userId="22cf0bdf11e74b3e" providerId="LiveId" clId="{C95F5D17-F7D0-4744-AF29-A0449A0B2E70}" dt="2024-05-17T15:52:36.599" v="140"/>
      <pc:docMkLst>
        <pc:docMk/>
      </pc:docMkLst>
      <pc:sldChg chg="modSp add">
        <pc:chgData name="Mike J" userId="22cf0bdf11e74b3e" providerId="LiveId" clId="{C95F5D17-F7D0-4744-AF29-A0449A0B2E70}" dt="2024-05-17T15:26:32.739" v="0"/>
        <pc:sldMkLst>
          <pc:docMk/>
          <pc:sldMk cId="418832824" sldId="296"/>
        </pc:sldMkLst>
        <pc:spChg chg="mod">
          <ac:chgData name="Mike J" userId="22cf0bdf11e74b3e" providerId="LiveId" clId="{C95F5D17-F7D0-4744-AF29-A0449A0B2E70}" dt="2024-05-17T15:26:32.739" v="0"/>
          <ac:spMkLst>
            <pc:docMk/>
            <pc:sldMk cId="418832824" sldId="296"/>
            <ac:spMk id="4" creationId="{00000000-0000-0000-0000-000000000000}"/>
          </ac:spMkLst>
        </pc:spChg>
      </pc:sldChg>
      <pc:sldChg chg="addSp delSp modSp add mod">
        <pc:chgData name="Mike J" userId="22cf0bdf11e74b3e" providerId="LiveId" clId="{C95F5D17-F7D0-4744-AF29-A0449A0B2E70}" dt="2024-05-17T15:36:40.894" v="22" actId="1076"/>
        <pc:sldMkLst>
          <pc:docMk/>
          <pc:sldMk cId="841540670" sldId="303"/>
        </pc:sldMkLst>
        <pc:spChg chg="mod">
          <ac:chgData name="Mike J" userId="22cf0bdf11e74b3e" providerId="LiveId" clId="{C95F5D17-F7D0-4744-AF29-A0449A0B2E70}" dt="2024-05-17T15:27:27.590" v="1"/>
          <ac:spMkLst>
            <pc:docMk/>
            <pc:sldMk cId="841540670" sldId="303"/>
            <ac:spMk id="6" creationId="{00000000-0000-0000-0000-000000000000}"/>
          </ac:spMkLst>
        </pc:spChg>
        <pc:picChg chg="add mod">
          <ac:chgData name="Mike J" userId="22cf0bdf11e74b3e" providerId="LiveId" clId="{C95F5D17-F7D0-4744-AF29-A0449A0B2E70}" dt="2024-05-17T15:36:36.578" v="21" actId="1076"/>
          <ac:picMkLst>
            <pc:docMk/>
            <pc:sldMk cId="841540670" sldId="303"/>
            <ac:picMk id="5" creationId="{6FEFB6E5-0483-2EE5-F63A-E0C5286A2A59}"/>
          </ac:picMkLst>
        </pc:picChg>
        <pc:picChg chg="add mod">
          <ac:chgData name="Mike J" userId="22cf0bdf11e74b3e" providerId="LiveId" clId="{C95F5D17-F7D0-4744-AF29-A0449A0B2E70}" dt="2024-05-17T15:36:40.894" v="22" actId="1076"/>
          <ac:picMkLst>
            <pc:docMk/>
            <pc:sldMk cId="841540670" sldId="303"/>
            <ac:picMk id="8" creationId="{223FE6EE-A63E-2FE6-951D-CE5993210194}"/>
          </ac:picMkLst>
        </pc:picChg>
        <pc:picChg chg="del">
          <ac:chgData name="Mike J" userId="22cf0bdf11e74b3e" providerId="LiveId" clId="{C95F5D17-F7D0-4744-AF29-A0449A0B2E70}" dt="2024-05-17T15:27:34.188" v="2" actId="478"/>
          <ac:picMkLst>
            <pc:docMk/>
            <pc:sldMk cId="841540670" sldId="303"/>
            <ac:picMk id="8194" creationId="{00000000-0000-0000-0000-000000000000}"/>
          </ac:picMkLst>
        </pc:picChg>
      </pc:sldChg>
      <pc:sldChg chg="modSp add">
        <pc:chgData name="Mike J" userId="22cf0bdf11e74b3e" providerId="LiveId" clId="{C95F5D17-F7D0-4744-AF29-A0449A0B2E70}" dt="2024-05-17T15:37:53.506" v="23"/>
        <pc:sldMkLst>
          <pc:docMk/>
          <pc:sldMk cId="3075493947" sldId="308"/>
        </pc:sldMkLst>
        <pc:spChg chg="mod">
          <ac:chgData name="Mike J" userId="22cf0bdf11e74b3e" providerId="LiveId" clId="{C95F5D17-F7D0-4744-AF29-A0449A0B2E70}" dt="2024-05-17T15:37:53.506" v="23"/>
          <ac:spMkLst>
            <pc:docMk/>
            <pc:sldMk cId="3075493947" sldId="308"/>
            <ac:spMk id="5" creationId="{00000000-0000-0000-0000-000000000000}"/>
          </ac:spMkLst>
        </pc:spChg>
      </pc:sldChg>
      <pc:sldChg chg="modSp add del mod">
        <pc:chgData name="Mike J" userId="22cf0bdf11e74b3e" providerId="LiveId" clId="{C95F5D17-F7D0-4744-AF29-A0449A0B2E70}" dt="2024-05-17T15:44:39.164" v="135" actId="20577"/>
        <pc:sldMkLst>
          <pc:docMk/>
          <pc:sldMk cId="334193054" sldId="309"/>
        </pc:sldMkLst>
        <pc:spChg chg="mod">
          <ac:chgData name="Mike J" userId="22cf0bdf11e74b3e" providerId="LiveId" clId="{C95F5D17-F7D0-4744-AF29-A0449A0B2E70}" dt="2024-05-17T15:44:39.164" v="135" actId="20577"/>
          <ac:spMkLst>
            <pc:docMk/>
            <pc:sldMk cId="334193054" sldId="309"/>
            <ac:spMk id="9" creationId="{00000000-0000-0000-0000-000000000000}"/>
          </ac:spMkLst>
        </pc:spChg>
      </pc:sldChg>
      <pc:sldChg chg="addSp delSp modSp add del mod chgLayout">
        <pc:chgData name="Mike J" userId="22cf0bdf11e74b3e" providerId="LiveId" clId="{C95F5D17-F7D0-4744-AF29-A0449A0B2E70}" dt="2024-05-17T15:44:27.963" v="131" actId="20577"/>
        <pc:sldMkLst>
          <pc:docMk/>
          <pc:sldMk cId="1266523286" sldId="313"/>
        </pc:sldMkLst>
        <pc:spChg chg="mod ord">
          <ac:chgData name="Mike J" userId="22cf0bdf11e74b3e" providerId="LiveId" clId="{C95F5D17-F7D0-4744-AF29-A0449A0B2E70}" dt="2024-05-17T15:40:29.825" v="26" actId="6264"/>
          <ac:spMkLst>
            <pc:docMk/>
            <pc:sldMk cId="1266523286" sldId="313"/>
            <ac:spMk id="2" creationId="{00000000-0000-0000-0000-000000000000}"/>
          </ac:spMkLst>
        </pc:spChg>
        <pc:spChg chg="mod ord">
          <ac:chgData name="Mike J" userId="22cf0bdf11e74b3e" providerId="LiveId" clId="{C95F5D17-F7D0-4744-AF29-A0449A0B2E70}" dt="2024-05-17T15:44:27.963" v="131" actId="20577"/>
          <ac:spMkLst>
            <pc:docMk/>
            <pc:sldMk cId="1266523286" sldId="313"/>
            <ac:spMk id="3" creationId="{00000000-0000-0000-0000-000000000000}"/>
          </ac:spMkLst>
        </pc:spChg>
        <pc:spChg chg="add del mod">
          <ac:chgData name="Mike J" userId="22cf0bdf11e74b3e" providerId="LiveId" clId="{C95F5D17-F7D0-4744-AF29-A0449A0B2E70}" dt="2024-05-17T15:40:29.825" v="26" actId="6264"/>
          <ac:spMkLst>
            <pc:docMk/>
            <pc:sldMk cId="1266523286" sldId="313"/>
            <ac:spMk id="4" creationId="{FCBE46D2-070A-2DB0-D3DE-9F91599A78E6}"/>
          </ac:spMkLst>
        </pc:spChg>
        <pc:spChg chg="mod ord">
          <ac:chgData name="Mike J" userId="22cf0bdf11e74b3e" providerId="LiveId" clId="{C95F5D17-F7D0-4744-AF29-A0449A0B2E70}" dt="2024-05-17T15:40:29.825" v="26" actId="6264"/>
          <ac:spMkLst>
            <pc:docMk/>
            <pc:sldMk cId="1266523286" sldId="313"/>
            <ac:spMk id="5" creationId="{00000000-0000-0000-0000-000000000000}"/>
          </ac:spMkLst>
        </pc:spChg>
        <pc:spChg chg="add del mod">
          <ac:chgData name="Mike J" userId="22cf0bdf11e74b3e" providerId="LiveId" clId="{C95F5D17-F7D0-4744-AF29-A0449A0B2E70}" dt="2024-05-17T15:40:29.825" v="26" actId="6264"/>
          <ac:spMkLst>
            <pc:docMk/>
            <pc:sldMk cId="1266523286" sldId="313"/>
            <ac:spMk id="6" creationId="{54FC9E62-EE0F-B9D9-4D00-AC08E615F19D}"/>
          </ac:spMkLst>
        </pc:spChg>
      </pc:sldChg>
      <pc:sldChg chg="modSp mod ord">
        <pc:chgData name="Mike J" userId="22cf0bdf11e74b3e" providerId="LiveId" clId="{C95F5D17-F7D0-4744-AF29-A0449A0B2E70}" dt="2024-05-17T15:52:25.713" v="138"/>
        <pc:sldMkLst>
          <pc:docMk/>
          <pc:sldMk cId="2523716167" sldId="326"/>
        </pc:sldMkLst>
        <pc:spChg chg="mod">
          <ac:chgData name="Mike J" userId="22cf0bdf11e74b3e" providerId="LiveId" clId="{C95F5D17-F7D0-4744-AF29-A0449A0B2E70}" dt="2024-05-17T15:50:39.552" v="136" actId="27636"/>
          <ac:spMkLst>
            <pc:docMk/>
            <pc:sldMk cId="2523716167" sldId="326"/>
            <ac:spMk id="3" creationId="{00000000-0000-0000-0000-000000000000}"/>
          </ac:spMkLst>
        </pc:spChg>
      </pc:sldChg>
      <pc:sldChg chg="ord">
        <pc:chgData name="Mike J" userId="22cf0bdf11e74b3e" providerId="LiveId" clId="{C95F5D17-F7D0-4744-AF29-A0449A0B2E70}" dt="2024-05-17T15:52:36.599" v="140"/>
        <pc:sldMkLst>
          <pc:docMk/>
          <pc:sldMk cId="1946628147" sldId="327"/>
        </pc:sldMkLst>
      </pc:sldChg>
      <pc:sldMasterChg chg="add del addSldLayout delSldLayout">
        <pc:chgData name="Mike J" userId="22cf0bdf11e74b3e" providerId="LiveId" clId="{C95F5D17-F7D0-4744-AF29-A0449A0B2E70}" dt="2024-05-17T15:43:55.427" v="51" actId="47"/>
        <pc:sldMasterMkLst>
          <pc:docMk/>
          <pc:sldMasterMk cId="3071632154" sldId="2147483668"/>
        </pc:sldMasterMkLst>
        <pc:sldLayoutChg chg="add del">
          <pc:chgData name="Mike J" userId="22cf0bdf11e74b3e" providerId="LiveId" clId="{C95F5D17-F7D0-4744-AF29-A0449A0B2E70}" dt="2024-05-17T15:43:55.427" v="51" actId="47"/>
          <pc:sldLayoutMkLst>
            <pc:docMk/>
            <pc:sldMasterMk cId="3071632154" sldId="2147483668"/>
            <pc:sldLayoutMk cId="3240023787" sldId="2147483669"/>
          </pc:sldLayoutMkLst>
        </pc:sldLayoutChg>
        <pc:sldLayoutChg chg="add del">
          <pc:chgData name="Mike J" userId="22cf0bdf11e74b3e" providerId="LiveId" clId="{C95F5D17-F7D0-4744-AF29-A0449A0B2E70}" dt="2024-05-17T15:43:55.427" v="51" actId="47"/>
          <pc:sldLayoutMkLst>
            <pc:docMk/>
            <pc:sldMasterMk cId="3071632154" sldId="2147483668"/>
            <pc:sldLayoutMk cId="2254020784" sldId="2147483670"/>
          </pc:sldLayoutMkLst>
        </pc:sldLayoutChg>
        <pc:sldLayoutChg chg="add del">
          <pc:chgData name="Mike J" userId="22cf0bdf11e74b3e" providerId="LiveId" clId="{C95F5D17-F7D0-4744-AF29-A0449A0B2E70}" dt="2024-05-17T15:43:55.427" v="51" actId="47"/>
          <pc:sldLayoutMkLst>
            <pc:docMk/>
            <pc:sldMasterMk cId="3071632154" sldId="2147483668"/>
            <pc:sldLayoutMk cId="2789323307" sldId="2147483671"/>
          </pc:sldLayoutMkLst>
        </pc:sldLayoutChg>
        <pc:sldLayoutChg chg="add del">
          <pc:chgData name="Mike J" userId="22cf0bdf11e74b3e" providerId="LiveId" clId="{C95F5D17-F7D0-4744-AF29-A0449A0B2E70}" dt="2024-05-17T15:43:55.427" v="51" actId="47"/>
          <pc:sldLayoutMkLst>
            <pc:docMk/>
            <pc:sldMasterMk cId="3071632154" sldId="2147483668"/>
            <pc:sldLayoutMk cId="1423044804" sldId="2147483672"/>
          </pc:sldLayoutMkLst>
        </pc:sldLayoutChg>
        <pc:sldLayoutChg chg="add del">
          <pc:chgData name="Mike J" userId="22cf0bdf11e74b3e" providerId="LiveId" clId="{C95F5D17-F7D0-4744-AF29-A0449A0B2E70}" dt="2024-05-17T15:43:55.427" v="51" actId="47"/>
          <pc:sldLayoutMkLst>
            <pc:docMk/>
            <pc:sldMasterMk cId="3071632154" sldId="2147483668"/>
            <pc:sldLayoutMk cId="1492447007" sldId="2147483673"/>
          </pc:sldLayoutMkLst>
        </pc:sldLayoutChg>
        <pc:sldLayoutChg chg="add del">
          <pc:chgData name="Mike J" userId="22cf0bdf11e74b3e" providerId="LiveId" clId="{C95F5D17-F7D0-4744-AF29-A0449A0B2E70}" dt="2024-05-17T15:43:55.427" v="51" actId="47"/>
          <pc:sldLayoutMkLst>
            <pc:docMk/>
            <pc:sldMasterMk cId="3071632154" sldId="2147483668"/>
            <pc:sldLayoutMk cId="3581849779" sldId="2147483674"/>
          </pc:sldLayoutMkLst>
        </pc:sldLayoutChg>
        <pc:sldLayoutChg chg="add del">
          <pc:chgData name="Mike J" userId="22cf0bdf11e74b3e" providerId="LiveId" clId="{C95F5D17-F7D0-4744-AF29-A0449A0B2E70}" dt="2024-05-17T15:43:55.427" v="51" actId="47"/>
          <pc:sldLayoutMkLst>
            <pc:docMk/>
            <pc:sldMasterMk cId="3071632154" sldId="2147483668"/>
            <pc:sldLayoutMk cId="2613915267" sldId="2147483675"/>
          </pc:sldLayoutMkLst>
        </pc:sldLayoutChg>
        <pc:sldLayoutChg chg="add del">
          <pc:chgData name="Mike J" userId="22cf0bdf11e74b3e" providerId="LiveId" clId="{C95F5D17-F7D0-4744-AF29-A0449A0B2E70}" dt="2024-05-17T15:43:55.427" v="51" actId="47"/>
          <pc:sldLayoutMkLst>
            <pc:docMk/>
            <pc:sldMasterMk cId="3071632154" sldId="2147483668"/>
            <pc:sldLayoutMk cId="1848549515" sldId="2147483676"/>
          </pc:sldLayoutMkLst>
        </pc:sldLayoutChg>
        <pc:sldLayoutChg chg="add del">
          <pc:chgData name="Mike J" userId="22cf0bdf11e74b3e" providerId="LiveId" clId="{C95F5D17-F7D0-4744-AF29-A0449A0B2E70}" dt="2024-05-17T15:43:55.427" v="51" actId="47"/>
          <pc:sldLayoutMkLst>
            <pc:docMk/>
            <pc:sldMasterMk cId="3071632154" sldId="2147483668"/>
            <pc:sldLayoutMk cId="1371355604" sldId="2147483677"/>
          </pc:sldLayoutMkLst>
        </pc:sldLayoutChg>
        <pc:sldLayoutChg chg="add del">
          <pc:chgData name="Mike J" userId="22cf0bdf11e74b3e" providerId="LiveId" clId="{C95F5D17-F7D0-4744-AF29-A0449A0B2E70}" dt="2024-05-17T15:43:55.427" v="51" actId="47"/>
          <pc:sldLayoutMkLst>
            <pc:docMk/>
            <pc:sldMasterMk cId="3071632154" sldId="2147483668"/>
            <pc:sldLayoutMk cId="424758658" sldId="2147483678"/>
          </pc:sldLayoutMkLst>
        </pc:sldLayoutChg>
        <pc:sldLayoutChg chg="add del">
          <pc:chgData name="Mike J" userId="22cf0bdf11e74b3e" providerId="LiveId" clId="{C95F5D17-F7D0-4744-AF29-A0449A0B2E70}" dt="2024-05-17T15:43:55.427" v="51" actId="47"/>
          <pc:sldLayoutMkLst>
            <pc:docMk/>
            <pc:sldMasterMk cId="3071632154" sldId="2147483668"/>
            <pc:sldLayoutMk cId="812929596" sldId="2147483679"/>
          </pc:sldLayoutMkLst>
        </pc:sldLayoutChg>
      </pc:sldMasterChg>
    </pc:docChg>
  </pc:docChgLst>
  <pc:docChgLst>
    <pc:chgData name="Mike J" userId="22cf0bdf11e74b3e" providerId="LiveId" clId="{4D67348E-9134-4BE5-88E0-0BC44514820F}"/>
    <pc:docChg chg="undo custSel modSld">
      <pc:chgData name="Mike J" userId="22cf0bdf11e74b3e" providerId="LiveId" clId="{4D67348E-9134-4BE5-88E0-0BC44514820F}" dt="2024-05-16T03:02:54.464" v="42" actId="255"/>
      <pc:docMkLst>
        <pc:docMk/>
      </pc:docMkLst>
      <pc:sldChg chg="modSp mod">
        <pc:chgData name="Mike J" userId="22cf0bdf11e74b3e" providerId="LiveId" clId="{4D67348E-9134-4BE5-88E0-0BC44514820F}" dt="2024-05-16T03:02:54.464" v="42" actId="255"/>
        <pc:sldMkLst>
          <pc:docMk/>
          <pc:sldMk cId="2972871720" sldId="275"/>
        </pc:sldMkLst>
        <pc:spChg chg="mod">
          <ac:chgData name="Mike J" userId="22cf0bdf11e74b3e" providerId="LiveId" clId="{4D67348E-9134-4BE5-88E0-0BC44514820F}" dt="2024-05-16T03:02:54.464" v="42" actId="255"/>
          <ac:spMkLst>
            <pc:docMk/>
            <pc:sldMk cId="2972871720" sldId="275"/>
            <ac:spMk id="3" creationId="{00000000-0000-0000-0000-000000000000}"/>
          </ac:spMkLst>
        </pc:spChg>
      </pc:sldChg>
      <pc:sldChg chg="modSp mod">
        <pc:chgData name="Mike J" userId="22cf0bdf11e74b3e" providerId="LiveId" clId="{4D67348E-9134-4BE5-88E0-0BC44514820F}" dt="2024-05-16T03:01:33.067" v="41" actId="1076"/>
        <pc:sldMkLst>
          <pc:docMk/>
          <pc:sldMk cId="3656432549" sldId="276"/>
        </pc:sldMkLst>
        <pc:spChg chg="mod">
          <ac:chgData name="Mike J" userId="22cf0bdf11e74b3e" providerId="LiveId" clId="{4D67348E-9134-4BE5-88E0-0BC44514820F}" dt="2024-05-16T03:01:33.067" v="41" actId="1076"/>
          <ac:spMkLst>
            <pc:docMk/>
            <pc:sldMk cId="3656432549" sldId="276"/>
            <ac:spMk id="2" creationId="{00000000-0000-0000-0000-000000000000}"/>
          </ac:spMkLst>
        </pc:spChg>
        <pc:spChg chg="mod">
          <ac:chgData name="Mike J" userId="22cf0bdf11e74b3e" providerId="LiveId" clId="{4D67348E-9134-4BE5-88E0-0BC44514820F}" dt="2024-05-16T03:01:25.794" v="40" actId="14100"/>
          <ac:spMkLst>
            <pc:docMk/>
            <pc:sldMk cId="3656432549" sldId="276"/>
            <ac:spMk id="3" creationId="{00000000-0000-0000-0000-000000000000}"/>
          </ac:spMkLst>
        </pc:spChg>
      </pc:sldChg>
      <pc:sldChg chg="modSp mod">
        <pc:chgData name="Mike J" userId="22cf0bdf11e74b3e" providerId="LiveId" clId="{4D67348E-9134-4BE5-88E0-0BC44514820F}" dt="2024-05-15T14:26:14.575" v="23" actId="1076"/>
        <pc:sldMkLst>
          <pc:docMk/>
          <pc:sldMk cId="2066515877" sldId="277"/>
        </pc:sldMkLst>
        <pc:spChg chg="mod">
          <ac:chgData name="Mike J" userId="22cf0bdf11e74b3e" providerId="LiveId" clId="{4D67348E-9134-4BE5-88E0-0BC44514820F}" dt="2024-05-15T14:26:14.575" v="23" actId="1076"/>
          <ac:spMkLst>
            <pc:docMk/>
            <pc:sldMk cId="2066515877" sldId="277"/>
            <ac:spMk id="2" creationId="{00000000-0000-0000-0000-000000000000}"/>
          </ac:spMkLst>
        </pc:spChg>
        <pc:spChg chg="mod">
          <ac:chgData name="Mike J" userId="22cf0bdf11e74b3e" providerId="LiveId" clId="{4D67348E-9134-4BE5-88E0-0BC44514820F}" dt="2024-05-15T14:26:06.976" v="22" actId="255"/>
          <ac:spMkLst>
            <pc:docMk/>
            <pc:sldMk cId="2066515877" sldId="277"/>
            <ac:spMk id="3" creationId="{00000000-0000-0000-0000-000000000000}"/>
          </ac:spMkLst>
        </pc:spChg>
      </pc:sldChg>
      <pc:sldChg chg="addSp delSp modSp mod">
        <pc:chgData name="Mike J" userId="22cf0bdf11e74b3e" providerId="LiveId" clId="{4D67348E-9134-4BE5-88E0-0BC44514820F}" dt="2024-05-15T14:34:00.810" v="35" actId="1076"/>
        <pc:sldMkLst>
          <pc:docMk/>
          <pc:sldMk cId="1239672980" sldId="278"/>
        </pc:sldMkLst>
        <pc:spChg chg="mod">
          <ac:chgData name="Mike J" userId="22cf0bdf11e74b3e" providerId="LiveId" clId="{4D67348E-9134-4BE5-88E0-0BC44514820F}" dt="2024-05-15T14:34:00.810" v="35" actId="1076"/>
          <ac:spMkLst>
            <pc:docMk/>
            <pc:sldMk cId="1239672980" sldId="278"/>
            <ac:spMk id="7" creationId="{00000000-0000-0000-0000-000000000000}"/>
          </ac:spMkLst>
        </pc:spChg>
        <pc:picChg chg="del">
          <ac:chgData name="Mike J" userId="22cf0bdf11e74b3e" providerId="LiveId" clId="{4D67348E-9134-4BE5-88E0-0BC44514820F}" dt="2024-05-15T14:26:40.992" v="24" actId="478"/>
          <ac:picMkLst>
            <pc:docMk/>
            <pc:sldMk cId="1239672980" sldId="278"/>
            <ac:picMk id="6" creationId="{00000000-0000-0000-0000-000000000000}"/>
          </ac:picMkLst>
        </pc:picChg>
        <pc:picChg chg="add mod">
          <ac:chgData name="Mike J" userId="22cf0bdf11e74b3e" providerId="LiveId" clId="{4D67348E-9134-4BE5-88E0-0BC44514820F}" dt="2024-05-15T14:33:53.039" v="33" actId="14100"/>
          <ac:picMkLst>
            <pc:docMk/>
            <pc:sldMk cId="1239672980" sldId="278"/>
            <ac:picMk id="8" creationId="{9C3055D2-35E4-A938-7F7E-21C88B02CCD0}"/>
          </ac:picMkLst>
        </pc:picChg>
        <pc:picChg chg="mod">
          <ac:chgData name="Mike J" userId="22cf0bdf11e74b3e" providerId="LiveId" clId="{4D67348E-9134-4BE5-88E0-0BC44514820F}" dt="2024-05-15T14:26:50.972" v="25" actId="1076"/>
          <ac:picMkLst>
            <pc:docMk/>
            <pc:sldMk cId="1239672980" sldId="278"/>
            <ac:picMk id="10" creationId="{00000000-0000-0000-0000-000000000000}"/>
          </ac:picMkLst>
        </pc:picChg>
        <pc:picChg chg="mod">
          <ac:chgData name="Mike J" userId="22cf0bdf11e74b3e" providerId="LiveId" clId="{4D67348E-9134-4BE5-88E0-0BC44514820F}" dt="2024-05-15T14:27:02.284" v="27" actId="1076"/>
          <ac:picMkLst>
            <pc:docMk/>
            <pc:sldMk cId="1239672980" sldId="278"/>
            <ac:picMk id="1026" creationId="{00000000-0000-0000-0000-000000000000}"/>
          </ac:picMkLst>
        </pc:picChg>
      </pc:sldChg>
      <pc:sldChg chg="modSp mod">
        <pc:chgData name="Mike J" userId="22cf0bdf11e74b3e" providerId="LiveId" clId="{4D67348E-9134-4BE5-88E0-0BC44514820F}" dt="2024-05-15T14:25:27.665" v="19" actId="1076"/>
        <pc:sldMkLst>
          <pc:docMk/>
          <pc:sldMk cId="2789823251" sldId="279"/>
        </pc:sldMkLst>
        <pc:picChg chg="mod">
          <ac:chgData name="Mike J" userId="22cf0bdf11e74b3e" providerId="LiveId" clId="{4D67348E-9134-4BE5-88E0-0BC44514820F}" dt="2024-05-15T14:25:27.665" v="19" actId="1076"/>
          <ac:picMkLst>
            <pc:docMk/>
            <pc:sldMk cId="2789823251" sldId="279"/>
            <ac:picMk id="8" creationId="{F96EFABC-023A-248C-D52D-1863712832E1}"/>
          </ac:picMkLst>
        </pc:picChg>
      </pc:sldChg>
      <pc:sldChg chg="addSp delSp modSp mod modClrScheme chgLayout">
        <pc:chgData name="Mike J" userId="22cf0bdf11e74b3e" providerId="LiveId" clId="{4D67348E-9134-4BE5-88E0-0BC44514820F}" dt="2024-05-15T14:24:56.487" v="17"/>
        <pc:sldMkLst>
          <pc:docMk/>
          <pc:sldMk cId="0" sldId="286"/>
        </pc:sldMkLst>
        <pc:spChg chg="mod">
          <ac:chgData name="Mike J" userId="22cf0bdf11e74b3e" providerId="LiveId" clId="{4D67348E-9134-4BE5-88E0-0BC44514820F}" dt="2024-05-15T14:24:44.065" v="16" actId="26606"/>
          <ac:spMkLst>
            <pc:docMk/>
            <pc:sldMk cId="0" sldId="286"/>
            <ac:spMk id="2" creationId="{00000000-0000-0000-0000-000000000000}"/>
          </ac:spMkLst>
        </pc:spChg>
        <pc:spChg chg="add del mod">
          <ac:chgData name="Mike J" userId="22cf0bdf11e74b3e" providerId="LiveId" clId="{4D67348E-9134-4BE5-88E0-0BC44514820F}" dt="2024-05-15T14:24:44.065" v="16" actId="26606"/>
          <ac:spMkLst>
            <pc:docMk/>
            <pc:sldMk cId="0" sldId="286"/>
            <ac:spMk id="3" creationId="{00000000-0000-0000-0000-000000000000}"/>
          </ac:spMkLst>
        </pc:spChg>
        <pc:spChg chg="mod modVis">
          <ac:chgData name="Mike J" userId="22cf0bdf11e74b3e" providerId="LiveId" clId="{4D67348E-9134-4BE5-88E0-0BC44514820F}" dt="2024-05-15T14:24:44.065" v="16" actId="26606"/>
          <ac:spMkLst>
            <pc:docMk/>
            <pc:sldMk cId="0" sldId="286"/>
            <ac:spMk id="5" creationId="{00000000-0000-0000-0000-000000000000}"/>
          </ac:spMkLst>
        </pc:spChg>
        <pc:spChg chg="add del mod">
          <ac:chgData name="Mike J" userId="22cf0bdf11e74b3e" providerId="LiveId" clId="{4D67348E-9134-4BE5-88E0-0BC44514820F}" dt="2024-05-15T14:23:33.018" v="7" actId="478"/>
          <ac:spMkLst>
            <pc:docMk/>
            <pc:sldMk cId="0" sldId="286"/>
            <ac:spMk id="8" creationId="{B2065F6D-7D51-4A01-B189-C78BA2847157}"/>
          </ac:spMkLst>
        </pc:spChg>
        <pc:spChg chg="add del mod">
          <ac:chgData name="Mike J" userId="22cf0bdf11e74b3e" providerId="LiveId" clId="{4D67348E-9134-4BE5-88E0-0BC44514820F}" dt="2024-05-15T14:24:56.487" v="17"/>
          <ac:spMkLst>
            <pc:docMk/>
            <pc:sldMk cId="0" sldId="286"/>
            <ac:spMk id="10" creationId="{AD4FC8C5-57A7-3331-38E7-80E2F7610C2F}"/>
          </ac:spMkLst>
        </pc:spChg>
        <pc:spChg chg="add del mod">
          <ac:chgData name="Mike J" userId="22cf0bdf11e74b3e" providerId="LiveId" clId="{4D67348E-9134-4BE5-88E0-0BC44514820F}" dt="2024-05-15T14:23:35.059" v="9" actId="26606"/>
          <ac:spMkLst>
            <pc:docMk/>
            <pc:sldMk cId="0" sldId="286"/>
            <ac:spMk id="11" creationId="{0B6C9BB9-220D-D935-0041-0193F169A43A}"/>
          </ac:spMkLst>
        </pc:spChg>
        <pc:spChg chg="add del">
          <ac:chgData name="Mike J" userId="22cf0bdf11e74b3e" providerId="LiveId" clId="{4D67348E-9134-4BE5-88E0-0BC44514820F}" dt="2024-05-15T14:23:24.074" v="4" actId="26606"/>
          <ac:spMkLst>
            <pc:docMk/>
            <pc:sldMk cId="0" sldId="286"/>
            <ac:spMk id="13" creationId="{2A694A7D-6948-F6CA-14D2-F428682FFD98}"/>
          </ac:spMkLst>
        </pc:spChg>
        <pc:spChg chg="add del">
          <ac:chgData name="Mike J" userId="22cf0bdf11e74b3e" providerId="LiveId" clId="{4D67348E-9134-4BE5-88E0-0BC44514820F}" dt="2024-05-15T14:23:32.157" v="6" actId="26606"/>
          <ac:spMkLst>
            <pc:docMk/>
            <pc:sldMk cId="0" sldId="286"/>
            <ac:spMk id="15" creationId="{DD2FA26A-E56B-1421-6ED9-49A6D29C90C7}"/>
          </ac:spMkLst>
        </pc:spChg>
        <pc:graphicFrameChg chg="add del mod ord modGraphic">
          <ac:chgData name="Mike J" userId="22cf0bdf11e74b3e" providerId="LiveId" clId="{4D67348E-9134-4BE5-88E0-0BC44514820F}" dt="2024-05-15T14:23:35.059" v="9" actId="26606"/>
          <ac:graphicFrameMkLst>
            <pc:docMk/>
            <pc:sldMk cId="0" sldId="286"/>
            <ac:graphicFrameMk id="7" creationId="{0C3529F4-E7F4-4618-B912-A6A31F3279E6}"/>
          </ac:graphicFrameMkLst>
        </pc:graphicFrameChg>
        <pc:picChg chg="add del mod">
          <ac:chgData name="Mike J" userId="22cf0bdf11e74b3e" providerId="LiveId" clId="{4D67348E-9134-4BE5-88E0-0BC44514820F}" dt="2024-05-15T14:23:34.043" v="8"/>
          <ac:picMkLst>
            <pc:docMk/>
            <pc:sldMk cId="0" sldId="286"/>
            <ac:picMk id="4" creationId="{7AF5489A-45BF-2356-209A-4D8A9B67789D}"/>
          </ac:picMkLst>
        </pc:picChg>
        <pc:picChg chg="add mod">
          <ac:chgData name="Mike J" userId="22cf0bdf11e74b3e" providerId="LiveId" clId="{4D67348E-9134-4BE5-88E0-0BC44514820F}" dt="2024-05-15T14:24:56.487" v="17"/>
          <ac:picMkLst>
            <pc:docMk/>
            <pc:sldMk cId="0" sldId="286"/>
            <ac:picMk id="9" creationId="{0F4CE619-1E22-9AAE-F64D-A5B824F2F536}"/>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2-22T17:09:12.345"/>
    </inkml:context>
    <inkml:brush xml:id="br0">
      <inkml:brushProperty name="width" value="0.02333" units="cm"/>
      <inkml:brushProperty name="height" value="0.02333" units="cm"/>
      <inkml:brushProperty name="ignorePressure" value="1"/>
    </inkml:brush>
  </inkml:definitions>
  <inkml:trace contextRef="#ctx0" brushRef="#br0">7357 3749,'17'0,"33"0,36 0,31 7,29 2,15 4,7 1,-3 0,-15-2,-10-5,-24-2,-19-3,-25-1,-19-1,-17 0,-10-1,-6 1,0 2,4 6,1 1,0-1,6-2,0-2,-1-2,9-1,4 0,5 2,2 1,1-1,0 1,-2-2,-5-1,-8 0,-2-1,2 0,10 0,11 0,5 0,4 0,-4 0,2-1,-6 1,-7 0,-8 0,-9 0,-5 0,-2 0,-2 0,-1 0,6 0,0 0,-1 0,2 0,-2 0,-2 0,2 0,-2 0,0 0,-3 0,-2 0,0 0,-1 0,-1 0,3 0,5 0,1 0,-2 0,3 0,-1 0,-2 4,-2 1,-2-1,-1-1,2 0,1-1,-2 2,1 0,8 5,18 2,12 11,4 1,3-3,-1-6,0 0,-8-4,-11-3,-6-2,-4-3,-2-2,-3 0,-5 0,-3-1,1 0,1 1,5 0,2-1,0 1,0 0,-2 0,-4 0,1 0,-2 0,-2 0,-2 0,2 0,0 0,-1 0,2 7,0 2,-1 0,-2-2,-1-2,-3-2,2-1,-2-1,4-1,0 0,-3 2,-6 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2-22T17:09:16.938"/>
    </inkml:context>
    <inkml:brush xml:id="br0">
      <inkml:brushProperty name="width" value="0.02333" units="cm"/>
      <inkml:brushProperty name="height" value="0.02333" units="cm"/>
      <inkml:brushProperty name="ignorePressure" value="1"/>
    </inkml:brush>
  </inkml:definitions>
  <inkml:trace contextRef="#ctx0" brushRef="#br0">7428 3720,'10'0,"17"0,15 0,13 0,9 0,-1 0,3 0,-3-4,-4 0,-6-4,-9 0,-23 0,-17 4,-13 0,-11 2,-8 2,0-1,-4 2,0-1,4 0,1 0,-1 0,1 1,2-1,-2 0,-3 3,-1 2,-1 3,2 0,1-1,0-2,0-2,3-1,2-1,2 2,0 2,2-1,0 3,0 3,6 4,11-1,11 1,15-2,11 0,6-2,3 2,-2 1,-5 2,-5-1,-3-3,-5-1,2-1,0-2,-2-3,1 2,3 10,7 9,0 4,-2 1,-4-2,-5-6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51288"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65725" y="0"/>
            <a:ext cx="3951288" cy="342900"/>
          </a:xfrm>
          <a:prstGeom prst="rect">
            <a:avLst/>
          </a:prstGeom>
        </p:spPr>
        <p:txBody>
          <a:bodyPr vert="horz" lIns="91440" tIns="45720" rIns="91440" bIns="45720" rtlCol="0"/>
          <a:lstStyle>
            <a:lvl1pPr algn="r">
              <a:defRPr sz="1200"/>
            </a:lvl1pPr>
          </a:lstStyle>
          <a:p>
            <a:fld id="{1425382D-C523-4F74-9196-47325FA5CB1E}" type="datetimeFigureOut">
              <a:rPr lang="en-US" smtClean="0"/>
              <a:t>5/21/2024</a:t>
            </a:fld>
            <a:endParaRPr lang="en-US"/>
          </a:p>
        </p:txBody>
      </p:sp>
      <p:sp>
        <p:nvSpPr>
          <p:cNvPr id="4" name="Slide Image Placeholder 3"/>
          <p:cNvSpPr>
            <a:spLocks noGrp="1" noRot="1" noChangeAspect="1"/>
          </p:cNvSpPr>
          <p:nvPr>
            <p:ph type="sldImg" idx="2"/>
          </p:nvPr>
        </p:nvSpPr>
        <p:spPr>
          <a:xfrm>
            <a:off x="3019425" y="854075"/>
            <a:ext cx="3079750" cy="23066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1225" y="3287713"/>
            <a:ext cx="7296150" cy="269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489700"/>
            <a:ext cx="3951288"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65725" y="6489700"/>
            <a:ext cx="3951288" cy="342900"/>
          </a:xfrm>
          <a:prstGeom prst="rect">
            <a:avLst/>
          </a:prstGeom>
        </p:spPr>
        <p:txBody>
          <a:bodyPr vert="horz" lIns="91440" tIns="45720" rIns="91440" bIns="45720" rtlCol="0" anchor="b"/>
          <a:lstStyle>
            <a:lvl1pPr algn="r">
              <a:defRPr sz="1200"/>
            </a:lvl1pPr>
          </a:lstStyle>
          <a:p>
            <a:fld id="{B11364FE-0627-4820-B625-EFCF33BFED22}" type="slidenum">
              <a:rPr lang="en-US" smtClean="0"/>
              <a:t>‹#›</a:t>
            </a:fld>
            <a:endParaRPr lang="en-US"/>
          </a:p>
        </p:txBody>
      </p:sp>
    </p:spTree>
    <p:extLst>
      <p:ext uri="{BB962C8B-B14F-4D97-AF65-F5344CB8AC3E}">
        <p14:creationId xmlns:p14="http://schemas.microsoft.com/office/powerpoint/2010/main" val="4183103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26DC5DB-33AA-4ACF-912B-D8E7E874F07B}"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3895" y="2118106"/>
            <a:ext cx="7750810" cy="1434846"/>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67790" y="3826256"/>
            <a:ext cx="6383020" cy="1708150"/>
          </a:xfrm>
          <a:prstGeom prst="rect">
            <a:avLst/>
          </a:prstGeom>
        </p:spPr>
        <p:txBody>
          <a:bodyPr wrap="square" lIns="0" tIns="0" rIns="0" bIns="0">
            <a:spAutoFit/>
          </a:bodyPr>
          <a:lstStyle>
            <a:lvl1pPr>
              <a:defRPr sz="1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5930" y="1571498"/>
            <a:ext cx="3966591" cy="450951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696079" y="1571498"/>
            <a:ext cx="3966591" cy="450951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3895" y="2122535"/>
            <a:ext cx="7750810" cy="369332"/>
          </a:xfrm>
        </p:spPr>
        <p:txBody>
          <a:bodyPr/>
          <a:lstStyle/>
          <a:p>
            <a:r>
              <a:rPr lang="en-US"/>
              <a:t>Click to edit Master title style</a:t>
            </a:r>
          </a:p>
        </p:txBody>
      </p:sp>
      <p:sp>
        <p:nvSpPr>
          <p:cNvPr id="3" name="Subtitle 2"/>
          <p:cNvSpPr>
            <a:spLocks noGrp="1"/>
          </p:cNvSpPr>
          <p:nvPr>
            <p:ph type="subTitle" idx="1"/>
          </p:nvPr>
        </p:nvSpPr>
        <p:spPr>
          <a:xfrm>
            <a:off x="1367790" y="3871807"/>
            <a:ext cx="6383020" cy="215444"/>
          </a:xfrm>
        </p:spPr>
        <p:txBody>
          <a:bodyPr/>
          <a:lstStyle>
            <a:lvl1pPr marL="0" indent="0" algn="ctr">
              <a:buNone/>
              <a:defRPr>
                <a:solidFill>
                  <a:schemeClr val="tx1">
                    <a:tint val="75000"/>
                  </a:schemeClr>
                </a:solidFill>
              </a:defRPr>
            </a:lvl1pPr>
            <a:lvl2pPr marL="455508" indent="0" algn="ctr">
              <a:buNone/>
              <a:defRPr>
                <a:solidFill>
                  <a:schemeClr val="tx1">
                    <a:tint val="75000"/>
                  </a:schemeClr>
                </a:solidFill>
              </a:defRPr>
            </a:lvl2pPr>
            <a:lvl3pPr marL="911017" indent="0" algn="ctr">
              <a:buNone/>
              <a:defRPr>
                <a:solidFill>
                  <a:schemeClr val="tx1">
                    <a:tint val="75000"/>
                  </a:schemeClr>
                </a:solidFill>
              </a:defRPr>
            </a:lvl3pPr>
            <a:lvl4pPr marL="1366525" indent="0" algn="ctr">
              <a:buNone/>
              <a:defRPr>
                <a:solidFill>
                  <a:schemeClr val="tx1">
                    <a:tint val="75000"/>
                  </a:schemeClr>
                </a:solidFill>
              </a:defRPr>
            </a:lvl4pPr>
            <a:lvl5pPr marL="1822033" indent="0" algn="ctr">
              <a:buNone/>
              <a:defRPr>
                <a:solidFill>
                  <a:schemeClr val="tx1">
                    <a:tint val="75000"/>
                  </a:schemeClr>
                </a:solidFill>
              </a:defRPr>
            </a:lvl5pPr>
            <a:lvl6pPr marL="2277542" indent="0" algn="ctr">
              <a:buNone/>
              <a:defRPr>
                <a:solidFill>
                  <a:schemeClr val="tx1">
                    <a:tint val="75000"/>
                  </a:schemeClr>
                </a:solidFill>
              </a:defRPr>
            </a:lvl6pPr>
            <a:lvl7pPr marL="2733050" indent="0" algn="ctr">
              <a:buNone/>
              <a:defRPr>
                <a:solidFill>
                  <a:schemeClr val="tx1">
                    <a:tint val="75000"/>
                  </a:schemeClr>
                </a:solidFill>
              </a:defRPr>
            </a:lvl7pPr>
            <a:lvl8pPr marL="3188559" indent="0" algn="ctr">
              <a:buNone/>
              <a:defRPr>
                <a:solidFill>
                  <a:schemeClr val="tx1">
                    <a:tint val="75000"/>
                  </a:schemeClr>
                </a:solidFill>
              </a:defRPr>
            </a:lvl8pPr>
            <a:lvl9pPr marL="3644067"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a:xfrm>
            <a:off x="3100324" y="6354318"/>
            <a:ext cx="2917952" cy="276999"/>
          </a:xfrm>
        </p:spPr>
        <p:txBody>
          <a:bodyPr/>
          <a:lstStyle/>
          <a:p>
            <a:endParaRPr lang="en-US" dirty="0"/>
          </a:p>
        </p:txBody>
      </p:sp>
    </p:spTree>
    <p:extLst>
      <p:ext uri="{BB962C8B-B14F-4D97-AF65-F5344CB8AC3E}">
        <p14:creationId xmlns:p14="http://schemas.microsoft.com/office/powerpoint/2010/main" val="84892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32605" y="459994"/>
            <a:ext cx="4255134" cy="369332"/>
          </a:xfrm>
        </p:spPr>
        <p:txBody>
          <a:bodyPr/>
          <a:lstStyle/>
          <a:p>
            <a:r>
              <a:rPr lang="en-US"/>
              <a:t>Click to edit Master title style</a:t>
            </a:r>
          </a:p>
        </p:txBody>
      </p:sp>
      <p:sp>
        <p:nvSpPr>
          <p:cNvPr id="3" name="Content Placeholder 2"/>
          <p:cNvSpPr>
            <a:spLocks noGrp="1"/>
          </p:cNvSpPr>
          <p:nvPr>
            <p:ph sz="half" idx="1"/>
          </p:nvPr>
        </p:nvSpPr>
        <p:spPr>
          <a:xfrm>
            <a:off x="455930" y="1594274"/>
            <a:ext cx="4027382" cy="2085123"/>
          </a:xfrm>
        </p:spPr>
        <p:txBody>
          <a:bodyPr/>
          <a:lstStyle>
            <a:lvl1pPr>
              <a:defRPr sz="2790"/>
            </a:lvl1pPr>
            <a:lvl2pPr>
              <a:defRPr sz="2391"/>
            </a:lvl2pPr>
            <a:lvl3pPr>
              <a:defRPr sz="1993"/>
            </a:lvl3pPr>
            <a:lvl4pPr>
              <a:defRPr sz="1793"/>
            </a:lvl4pPr>
            <a:lvl5pPr>
              <a:defRPr sz="1793"/>
            </a:lvl5pPr>
            <a:lvl6pPr>
              <a:defRPr sz="1793"/>
            </a:lvl6pPr>
            <a:lvl7pPr>
              <a:defRPr sz="1793"/>
            </a:lvl7pPr>
            <a:lvl8pPr>
              <a:defRPr sz="1793"/>
            </a:lvl8pPr>
            <a:lvl9pPr>
              <a:defRPr sz="17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5288" y="1594274"/>
            <a:ext cx="4027382" cy="2085123"/>
          </a:xfrm>
        </p:spPr>
        <p:txBody>
          <a:bodyPr/>
          <a:lstStyle>
            <a:lvl1pPr>
              <a:defRPr sz="2790"/>
            </a:lvl1pPr>
            <a:lvl2pPr>
              <a:defRPr sz="2391"/>
            </a:lvl2pPr>
            <a:lvl3pPr>
              <a:defRPr sz="1993"/>
            </a:lvl3pPr>
            <a:lvl4pPr>
              <a:defRPr sz="1793"/>
            </a:lvl4pPr>
            <a:lvl5pPr>
              <a:defRPr sz="1793"/>
            </a:lvl5pPr>
            <a:lvl6pPr>
              <a:defRPr sz="1793"/>
            </a:lvl6pPr>
            <a:lvl7pPr>
              <a:defRPr sz="1793"/>
            </a:lvl7pPr>
            <a:lvl8pPr>
              <a:defRPr sz="1793"/>
            </a:lvl8pPr>
            <a:lvl9pPr>
              <a:defRPr sz="17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5930" y="6332808"/>
            <a:ext cx="2127673" cy="276999"/>
          </a:xfrm>
          <a:prstGeom prst="rect">
            <a:avLst/>
          </a:prstGeom>
        </p:spPr>
        <p:txBody>
          <a:bodyPr/>
          <a:lstStyle/>
          <a:p>
            <a:endParaRPr lang="en-US"/>
          </a:p>
        </p:txBody>
      </p:sp>
      <p:sp>
        <p:nvSpPr>
          <p:cNvPr id="6" name="Footer Placeholder 5"/>
          <p:cNvSpPr>
            <a:spLocks noGrp="1"/>
          </p:cNvSpPr>
          <p:nvPr>
            <p:ph type="ftr" sz="quarter" idx="11"/>
          </p:nvPr>
        </p:nvSpPr>
        <p:spPr>
          <a:xfrm>
            <a:off x="3100324" y="6354318"/>
            <a:ext cx="2917952" cy="276999"/>
          </a:xfrm>
        </p:spPr>
        <p:txBody>
          <a:bodyPr/>
          <a:lstStyle/>
          <a:p>
            <a:endParaRPr lang="en-US"/>
          </a:p>
        </p:txBody>
      </p:sp>
      <p:sp>
        <p:nvSpPr>
          <p:cNvPr id="7" name="Slide Number Placeholder 6"/>
          <p:cNvSpPr>
            <a:spLocks noGrp="1"/>
          </p:cNvSpPr>
          <p:nvPr>
            <p:ph type="sldNum" sz="quarter" idx="12"/>
          </p:nvPr>
        </p:nvSpPr>
        <p:spPr>
          <a:xfrm>
            <a:off x="6534997" y="6332808"/>
            <a:ext cx="2127673" cy="276999"/>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4239473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3895" y="2122535"/>
            <a:ext cx="7750810" cy="1464580"/>
          </a:xfrm>
        </p:spPr>
        <p:txBody>
          <a:bodyPr/>
          <a:lstStyle/>
          <a:p>
            <a:r>
              <a:rPr lang="en-US"/>
              <a:t>Click to edit Master title style</a:t>
            </a:r>
          </a:p>
        </p:txBody>
      </p:sp>
      <p:sp>
        <p:nvSpPr>
          <p:cNvPr id="3" name="Subtitle 2"/>
          <p:cNvSpPr>
            <a:spLocks noGrp="1"/>
          </p:cNvSpPr>
          <p:nvPr>
            <p:ph type="subTitle" idx="1"/>
          </p:nvPr>
        </p:nvSpPr>
        <p:spPr>
          <a:xfrm>
            <a:off x="1367790" y="3871807"/>
            <a:ext cx="6383020" cy="1746109"/>
          </a:xfrm>
        </p:spPr>
        <p:txBody>
          <a:bodyPr/>
          <a:lstStyle>
            <a:lvl1pPr marL="0" indent="0" algn="ctr">
              <a:buNone/>
              <a:defRPr>
                <a:solidFill>
                  <a:schemeClr val="tx1">
                    <a:tint val="75000"/>
                  </a:schemeClr>
                </a:solidFill>
              </a:defRPr>
            </a:lvl1pPr>
            <a:lvl2pPr marL="455508" indent="0" algn="ctr">
              <a:buNone/>
              <a:defRPr>
                <a:solidFill>
                  <a:schemeClr val="tx1">
                    <a:tint val="75000"/>
                  </a:schemeClr>
                </a:solidFill>
              </a:defRPr>
            </a:lvl2pPr>
            <a:lvl3pPr marL="911017" indent="0" algn="ctr">
              <a:buNone/>
              <a:defRPr>
                <a:solidFill>
                  <a:schemeClr val="tx1">
                    <a:tint val="75000"/>
                  </a:schemeClr>
                </a:solidFill>
              </a:defRPr>
            </a:lvl3pPr>
            <a:lvl4pPr marL="1366525" indent="0" algn="ctr">
              <a:buNone/>
              <a:defRPr>
                <a:solidFill>
                  <a:schemeClr val="tx1">
                    <a:tint val="75000"/>
                  </a:schemeClr>
                </a:solidFill>
              </a:defRPr>
            </a:lvl4pPr>
            <a:lvl5pPr marL="1822033" indent="0" algn="ctr">
              <a:buNone/>
              <a:defRPr>
                <a:solidFill>
                  <a:schemeClr val="tx1">
                    <a:tint val="75000"/>
                  </a:schemeClr>
                </a:solidFill>
              </a:defRPr>
            </a:lvl5pPr>
            <a:lvl6pPr marL="2277542" indent="0" algn="ctr">
              <a:buNone/>
              <a:defRPr>
                <a:solidFill>
                  <a:schemeClr val="tx1">
                    <a:tint val="75000"/>
                  </a:schemeClr>
                </a:solidFill>
              </a:defRPr>
            </a:lvl6pPr>
            <a:lvl7pPr marL="2733050" indent="0" algn="ctr">
              <a:buNone/>
              <a:defRPr>
                <a:solidFill>
                  <a:schemeClr val="tx1">
                    <a:tint val="75000"/>
                  </a:schemeClr>
                </a:solidFill>
              </a:defRPr>
            </a:lvl7pPr>
            <a:lvl8pPr marL="3188559" indent="0" algn="ctr">
              <a:buNone/>
              <a:defRPr>
                <a:solidFill>
                  <a:schemeClr val="tx1">
                    <a:tint val="75000"/>
                  </a:schemeClr>
                </a:solidFill>
              </a:defRPr>
            </a:lvl8pPr>
            <a:lvl9pPr marL="3644067"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40023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5930" y="6332808"/>
            <a:ext cx="2127673" cy="363773"/>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2254020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307" y="4390579"/>
            <a:ext cx="7750810" cy="1357030"/>
          </a:xfrm>
        </p:spPr>
        <p:txBody>
          <a:bodyPr anchor="t"/>
          <a:lstStyle>
            <a:lvl1pPr algn="l">
              <a:defRPr sz="3985" b="1" cap="all"/>
            </a:lvl1pPr>
          </a:lstStyle>
          <a:p>
            <a:r>
              <a:rPr lang="en-US"/>
              <a:t>Click to edit Master title style</a:t>
            </a:r>
          </a:p>
        </p:txBody>
      </p:sp>
      <p:sp>
        <p:nvSpPr>
          <p:cNvPr id="3" name="Text Placeholder 2"/>
          <p:cNvSpPr>
            <a:spLocks noGrp="1"/>
          </p:cNvSpPr>
          <p:nvPr>
            <p:ph type="body" idx="1"/>
          </p:nvPr>
        </p:nvSpPr>
        <p:spPr>
          <a:xfrm>
            <a:off x="720307" y="2895948"/>
            <a:ext cx="7750810" cy="1494631"/>
          </a:xfrm>
        </p:spPr>
        <p:txBody>
          <a:bodyPr anchor="b"/>
          <a:lstStyle>
            <a:lvl1pPr marL="0" indent="0">
              <a:buNone/>
              <a:defRPr sz="1993">
                <a:solidFill>
                  <a:schemeClr val="tx1">
                    <a:tint val="75000"/>
                  </a:schemeClr>
                </a:solidFill>
              </a:defRPr>
            </a:lvl1pPr>
            <a:lvl2pPr marL="455508" indent="0">
              <a:buNone/>
              <a:defRPr sz="1793">
                <a:solidFill>
                  <a:schemeClr val="tx1">
                    <a:tint val="75000"/>
                  </a:schemeClr>
                </a:solidFill>
              </a:defRPr>
            </a:lvl2pPr>
            <a:lvl3pPr marL="911017" indent="0">
              <a:buNone/>
              <a:defRPr sz="1594">
                <a:solidFill>
                  <a:schemeClr val="tx1">
                    <a:tint val="75000"/>
                  </a:schemeClr>
                </a:solidFill>
              </a:defRPr>
            </a:lvl3pPr>
            <a:lvl4pPr marL="1366525" indent="0">
              <a:buNone/>
              <a:defRPr sz="1395">
                <a:solidFill>
                  <a:schemeClr val="tx1">
                    <a:tint val="75000"/>
                  </a:schemeClr>
                </a:solidFill>
              </a:defRPr>
            </a:lvl4pPr>
            <a:lvl5pPr marL="1822033" indent="0">
              <a:buNone/>
              <a:defRPr sz="1395">
                <a:solidFill>
                  <a:schemeClr val="tx1">
                    <a:tint val="75000"/>
                  </a:schemeClr>
                </a:solidFill>
              </a:defRPr>
            </a:lvl5pPr>
            <a:lvl6pPr marL="2277542" indent="0">
              <a:buNone/>
              <a:defRPr sz="1395">
                <a:solidFill>
                  <a:schemeClr val="tx1">
                    <a:tint val="75000"/>
                  </a:schemeClr>
                </a:solidFill>
              </a:defRPr>
            </a:lvl6pPr>
            <a:lvl7pPr marL="2733050" indent="0">
              <a:buNone/>
              <a:defRPr sz="1395">
                <a:solidFill>
                  <a:schemeClr val="tx1">
                    <a:tint val="75000"/>
                  </a:schemeClr>
                </a:solidFill>
              </a:defRPr>
            </a:lvl7pPr>
            <a:lvl8pPr marL="3188559" indent="0">
              <a:buNone/>
              <a:defRPr sz="1395">
                <a:solidFill>
                  <a:schemeClr val="tx1">
                    <a:tint val="75000"/>
                  </a:schemeClr>
                </a:solidFill>
              </a:defRPr>
            </a:lvl8pPr>
            <a:lvl9pPr marL="3644067" indent="0">
              <a:buNone/>
              <a:defRPr sz="13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5930" y="6332808"/>
            <a:ext cx="2127673" cy="363773"/>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2789323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930" y="1594274"/>
            <a:ext cx="4027382" cy="4509200"/>
          </a:xfrm>
        </p:spPr>
        <p:txBody>
          <a:bodyPr/>
          <a:lstStyle>
            <a:lvl1pPr>
              <a:defRPr sz="2790"/>
            </a:lvl1pPr>
            <a:lvl2pPr>
              <a:defRPr sz="2391"/>
            </a:lvl2pPr>
            <a:lvl3pPr>
              <a:defRPr sz="1993"/>
            </a:lvl3pPr>
            <a:lvl4pPr>
              <a:defRPr sz="1793"/>
            </a:lvl4pPr>
            <a:lvl5pPr>
              <a:defRPr sz="1793"/>
            </a:lvl5pPr>
            <a:lvl6pPr>
              <a:defRPr sz="1793"/>
            </a:lvl6pPr>
            <a:lvl7pPr>
              <a:defRPr sz="1793"/>
            </a:lvl7pPr>
            <a:lvl8pPr>
              <a:defRPr sz="1793"/>
            </a:lvl8pPr>
            <a:lvl9pPr>
              <a:defRPr sz="17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5288" y="1594274"/>
            <a:ext cx="4027382" cy="4509200"/>
          </a:xfrm>
        </p:spPr>
        <p:txBody>
          <a:bodyPr/>
          <a:lstStyle>
            <a:lvl1pPr>
              <a:defRPr sz="2790"/>
            </a:lvl1pPr>
            <a:lvl2pPr>
              <a:defRPr sz="2391"/>
            </a:lvl2pPr>
            <a:lvl3pPr>
              <a:defRPr sz="1993"/>
            </a:lvl3pPr>
            <a:lvl4pPr>
              <a:defRPr sz="1793"/>
            </a:lvl4pPr>
            <a:lvl5pPr>
              <a:defRPr sz="1793"/>
            </a:lvl5pPr>
            <a:lvl6pPr>
              <a:defRPr sz="1793"/>
            </a:lvl6pPr>
            <a:lvl7pPr>
              <a:defRPr sz="1793"/>
            </a:lvl7pPr>
            <a:lvl8pPr>
              <a:defRPr sz="1793"/>
            </a:lvl8pPr>
            <a:lvl9pPr>
              <a:defRPr sz="17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5930" y="6332808"/>
            <a:ext cx="2127673" cy="363773"/>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1423044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930" y="1529427"/>
            <a:ext cx="4028965" cy="637393"/>
          </a:xfrm>
        </p:spPr>
        <p:txBody>
          <a:bodyPr anchor="b"/>
          <a:lstStyle>
            <a:lvl1pPr marL="0" indent="0">
              <a:buNone/>
              <a:defRPr sz="2391" b="1"/>
            </a:lvl1pPr>
            <a:lvl2pPr marL="455508" indent="0">
              <a:buNone/>
              <a:defRPr sz="1993" b="1"/>
            </a:lvl2pPr>
            <a:lvl3pPr marL="911017" indent="0">
              <a:buNone/>
              <a:defRPr sz="1793" b="1"/>
            </a:lvl3pPr>
            <a:lvl4pPr marL="1366525" indent="0">
              <a:buNone/>
              <a:defRPr sz="1594" b="1"/>
            </a:lvl4pPr>
            <a:lvl5pPr marL="1822033" indent="0">
              <a:buNone/>
              <a:defRPr sz="1594" b="1"/>
            </a:lvl5pPr>
            <a:lvl6pPr marL="2277542" indent="0">
              <a:buNone/>
              <a:defRPr sz="1594" b="1"/>
            </a:lvl6pPr>
            <a:lvl7pPr marL="2733050" indent="0">
              <a:buNone/>
              <a:defRPr sz="1594" b="1"/>
            </a:lvl7pPr>
            <a:lvl8pPr marL="3188559" indent="0">
              <a:buNone/>
              <a:defRPr sz="1594" b="1"/>
            </a:lvl8pPr>
            <a:lvl9pPr marL="3644067" indent="0">
              <a:buNone/>
              <a:defRPr sz="1594" b="1"/>
            </a:lvl9pPr>
          </a:lstStyle>
          <a:p>
            <a:pPr lvl="0"/>
            <a:r>
              <a:rPr lang="en-US"/>
              <a:t>Click to edit Master text styles</a:t>
            </a:r>
          </a:p>
        </p:txBody>
      </p:sp>
      <p:sp>
        <p:nvSpPr>
          <p:cNvPr id="4" name="Content Placeholder 3"/>
          <p:cNvSpPr>
            <a:spLocks noGrp="1"/>
          </p:cNvSpPr>
          <p:nvPr>
            <p:ph sz="half" idx="2"/>
          </p:nvPr>
        </p:nvSpPr>
        <p:spPr>
          <a:xfrm>
            <a:off x="455930" y="2166820"/>
            <a:ext cx="4028965" cy="3936654"/>
          </a:xfrm>
        </p:spPr>
        <p:txBody>
          <a:bodyPr/>
          <a:lstStyle>
            <a:lvl1pPr>
              <a:defRPr sz="2391"/>
            </a:lvl1pPr>
            <a:lvl2pPr>
              <a:defRPr sz="1993"/>
            </a:lvl2pPr>
            <a:lvl3pPr>
              <a:defRPr sz="1793"/>
            </a:lvl3pPr>
            <a:lvl4pPr>
              <a:defRPr sz="1594"/>
            </a:lvl4pPr>
            <a:lvl5pPr>
              <a:defRPr sz="1594"/>
            </a:lvl5pPr>
            <a:lvl6pPr>
              <a:defRPr sz="1594"/>
            </a:lvl6pPr>
            <a:lvl7pPr>
              <a:defRPr sz="1594"/>
            </a:lvl7pPr>
            <a:lvl8pPr>
              <a:defRPr sz="1594"/>
            </a:lvl8pPr>
            <a:lvl9pPr>
              <a:defRPr sz="15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32123" y="1529427"/>
            <a:ext cx="4030548" cy="637393"/>
          </a:xfrm>
        </p:spPr>
        <p:txBody>
          <a:bodyPr anchor="b"/>
          <a:lstStyle>
            <a:lvl1pPr marL="0" indent="0">
              <a:buNone/>
              <a:defRPr sz="2391" b="1"/>
            </a:lvl1pPr>
            <a:lvl2pPr marL="455508" indent="0">
              <a:buNone/>
              <a:defRPr sz="1993" b="1"/>
            </a:lvl2pPr>
            <a:lvl3pPr marL="911017" indent="0">
              <a:buNone/>
              <a:defRPr sz="1793" b="1"/>
            </a:lvl3pPr>
            <a:lvl4pPr marL="1366525" indent="0">
              <a:buNone/>
              <a:defRPr sz="1594" b="1"/>
            </a:lvl4pPr>
            <a:lvl5pPr marL="1822033" indent="0">
              <a:buNone/>
              <a:defRPr sz="1594" b="1"/>
            </a:lvl5pPr>
            <a:lvl6pPr marL="2277542" indent="0">
              <a:buNone/>
              <a:defRPr sz="1594" b="1"/>
            </a:lvl6pPr>
            <a:lvl7pPr marL="2733050" indent="0">
              <a:buNone/>
              <a:defRPr sz="1594" b="1"/>
            </a:lvl7pPr>
            <a:lvl8pPr marL="3188559" indent="0">
              <a:buNone/>
              <a:defRPr sz="1594" b="1"/>
            </a:lvl8pPr>
            <a:lvl9pPr marL="3644067" indent="0">
              <a:buNone/>
              <a:defRPr sz="1594" b="1"/>
            </a:lvl9pPr>
          </a:lstStyle>
          <a:p>
            <a:pPr lvl="0"/>
            <a:r>
              <a:rPr lang="en-US"/>
              <a:t>Click to edit Master text styles</a:t>
            </a:r>
          </a:p>
        </p:txBody>
      </p:sp>
      <p:sp>
        <p:nvSpPr>
          <p:cNvPr id="6" name="Content Placeholder 5"/>
          <p:cNvSpPr>
            <a:spLocks noGrp="1"/>
          </p:cNvSpPr>
          <p:nvPr>
            <p:ph sz="quarter" idx="4"/>
          </p:nvPr>
        </p:nvSpPr>
        <p:spPr>
          <a:xfrm>
            <a:off x="4632123" y="2166820"/>
            <a:ext cx="4030548" cy="3936654"/>
          </a:xfrm>
        </p:spPr>
        <p:txBody>
          <a:bodyPr/>
          <a:lstStyle>
            <a:lvl1pPr>
              <a:defRPr sz="2391"/>
            </a:lvl1pPr>
            <a:lvl2pPr>
              <a:defRPr sz="1993"/>
            </a:lvl2pPr>
            <a:lvl3pPr>
              <a:defRPr sz="1793"/>
            </a:lvl3pPr>
            <a:lvl4pPr>
              <a:defRPr sz="1594"/>
            </a:lvl4pPr>
            <a:lvl5pPr>
              <a:defRPr sz="1594"/>
            </a:lvl5pPr>
            <a:lvl6pPr>
              <a:defRPr sz="1594"/>
            </a:lvl6pPr>
            <a:lvl7pPr>
              <a:defRPr sz="1594"/>
            </a:lvl7pPr>
            <a:lvl8pPr>
              <a:defRPr sz="1594"/>
            </a:lvl8pPr>
            <a:lvl9pPr>
              <a:defRPr sz="15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5930" y="6332808"/>
            <a:ext cx="2127673" cy="363773"/>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1492447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5930" y="6332808"/>
            <a:ext cx="2127673" cy="363773"/>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3581849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5930" y="6332808"/>
            <a:ext cx="2127673" cy="363773"/>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26139152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930" y="272039"/>
            <a:ext cx="2999957" cy="1157746"/>
          </a:xfrm>
        </p:spPr>
        <p:txBody>
          <a:bodyPr anchor="b"/>
          <a:lstStyle>
            <a:lvl1pPr algn="l">
              <a:defRPr sz="1993" b="1"/>
            </a:lvl1pPr>
          </a:lstStyle>
          <a:p>
            <a:r>
              <a:rPr lang="en-US"/>
              <a:t>Click to edit Master title style</a:t>
            </a:r>
          </a:p>
        </p:txBody>
      </p:sp>
      <p:sp>
        <p:nvSpPr>
          <p:cNvPr id="3" name="Content Placeholder 2"/>
          <p:cNvSpPr>
            <a:spLocks noGrp="1"/>
          </p:cNvSpPr>
          <p:nvPr>
            <p:ph idx="1"/>
          </p:nvPr>
        </p:nvSpPr>
        <p:spPr>
          <a:xfrm>
            <a:off x="3565119" y="272039"/>
            <a:ext cx="5097551" cy="5831435"/>
          </a:xfrm>
        </p:spPr>
        <p:txBody>
          <a:bodyPr/>
          <a:lstStyle>
            <a:lvl1pPr>
              <a:defRPr sz="3188"/>
            </a:lvl1pPr>
            <a:lvl2pPr>
              <a:defRPr sz="2790"/>
            </a:lvl2pPr>
            <a:lvl3pPr>
              <a:defRPr sz="2391"/>
            </a:lvl3pPr>
            <a:lvl4pPr>
              <a:defRPr sz="1993"/>
            </a:lvl4pPr>
            <a:lvl5pPr>
              <a:defRPr sz="1993"/>
            </a:lvl5pPr>
            <a:lvl6pPr>
              <a:defRPr sz="1993"/>
            </a:lvl6pPr>
            <a:lvl7pPr>
              <a:defRPr sz="1993"/>
            </a:lvl7pPr>
            <a:lvl8pPr>
              <a:defRPr sz="1993"/>
            </a:lvl8pPr>
            <a:lvl9pPr>
              <a:defRPr sz="19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930" y="1429785"/>
            <a:ext cx="2999957" cy="4673689"/>
          </a:xfrm>
        </p:spPr>
        <p:txBody>
          <a:bodyPr/>
          <a:lstStyle>
            <a:lvl1pPr marL="0" indent="0">
              <a:buNone/>
              <a:defRPr sz="1395"/>
            </a:lvl1pPr>
            <a:lvl2pPr marL="455508" indent="0">
              <a:buNone/>
              <a:defRPr sz="1196"/>
            </a:lvl2pPr>
            <a:lvl3pPr marL="911017" indent="0">
              <a:buNone/>
              <a:defRPr sz="996"/>
            </a:lvl3pPr>
            <a:lvl4pPr marL="1366525" indent="0">
              <a:buNone/>
              <a:defRPr sz="897"/>
            </a:lvl4pPr>
            <a:lvl5pPr marL="1822033" indent="0">
              <a:buNone/>
              <a:defRPr sz="897"/>
            </a:lvl5pPr>
            <a:lvl6pPr marL="2277542" indent="0">
              <a:buNone/>
              <a:defRPr sz="897"/>
            </a:lvl6pPr>
            <a:lvl7pPr marL="2733050" indent="0">
              <a:buNone/>
              <a:defRPr sz="897"/>
            </a:lvl7pPr>
            <a:lvl8pPr marL="3188559" indent="0">
              <a:buNone/>
              <a:defRPr sz="897"/>
            </a:lvl8pPr>
            <a:lvl9pPr marL="3644067" indent="0">
              <a:buNone/>
              <a:defRPr sz="897"/>
            </a:lvl9pPr>
          </a:lstStyle>
          <a:p>
            <a:pPr lvl="0"/>
            <a:r>
              <a:rPr lang="en-US"/>
              <a:t>Click to edit Master text styles</a:t>
            </a:r>
          </a:p>
        </p:txBody>
      </p:sp>
      <p:sp>
        <p:nvSpPr>
          <p:cNvPr id="5" name="Date Placeholder 4"/>
          <p:cNvSpPr>
            <a:spLocks noGrp="1"/>
          </p:cNvSpPr>
          <p:nvPr>
            <p:ph type="dt" sz="half" idx="10"/>
          </p:nvPr>
        </p:nvSpPr>
        <p:spPr>
          <a:xfrm>
            <a:off x="455930" y="6332808"/>
            <a:ext cx="2127673" cy="363773"/>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18485495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7309" y="4782820"/>
            <a:ext cx="5471160" cy="564639"/>
          </a:xfrm>
        </p:spPr>
        <p:txBody>
          <a:bodyPr anchor="b"/>
          <a:lstStyle>
            <a:lvl1pPr algn="l">
              <a:defRPr sz="1993" b="1"/>
            </a:lvl1pPr>
          </a:lstStyle>
          <a:p>
            <a:r>
              <a:rPr lang="en-US"/>
              <a:t>Click to edit Master title style</a:t>
            </a:r>
          </a:p>
        </p:txBody>
      </p:sp>
      <p:sp>
        <p:nvSpPr>
          <p:cNvPr id="3" name="Picture Placeholder 2"/>
          <p:cNvSpPr>
            <a:spLocks noGrp="1"/>
          </p:cNvSpPr>
          <p:nvPr>
            <p:ph type="pic" idx="1"/>
          </p:nvPr>
        </p:nvSpPr>
        <p:spPr>
          <a:xfrm>
            <a:off x="1787309" y="610505"/>
            <a:ext cx="5471160" cy="4099560"/>
          </a:xfrm>
        </p:spPr>
        <p:txBody>
          <a:bodyPr/>
          <a:lstStyle>
            <a:lvl1pPr marL="0" indent="0">
              <a:buNone/>
              <a:defRPr sz="3188"/>
            </a:lvl1pPr>
            <a:lvl2pPr marL="455508" indent="0">
              <a:buNone/>
              <a:defRPr sz="2790"/>
            </a:lvl2pPr>
            <a:lvl3pPr marL="911017" indent="0">
              <a:buNone/>
              <a:defRPr sz="2391"/>
            </a:lvl3pPr>
            <a:lvl4pPr marL="1366525" indent="0">
              <a:buNone/>
              <a:defRPr sz="1993"/>
            </a:lvl4pPr>
            <a:lvl5pPr marL="1822033" indent="0">
              <a:buNone/>
              <a:defRPr sz="1993"/>
            </a:lvl5pPr>
            <a:lvl6pPr marL="2277542" indent="0">
              <a:buNone/>
              <a:defRPr sz="1993"/>
            </a:lvl6pPr>
            <a:lvl7pPr marL="2733050" indent="0">
              <a:buNone/>
              <a:defRPr sz="1993"/>
            </a:lvl7pPr>
            <a:lvl8pPr marL="3188559" indent="0">
              <a:buNone/>
              <a:defRPr sz="1993"/>
            </a:lvl8pPr>
            <a:lvl9pPr marL="3644067" indent="0">
              <a:buNone/>
              <a:defRPr sz="1993"/>
            </a:lvl9pPr>
          </a:lstStyle>
          <a:p>
            <a:endParaRPr lang="en-US"/>
          </a:p>
        </p:txBody>
      </p:sp>
      <p:sp>
        <p:nvSpPr>
          <p:cNvPr id="4" name="Text Placeholder 3"/>
          <p:cNvSpPr>
            <a:spLocks noGrp="1"/>
          </p:cNvSpPr>
          <p:nvPr>
            <p:ph type="body" sz="half" idx="2"/>
          </p:nvPr>
        </p:nvSpPr>
        <p:spPr>
          <a:xfrm>
            <a:off x="1787309" y="5347459"/>
            <a:ext cx="5471160" cy="801881"/>
          </a:xfrm>
        </p:spPr>
        <p:txBody>
          <a:bodyPr/>
          <a:lstStyle>
            <a:lvl1pPr marL="0" indent="0">
              <a:buNone/>
              <a:defRPr sz="1395"/>
            </a:lvl1pPr>
            <a:lvl2pPr marL="455508" indent="0">
              <a:buNone/>
              <a:defRPr sz="1196"/>
            </a:lvl2pPr>
            <a:lvl3pPr marL="911017" indent="0">
              <a:buNone/>
              <a:defRPr sz="996"/>
            </a:lvl3pPr>
            <a:lvl4pPr marL="1366525" indent="0">
              <a:buNone/>
              <a:defRPr sz="897"/>
            </a:lvl4pPr>
            <a:lvl5pPr marL="1822033" indent="0">
              <a:buNone/>
              <a:defRPr sz="897"/>
            </a:lvl5pPr>
            <a:lvl6pPr marL="2277542" indent="0">
              <a:buNone/>
              <a:defRPr sz="897"/>
            </a:lvl6pPr>
            <a:lvl7pPr marL="2733050" indent="0">
              <a:buNone/>
              <a:defRPr sz="897"/>
            </a:lvl7pPr>
            <a:lvl8pPr marL="3188559" indent="0">
              <a:buNone/>
              <a:defRPr sz="897"/>
            </a:lvl8pPr>
            <a:lvl9pPr marL="3644067" indent="0">
              <a:buNone/>
              <a:defRPr sz="897"/>
            </a:lvl9pPr>
          </a:lstStyle>
          <a:p>
            <a:pPr lvl="0"/>
            <a:r>
              <a:rPr lang="en-US"/>
              <a:t>Click to edit Master text styles</a:t>
            </a:r>
          </a:p>
        </p:txBody>
      </p:sp>
      <p:sp>
        <p:nvSpPr>
          <p:cNvPr id="5" name="Date Placeholder 4"/>
          <p:cNvSpPr>
            <a:spLocks noGrp="1"/>
          </p:cNvSpPr>
          <p:nvPr>
            <p:ph type="dt" sz="half" idx="10"/>
          </p:nvPr>
        </p:nvSpPr>
        <p:spPr>
          <a:xfrm>
            <a:off x="455930" y="6332808"/>
            <a:ext cx="2127673" cy="363773"/>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1371355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5930" y="6332808"/>
            <a:ext cx="2127673" cy="363773"/>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424758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985" y="273621"/>
            <a:ext cx="2051685"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930" y="273621"/>
            <a:ext cx="600307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5930" y="6332808"/>
            <a:ext cx="2127673" cy="363773"/>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34997" y="6332808"/>
            <a:ext cx="2127673" cy="363773"/>
          </a:xfrm>
          <a:prstGeom prst="rect">
            <a:avLst/>
          </a:prstGeom>
        </p:spPr>
        <p:txBody>
          <a:bodyPr/>
          <a:lstStyle/>
          <a:p>
            <a:fld id="{A96FCAC1-F539-4436-A8D9-9E19D1673FCA}" type="slidenum">
              <a:rPr lang="en-US" smtClean="0"/>
              <a:pPr/>
              <a:t>‹#›</a:t>
            </a:fld>
            <a:endParaRPr lang="en-US"/>
          </a:p>
        </p:txBody>
      </p:sp>
    </p:spTree>
    <p:extLst>
      <p:ext uri="{BB962C8B-B14F-4D97-AF65-F5344CB8AC3E}">
        <p14:creationId xmlns:p14="http://schemas.microsoft.com/office/powerpoint/2010/main" val="812929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0" y="0"/>
            <a:ext cx="115930" cy="114553"/>
          </a:xfrm>
          <a:prstGeom prst="rect">
            <a:avLst/>
          </a:prstGeom>
        </p:spPr>
      </p:pic>
      <p:sp>
        <p:nvSpPr>
          <p:cNvPr id="2" name="Holder 2"/>
          <p:cNvSpPr>
            <a:spLocks noGrp="1"/>
          </p:cNvSpPr>
          <p:nvPr>
            <p:ph type="title"/>
          </p:nvPr>
        </p:nvSpPr>
        <p:spPr>
          <a:xfrm>
            <a:off x="3832605" y="459994"/>
            <a:ext cx="4255134" cy="391159"/>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796025" y="1175512"/>
            <a:ext cx="4965700" cy="1515110"/>
          </a:xfrm>
          <a:prstGeom prst="rect">
            <a:avLst/>
          </a:prstGeom>
        </p:spPr>
        <p:txBody>
          <a:bodyPr wrap="square" lIns="0" tIns="0" rIns="0" bIns="0">
            <a:spAutoFit/>
          </a:bodyPr>
          <a:lstStyle>
            <a:lvl1pPr>
              <a:defRPr sz="1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0324" y="6354318"/>
            <a:ext cx="2917952" cy="34163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5930" y="6354318"/>
            <a:ext cx="2097278" cy="34163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6" name="Holder 6"/>
          <p:cNvSpPr>
            <a:spLocks noGrp="1"/>
          </p:cNvSpPr>
          <p:nvPr>
            <p:ph type="sldNum" sz="quarter" idx="7"/>
          </p:nvPr>
        </p:nvSpPr>
        <p:spPr>
          <a:xfrm>
            <a:off x="6565392" y="6354318"/>
            <a:ext cx="2097278" cy="34163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5918"/>
            <a:ext cx="9118600" cy="68326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1977" y="986932"/>
            <a:ext cx="8814647" cy="49647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115522" y="6332808"/>
            <a:ext cx="2887557" cy="363773"/>
          </a:xfrm>
          <a:prstGeom prst="rect">
            <a:avLst/>
          </a:prstGeom>
        </p:spPr>
        <p:txBody>
          <a:bodyPr vert="horz" lIns="91440" tIns="45720" rIns="91440" bIns="45720" rtlCol="0" anchor="ctr"/>
          <a:lstStyle>
            <a:lvl1pPr algn="ctr">
              <a:defRPr sz="1196">
                <a:solidFill>
                  <a:schemeClr val="tx1">
                    <a:tint val="75000"/>
                  </a:schemeClr>
                </a:solidFill>
              </a:defRPr>
            </a:lvl1pPr>
          </a:lstStyle>
          <a:p>
            <a:endParaRPr lang="en-US"/>
          </a:p>
        </p:txBody>
      </p:sp>
      <p:pic>
        <p:nvPicPr>
          <p:cNvPr id="8" name="Picture 7" descr="RETHINK.png"/>
          <p:cNvPicPr>
            <a:picLocks noChangeAspect="1"/>
          </p:cNvPicPr>
          <p:nvPr/>
        </p:nvPicPr>
        <p:blipFill>
          <a:blip r:embed="rId13" cstate="print"/>
          <a:stretch>
            <a:fillRect/>
          </a:stretch>
        </p:blipFill>
        <p:spPr>
          <a:xfrm>
            <a:off x="75988" y="6337093"/>
            <a:ext cx="2887558" cy="454984"/>
          </a:xfrm>
          <a:prstGeom prst="rect">
            <a:avLst/>
          </a:prstGeom>
        </p:spPr>
      </p:pic>
      <p:pic>
        <p:nvPicPr>
          <p:cNvPr id="9" name="Picture 8" descr="BC logo 2014.png"/>
          <p:cNvPicPr>
            <a:picLocks noChangeAspect="1"/>
          </p:cNvPicPr>
          <p:nvPr/>
        </p:nvPicPr>
        <p:blipFill>
          <a:blip r:embed="rId14" cstate="print"/>
          <a:stretch>
            <a:fillRect/>
          </a:stretch>
        </p:blipFill>
        <p:spPr>
          <a:xfrm>
            <a:off x="6914939" y="6241493"/>
            <a:ext cx="2018078" cy="591108"/>
          </a:xfrm>
          <a:prstGeom prst="rect">
            <a:avLst/>
          </a:prstGeom>
        </p:spPr>
      </p:pic>
    </p:spTree>
    <p:extLst>
      <p:ext uri="{BB962C8B-B14F-4D97-AF65-F5344CB8AC3E}">
        <p14:creationId xmlns:p14="http://schemas.microsoft.com/office/powerpoint/2010/main" val="307163215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ftr="0" dt="0"/>
  <p:txStyles>
    <p:titleStyle>
      <a:lvl1pPr algn="l" defTabSz="911017" rtl="0" eaLnBrk="1" latinLnBrk="0" hangingPunct="1">
        <a:spcBef>
          <a:spcPct val="0"/>
        </a:spcBef>
        <a:buNone/>
        <a:defRPr sz="3587" kern="1200">
          <a:solidFill>
            <a:schemeClr val="tx1"/>
          </a:solidFill>
          <a:latin typeface="+mj-lt"/>
          <a:ea typeface="+mj-ea"/>
          <a:cs typeface="+mj-cs"/>
        </a:defRPr>
      </a:lvl1pPr>
    </p:titleStyle>
    <p:bodyStyle>
      <a:lvl1pPr marL="341631" indent="-341631" algn="l" defTabSz="911017" rtl="0" eaLnBrk="1" latinLnBrk="0" hangingPunct="1">
        <a:spcBef>
          <a:spcPct val="20000"/>
        </a:spcBef>
        <a:buFont typeface="Arial" pitchFamily="34" charset="0"/>
        <a:buChar char="•"/>
        <a:defRPr sz="3188" kern="1200">
          <a:solidFill>
            <a:schemeClr val="tx1"/>
          </a:solidFill>
          <a:latin typeface="+mn-lt"/>
          <a:ea typeface="+mn-ea"/>
          <a:cs typeface="+mn-cs"/>
        </a:defRPr>
      </a:lvl1pPr>
      <a:lvl2pPr marL="740201" indent="-284693" algn="l" defTabSz="911017" rtl="0" eaLnBrk="1" latinLnBrk="0" hangingPunct="1">
        <a:spcBef>
          <a:spcPct val="20000"/>
        </a:spcBef>
        <a:buFont typeface="Arial" pitchFamily="34" charset="0"/>
        <a:buChar char="–"/>
        <a:defRPr sz="2790" kern="1200">
          <a:solidFill>
            <a:schemeClr val="tx1"/>
          </a:solidFill>
          <a:latin typeface="+mn-lt"/>
          <a:ea typeface="+mn-ea"/>
          <a:cs typeface="+mn-cs"/>
        </a:defRPr>
      </a:lvl2pPr>
      <a:lvl3pPr marL="1138771" indent="-227754" algn="l" defTabSz="911017" rtl="0" eaLnBrk="1" latinLnBrk="0" hangingPunct="1">
        <a:spcBef>
          <a:spcPct val="20000"/>
        </a:spcBef>
        <a:buFont typeface="Arial" pitchFamily="34" charset="0"/>
        <a:buChar char="•"/>
        <a:defRPr sz="2391" kern="1200">
          <a:solidFill>
            <a:schemeClr val="tx1"/>
          </a:solidFill>
          <a:latin typeface="+mn-lt"/>
          <a:ea typeface="+mn-ea"/>
          <a:cs typeface="+mn-cs"/>
        </a:defRPr>
      </a:lvl3pPr>
      <a:lvl4pPr marL="1594279" indent="-227754" algn="l" defTabSz="911017" rtl="0" eaLnBrk="1" latinLnBrk="0" hangingPunct="1">
        <a:spcBef>
          <a:spcPct val="20000"/>
        </a:spcBef>
        <a:buFont typeface="Arial" pitchFamily="34" charset="0"/>
        <a:buChar char="–"/>
        <a:defRPr sz="1993" kern="1200">
          <a:solidFill>
            <a:schemeClr val="tx1"/>
          </a:solidFill>
          <a:latin typeface="+mn-lt"/>
          <a:ea typeface="+mn-ea"/>
          <a:cs typeface="+mn-cs"/>
        </a:defRPr>
      </a:lvl4pPr>
      <a:lvl5pPr marL="2049788" indent="-227754" algn="l" defTabSz="911017" rtl="0" eaLnBrk="1" latinLnBrk="0" hangingPunct="1">
        <a:spcBef>
          <a:spcPct val="20000"/>
        </a:spcBef>
        <a:buFont typeface="Arial" pitchFamily="34" charset="0"/>
        <a:buChar char="»"/>
        <a:defRPr sz="1993" kern="1200">
          <a:solidFill>
            <a:schemeClr val="tx1"/>
          </a:solidFill>
          <a:latin typeface="+mn-lt"/>
          <a:ea typeface="+mn-ea"/>
          <a:cs typeface="+mn-cs"/>
        </a:defRPr>
      </a:lvl5pPr>
      <a:lvl6pPr marL="2505296" indent="-227754" algn="l" defTabSz="911017" rtl="0" eaLnBrk="1" latinLnBrk="0" hangingPunct="1">
        <a:spcBef>
          <a:spcPct val="20000"/>
        </a:spcBef>
        <a:buFont typeface="Arial" pitchFamily="34" charset="0"/>
        <a:buChar char="•"/>
        <a:defRPr sz="1993" kern="1200">
          <a:solidFill>
            <a:schemeClr val="tx1"/>
          </a:solidFill>
          <a:latin typeface="+mn-lt"/>
          <a:ea typeface="+mn-ea"/>
          <a:cs typeface="+mn-cs"/>
        </a:defRPr>
      </a:lvl6pPr>
      <a:lvl7pPr marL="2960804" indent="-227754" algn="l" defTabSz="911017" rtl="0" eaLnBrk="1" latinLnBrk="0" hangingPunct="1">
        <a:spcBef>
          <a:spcPct val="20000"/>
        </a:spcBef>
        <a:buFont typeface="Arial" pitchFamily="34" charset="0"/>
        <a:buChar char="•"/>
        <a:defRPr sz="1993" kern="1200">
          <a:solidFill>
            <a:schemeClr val="tx1"/>
          </a:solidFill>
          <a:latin typeface="+mn-lt"/>
          <a:ea typeface="+mn-ea"/>
          <a:cs typeface="+mn-cs"/>
        </a:defRPr>
      </a:lvl7pPr>
      <a:lvl8pPr marL="3416313" indent="-227754" algn="l" defTabSz="911017" rtl="0" eaLnBrk="1" latinLnBrk="0" hangingPunct="1">
        <a:spcBef>
          <a:spcPct val="20000"/>
        </a:spcBef>
        <a:buFont typeface="Arial" pitchFamily="34" charset="0"/>
        <a:buChar char="•"/>
        <a:defRPr sz="1993" kern="1200">
          <a:solidFill>
            <a:schemeClr val="tx1"/>
          </a:solidFill>
          <a:latin typeface="+mn-lt"/>
          <a:ea typeface="+mn-ea"/>
          <a:cs typeface="+mn-cs"/>
        </a:defRPr>
      </a:lvl8pPr>
      <a:lvl9pPr marL="3871821" indent="-227754" algn="l" defTabSz="911017" rtl="0" eaLnBrk="1" latinLnBrk="0" hangingPunct="1">
        <a:spcBef>
          <a:spcPct val="20000"/>
        </a:spcBef>
        <a:buFont typeface="Arial" pitchFamily="34" charset="0"/>
        <a:buChar char="•"/>
        <a:defRPr sz="1993" kern="1200">
          <a:solidFill>
            <a:schemeClr val="tx1"/>
          </a:solidFill>
          <a:latin typeface="+mn-lt"/>
          <a:ea typeface="+mn-ea"/>
          <a:cs typeface="+mn-cs"/>
        </a:defRPr>
      </a:lvl9pPr>
    </p:bodyStyle>
    <p:otherStyle>
      <a:defPPr>
        <a:defRPr lang="en-US"/>
      </a:defPPr>
      <a:lvl1pPr marL="0" algn="l" defTabSz="911017" rtl="0" eaLnBrk="1" latinLnBrk="0" hangingPunct="1">
        <a:defRPr sz="1793" kern="1200">
          <a:solidFill>
            <a:schemeClr val="tx1"/>
          </a:solidFill>
          <a:latin typeface="+mn-lt"/>
          <a:ea typeface="+mn-ea"/>
          <a:cs typeface="+mn-cs"/>
        </a:defRPr>
      </a:lvl1pPr>
      <a:lvl2pPr marL="455508" algn="l" defTabSz="911017" rtl="0" eaLnBrk="1" latinLnBrk="0" hangingPunct="1">
        <a:defRPr sz="1793" kern="1200">
          <a:solidFill>
            <a:schemeClr val="tx1"/>
          </a:solidFill>
          <a:latin typeface="+mn-lt"/>
          <a:ea typeface="+mn-ea"/>
          <a:cs typeface="+mn-cs"/>
        </a:defRPr>
      </a:lvl2pPr>
      <a:lvl3pPr marL="911017" algn="l" defTabSz="911017" rtl="0" eaLnBrk="1" latinLnBrk="0" hangingPunct="1">
        <a:defRPr sz="1793" kern="1200">
          <a:solidFill>
            <a:schemeClr val="tx1"/>
          </a:solidFill>
          <a:latin typeface="+mn-lt"/>
          <a:ea typeface="+mn-ea"/>
          <a:cs typeface="+mn-cs"/>
        </a:defRPr>
      </a:lvl3pPr>
      <a:lvl4pPr marL="1366525" algn="l" defTabSz="911017" rtl="0" eaLnBrk="1" latinLnBrk="0" hangingPunct="1">
        <a:defRPr sz="1793" kern="1200">
          <a:solidFill>
            <a:schemeClr val="tx1"/>
          </a:solidFill>
          <a:latin typeface="+mn-lt"/>
          <a:ea typeface="+mn-ea"/>
          <a:cs typeface="+mn-cs"/>
        </a:defRPr>
      </a:lvl4pPr>
      <a:lvl5pPr marL="1822033" algn="l" defTabSz="911017" rtl="0" eaLnBrk="1" latinLnBrk="0" hangingPunct="1">
        <a:defRPr sz="1793" kern="1200">
          <a:solidFill>
            <a:schemeClr val="tx1"/>
          </a:solidFill>
          <a:latin typeface="+mn-lt"/>
          <a:ea typeface="+mn-ea"/>
          <a:cs typeface="+mn-cs"/>
        </a:defRPr>
      </a:lvl5pPr>
      <a:lvl6pPr marL="2277542" algn="l" defTabSz="911017" rtl="0" eaLnBrk="1" latinLnBrk="0" hangingPunct="1">
        <a:defRPr sz="1793" kern="1200">
          <a:solidFill>
            <a:schemeClr val="tx1"/>
          </a:solidFill>
          <a:latin typeface="+mn-lt"/>
          <a:ea typeface="+mn-ea"/>
          <a:cs typeface="+mn-cs"/>
        </a:defRPr>
      </a:lvl6pPr>
      <a:lvl7pPr marL="2733050" algn="l" defTabSz="911017" rtl="0" eaLnBrk="1" latinLnBrk="0" hangingPunct="1">
        <a:defRPr sz="1793" kern="1200">
          <a:solidFill>
            <a:schemeClr val="tx1"/>
          </a:solidFill>
          <a:latin typeface="+mn-lt"/>
          <a:ea typeface="+mn-ea"/>
          <a:cs typeface="+mn-cs"/>
        </a:defRPr>
      </a:lvl7pPr>
      <a:lvl8pPr marL="3188559" algn="l" defTabSz="911017" rtl="0" eaLnBrk="1" latinLnBrk="0" hangingPunct="1">
        <a:defRPr sz="1793" kern="1200">
          <a:solidFill>
            <a:schemeClr val="tx1"/>
          </a:solidFill>
          <a:latin typeface="+mn-lt"/>
          <a:ea typeface="+mn-ea"/>
          <a:cs typeface="+mn-cs"/>
        </a:defRPr>
      </a:lvl8pPr>
      <a:lvl9pPr marL="3644067" algn="l" defTabSz="911017" rtl="0" eaLnBrk="1" latinLnBrk="0" hangingPunct="1">
        <a:defRPr sz="179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6.xml"/><Relationship Id="rId7" Type="http://schemas.openxmlformats.org/officeDocument/2006/relationships/slide" Target="slide1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19.xml"/><Relationship Id="rId11" Type="http://schemas.openxmlformats.org/officeDocument/2006/relationships/slide" Target="slide31.xml"/><Relationship Id="rId5" Type="http://schemas.openxmlformats.org/officeDocument/2006/relationships/slide" Target="slide5.xml"/><Relationship Id="rId10" Type="http://schemas.openxmlformats.org/officeDocument/2006/relationships/slide" Target="slide30.xml"/><Relationship Id="rId4" Type="http://schemas.openxmlformats.org/officeDocument/2006/relationships/slide" Target="slide11.xml"/><Relationship Id="rId9" Type="http://schemas.openxmlformats.org/officeDocument/2006/relationships/slide" Target="slide1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988669" y="6188663"/>
            <a:ext cx="2125698" cy="643937"/>
          </a:xfrm>
          <a:prstGeom prst="rect">
            <a:avLst/>
          </a:prstGeom>
          <a:solidFill>
            <a:schemeClr val="bg1"/>
          </a:solidFill>
        </p:spPr>
        <p:txBody>
          <a:bodyPr wrap="square" rtlCol="0">
            <a:spAutoFit/>
          </a:bodyPr>
          <a:lstStyle/>
          <a:p>
            <a:endParaRPr lang="en-US" dirty="0"/>
          </a:p>
          <a:p>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464403" y="3454259"/>
            <a:ext cx="4649964" cy="3378341"/>
          </a:xfrm>
          <a:prstGeom prst="rect">
            <a:avLst/>
          </a:prstGeom>
        </p:spPr>
      </p:pic>
      <p:sp>
        <p:nvSpPr>
          <p:cNvPr id="5" name="Title 1"/>
          <p:cNvSpPr>
            <a:spLocks noGrp="1"/>
          </p:cNvSpPr>
          <p:nvPr>
            <p:ph type="ctrTitle"/>
          </p:nvPr>
        </p:nvSpPr>
        <p:spPr>
          <a:xfrm>
            <a:off x="687494" y="2122535"/>
            <a:ext cx="7743613" cy="1464580"/>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ctr"/>
            <a:r>
              <a:rPr lang="en-US" sz="4384" b="1" dirty="0">
                <a:solidFill>
                  <a:srgbClr val="0070C0"/>
                </a:solidFill>
                <a:latin typeface="Arial Rounded MT Bold" panose="020F0704030504030204" pitchFamily="34" charset="0"/>
              </a:rPr>
              <a:t>GE MRI </a:t>
            </a:r>
            <a:br>
              <a:rPr lang="en-US" sz="4384" b="1" dirty="0">
                <a:solidFill>
                  <a:srgbClr val="0070C0"/>
                </a:solidFill>
                <a:latin typeface="Arial Rounded MT Bold" panose="020F0704030504030204" pitchFamily="34" charset="0"/>
              </a:rPr>
            </a:br>
            <a:r>
              <a:rPr lang="en-US" sz="4384" b="1" dirty="0">
                <a:solidFill>
                  <a:srgbClr val="0070C0"/>
                </a:solidFill>
                <a:latin typeface="Arial Rounded MT Bold" panose="020F0704030504030204" pitchFamily="34" charset="0"/>
              </a:rPr>
              <a:t>SIGNA EXCITE </a:t>
            </a:r>
            <a:r>
              <a:rPr lang="en-US" sz="4384" b="1" dirty="0" err="1">
                <a:solidFill>
                  <a:srgbClr val="0070C0"/>
                </a:solidFill>
                <a:latin typeface="Arial Rounded MT Bold" panose="020F0704030504030204" pitchFamily="34" charset="0"/>
              </a:rPr>
              <a:t>HDxt</a:t>
            </a:r>
            <a:endParaRPr lang="en-US" sz="4384" b="1" dirty="0">
              <a:solidFill>
                <a:srgbClr val="0070C0"/>
              </a:solidFill>
              <a:latin typeface="Arial Rounded MT Bold" panose="020F0704030504030204" pitchFamily="34" charset="0"/>
            </a:endParaRPr>
          </a:p>
        </p:txBody>
      </p:sp>
    </p:spTree>
    <p:extLst>
      <p:ext uri="{BB962C8B-B14F-4D97-AF65-F5344CB8AC3E}">
        <p14:creationId xmlns:p14="http://schemas.microsoft.com/office/powerpoint/2010/main" val="1250095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lumMod val="75000"/>
                  </a:schemeClr>
                </a:solidFill>
              </a:rPr>
              <a:t>Objectives:</a:t>
            </a:r>
          </a:p>
        </p:txBody>
      </p:sp>
      <p:sp>
        <p:nvSpPr>
          <p:cNvPr id="3" name="Content Placeholder 2"/>
          <p:cNvSpPr>
            <a:spLocks noGrp="1"/>
          </p:cNvSpPr>
          <p:nvPr>
            <p:ph idx="1"/>
          </p:nvPr>
        </p:nvSpPr>
        <p:spPr>
          <a:xfrm>
            <a:off x="156069" y="986932"/>
            <a:ext cx="8806462" cy="1692771"/>
          </a:xfrm>
        </p:spPr>
        <p:txBody>
          <a:bodyPr/>
          <a:lstStyle/>
          <a:p>
            <a:r>
              <a:rPr lang="en-US" sz="2400" dirty="0">
                <a:solidFill>
                  <a:schemeClr val="tx2">
                    <a:lumMod val="60000"/>
                    <a:lumOff val="40000"/>
                  </a:schemeClr>
                </a:solidFill>
              </a:rPr>
              <a:t>Understand the components and differences of the Excite platform</a:t>
            </a:r>
          </a:p>
          <a:p>
            <a:r>
              <a:rPr lang="en-US" sz="2400" dirty="0">
                <a:solidFill>
                  <a:schemeClr val="tx2">
                    <a:lumMod val="60000"/>
                    <a:lumOff val="40000"/>
                  </a:schemeClr>
                </a:solidFill>
              </a:rPr>
              <a:t>Overview of the different subsystems</a:t>
            </a:r>
          </a:p>
          <a:p>
            <a:r>
              <a:rPr lang="en-US" sz="2400" dirty="0">
                <a:solidFill>
                  <a:schemeClr val="tx2">
                    <a:lumMod val="60000"/>
                    <a:lumOff val="40000"/>
                  </a:schemeClr>
                </a:solidFill>
              </a:rPr>
              <a:t>To gain some basic troubleshooting skills and understand most common problems</a:t>
            </a:r>
          </a:p>
          <a:p>
            <a:endParaRPr lang="en-US" dirty="0">
              <a:solidFill>
                <a:schemeClr val="tx2">
                  <a:lumMod val="60000"/>
                  <a:lumOff val="40000"/>
                </a:schemeClr>
              </a:solidFill>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2</a:t>
            </a:fld>
            <a:endParaRPr lang="en-US"/>
          </a:p>
        </p:txBody>
      </p:sp>
    </p:spTree>
    <p:extLst>
      <p:ext uri="{BB962C8B-B14F-4D97-AF65-F5344CB8AC3E}">
        <p14:creationId xmlns:p14="http://schemas.microsoft.com/office/powerpoint/2010/main" val="2972871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215900"/>
            <a:ext cx="4255134" cy="369332"/>
          </a:xfrm>
        </p:spPr>
        <p:txBody>
          <a:bodyPr/>
          <a:lstStyle/>
          <a:p>
            <a:r>
              <a:rPr lang="en-US" dirty="0">
                <a:solidFill>
                  <a:schemeClr val="accent1">
                    <a:lumMod val="75000"/>
                  </a:schemeClr>
                </a:solidFill>
              </a:rPr>
              <a:t>Excite Platform Changes</a:t>
            </a:r>
          </a:p>
        </p:txBody>
      </p:sp>
      <p:sp>
        <p:nvSpPr>
          <p:cNvPr id="3" name="Content Placeholder 2"/>
          <p:cNvSpPr>
            <a:spLocks noGrp="1"/>
          </p:cNvSpPr>
          <p:nvPr>
            <p:ph idx="1"/>
          </p:nvPr>
        </p:nvSpPr>
        <p:spPr>
          <a:xfrm>
            <a:off x="520700" y="829326"/>
            <a:ext cx="7567039" cy="6126988"/>
          </a:xfrm>
        </p:spPr>
        <p:txBody>
          <a:bodyPr>
            <a:noAutofit/>
          </a:bodyPr>
          <a:lstStyle/>
          <a:p>
            <a:r>
              <a:rPr lang="en-US" sz="1793" dirty="0">
                <a:solidFill>
                  <a:schemeClr val="tx2">
                    <a:lumMod val="60000"/>
                    <a:lumOff val="40000"/>
                  </a:schemeClr>
                </a:solidFill>
              </a:rPr>
              <a:t>The Signa family gets a huge redesign</a:t>
            </a:r>
          </a:p>
          <a:p>
            <a:r>
              <a:rPr lang="en-US" sz="1793" dirty="0">
                <a:solidFill>
                  <a:schemeClr val="tx2">
                    <a:lumMod val="60000"/>
                    <a:lumOff val="40000"/>
                  </a:schemeClr>
                </a:solidFill>
              </a:rPr>
              <a:t>First systems start as 10x with an Octanes II but a promise is made to upgrade to HP computers when they are ready. </a:t>
            </a:r>
          </a:p>
          <a:p>
            <a:r>
              <a:rPr lang="en-US" sz="1793" dirty="0">
                <a:solidFill>
                  <a:schemeClr val="tx2">
                    <a:lumMod val="60000"/>
                    <a:lumOff val="40000"/>
                  </a:schemeClr>
                </a:solidFill>
              </a:rPr>
              <a:t>Since there are a few kinks to work out and computers were replaced, system moves to 11x and we cannot find 10x systems nowadays.</a:t>
            </a:r>
          </a:p>
          <a:p>
            <a:r>
              <a:rPr lang="en-US" sz="1793" dirty="0">
                <a:solidFill>
                  <a:schemeClr val="tx2">
                    <a:lumMod val="60000"/>
                    <a:lumOff val="40000"/>
                  </a:schemeClr>
                </a:solidFill>
              </a:rPr>
              <a:t>System starts using HP workstations and Red Hat Linux software</a:t>
            </a:r>
          </a:p>
          <a:p>
            <a:r>
              <a:rPr lang="en-US" sz="1793" dirty="0">
                <a:solidFill>
                  <a:schemeClr val="tx2">
                    <a:lumMod val="60000"/>
                    <a:lumOff val="40000"/>
                  </a:schemeClr>
                </a:solidFill>
              </a:rPr>
              <a:t>8CH coil is introduced</a:t>
            </a:r>
          </a:p>
          <a:p>
            <a:r>
              <a:rPr lang="en-US" sz="1793" dirty="0">
                <a:solidFill>
                  <a:schemeClr val="tx2">
                    <a:lumMod val="60000"/>
                    <a:lumOff val="40000"/>
                  </a:schemeClr>
                </a:solidFill>
              </a:rPr>
              <a:t>Only  ACGD gradient compatible. If you upgrade to excite from an older gradient cabinet it needs to be upgraded.</a:t>
            </a:r>
          </a:p>
          <a:p>
            <a:r>
              <a:rPr lang="en-US" sz="1793" dirty="0">
                <a:solidFill>
                  <a:schemeClr val="tx2">
                    <a:lumMod val="60000"/>
                    <a:lumOff val="40000"/>
                  </a:schemeClr>
                </a:solidFill>
              </a:rPr>
              <a:t>Diagnostics and calibrations start getting attention and they improve.</a:t>
            </a:r>
          </a:p>
          <a:p>
            <a:r>
              <a:rPr lang="en-US" sz="1793" dirty="0">
                <a:solidFill>
                  <a:schemeClr val="tx2">
                    <a:lumMod val="60000"/>
                    <a:lumOff val="40000"/>
                  </a:schemeClr>
                </a:solidFill>
              </a:rPr>
              <a:t>It keeps most of the hardware components from the LX and is mostly the electronics that change.</a:t>
            </a:r>
          </a:p>
          <a:p>
            <a:r>
              <a:rPr lang="en-US" sz="1793" dirty="0">
                <a:solidFill>
                  <a:schemeClr val="tx2">
                    <a:lumMod val="60000"/>
                    <a:lumOff val="40000"/>
                  </a:schemeClr>
                </a:solidFill>
              </a:rPr>
              <a:t>11x Up to 8 channel coils. </a:t>
            </a:r>
          </a:p>
          <a:p>
            <a:r>
              <a:rPr lang="en-US" sz="1793" dirty="0">
                <a:solidFill>
                  <a:schemeClr val="tx2">
                    <a:lumMod val="60000"/>
                    <a:lumOff val="40000"/>
                  </a:schemeClr>
                </a:solidFill>
              </a:rPr>
              <a:t>12x introduces possibility for 16ch coils</a:t>
            </a:r>
          </a:p>
          <a:p>
            <a:r>
              <a:rPr lang="en-US" sz="1793" dirty="0">
                <a:solidFill>
                  <a:schemeClr val="tx2">
                    <a:lumMod val="60000"/>
                    <a:lumOff val="40000"/>
                  </a:schemeClr>
                </a:solidFill>
              </a:rPr>
              <a:t>14x and above capable of 32 channels but only a couple of those were ever built.</a:t>
            </a:r>
          </a:p>
          <a:p>
            <a:r>
              <a:rPr lang="en-US" sz="1793" dirty="0">
                <a:solidFill>
                  <a:schemeClr val="tx2">
                    <a:lumMod val="60000"/>
                    <a:lumOff val="40000"/>
                  </a:schemeClr>
                </a:solidFill>
              </a:rPr>
              <a:t>32 channels started with the Discovery family (room for improvement up to 128 channels)</a:t>
            </a: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3</a:t>
            </a:fld>
            <a:endParaRPr lang="en-US"/>
          </a:p>
        </p:txBody>
      </p:sp>
    </p:spTree>
    <p:extLst>
      <p:ext uri="{BB962C8B-B14F-4D97-AF65-F5344CB8AC3E}">
        <p14:creationId xmlns:p14="http://schemas.microsoft.com/office/powerpoint/2010/main" val="3656432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2605" y="459994"/>
            <a:ext cx="4255134" cy="369332"/>
          </a:xfrm>
        </p:spPr>
        <p:txBody>
          <a:bodyPr/>
          <a:lstStyle/>
          <a:p>
            <a:r>
              <a:rPr lang="en-US" dirty="0">
                <a:solidFill>
                  <a:schemeClr val="accent1">
                    <a:lumMod val="75000"/>
                  </a:schemeClr>
                </a:solidFill>
              </a:rPr>
              <a:t>Typical Room Layout</a:t>
            </a:r>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0915" t="58461" r="20602" b="20366"/>
          <a:stretch/>
        </p:blipFill>
        <p:spPr bwMode="auto">
          <a:xfrm>
            <a:off x="459740" y="2125698"/>
            <a:ext cx="7971367" cy="2338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2037" t="68400" r="23780" b="28117"/>
          <a:stretch/>
        </p:blipFill>
        <p:spPr bwMode="auto">
          <a:xfrm>
            <a:off x="7216423" y="2581205"/>
            <a:ext cx="687726" cy="384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3116862" y="1743299"/>
            <a:ext cx="1134237" cy="275334"/>
          </a:xfrm>
          <a:prstGeom prst="rect">
            <a:avLst/>
          </a:prstGeom>
          <a:noFill/>
        </p:spPr>
        <p:txBody>
          <a:bodyPr wrap="none" rtlCol="0">
            <a:spAutoFit/>
          </a:bodyPr>
          <a:lstStyle/>
          <a:p>
            <a:r>
              <a:rPr lang="en-US" sz="1196" b="1" dirty="0"/>
              <a:t>Patient Table</a:t>
            </a:r>
          </a:p>
        </p:txBody>
      </p:sp>
      <p:sp>
        <p:nvSpPr>
          <p:cNvPr id="9" name="TextBox 8"/>
          <p:cNvSpPr txBox="1"/>
          <p:nvPr/>
        </p:nvSpPr>
        <p:spPr>
          <a:xfrm>
            <a:off x="5371148" y="731646"/>
            <a:ext cx="1158192" cy="275334"/>
          </a:xfrm>
          <a:prstGeom prst="rect">
            <a:avLst/>
          </a:prstGeom>
          <a:noFill/>
        </p:spPr>
        <p:txBody>
          <a:bodyPr wrap="none" rtlCol="0">
            <a:spAutoFit/>
          </a:bodyPr>
          <a:lstStyle/>
          <a:p>
            <a:r>
              <a:rPr lang="en-US" sz="1196" b="1" dirty="0">
                <a:hlinkClick r:id="rId3" action="ppaction://hlinksldjump"/>
              </a:rPr>
              <a:t>Phantom cart</a:t>
            </a:r>
            <a:endParaRPr lang="en-US" sz="1196" b="1" dirty="0"/>
          </a:p>
        </p:txBody>
      </p:sp>
      <p:sp>
        <p:nvSpPr>
          <p:cNvPr id="10" name="TextBox 9"/>
          <p:cNvSpPr txBox="1"/>
          <p:nvPr/>
        </p:nvSpPr>
        <p:spPr>
          <a:xfrm>
            <a:off x="4286378" y="4511104"/>
            <a:ext cx="1244434" cy="275334"/>
          </a:xfrm>
          <a:prstGeom prst="rect">
            <a:avLst/>
          </a:prstGeom>
          <a:noFill/>
        </p:spPr>
        <p:txBody>
          <a:bodyPr wrap="none" rtlCol="0">
            <a:spAutoFit/>
          </a:bodyPr>
          <a:lstStyle/>
          <a:p>
            <a:r>
              <a:rPr lang="en-US" sz="1196" b="1" dirty="0"/>
              <a:t>Patient Blower</a:t>
            </a:r>
          </a:p>
        </p:txBody>
      </p:sp>
      <p:sp>
        <p:nvSpPr>
          <p:cNvPr id="11" name="TextBox 10"/>
          <p:cNvSpPr txBox="1"/>
          <p:nvPr/>
        </p:nvSpPr>
        <p:spPr>
          <a:xfrm>
            <a:off x="4820651" y="1684846"/>
            <a:ext cx="1193328" cy="275334"/>
          </a:xfrm>
          <a:prstGeom prst="rect">
            <a:avLst/>
          </a:prstGeom>
          <a:noFill/>
        </p:spPr>
        <p:txBody>
          <a:bodyPr wrap="none" rtlCol="0">
            <a:spAutoFit/>
          </a:bodyPr>
          <a:lstStyle/>
          <a:p>
            <a:r>
              <a:rPr lang="en-US" sz="1196" b="1" dirty="0"/>
              <a:t>Rear Pedestal</a:t>
            </a:r>
          </a:p>
        </p:txBody>
      </p:sp>
      <p:cxnSp>
        <p:nvCxnSpPr>
          <p:cNvPr id="13" name="Straight Arrow Connector 12"/>
          <p:cNvCxnSpPr>
            <a:stCxn id="10" idx="0"/>
          </p:cNvCxnSpPr>
          <p:nvPr/>
        </p:nvCxnSpPr>
        <p:spPr>
          <a:xfrm flipV="1">
            <a:off x="4908594" y="3711158"/>
            <a:ext cx="1475208" cy="79994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flipV="1">
            <a:off x="7671929" y="4403232"/>
            <a:ext cx="1" cy="79994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613798" y="1960819"/>
            <a:ext cx="0" cy="12584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1" idx="2"/>
          </p:cNvCxnSpPr>
          <p:nvPr/>
        </p:nvCxnSpPr>
        <p:spPr>
          <a:xfrm>
            <a:off x="5417316" y="1960181"/>
            <a:ext cx="660340" cy="140072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241894" y="1031434"/>
            <a:ext cx="717402" cy="275334"/>
          </a:xfrm>
          <a:prstGeom prst="rect">
            <a:avLst/>
          </a:prstGeom>
          <a:noFill/>
        </p:spPr>
        <p:txBody>
          <a:bodyPr wrap="none" rtlCol="0">
            <a:spAutoFit/>
          </a:bodyPr>
          <a:lstStyle/>
          <a:p>
            <a:r>
              <a:rPr lang="en-US" sz="1196" b="1" dirty="0"/>
              <a:t>Magnet</a:t>
            </a:r>
          </a:p>
        </p:txBody>
      </p:sp>
      <p:cxnSp>
        <p:nvCxnSpPr>
          <p:cNvPr id="26" name="Straight Arrow Connector 25"/>
          <p:cNvCxnSpPr>
            <a:stCxn id="25" idx="2"/>
          </p:cNvCxnSpPr>
          <p:nvPr/>
        </p:nvCxnSpPr>
        <p:spPr>
          <a:xfrm>
            <a:off x="4600595" y="1306769"/>
            <a:ext cx="443428" cy="165917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979784" y="1381880"/>
            <a:ext cx="532143" cy="275334"/>
          </a:xfrm>
          <a:prstGeom prst="rect">
            <a:avLst/>
          </a:prstGeom>
          <a:noFill/>
        </p:spPr>
        <p:txBody>
          <a:bodyPr wrap="none" rtlCol="0">
            <a:spAutoFit/>
          </a:bodyPr>
          <a:lstStyle/>
          <a:p>
            <a:r>
              <a:rPr lang="en-US" sz="1196" b="1" dirty="0">
                <a:hlinkClick r:id="rId4" action="ppaction://hlinksldjump"/>
              </a:rPr>
              <a:t>MRU</a:t>
            </a:r>
            <a:endParaRPr lang="en-US" sz="1196" b="1" dirty="0"/>
          </a:p>
        </p:txBody>
      </p:sp>
      <p:cxnSp>
        <p:nvCxnSpPr>
          <p:cNvPr id="29" name="Straight Arrow Connector 28"/>
          <p:cNvCxnSpPr>
            <a:endCxn id="1026" idx="0"/>
          </p:cNvCxnSpPr>
          <p:nvPr/>
        </p:nvCxnSpPr>
        <p:spPr>
          <a:xfrm>
            <a:off x="4232280" y="1629378"/>
            <a:ext cx="213144" cy="4963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988669" y="5174034"/>
            <a:ext cx="1329079" cy="275334"/>
          </a:xfrm>
          <a:prstGeom prst="rect">
            <a:avLst/>
          </a:prstGeom>
          <a:noFill/>
        </p:spPr>
        <p:txBody>
          <a:bodyPr wrap="none" rtlCol="0">
            <a:spAutoFit/>
          </a:bodyPr>
          <a:lstStyle/>
          <a:p>
            <a:r>
              <a:rPr lang="en-US" sz="1196" b="1" dirty="0"/>
              <a:t>Gradient Chiller</a:t>
            </a:r>
          </a:p>
        </p:txBody>
      </p:sp>
      <p:cxnSp>
        <p:nvCxnSpPr>
          <p:cNvPr id="32" name="Straight Arrow Connector 31"/>
          <p:cNvCxnSpPr>
            <a:stCxn id="9" idx="2"/>
          </p:cNvCxnSpPr>
          <p:nvPr/>
        </p:nvCxnSpPr>
        <p:spPr>
          <a:xfrm>
            <a:off x="5950245" y="1006981"/>
            <a:ext cx="381407" cy="148374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446671" y="4665860"/>
            <a:ext cx="784479" cy="275334"/>
          </a:xfrm>
          <a:prstGeom prst="rect">
            <a:avLst/>
          </a:prstGeom>
          <a:noFill/>
        </p:spPr>
        <p:txBody>
          <a:bodyPr wrap="none" rtlCol="0">
            <a:spAutoFit/>
          </a:bodyPr>
          <a:lstStyle/>
          <a:p>
            <a:r>
              <a:rPr lang="en-US" sz="1196" b="1" dirty="0">
                <a:hlinkClick r:id="rId5" action="ppaction://hlinksldjump"/>
              </a:rPr>
              <a:t>Console</a:t>
            </a:r>
            <a:endParaRPr lang="en-US" sz="1196" b="1" dirty="0"/>
          </a:p>
        </p:txBody>
      </p:sp>
      <p:cxnSp>
        <p:nvCxnSpPr>
          <p:cNvPr id="36" name="Straight Arrow Connector 35"/>
          <p:cNvCxnSpPr>
            <a:stCxn id="35" idx="0"/>
          </p:cNvCxnSpPr>
          <p:nvPr/>
        </p:nvCxnSpPr>
        <p:spPr>
          <a:xfrm flipV="1">
            <a:off x="1838911" y="3719972"/>
            <a:ext cx="291020" cy="9458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230264" y="512811"/>
            <a:ext cx="742955" cy="458677"/>
          </a:xfrm>
          <a:prstGeom prst="rect">
            <a:avLst/>
          </a:prstGeom>
          <a:noFill/>
        </p:spPr>
        <p:txBody>
          <a:bodyPr wrap="none" rtlCol="0">
            <a:spAutoFit/>
          </a:bodyPr>
          <a:lstStyle/>
          <a:p>
            <a:r>
              <a:rPr lang="en-US" sz="1196" b="1" dirty="0">
                <a:hlinkClick r:id="rId6" action="ppaction://hlinksldjump"/>
              </a:rPr>
              <a:t>System</a:t>
            </a:r>
          </a:p>
          <a:p>
            <a:r>
              <a:rPr lang="en-US" sz="1196" b="1" dirty="0">
                <a:hlinkClick r:id="rId6" action="ppaction://hlinksldjump"/>
              </a:rPr>
              <a:t>Cabinet</a:t>
            </a:r>
            <a:endParaRPr lang="en-US" sz="1196" b="1" dirty="0"/>
          </a:p>
        </p:txBody>
      </p:sp>
      <p:cxnSp>
        <p:nvCxnSpPr>
          <p:cNvPr id="39" name="Straight Arrow Connector 38"/>
          <p:cNvCxnSpPr>
            <a:stCxn id="38" idx="2"/>
          </p:cNvCxnSpPr>
          <p:nvPr/>
        </p:nvCxnSpPr>
        <p:spPr>
          <a:xfrm>
            <a:off x="7601742" y="971488"/>
            <a:ext cx="80044" cy="18020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41" idx="0"/>
          </p:cNvCxnSpPr>
          <p:nvPr/>
        </p:nvCxnSpPr>
        <p:spPr>
          <a:xfrm flipV="1">
            <a:off x="6871620" y="3787049"/>
            <a:ext cx="291356" cy="10481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331652" y="4835214"/>
            <a:ext cx="1079936" cy="275334"/>
          </a:xfrm>
          <a:prstGeom prst="rect">
            <a:avLst/>
          </a:prstGeom>
          <a:noFill/>
        </p:spPr>
        <p:txBody>
          <a:bodyPr wrap="none" rtlCol="0">
            <a:spAutoFit/>
          </a:bodyPr>
          <a:lstStyle/>
          <a:p>
            <a:r>
              <a:rPr lang="en-US" sz="1196" b="1" dirty="0"/>
              <a:t>Compressor</a:t>
            </a:r>
          </a:p>
        </p:txBody>
      </p:sp>
      <p:sp>
        <p:nvSpPr>
          <p:cNvPr id="46" name="TextBox 45"/>
          <p:cNvSpPr txBox="1"/>
          <p:nvPr/>
        </p:nvSpPr>
        <p:spPr>
          <a:xfrm>
            <a:off x="5139378" y="5232242"/>
            <a:ext cx="1022442" cy="458677"/>
          </a:xfrm>
          <a:prstGeom prst="rect">
            <a:avLst/>
          </a:prstGeom>
          <a:noFill/>
        </p:spPr>
        <p:txBody>
          <a:bodyPr wrap="none" rtlCol="0">
            <a:spAutoFit/>
          </a:bodyPr>
          <a:lstStyle/>
          <a:p>
            <a:r>
              <a:rPr lang="en-US" sz="1196" b="1" dirty="0"/>
              <a:t>Penetration</a:t>
            </a:r>
          </a:p>
          <a:p>
            <a:r>
              <a:rPr lang="en-US" sz="1196" b="1" dirty="0"/>
              <a:t>Panel</a:t>
            </a:r>
          </a:p>
        </p:txBody>
      </p:sp>
      <p:cxnSp>
        <p:nvCxnSpPr>
          <p:cNvPr id="47" name="Straight Arrow Connector 46"/>
          <p:cNvCxnSpPr>
            <a:stCxn id="46" idx="0"/>
          </p:cNvCxnSpPr>
          <p:nvPr/>
        </p:nvCxnSpPr>
        <p:spPr>
          <a:xfrm flipV="1">
            <a:off x="5650599" y="4023643"/>
            <a:ext cx="1034399" cy="120859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760771" y="4573226"/>
            <a:ext cx="1194925" cy="458677"/>
          </a:xfrm>
          <a:prstGeom prst="rect">
            <a:avLst/>
          </a:prstGeom>
          <a:noFill/>
        </p:spPr>
        <p:txBody>
          <a:bodyPr wrap="none" rtlCol="0">
            <a:spAutoFit/>
          </a:bodyPr>
          <a:lstStyle/>
          <a:p>
            <a:r>
              <a:rPr lang="en-US" sz="1196" b="1" dirty="0">
                <a:hlinkClick r:id="rId4" action="ppaction://hlinksldjump"/>
              </a:rPr>
              <a:t>Gradient</a:t>
            </a:r>
          </a:p>
          <a:p>
            <a:r>
              <a:rPr lang="en-US" sz="1196" b="1" dirty="0">
                <a:hlinkClick r:id="rId4" action="ppaction://hlinksldjump"/>
              </a:rPr>
              <a:t>Cabinet</a:t>
            </a:r>
            <a:r>
              <a:rPr lang="en-US" sz="1196" b="1" dirty="0"/>
              <a:t> / </a:t>
            </a:r>
            <a:r>
              <a:rPr lang="en-US" sz="1196" b="1" dirty="0">
                <a:hlinkClick r:id="rId7" action="ppaction://hlinksldjump"/>
              </a:rPr>
              <a:t>PDU</a:t>
            </a:r>
            <a:endParaRPr lang="en-US" sz="1196" b="1" dirty="0"/>
          </a:p>
        </p:txBody>
      </p:sp>
      <p:cxnSp>
        <p:nvCxnSpPr>
          <p:cNvPr id="52" name="Straight Arrow Connector 51"/>
          <p:cNvCxnSpPr/>
          <p:nvPr/>
        </p:nvCxnSpPr>
        <p:spPr>
          <a:xfrm flipH="1">
            <a:off x="7628209" y="1676288"/>
            <a:ext cx="834304" cy="142778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8030058" y="1420535"/>
            <a:ext cx="988903" cy="275334"/>
          </a:xfrm>
          <a:prstGeom prst="rect">
            <a:avLst/>
          </a:prstGeom>
          <a:noFill/>
        </p:spPr>
        <p:txBody>
          <a:bodyPr wrap="none" rtlCol="0">
            <a:spAutoFit/>
          </a:bodyPr>
          <a:lstStyle/>
          <a:p>
            <a:r>
              <a:rPr lang="en-US" sz="1196" b="1" dirty="0">
                <a:hlinkClick r:id="rId8" action="ppaction://hlinksldjump"/>
              </a:rPr>
              <a:t>RF Cabinet</a:t>
            </a:r>
            <a:endParaRPr lang="en-US" sz="1196" b="1" dirty="0"/>
          </a:p>
        </p:txBody>
      </p:sp>
      <p:cxnSp>
        <p:nvCxnSpPr>
          <p:cNvPr id="57" name="Straight Arrow Connector 56"/>
          <p:cNvCxnSpPr/>
          <p:nvPr/>
        </p:nvCxnSpPr>
        <p:spPr>
          <a:xfrm flipH="1" flipV="1">
            <a:off x="7634537" y="3451463"/>
            <a:ext cx="477273" cy="114436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8462444" y="3276037"/>
            <a:ext cx="530546" cy="275973"/>
          </a:xfrm>
          <a:prstGeom prst="rect">
            <a:avLst/>
          </a:prstGeom>
          <a:noFill/>
        </p:spPr>
        <p:txBody>
          <a:bodyPr wrap="none" rtlCol="0">
            <a:spAutoFit/>
          </a:bodyPr>
          <a:lstStyle/>
          <a:p>
            <a:r>
              <a:rPr lang="en-US" sz="1196" b="1" dirty="0"/>
              <a:t>MM3</a:t>
            </a:r>
          </a:p>
        </p:txBody>
      </p:sp>
      <p:cxnSp>
        <p:nvCxnSpPr>
          <p:cNvPr id="60" name="Straight Arrow Connector 59"/>
          <p:cNvCxnSpPr/>
          <p:nvPr/>
        </p:nvCxnSpPr>
        <p:spPr>
          <a:xfrm flipH="1">
            <a:off x="8305019" y="3568136"/>
            <a:ext cx="333291" cy="2099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6240871" y="1576261"/>
            <a:ext cx="634355" cy="275334"/>
          </a:xfrm>
          <a:prstGeom prst="rect">
            <a:avLst/>
          </a:prstGeom>
          <a:noFill/>
        </p:spPr>
        <p:txBody>
          <a:bodyPr wrap="none" rtlCol="0">
            <a:spAutoFit/>
          </a:bodyPr>
          <a:lstStyle/>
          <a:p>
            <a:r>
              <a:rPr lang="en-US" sz="1196" b="1" dirty="0">
                <a:hlinkClick r:id="rId9" action="ppaction://hlinksldjump"/>
              </a:rPr>
              <a:t>MDCP</a:t>
            </a:r>
            <a:endParaRPr lang="en-US" sz="1196" b="1" dirty="0"/>
          </a:p>
        </p:txBody>
      </p:sp>
      <p:sp>
        <p:nvSpPr>
          <p:cNvPr id="69" name="TextBox 68"/>
          <p:cNvSpPr txBox="1"/>
          <p:nvPr/>
        </p:nvSpPr>
        <p:spPr>
          <a:xfrm>
            <a:off x="6862047" y="1735184"/>
            <a:ext cx="802047" cy="275334"/>
          </a:xfrm>
          <a:prstGeom prst="rect">
            <a:avLst/>
          </a:prstGeom>
          <a:noFill/>
        </p:spPr>
        <p:txBody>
          <a:bodyPr wrap="none" rtlCol="0">
            <a:spAutoFit/>
          </a:bodyPr>
          <a:lstStyle/>
          <a:p>
            <a:r>
              <a:rPr lang="en-US" sz="1196" b="1" dirty="0"/>
              <a:t>Coldtrac</a:t>
            </a:r>
          </a:p>
        </p:txBody>
      </p:sp>
      <p:cxnSp>
        <p:nvCxnSpPr>
          <p:cNvPr id="70" name="Straight Arrow Connector 69"/>
          <p:cNvCxnSpPr>
            <a:stCxn id="68" idx="2"/>
          </p:cNvCxnSpPr>
          <p:nvPr/>
        </p:nvCxnSpPr>
        <p:spPr>
          <a:xfrm>
            <a:off x="6558049" y="1851595"/>
            <a:ext cx="221910" cy="57777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6" name="Curved Connector 1045"/>
          <p:cNvCxnSpPr/>
          <p:nvPr/>
        </p:nvCxnSpPr>
        <p:spPr>
          <a:xfrm rot="5400000">
            <a:off x="6543082" y="2197697"/>
            <a:ext cx="924059" cy="450305"/>
          </a:xfrm>
          <a:prstGeom prst="curvedConnector3">
            <a:avLst>
              <a:gd name="adj1" fmla="val 50000"/>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730305" y="4665860"/>
            <a:ext cx="1868887" cy="458677"/>
          </a:xfrm>
          <a:prstGeom prst="rect">
            <a:avLst/>
          </a:prstGeom>
          <a:noFill/>
        </p:spPr>
        <p:txBody>
          <a:bodyPr wrap="none" rtlCol="0">
            <a:spAutoFit/>
          </a:bodyPr>
          <a:lstStyle/>
          <a:p>
            <a:pPr algn="ctr"/>
            <a:r>
              <a:rPr lang="en-US" sz="1196" b="1" dirty="0">
                <a:hlinkClick r:id="rId10" action="ppaction://hlinksldjump"/>
              </a:rPr>
              <a:t>SRI</a:t>
            </a:r>
            <a:r>
              <a:rPr lang="en-US" sz="1196" b="1" dirty="0"/>
              <a:t>  </a:t>
            </a:r>
            <a:r>
              <a:rPr lang="en-US" sz="1196" b="1" dirty="0">
                <a:hlinkClick r:id="rId11" action="ppaction://hlinksldjump"/>
              </a:rPr>
              <a:t>PAC</a:t>
            </a:r>
            <a:endParaRPr lang="en-US" sz="1196" b="1" dirty="0"/>
          </a:p>
          <a:p>
            <a:pPr algn="ctr"/>
            <a:r>
              <a:rPr lang="en-US" sz="1196" b="1" dirty="0"/>
              <a:t>(On tray under magnet)</a:t>
            </a:r>
          </a:p>
        </p:txBody>
      </p:sp>
      <p:cxnSp>
        <p:nvCxnSpPr>
          <p:cNvPr id="42" name="Straight Arrow Connector 41"/>
          <p:cNvCxnSpPr>
            <a:stCxn id="37" idx="0"/>
          </p:cNvCxnSpPr>
          <p:nvPr/>
        </p:nvCxnSpPr>
        <p:spPr>
          <a:xfrm flipV="1">
            <a:off x="3664749" y="3865914"/>
            <a:ext cx="1474629" cy="79994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4</a:t>
            </a:fld>
            <a:endParaRPr lang="en-US"/>
          </a:p>
        </p:txBody>
      </p:sp>
    </p:spTree>
    <p:extLst>
      <p:ext uri="{BB962C8B-B14F-4D97-AF65-F5344CB8AC3E}">
        <p14:creationId xmlns:p14="http://schemas.microsoft.com/office/powerpoint/2010/main" val="418832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2605" y="459994"/>
            <a:ext cx="4255134" cy="369332"/>
          </a:xfrm>
        </p:spPr>
        <p:txBody>
          <a:bodyPr/>
          <a:lstStyle/>
          <a:p>
            <a:r>
              <a:rPr lang="en-US" dirty="0">
                <a:solidFill>
                  <a:schemeClr val="accent1">
                    <a:lumMod val="75000"/>
                  </a:schemeClr>
                </a:solidFill>
              </a:rPr>
              <a:t>System Picture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7904" y="835096"/>
            <a:ext cx="4099560" cy="3074670"/>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6" name="Slide Number Placeholder 5"/>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5</a:t>
            </a:fld>
            <a:endParaRPr lang="en-US"/>
          </a:p>
        </p:txBody>
      </p:sp>
      <p:pic>
        <p:nvPicPr>
          <p:cNvPr id="5" name="Picture 4" descr="A machine with many wires and a few other objects&#10;&#10;Description automatically generated with medium confidence">
            <a:extLst>
              <a:ext uri="{FF2B5EF4-FFF2-40B4-BE49-F238E27FC236}">
                <a16:creationId xmlns:a16="http://schemas.microsoft.com/office/drawing/2014/main" id="{6FEFB6E5-0483-2EE5-F63A-E0C5286A2A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48251" y="1705956"/>
            <a:ext cx="1905000" cy="4832957"/>
          </a:xfrm>
          <a:prstGeom prst="rect">
            <a:avLst/>
          </a:prstGeom>
        </p:spPr>
      </p:pic>
      <p:pic>
        <p:nvPicPr>
          <p:cNvPr id="8" name="Picture 7" descr="A large computer with many components&#10;&#10;Description automatically generated with medium confidence">
            <a:extLst>
              <a:ext uri="{FF2B5EF4-FFF2-40B4-BE49-F238E27FC236}">
                <a16:creationId xmlns:a16="http://schemas.microsoft.com/office/drawing/2014/main" id="{223FE6EE-A63E-2FE6-951D-CE59932101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5495621" y="3022153"/>
            <a:ext cx="4832958" cy="2133600"/>
          </a:xfrm>
          <a:prstGeom prst="rect">
            <a:avLst/>
          </a:prstGeom>
        </p:spPr>
      </p:pic>
    </p:spTree>
    <p:extLst>
      <p:ext uri="{BB962C8B-B14F-4D97-AF65-F5344CB8AC3E}">
        <p14:creationId xmlns:p14="http://schemas.microsoft.com/office/powerpoint/2010/main" val="841540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2605" y="459994"/>
            <a:ext cx="4255134" cy="369332"/>
          </a:xfrm>
        </p:spPr>
        <p:txBody>
          <a:bodyPr/>
          <a:lstStyle/>
          <a:p>
            <a:r>
              <a:rPr lang="en-US" dirty="0">
                <a:solidFill>
                  <a:schemeClr val="accent1">
                    <a:lumMod val="75000"/>
                  </a:schemeClr>
                </a:solidFill>
              </a:rPr>
              <a:t>Phantom Cart	</a:t>
            </a:r>
          </a:p>
        </p:txBody>
      </p:sp>
      <p:pic>
        <p:nvPicPr>
          <p:cNvPr id="13314" name="Picture 2" descr="C:\Users\BUBA\Google Drive\MR Training\Pictures\Huntley\IMG_2535.JPG"/>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15588" t="20887" r="15468" b="20358"/>
          <a:stretch/>
        </p:blipFill>
        <p:spPr bwMode="auto">
          <a:xfrm rot="5400000">
            <a:off x="2293446" y="1810349"/>
            <a:ext cx="4563829" cy="29169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84998" y="1074474"/>
            <a:ext cx="813043" cy="369332"/>
          </a:xfrm>
          <a:prstGeom prst="rect">
            <a:avLst/>
          </a:prstGeom>
          <a:noFill/>
        </p:spPr>
        <p:txBody>
          <a:bodyPr wrap="none" rtlCol="0">
            <a:spAutoFit/>
          </a:bodyPr>
          <a:lstStyle/>
          <a:p>
            <a:r>
              <a:rPr lang="en-US" dirty="0"/>
              <a:t>CART</a:t>
            </a:r>
          </a:p>
        </p:txBody>
      </p:sp>
      <p:cxnSp>
        <p:nvCxnSpPr>
          <p:cNvPr id="6" name="Straight Arrow Connector 5"/>
          <p:cNvCxnSpPr>
            <a:stCxn id="4" idx="1"/>
          </p:cNvCxnSpPr>
          <p:nvPr/>
        </p:nvCxnSpPr>
        <p:spPr>
          <a:xfrm flipH="1" flipV="1">
            <a:off x="5773985" y="1258456"/>
            <a:ext cx="911013" cy="68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67082" y="3886407"/>
            <a:ext cx="1787669" cy="646331"/>
          </a:xfrm>
          <a:prstGeom prst="rect">
            <a:avLst/>
          </a:prstGeom>
          <a:noFill/>
        </p:spPr>
        <p:txBody>
          <a:bodyPr wrap="none" rtlCol="0">
            <a:spAutoFit/>
          </a:bodyPr>
          <a:lstStyle/>
          <a:p>
            <a:r>
              <a:rPr lang="en-US" dirty="0"/>
              <a:t>- Head Loader</a:t>
            </a:r>
          </a:p>
          <a:p>
            <a:r>
              <a:rPr lang="en-US" dirty="0"/>
              <a:t>- DQA phantom</a:t>
            </a:r>
          </a:p>
        </p:txBody>
      </p:sp>
      <p:cxnSp>
        <p:nvCxnSpPr>
          <p:cNvPr id="9" name="Straight Arrow Connector 8"/>
          <p:cNvCxnSpPr>
            <a:stCxn id="8" idx="3"/>
          </p:cNvCxnSpPr>
          <p:nvPr/>
        </p:nvCxnSpPr>
        <p:spPr>
          <a:xfrm flipV="1">
            <a:off x="2854751" y="4070390"/>
            <a:ext cx="720457" cy="13918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83938" y="3871807"/>
            <a:ext cx="1492716" cy="369332"/>
          </a:xfrm>
          <a:prstGeom prst="rect">
            <a:avLst/>
          </a:prstGeom>
          <a:noFill/>
        </p:spPr>
        <p:txBody>
          <a:bodyPr wrap="none" rtlCol="0">
            <a:spAutoFit/>
          </a:bodyPr>
          <a:lstStyle/>
          <a:p>
            <a:r>
              <a:rPr lang="en-US" dirty="0"/>
              <a:t>Body Loader</a:t>
            </a:r>
          </a:p>
        </p:txBody>
      </p:sp>
      <p:cxnSp>
        <p:nvCxnSpPr>
          <p:cNvPr id="11" name="Straight Arrow Connector 10"/>
          <p:cNvCxnSpPr>
            <a:stCxn id="10" idx="1"/>
          </p:cNvCxnSpPr>
          <p:nvPr/>
        </p:nvCxnSpPr>
        <p:spPr>
          <a:xfrm flipH="1" flipV="1">
            <a:off x="5372925" y="4055789"/>
            <a:ext cx="911013" cy="68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35658" y="1897945"/>
            <a:ext cx="1973862" cy="1477328"/>
          </a:xfrm>
          <a:prstGeom prst="rect">
            <a:avLst/>
          </a:prstGeom>
          <a:noFill/>
          <a:ln>
            <a:solidFill>
              <a:schemeClr val="tx1"/>
            </a:solidFill>
          </a:ln>
        </p:spPr>
        <p:txBody>
          <a:bodyPr wrap="square" rtlCol="0">
            <a:spAutoFit/>
          </a:bodyPr>
          <a:lstStyle/>
          <a:p>
            <a:r>
              <a:rPr lang="en-US" dirty="0"/>
              <a:t>Other items:</a:t>
            </a:r>
          </a:p>
          <a:p>
            <a:r>
              <a:rPr lang="en-US" dirty="0"/>
              <a:t>- EPT Phantoms</a:t>
            </a:r>
          </a:p>
          <a:p>
            <a:r>
              <a:rPr lang="en-US" dirty="0"/>
              <a:t>- </a:t>
            </a:r>
            <a:r>
              <a:rPr lang="en-US" dirty="0" err="1"/>
              <a:t>Grafidy</a:t>
            </a:r>
            <a:r>
              <a:rPr lang="en-US" dirty="0"/>
              <a:t> plate</a:t>
            </a:r>
          </a:p>
          <a:p>
            <a:r>
              <a:rPr lang="en-US" dirty="0"/>
              <a:t>- Other Phantoms</a:t>
            </a: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6</a:t>
            </a:fld>
            <a:endParaRPr lang="en-US"/>
          </a:p>
        </p:txBody>
      </p:sp>
      <mc:AlternateContent xmlns:mc="http://schemas.openxmlformats.org/markup-compatibility/2006" xmlns:p14="http://schemas.microsoft.com/office/powerpoint/2010/main">
        <mc:Choice Requires="p14">
          <p:contentPart p14:bwMode="auto" r:id="rId3">
            <p14:nvContentPartPr>
              <p14:cNvPr id="12" name="Ink 11"/>
              <p14:cNvContentPartPr/>
              <p14:nvPr/>
            </p14:nvContentPartPr>
            <p14:xfrm>
              <a:off x="5142224" y="2558096"/>
              <a:ext cx="1839004" cy="127207"/>
            </p14:xfrm>
          </p:contentPart>
        </mc:Choice>
        <mc:Fallback xmlns="">
          <p:pic>
            <p:nvPicPr>
              <p:cNvPr id="12" name="Ink 11"/>
              <p:cNvPicPr/>
              <p:nvPr/>
            </p:nvPicPr>
            <p:blipFill>
              <a:blip r:embed="rId4"/>
              <a:stretch>
                <a:fillRect/>
              </a:stretch>
            </p:blipFill>
            <p:spPr>
              <a:xfrm>
                <a:off x="5137904" y="2553784"/>
                <a:ext cx="1846925" cy="13511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p14:cNvContentPartPr/>
              <p14:nvPr/>
            </p14:nvContentPartPr>
            <p14:xfrm>
              <a:off x="5106118" y="2506448"/>
              <a:ext cx="249632" cy="143945"/>
            </p14:xfrm>
          </p:contentPart>
        </mc:Choice>
        <mc:Fallback xmlns="">
          <p:pic>
            <p:nvPicPr>
              <p:cNvPr id="14" name="Ink 13"/>
              <p:cNvPicPr/>
              <p:nvPr/>
            </p:nvPicPr>
            <p:blipFill>
              <a:blip r:embed="rId6"/>
              <a:stretch>
                <a:fillRect/>
              </a:stretch>
            </p:blipFill>
            <p:spPr>
              <a:xfrm>
                <a:off x="5101795" y="2502130"/>
                <a:ext cx="257917" cy="151862"/>
              </a:xfrm>
              <a:prstGeom prst="rect">
                <a:avLst/>
              </a:prstGeom>
            </p:spPr>
          </p:pic>
        </mc:Fallback>
      </mc:AlternateContent>
      <p:sp>
        <p:nvSpPr>
          <p:cNvPr id="16" name="TextBox 15"/>
          <p:cNvSpPr txBox="1"/>
          <p:nvPr/>
        </p:nvSpPr>
        <p:spPr>
          <a:xfrm>
            <a:off x="6981228" y="2685304"/>
            <a:ext cx="1107996" cy="646331"/>
          </a:xfrm>
          <a:prstGeom prst="rect">
            <a:avLst/>
          </a:prstGeom>
          <a:noFill/>
        </p:spPr>
        <p:txBody>
          <a:bodyPr wrap="none" rtlCol="0">
            <a:spAutoFit/>
          </a:bodyPr>
          <a:lstStyle/>
          <a:p>
            <a:r>
              <a:rPr lang="en-US" dirty="0" err="1"/>
              <a:t>Lvhim</a:t>
            </a:r>
            <a:endParaRPr lang="en-US" dirty="0"/>
          </a:p>
          <a:p>
            <a:r>
              <a:rPr lang="en-US" dirty="0"/>
              <a:t>Phantom</a:t>
            </a:r>
          </a:p>
        </p:txBody>
      </p:sp>
    </p:spTree>
    <p:extLst>
      <p:ext uri="{BB962C8B-B14F-4D97-AF65-F5344CB8AC3E}">
        <p14:creationId xmlns:p14="http://schemas.microsoft.com/office/powerpoint/2010/main" val="3075493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RF Subsystem</a:t>
            </a:r>
          </a:p>
        </p:txBody>
      </p:sp>
      <p:sp>
        <p:nvSpPr>
          <p:cNvPr id="3" name="Content Placeholder 2"/>
          <p:cNvSpPr>
            <a:spLocks noGrp="1"/>
          </p:cNvSpPr>
          <p:nvPr>
            <p:ph idx="1"/>
          </p:nvPr>
        </p:nvSpPr>
        <p:spPr/>
        <p:txBody>
          <a:bodyPr>
            <a:normAutofit/>
          </a:bodyPr>
          <a:lstStyle/>
          <a:p>
            <a:r>
              <a:rPr lang="en-US" dirty="0">
                <a:solidFill>
                  <a:schemeClr val="tx2">
                    <a:lumMod val="60000"/>
                    <a:lumOff val="40000"/>
                  </a:schemeClr>
                </a:solidFill>
              </a:rPr>
              <a:t>Receives the pulse information from the Exciter and produces the output RF transmission signal that will travel to the pertinent coil.</a:t>
            </a:r>
          </a:p>
          <a:p>
            <a:r>
              <a:rPr lang="en-US" dirty="0">
                <a:solidFill>
                  <a:schemeClr val="tx2">
                    <a:lumMod val="60000"/>
                    <a:lumOff val="40000"/>
                  </a:schemeClr>
                </a:solidFill>
              </a:rPr>
              <a:t>Only two outputs out of the amplifier: head or body.</a:t>
            </a:r>
          </a:p>
          <a:p>
            <a:r>
              <a:rPr lang="en-US" dirty="0">
                <a:solidFill>
                  <a:schemeClr val="tx2">
                    <a:lumMod val="60000"/>
                    <a:lumOff val="40000"/>
                  </a:schemeClr>
                </a:solidFill>
              </a:rPr>
              <a:t>In a 1.5T should have 16kw for body and 2kw for head</a:t>
            </a:r>
          </a:p>
          <a:p>
            <a:endParaRPr lang="en-US" dirty="0">
              <a:solidFill>
                <a:schemeClr val="tx2">
                  <a:lumMod val="60000"/>
                  <a:lumOff val="40000"/>
                </a:schemeClr>
              </a:solidFill>
            </a:endParaRPr>
          </a:p>
          <a:p>
            <a:pPr lvl="1"/>
            <a:r>
              <a:rPr lang="en-US" dirty="0">
                <a:solidFill>
                  <a:schemeClr val="tx2">
                    <a:lumMod val="60000"/>
                    <a:lumOff val="40000"/>
                  </a:schemeClr>
                </a:solidFill>
              </a:rPr>
              <a:t>SRF2</a:t>
            </a:r>
          </a:p>
        </p:txBody>
      </p:sp>
      <p:sp>
        <p:nvSpPr>
          <p:cNvPr id="5" name="Slide Number Placeholder 4"/>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7</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1266523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SRFD2 </a:t>
            </a:r>
            <a:r>
              <a:rPr lang="en-US" sz="2790" dirty="0">
                <a:solidFill>
                  <a:schemeClr val="accent1">
                    <a:lumMod val="75000"/>
                  </a:schemeClr>
                </a:solidFill>
              </a:rPr>
              <a:t>(Scalable RF Driver 2)</a:t>
            </a:r>
          </a:p>
        </p:txBody>
      </p:sp>
      <p:pic>
        <p:nvPicPr>
          <p:cNvPr id="14338" name="Picture 2" descr="C:\Users\BUBA\Google Drive\MR Training\Pictures\Huntley\IMG_2650.JPG"/>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38481" t="12242" r="13615" b="13477"/>
          <a:stretch/>
        </p:blipFill>
        <p:spPr bwMode="auto">
          <a:xfrm rot="5400000">
            <a:off x="5644692" y="721143"/>
            <a:ext cx="2329940" cy="27096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BUBA\Google Drive\MR Training\Pictures\Huntley\IMG_2656.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674"/>
          <a:stretch/>
        </p:blipFill>
        <p:spPr bwMode="auto">
          <a:xfrm>
            <a:off x="5499513" y="3416300"/>
            <a:ext cx="2620299" cy="2330518"/>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3"/>
          <p:cNvSpPr txBox="1">
            <a:spLocks/>
          </p:cNvSpPr>
          <p:nvPr/>
        </p:nvSpPr>
        <p:spPr>
          <a:xfrm>
            <a:off x="156069" y="986932"/>
            <a:ext cx="4782820" cy="4964707"/>
          </a:xfrm>
          <a:prstGeom prst="rect">
            <a:avLst/>
          </a:prstGeom>
        </p:spPr>
        <p:txBody>
          <a:bodyPr vert="horz" lIns="91101" tIns="45551" rIns="91101" bIns="45551"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1631" indent="-341631" defTabSz="911017"/>
            <a:r>
              <a:rPr lang="en-US" sz="3188" dirty="0">
                <a:solidFill>
                  <a:srgbClr val="1F497D">
                    <a:lumMod val="60000"/>
                    <a:lumOff val="40000"/>
                  </a:srgbClr>
                </a:solidFill>
                <a:latin typeface="Calibri"/>
              </a:rPr>
              <a:t>Solid state RF amplifier Analogic 8103</a:t>
            </a:r>
          </a:p>
          <a:p>
            <a:pPr marL="341631" indent="-341631" defTabSz="911017"/>
            <a:r>
              <a:rPr lang="en-US" sz="3188" dirty="0">
                <a:solidFill>
                  <a:srgbClr val="1F497D">
                    <a:lumMod val="60000"/>
                    <a:lumOff val="40000"/>
                  </a:srgbClr>
                </a:solidFill>
                <a:latin typeface="Calibri"/>
              </a:rPr>
              <a:t>Only head and body gain adjustment</a:t>
            </a:r>
          </a:p>
          <a:p>
            <a:pPr marL="341631" indent="-341631" defTabSz="911017"/>
            <a:r>
              <a:rPr lang="en-US" sz="3188" dirty="0">
                <a:solidFill>
                  <a:srgbClr val="1F497D">
                    <a:lumMod val="60000"/>
                    <a:lumOff val="40000"/>
                  </a:srgbClr>
                </a:solidFill>
                <a:latin typeface="Calibri"/>
              </a:rPr>
              <a:t>Has a breaker on the back</a:t>
            </a:r>
          </a:p>
          <a:p>
            <a:pPr marL="341631" indent="-341631" defTabSz="911017"/>
            <a:r>
              <a:rPr lang="en-US" sz="3188" dirty="0">
                <a:solidFill>
                  <a:srgbClr val="1F497D">
                    <a:lumMod val="60000"/>
                    <a:lumOff val="40000"/>
                  </a:srgbClr>
                </a:solidFill>
                <a:latin typeface="Calibri"/>
              </a:rPr>
              <a:t>Most reliable</a:t>
            </a:r>
          </a:p>
          <a:p>
            <a:pPr marL="341631" indent="-341631" defTabSz="911017"/>
            <a:r>
              <a:rPr lang="en-US" sz="3188" dirty="0">
                <a:solidFill>
                  <a:srgbClr val="1F497D">
                    <a:lumMod val="60000"/>
                    <a:lumOff val="40000"/>
                  </a:srgbClr>
                </a:solidFill>
                <a:latin typeface="Calibri"/>
              </a:rPr>
              <a:t>Harder to troubleshoot since there are not parts that can be swapped, need RF kit to trouble shoot</a:t>
            </a:r>
          </a:p>
          <a:p>
            <a:pPr marL="341631" indent="-341631" defTabSz="911017"/>
            <a:r>
              <a:rPr lang="en-US" sz="3188" dirty="0">
                <a:solidFill>
                  <a:srgbClr val="1F497D">
                    <a:lumMod val="60000"/>
                    <a:lumOff val="40000"/>
                  </a:srgbClr>
                </a:solidFill>
                <a:latin typeface="Calibri"/>
              </a:rPr>
              <a:t>Error logs tend to be correct</a:t>
            </a:r>
          </a:p>
        </p:txBody>
      </p:sp>
      <p:sp>
        <p:nvSpPr>
          <p:cNvPr id="4" name="Slide Number Placeholder 3"/>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8</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33419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ACGD (Advance Control Gradient Driver)</a:t>
            </a:r>
          </a:p>
        </p:txBody>
      </p:sp>
      <p:sp>
        <p:nvSpPr>
          <p:cNvPr id="3" name="Content Placeholder 2"/>
          <p:cNvSpPr>
            <a:spLocks noGrp="1"/>
          </p:cNvSpPr>
          <p:nvPr>
            <p:ph idx="1"/>
          </p:nvPr>
        </p:nvSpPr>
        <p:spPr>
          <a:xfrm>
            <a:off x="156069" y="986932"/>
            <a:ext cx="4597632" cy="4964707"/>
          </a:xfrm>
        </p:spPr>
        <p:txBody>
          <a:bodyPr>
            <a:normAutofit fontScale="62500" lnSpcReduction="20000"/>
          </a:bodyPr>
          <a:lstStyle/>
          <a:p>
            <a:r>
              <a:rPr lang="en-US" dirty="0">
                <a:solidFill>
                  <a:schemeClr val="tx2">
                    <a:lumMod val="60000"/>
                    <a:lumOff val="40000"/>
                  </a:schemeClr>
                </a:solidFill>
              </a:rPr>
              <a:t>ACGD Combines the functionality of the SGD in each module</a:t>
            </a:r>
          </a:p>
          <a:p>
            <a:r>
              <a:rPr lang="en-US" dirty="0">
                <a:solidFill>
                  <a:schemeClr val="tx2">
                    <a:lumMod val="60000"/>
                    <a:lumOff val="40000"/>
                  </a:schemeClr>
                </a:solidFill>
              </a:rPr>
              <a:t>Much more reliable and powerful</a:t>
            </a:r>
          </a:p>
          <a:p>
            <a:r>
              <a:rPr lang="en-US" dirty="0">
                <a:solidFill>
                  <a:schemeClr val="tx2">
                    <a:lumMod val="60000"/>
                    <a:lumOff val="40000"/>
                  </a:schemeClr>
                </a:solidFill>
              </a:rPr>
              <a:t>Gradient coil problems since they were not designed to handle that much power, especially as you start getting into the higher Excite platform systems with HFD-S gradients.</a:t>
            </a:r>
          </a:p>
          <a:p>
            <a:r>
              <a:rPr lang="en-US" dirty="0">
                <a:solidFill>
                  <a:schemeClr val="tx2">
                    <a:lumMod val="60000"/>
                    <a:lumOff val="40000"/>
                  </a:schemeClr>
                </a:solidFill>
              </a:rPr>
              <a:t>The GP module controls all the commands to the 3 axis and the PS. There are three GP versions: GP, GPII and GP3. </a:t>
            </a:r>
          </a:p>
          <a:p>
            <a:r>
              <a:rPr lang="en-US" dirty="0">
                <a:solidFill>
                  <a:schemeClr val="tx2">
                    <a:lumMod val="60000"/>
                    <a:lumOff val="40000"/>
                  </a:schemeClr>
                </a:solidFill>
              </a:rPr>
              <a:t>There are three SGA (Switching Gradient Amplifier), one for each axis. They have a control board. This control board is swappable and replaceable.</a:t>
            </a:r>
          </a:p>
        </p:txBody>
      </p:sp>
      <p:grpSp>
        <p:nvGrpSpPr>
          <p:cNvPr id="34" name="Group 33"/>
          <p:cNvGrpSpPr/>
          <p:nvPr/>
        </p:nvGrpSpPr>
        <p:grpSpPr>
          <a:xfrm>
            <a:off x="3951958" y="727003"/>
            <a:ext cx="5238327" cy="5650090"/>
            <a:chOff x="3962400" y="729706"/>
            <a:chExt cx="5257800" cy="5671094"/>
          </a:xfrm>
        </p:grpSpPr>
        <p:pic>
          <p:nvPicPr>
            <p:cNvPr id="7170" name="Picture 2" descr="C:\Users\BUBA\Google Drive\MR Training\Pictures\Huntley\IMG_246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257" b="31539"/>
            <a:stretch/>
          </p:blipFill>
          <p:spPr bwMode="auto">
            <a:xfrm rot="5400000">
              <a:off x="4701915" y="2415918"/>
              <a:ext cx="5369809" cy="214276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5841023" y="1263134"/>
              <a:ext cx="990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334153" y="1078468"/>
              <a:ext cx="449162"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GP</a:t>
              </a:r>
            </a:p>
          </p:txBody>
        </p:sp>
        <p:cxnSp>
          <p:nvCxnSpPr>
            <p:cNvPr id="7" name="Straight Arrow Connector 6"/>
            <p:cNvCxnSpPr/>
            <p:nvPr/>
          </p:nvCxnSpPr>
          <p:spPr>
            <a:xfrm>
              <a:off x="6019800" y="3320534"/>
              <a:ext cx="990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861766" y="1890346"/>
              <a:ext cx="1044819"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942364" y="2549715"/>
              <a:ext cx="990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767124" y="1705680"/>
              <a:ext cx="1145955"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SGA X axis</a:t>
              </a:r>
            </a:p>
          </p:txBody>
        </p:sp>
        <p:sp>
          <p:nvSpPr>
            <p:cNvPr id="11" name="TextBox 10"/>
            <p:cNvSpPr txBox="1"/>
            <p:nvPr/>
          </p:nvSpPr>
          <p:spPr>
            <a:xfrm>
              <a:off x="4822581" y="3135868"/>
              <a:ext cx="1133131"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SGA Z axis</a:t>
              </a:r>
            </a:p>
          </p:txBody>
        </p:sp>
        <p:sp>
          <p:nvSpPr>
            <p:cNvPr id="12" name="TextBox 11"/>
            <p:cNvSpPr txBox="1"/>
            <p:nvPr/>
          </p:nvSpPr>
          <p:spPr>
            <a:xfrm>
              <a:off x="4842088" y="2365049"/>
              <a:ext cx="1137940"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SGA Y axis</a:t>
              </a:r>
            </a:p>
          </p:txBody>
        </p:sp>
        <p:cxnSp>
          <p:nvCxnSpPr>
            <p:cNvPr id="13" name="Straight Arrow Connector 12"/>
            <p:cNvCxnSpPr/>
            <p:nvPr/>
          </p:nvCxnSpPr>
          <p:spPr>
            <a:xfrm>
              <a:off x="5877051" y="3892116"/>
              <a:ext cx="990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974981" y="3733800"/>
              <a:ext cx="846707"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SGA PS</a:t>
              </a:r>
            </a:p>
          </p:txBody>
        </p:sp>
        <p:grpSp>
          <p:nvGrpSpPr>
            <p:cNvPr id="7178" name="Group 7177"/>
            <p:cNvGrpSpPr/>
            <p:nvPr/>
          </p:nvGrpSpPr>
          <p:grpSpPr>
            <a:xfrm>
              <a:off x="5913079" y="4103132"/>
              <a:ext cx="918544" cy="1154668"/>
              <a:chOff x="5913079" y="4103132"/>
              <a:chExt cx="918544" cy="1154668"/>
            </a:xfrm>
          </p:grpSpPr>
          <p:cxnSp>
            <p:nvCxnSpPr>
              <p:cNvPr id="7172" name="Straight Connector 7171"/>
              <p:cNvCxnSpPr/>
              <p:nvPr/>
            </p:nvCxnSpPr>
            <p:spPr>
              <a:xfrm flipH="1">
                <a:off x="5913079" y="5257800"/>
                <a:ext cx="75442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74" name="Straight Connector 7173"/>
              <p:cNvCxnSpPr/>
              <p:nvPr/>
            </p:nvCxnSpPr>
            <p:spPr>
              <a:xfrm flipV="1">
                <a:off x="5913079" y="4103132"/>
                <a:ext cx="0" cy="11546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76" name="Straight Arrow Connector 7175"/>
              <p:cNvCxnSpPr/>
              <p:nvPr/>
            </p:nvCxnSpPr>
            <p:spPr>
              <a:xfrm>
                <a:off x="5913079" y="4103132"/>
                <a:ext cx="91854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179" name="TextBox 7178"/>
            <p:cNvSpPr txBox="1"/>
            <p:nvPr/>
          </p:nvSpPr>
          <p:spPr>
            <a:xfrm rot="5400000">
              <a:off x="5558875" y="4541967"/>
              <a:ext cx="1061352" cy="276999"/>
            </a:xfrm>
            <a:prstGeom prst="rect">
              <a:avLst/>
            </a:prstGeom>
            <a:noFill/>
          </p:spPr>
          <p:txBody>
            <a:bodyPr wrap="square" rtlCol="0">
              <a:spAutoFit/>
            </a:bodyPr>
            <a:lstStyle/>
            <a:p>
              <a:pPr algn="l" defTabSz="911017" rtl="0"/>
              <a:r>
                <a:rPr lang="en-US" sz="1196" b="1" kern="1200" dirty="0">
                  <a:solidFill>
                    <a:srgbClr val="FF0000"/>
                  </a:solidFill>
                  <a:latin typeface="Calibri"/>
                  <a:ea typeface="+mn-ea"/>
                  <a:cs typeface="+mn-cs"/>
                </a:rPr>
                <a:t>3</a:t>
              </a:r>
              <a:r>
                <a:rPr lang="el-GR" sz="1196" b="1" kern="1200" dirty="0">
                  <a:solidFill>
                    <a:srgbClr val="FF0000"/>
                  </a:solidFill>
                  <a:latin typeface="Calibri"/>
                  <a:ea typeface="+mn-ea"/>
                  <a:cs typeface="+mn-cs"/>
                </a:rPr>
                <a:t>φ</a:t>
              </a:r>
              <a:r>
                <a:rPr lang="en-US" sz="1196" b="1" kern="1200" dirty="0">
                  <a:solidFill>
                    <a:srgbClr val="FF0000"/>
                  </a:solidFill>
                  <a:latin typeface="Calibri"/>
                  <a:ea typeface="+mn-ea"/>
                  <a:cs typeface="+mn-cs"/>
                </a:rPr>
                <a:t> 480 VAC*</a:t>
              </a:r>
            </a:p>
          </p:txBody>
        </p:sp>
        <p:sp>
          <p:nvSpPr>
            <p:cNvPr id="7180" name="TextBox 7179"/>
            <p:cNvSpPr txBox="1"/>
            <p:nvPr/>
          </p:nvSpPr>
          <p:spPr>
            <a:xfrm>
              <a:off x="3962400" y="6123801"/>
              <a:ext cx="4605492" cy="276999"/>
            </a:xfrm>
            <a:prstGeom prst="rect">
              <a:avLst/>
            </a:prstGeom>
            <a:noFill/>
          </p:spPr>
          <p:txBody>
            <a:bodyPr wrap="none" rtlCol="0">
              <a:spAutoFit/>
            </a:bodyPr>
            <a:lstStyle/>
            <a:p>
              <a:pPr algn="l" defTabSz="911017" rtl="0"/>
              <a:r>
                <a:rPr lang="en-US" sz="1196" kern="1200" dirty="0">
                  <a:solidFill>
                    <a:prstClr val="black"/>
                  </a:solidFill>
                  <a:latin typeface="Calibri"/>
                  <a:ea typeface="+mn-ea"/>
                  <a:cs typeface="+mn-cs"/>
                </a:rPr>
                <a:t>Note: Also 200,208,380 or 415 VAC compatible configurable at the PDU</a:t>
              </a:r>
            </a:p>
          </p:txBody>
        </p:sp>
        <p:cxnSp>
          <p:nvCxnSpPr>
            <p:cNvPr id="7182" name="Straight Connector 7181"/>
            <p:cNvCxnSpPr/>
            <p:nvPr/>
          </p:nvCxnSpPr>
          <p:spPr>
            <a:xfrm>
              <a:off x="8153400" y="1263134"/>
              <a:ext cx="609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84" name="Straight Connector 7183"/>
            <p:cNvCxnSpPr/>
            <p:nvPr/>
          </p:nvCxnSpPr>
          <p:spPr>
            <a:xfrm>
              <a:off x="8763000" y="914400"/>
              <a:ext cx="0" cy="30040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88" name="Straight Arrow Connector 7187"/>
            <p:cNvCxnSpPr/>
            <p:nvPr/>
          </p:nvCxnSpPr>
          <p:spPr>
            <a:xfrm flipH="1">
              <a:off x="7924800" y="3200400"/>
              <a:ext cx="838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H="1">
              <a:off x="7924800" y="3903812"/>
              <a:ext cx="838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H="1">
              <a:off x="7933592" y="2549715"/>
              <a:ext cx="838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7924800" y="1752600"/>
              <a:ext cx="838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189" name="TextBox 7188"/>
            <p:cNvSpPr txBox="1"/>
            <p:nvPr/>
          </p:nvSpPr>
          <p:spPr>
            <a:xfrm rot="5400000">
              <a:off x="8458172" y="2653063"/>
              <a:ext cx="877741"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Control</a:t>
              </a:r>
            </a:p>
          </p:txBody>
        </p:sp>
        <p:cxnSp>
          <p:nvCxnSpPr>
            <p:cNvPr id="57" name="Straight Arrow Connector 56"/>
            <p:cNvCxnSpPr/>
            <p:nvPr/>
          </p:nvCxnSpPr>
          <p:spPr>
            <a:xfrm flipH="1">
              <a:off x="8033238" y="914400"/>
              <a:ext cx="72976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194" name="TextBox 7193"/>
            <p:cNvSpPr txBox="1"/>
            <p:nvPr/>
          </p:nvSpPr>
          <p:spPr>
            <a:xfrm>
              <a:off x="6753645" y="729706"/>
              <a:ext cx="1291316" cy="369332"/>
            </a:xfrm>
            <a:prstGeom prst="rect">
              <a:avLst/>
            </a:prstGeom>
            <a:noFill/>
          </p:spPr>
          <p:txBody>
            <a:bodyPr wrap="none" rtlCol="0">
              <a:spAutoFit/>
            </a:bodyPr>
            <a:lstStyle/>
            <a:p>
              <a:pPr algn="l" defTabSz="911017" rtl="0"/>
              <a:r>
                <a:rPr lang="en-US" sz="1793" kern="1200" dirty="0">
                  <a:solidFill>
                    <a:prstClr val="black"/>
                  </a:solidFill>
                  <a:latin typeface="Calibri"/>
                  <a:ea typeface="+mn-ea"/>
                  <a:cs typeface="+mn-cs"/>
                </a:rPr>
                <a:t>Cabinet Fan</a:t>
              </a:r>
            </a:p>
          </p:txBody>
        </p:sp>
        <p:cxnSp>
          <p:nvCxnSpPr>
            <p:cNvPr id="64" name="Straight Connector 63"/>
            <p:cNvCxnSpPr/>
            <p:nvPr/>
          </p:nvCxnSpPr>
          <p:spPr>
            <a:xfrm>
              <a:off x="8044961" y="5029200"/>
              <a:ext cx="10455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9081709" y="802393"/>
              <a:ext cx="0" cy="42268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7913768" y="1600200"/>
              <a:ext cx="1167941"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a:off x="8044961" y="802393"/>
              <a:ext cx="103674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H="1">
              <a:off x="7924800" y="3733800"/>
              <a:ext cx="1156909"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7930661" y="3320534"/>
              <a:ext cx="115984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7930661" y="2356175"/>
              <a:ext cx="115104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8402488" y="4714910"/>
              <a:ext cx="817712" cy="276999"/>
            </a:xfrm>
            <a:prstGeom prst="rect">
              <a:avLst/>
            </a:prstGeom>
            <a:noFill/>
          </p:spPr>
          <p:txBody>
            <a:bodyPr wrap="square" rtlCol="0">
              <a:spAutoFit/>
            </a:bodyPr>
            <a:lstStyle/>
            <a:p>
              <a:pPr algn="l" defTabSz="911017" rtl="0"/>
              <a:r>
                <a:rPr lang="en-US" sz="1196" b="1" kern="1200" dirty="0">
                  <a:solidFill>
                    <a:srgbClr val="FF0000"/>
                  </a:solidFill>
                  <a:latin typeface="Calibri"/>
                  <a:ea typeface="+mn-ea"/>
                  <a:cs typeface="+mn-cs"/>
                </a:rPr>
                <a:t>208 VAC</a:t>
              </a:r>
            </a:p>
          </p:txBody>
        </p:sp>
      </p:grpSp>
      <p:sp>
        <p:nvSpPr>
          <p:cNvPr id="15" name="Slide Number Placeholder 14"/>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9</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547805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TEAL PDU</a:t>
            </a:r>
          </a:p>
        </p:txBody>
      </p:sp>
      <p:sp>
        <p:nvSpPr>
          <p:cNvPr id="3" name="Content Placeholder 2"/>
          <p:cNvSpPr>
            <a:spLocks noGrp="1"/>
          </p:cNvSpPr>
          <p:nvPr>
            <p:ph idx="1"/>
          </p:nvPr>
        </p:nvSpPr>
        <p:spPr>
          <a:xfrm>
            <a:off x="156069" y="986931"/>
            <a:ext cx="4934656" cy="5086491"/>
          </a:xfrm>
        </p:spPr>
        <p:txBody>
          <a:bodyPr>
            <a:normAutofit fontScale="55000" lnSpcReduction="20000"/>
          </a:bodyPr>
          <a:lstStyle/>
          <a:p>
            <a:r>
              <a:rPr lang="en-US" dirty="0">
                <a:solidFill>
                  <a:schemeClr val="tx2">
                    <a:lumMod val="60000"/>
                    <a:lumOff val="40000"/>
                  </a:schemeClr>
                </a:solidFill>
              </a:rPr>
              <a:t>Configurable through jumpers behind the plate in the lower part of the unit.</a:t>
            </a:r>
          </a:p>
          <a:p>
            <a:r>
              <a:rPr lang="en-US" dirty="0">
                <a:solidFill>
                  <a:schemeClr val="tx2">
                    <a:lumMod val="60000"/>
                    <a:lumOff val="40000"/>
                  </a:schemeClr>
                </a:solidFill>
              </a:rPr>
              <a:t>Quarter turn handle restores power to it</a:t>
            </a:r>
          </a:p>
          <a:p>
            <a:r>
              <a:rPr lang="en-US" dirty="0">
                <a:solidFill>
                  <a:schemeClr val="tx2">
                    <a:lumMod val="60000"/>
                    <a:lumOff val="40000"/>
                  </a:schemeClr>
                </a:solidFill>
              </a:rPr>
              <a:t>Subsystem breakers to turn power off to individual subsystems only.</a:t>
            </a:r>
          </a:p>
          <a:p>
            <a:r>
              <a:rPr lang="en-US" dirty="0">
                <a:solidFill>
                  <a:schemeClr val="tx2">
                    <a:lumMod val="60000"/>
                    <a:lumOff val="40000"/>
                  </a:schemeClr>
                </a:solidFill>
              </a:rPr>
              <a:t>It has three TVSS (fuse) that can go bad if a surge is experienced. </a:t>
            </a:r>
          </a:p>
          <a:p>
            <a:r>
              <a:rPr lang="en-US" dirty="0">
                <a:solidFill>
                  <a:schemeClr val="tx2">
                    <a:lumMod val="60000"/>
                    <a:lumOff val="40000"/>
                  </a:schemeClr>
                </a:solidFill>
              </a:rPr>
              <a:t>Very typical to have a phase crossed during installations, the LEDs for the phase would detect that they are there but not tell you if it is correct. If phases are swapped you cannot complete EMO reset and gradient cabinet fan would turn in the opposite direction. </a:t>
            </a:r>
          </a:p>
          <a:p>
            <a:r>
              <a:rPr lang="en-US" dirty="0">
                <a:solidFill>
                  <a:schemeClr val="tx2">
                    <a:lumMod val="60000"/>
                    <a:lumOff val="40000"/>
                  </a:schemeClr>
                </a:solidFill>
              </a:rPr>
              <a:t>In some instances the 24V PS can stop working and that would stop the system from being able to reset the EMO. This supply and the TVSS are the only replaceable parts in this PDU.</a:t>
            </a:r>
          </a:p>
          <a:p>
            <a:r>
              <a:rPr lang="en-US" dirty="0">
                <a:solidFill>
                  <a:schemeClr val="tx2">
                    <a:lumMod val="60000"/>
                    <a:lumOff val="40000"/>
                  </a:schemeClr>
                </a:solidFill>
              </a:rPr>
              <a:t>Refer to vendor manual in Service Methods CD.</a:t>
            </a:r>
          </a:p>
        </p:txBody>
      </p:sp>
      <p:pic>
        <p:nvPicPr>
          <p:cNvPr id="1026" name="Picture 2" descr="C:\Users\BUBA\Google Drive\MR Training\Pictures\Huntley\IMG_246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4580590" y="1539648"/>
            <a:ext cx="4834404" cy="362580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10</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205216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MRU or ERU</a:t>
            </a:r>
          </a:p>
        </p:txBody>
      </p:sp>
      <p:pic>
        <p:nvPicPr>
          <p:cNvPr id="5123" name="Picture 3" descr="C:\Users\BUBA\Google Drive\MR Training\Pictures\IMG_3491.JPG"/>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15595" t="22644" r="14137" b="16308"/>
          <a:stretch/>
        </p:blipFill>
        <p:spPr bwMode="auto">
          <a:xfrm>
            <a:off x="4862971" y="759178"/>
            <a:ext cx="3740411" cy="243725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ontent Placeholder 2"/>
          <p:cNvSpPr txBox="1">
            <a:spLocks/>
          </p:cNvSpPr>
          <p:nvPr/>
        </p:nvSpPr>
        <p:spPr>
          <a:xfrm>
            <a:off x="156069" y="986932"/>
            <a:ext cx="4597632" cy="4964707"/>
          </a:xfrm>
          <a:prstGeom prst="rect">
            <a:avLst/>
          </a:prstGeom>
        </p:spPr>
        <p:txBody>
          <a:bodyPr vert="horz" lIns="91101" tIns="45551" rIns="91101" bIns="45551"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1631" indent="-341631" defTabSz="911017"/>
            <a:r>
              <a:rPr lang="en-US" sz="1594" dirty="0">
                <a:solidFill>
                  <a:srgbClr val="1F497D">
                    <a:lumMod val="60000"/>
                    <a:lumOff val="40000"/>
                  </a:srgbClr>
                </a:solidFill>
                <a:latin typeface="Calibri"/>
              </a:rPr>
              <a:t>Magnet Rundown Unit or Emergency Rundown Unit.</a:t>
            </a:r>
          </a:p>
          <a:p>
            <a:pPr marL="341631" indent="-341631" defTabSz="911017"/>
            <a:r>
              <a:rPr lang="en-US" sz="1594" dirty="0">
                <a:solidFill>
                  <a:srgbClr val="1F497D">
                    <a:lumMod val="60000"/>
                    <a:lumOff val="40000"/>
                  </a:srgbClr>
                </a:solidFill>
                <a:latin typeface="Calibri"/>
              </a:rPr>
              <a:t>Red button on the center initiates the quench. </a:t>
            </a:r>
          </a:p>
          <a:p>
            <a:pPr marL="341631" indent="-341631" defTabSz="911017"/>
            <a:r>
              <a:rPr lang="en-US" sz="1594" dirty="0">
                <a:solidFill>
                  <a:srgbClr val="1F497D">
                    <a:lumMod val="60000"/>
                    <a:lumOff val="40000"/>
                  </a:srgbClr>
                </a:solidFill>
                <a:latin typeface="Calibri"/>
              </a:rPr>
              <a:t>You have to intentionally lift the cover and push it.</a:t>
            </a:r>
          </a:p>
          <a:p>
            <a:pPr marL="341631" indent="-341631" defTabSz="911017"/>
            <a:r>
              <a:rPr lang="en-US" sz="1594" dirty="0">
                <a:solidFill>
                  <a:srgbClr val="1F497D">
                    <a:lumMod val="60000"/>
                    <a:lumOff val="40000"/>
                  </a:srgbClr>
                </a:solidFill>
                <a:latin typeface="Calibri"/>
              </a:rPr>
              <a:t>A current is sent to the heater inside the magnet that creates heat and disturbs the stable magnet environment and initiates the quench.</a:t>
            </a:r>
          </a:p>
          <a:p>
            <a:pPr marL="341631" indent="-341631" defTabSz="911017"/>
            <a:r>
              <a:rPr lang="en-US" sz="1594" dirty="0">
                <a:solidFill>
                  <a:srgbClr val="1F497D">
                    <a:lumMod val="60000"/>
                    <a:lumOff val="40000"/>
                  </a:srgbClr>
                </a:solidFill>
                <a:latin typeface="Calibri"/>
              </a:rPr>
              <a:t>During PMs all test have to be performed:</a:t>
            </a:r>
          </a:p>
          <a:p>
            <a:pPr marL="740201" lvl="1" indent="-284693" defTabSz="911017"/>
            <a:r>
              <a:rPr lang="en-US" sz="1395" dirty="0">
                <a:solidFill>
                  <a:srgbClr val="1F497D">
                    <a:lumMod val="60000"/>
                    <a:lumOff val="40000"/>
                  </a:srgbClr>
                </a:solidFill>
                <a:latin typeface="Calibri"/>
              </a:rPr>
              <a:t>Push and hold a few seconds the battery test. If it doesn’t stay on, new batteries are required.</a:t>
            </a:r>
          </a:p>
          <a:p>
            <a:pPr marL="740201" lvl="1" indent="-284693" defTabSz="911017"/>
            <a:r>
              <a:rPr lang="en-US" sz="1395" dirty="0">
                <a:solidFill>
                  <a:srgbClr val="1F497D">
                    <a:lumMod val="60000"/>
                    <a:lumOff val="40000"/>
                  </a:srgbClr>
                </a:solidFill>
                <a:latin typeface="Calibri"/>
              </a:rPr>
              <a:t>Hold the Test Heater LED button, the Heater Test LED should light up</a:t>
            </a:r>
          </a:p>
          <a:p>
            <a:pPr marL="740201" lvl="1" indent="-284693" defTabSz="911017"/>
            <a:r>
              <a:rPr lang="en-US" sz="1395" dirty="0">
                <a:solidFill>
                  <a:srgbClr val="1F497D">
                    <a:lumMod val="60000"/>
                    <a:lumOff val="40000"/>
                  </a:srgbClr>
                </a:solidFill>
                <a:latin typeface="Calibri"/>
              </a:rPr>
              <a:t>Flip the Test Heater switch to each side to make sure both heaters are connected and the Heater Test LED lights up when pushed. </a:t>
            </a:r>
          </a:p>
          <a:p>
            <a:pPr marL="740201" lvl="1" indent="-284693" defTabSz="911017"/>
            <a:r>
              <a:rPr lang="en-US" sz="1395" dirty="0">
                <a:solidFill>
                  <a:srgbClr val="1F497D">
                    <a:lumMod val="60000"/>
                    <a:lumOff val="40000"/>
                  </a:srgbClr>
                </a:solidFill>
                <a:latin typeface="Calibri"/>
              </a:rPr>
              <a:t>If you find any deficiencies, please escalate to your GE MR Specialist.</a:t>
            </a:r>
          </a:p>
          <a:p>
            <a:pPr marL="341631" indent="-341631" defTabSz="911017"/>
            <a:r>
              <a:rPr lang="en-US" sz="1594" dirty="0">
                <a:solidFill>
                  <a:srgbClr val="1F497D">
                    <a:lumMod val="60000"/>
                    <a:lumOff val="40000"/>
                  </a:srgbClr>
                </a:solidFill>
                <a:latin typeface="Calibri"/>
              </a:rPr>
              <a:t>When servicing the MRU always disconnect J2 and give it three minutes after the quench button has been pressed before reconnecting it.</a:t>
            </a:r>
          </a:p>
          <a:p>
            <a:pPr marL="341631" indent="-341631" defTabSz="911017"/>
            <a:endParaRPr lang="en-US" sz="1594" dirty="0">
              <a:solidFill>
                <a:srgbClr val="1F497D">
                  <a:lumMod val="60000"/>
                  <a:lumOff val="40000"/>
                </a:srgbClr>
              </a:solidFill>
              <a:latin typeface="Calibri"/>
            </a:endParaRPr>
          </a:p>
          <a:p>
            <a:pPr marL="455508" lvl="1" indent="0" defTabSz="911017">
              <a:buNone/>
            </a:pPr>
            <a:endParaRPr lang="en-US" sz="1395" dirty="0">
              <a:solidFill>
                <a:srgbClr val="1F497D">
                  <a:lumMod val="60000"/>
                  <a:lumOff val="40000"/>
                </a:srgbClr>
              </a:solidFill>
              <a:latin typeface="Calibri"/>
            </a:endParaRPr>
          </a:p>
        </p:txBody>
      </p:sp>
      <p:pic>
        <p:nvPicPr>
          <p:cNvPr id="5" name="Picture 2" descr="C:\Users\BUBA\Google Drive\MR Training\Pictures\IMG_349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6643" y="3340382"/>
            <a:ext cx="3309805" cy="2482354"/>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11</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199897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Main Disconnect Control Panel (MDCP)</a:t>
            </a:r>
          </a:p>
        </p:txBody>
      </p:sp>
      <p:pic>
        <p:nvPicPr>
          <p:cNvPr id="4098" name="Picture 2" descr="C:\Users\BUBA\Google Drive\MR Training\Pictures\20160113_000539496_iOS.jpg"/>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8309" t="26356" r="42596" b="36062"/>
          <a:stretch/>
        </p:blipFill>
        <p:spPr bwMode="auto">
          <a:xfrm rot="5400000">
            <a:off x="4692549" y="2068367"/>
            <a:ext cx="5078644" cy="2915774"/>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p:cNvSpPr txBox="1">
            <a:spLocks/>
          </p:cNvSpPr>
          <p:nvPr/>
        </p:nvSpPr>
        <p:spPr>
          <a:xfrm>
            <a:off x="156069" y="986932"/>
            <a:ext cx="5617916" cy="4964707"/>
          </a:xfrm>
          <a:prstGeom prst="rect">
            <a:avLst/>
          </a:prstGeom>
        </p:spPr>
        <p:txBody>
          <a:bodyPr vert="horz" lIns="91101" tIns="45551" rIns="91101" bIns="45551"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1631" indent="-341631" defTabSz="911017"/>
            <a:r>
              <a:rPr lang="en-US" sz="3188" dirty="0">
                <a:solidFill>
                  <a:srgbClr val="1F497D">
                    <a:lumMod val="60000"/>
                    <a:lumOff val="40000"/>
                  </a:srgbClr>
                </a:solidFill>
                <a:latin typeface="Calibri"/>
              </a:rPr>
              <a:t>Hospital electrical connection.</a:t>
            </a:r>
          </a:p>
          <a:p>
            <a:pPr marL="341631" indent="-341631" defTabSz="911017"/>
            <a:r>
              <a:rPr lang="en-US" sz="3188" dirty="0">
                <a:solidFill>
                  <a:srgbClr val="1F497D">
                    <a:lumMod val="60000"/>
                    <a:lumOff val="40000"/>
                  </a:srgbClr>
                </a:solidFill>
                <a:latin typeface="Calibri"/>
              </a:rPr>
              <a:t>It is the hospital responsibility and sometimes a custom panel is made by the customer.</a:t>
            </a:r>
          </a:p>
          <a:p>
            <a:pPr marL="341631" indent="-341631" defTabSz="911017"/>
            <a:r>
              <a:rPr lang="en-US" sz="3188" dirty="0">
                <a:solidFill>
                  <a:srgbClr val="1F497D">
                    <a:lumMod val="60000"/>
                    <a:lumOff val="40000"/>
                  </a:srgbClr>
                </a:solidFill>
                <a:latin typeface="Calibri"/>
              </a:rPr>
              <a:t>Needs to have separate breaker for the PDU and the </a:t>
            </a:r>
            <a:r>
              <a:rPr lang="en-US" sz="3188" dirty="0" err="1">
                <a:solidFill>
                  <a:srgbClr val="1F497D">
                    <a:lumMod val="60000"/>
                    <a:lumOff val="40000"/>
                  </a:srgbClr>
                </a:solidFill>
                <a:latin typeface="Calibri"/>
              </a:rPr>
              <a:t>Cryo</a:t>
            </a:r>
            <a:r>
              <a:rPr lang="en-US" sz="3188" dirty="0">
                <a:solidFill>
                  <a:srgbClr val="1F497D">
                    <a:lumMod val="60000"/>
                    <a:lumOff val="40000"/>
                  </a:srgbClr>
                </a:solidFill>
                <a:latin typeface="Calibri"/>
              </a:rPr>
              <a:t> cooler compressor. </a:t>
            </a:r>
          </a:p>
        </p:txBody>
      </p:sp>
      <p:sp>
        <p:nvSpPr>
          <p:cNvPr id="5" name="Slide Number Placeholder 4"/>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12</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861621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10347" y="1778"/>
            <a:ext cx="1506855" cy="284480"/>
          </a:xfrm>
          <a:prstGeom prst="rect">
            <a:avLst/>
          </a:prstGeom>
          <a:ln w="9144">
            <a:solidFill>
              <a:srgbClr val="000000"/>
            </a:solidFill>
          </a:ln>
        </p:spPr>
        <p:txBody>
          <a:bodyPr vert="horz" wrap="square" lIns="0" tIns="43815" rIns="0" bIns="0" rtlCol="0">
            <a:spAutoFit/>
          </a:bodyPr>
          <a:lstStyle/>
          <a:p>
            <a:pPr algn="ctr">
              <a:lnSpc>
                <a:spcPct val="100000"/>
              </a:lnSpc>
              <a:spcBef>
                <a:spcPts val="345"/>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
        <p:nvSpPr>
          <p:cNvPr id="3" name="object 3"/>
          <p:cNvSpPr txBox="1">
            <a:spLocks noGrp="1"/>
          </p:cNvSpPr>
          <p:nvPr>
            <p:ph type="title"/>
          </p:nvPr>
        </p:nvSpPr>
        <p:spPr>
          <a:xfrm>
            <a:off x="1909826" y="144271"/>
            <a:ext cx="5102860" cy="407034"/>
          </a:xfrm>
          <a:prstGeom prst="rect">
            <a:avLst/>
          </a:prstGeom>
          <a:ln w="9144">
            <a:solidFill>
              <a:srgbClr val="000000"/>
            </a:solidFill>
          </a:ln>
        </p:spPr>
        <p:txBody>
          <a:bodyPr vert="horz" wrap="square" lIns="0" tIns="41275" rIns="0" bIns="0" rtlCol="0">
            <a:spAutoFit/>
          </a:bodyPr>
          <a:lstStyle/>
          <a:p>
            <a:pPr marL="635" algn="ctr">
              <a:lnSpc>
                <a:spcPct val="100000"/>
              </a:lnSpc>
              <a:spcBef>
                <a:spcPts val="325"/>
              </a:spcBef>
            </a:pPr>
            <a:r>
              <a:rPr sz="2000" b="1" dirty="0">
                <a:latin typeface="Times New Roman"/>
                <a:cs typeface="Times New Roman"/>
              </a:rPr>
              <a:t>System</a:t>
            </a:r>
            <a:r>
              <a:rPr sz="2000" b="1" spc="-2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0" dirty="0">
                <a:latin typeface="Times New Roman"/>
                <a:cs typeface="Times New Roman"/>
              </a:rPr>
              <a:t> </a:t>
            </a:r>
            <a:r>
              <a:rPr sz="2000" b="1" spc="-10" dirty="0">
                <a:latin typeface="Times New Roman"/>
                <a:cs typeface="Times New Roman"/>
              </a:rPr>
              <a:t>Contents</a:t>
            </a:r>
            <a:endParaRPr sz="2000">
              <a:latin typeface="Times New Roman"/>
              <a:cs typeface="Times New Roman"/>
            </a:endParaRPr>
          </a:p>
        </p:txBody>
      </p:sp>
      <p:sp>
        <p:nvSpPr>
          <p:cNvPr id="4" name="object 4"/>
          <p:cNvSpPr/>
          <p:nvPr/>
        </p:nvSpPr>
        <p:spPr>
          <a:xfrm>
            <a:off x="519176" y="734822"/>
            <a:ext cx="8079105" cy="5168265"/>
          </a:xfrm>
          <a:custGeom>
            <a:avLst/>
            <a:gdLst/>
            <a:ahLst/>
            <a:cxnLst/>
            <a:rect l="l" t="t" r="r" b="b"/>
            <a:pathLst>
              <a:path w="8079105" h="5168265">
                <a:moveTo>
                  <a:pt x="8078724" y="5167884"/>
                </a:moveTo>
                <a:lnTo>
                  <a:pt x="8078724" y="0"/>
                </a:lnTo>
                <a:lnTo>
                  <a:pt x="0" y="0"/>
                </a:lnTo>
                <a:lnTo>
                  <a:pt x="0" y="5167884"/>
                </a:lnTo>
                <a:lnTo>
                  <a:pt x="8078724" y="5167884"/>
                </a:lnTo>
                <a:close/>
              </a:path>
            </a:pathLst>
          </a:custGeom>
          <a:ln w="9144">
            <a:solidFill>
              <a:srgbClr val="000000"/>
            </a:solidFill>
          </a:ln>
        </p:spPr>
        <p:txBody>
          <a:bodyPr wrap="square" lIns="0" tIns="0" rIns="0" bIns="0" rtlCol="0"/>
          <a:lstStyle/>
          <a:p>
            <a:endParaRPr/>
          </a:p>
        </p:txBody>
      </p:sp>
      <p:sp>
        <p:nvSpPr>
          <p:cNvPr id="5" name="object 5"/>
          <p:cNvSpPr txBox="1"/>
          <p:nvPr/>
        </p:nvSpPr>
        <p:spPr>
          <a:xfrm>
            <a:off x="603243" y="767842"/>
            <a:ext cx="7910195" cy="4792980"/>
          </a:xfrm>
          <a:prstGeom prst="rect">
            <a:avLst/>
          </a:prstGeom>
        </p:spPr>
        <p:txBody>
          <a:bodyPr vert="horz" wrap="square" lIns="0" tIns="12700" rIns="0" bIns="0" rtlCol="0">
            <a:spAutoFit/>
          </a:bodyPr>
          <a:lstStyle/>
          <a:p>
            <a:pPr marL="12700" marR="68580">
              <a:lnSpc>
                <a:spcPct val="100000"/>
              </a:lnSpc>
              <a:spcBef>
                <a:spcPts val="100"/>
              </a:spcBef>
            </a:pPr>
            <a:r>
              <a:rPr sz="1300" b="1" dirty="0">
                <a:latin typeface="Times New Roman"/>
                <a:cs typeface="Times New Roman"/>
              </a:rPr>
              <a:t>MGD</a:t>
            </a:r>
            <a:r>
              <a:rPr sz="1300" b="1" spc="-30" dirty="0">
                <a:latin typeface="Times New Roman"/>
                <a:cs typeface="Times New Roman"/>
              </a:rPr>
              <a:t> </a:t>
            </a:r>
            <a:r>
              <a:rPr sz="1300" b="1" dirty="0">
                <a:latin typeface="Times New Roman"/>
                <a:cs typeface="Times New Roman"/>
              </a:rPr>
              <a:t>Chassis</a:t>
            </a:r>
            <a:r>
              <a:rPr sz="1300" b="1" spc="-35" dirty="0">
                <a:latin typeface="Times New Roman"/>
                <a:cs typeface="Times New Roman"/>
              </a:rPr>
              <a:t> </a:t>
            </a:r>
            <a:r>
              <a:rPr sz="1300" dirty="0">
                <a:latin typeface="Times New Roman"/>
                <a:cs typeface="Times New Roman"/>
              </a:rPr>
              <a:t>–</a:t>
            </a:r>
            <a:r>
              <a:rPr sz="1300" spc="-30" dirty="0">
                <a:latin typeface="Times New Roman"/>
                <a:cs typeface="Times New Roman"/>
              </a:rPr>
              <a:t> </a:t>
            </a:r>
            <a:r>
              <a:rPr sz="1300" b="1" spc="-10" dirty="0">
                <a:latin typeface="Times New Roman"/>
                <a:cs typeface="Times New Roman"/>
              </a:rPr>
              <a:t>M</a:t>
            </a:r>
            <a:r>
              <a:rPr sz="1300" spc="-10" dirty="0">
                <a:latin typeface="Times New Roman"/>
                <a:cs typeface="Times New Roman"/>
              </a:rPr>
              <a:t>ulti-</a:t>
            </a:r>
            <a:r>
              <a:rPr sz="1300" b="1" dirty="0">
                <a:latin typeface="Times New Roman"/>
                <a:cs typeface="Times New Roman"/>
              </a:rPr>
              <a:t>G</a:t>
            </a:r>
            <a:r>
              <a:rPr sz="1300" dirty="0">
                <a:latin typeface="Times New Roman"/>
                <a:cs typeface="Times New Roman"/>
              </a:rPr>
              <a:t>enerational</a:t>
            </a:r>
            <a:r>
              <a:rPr sz="1300" spc="-30" dirty="0">
                <a:latin typeface="Times New Roman"/>
                <a:cs typeface="Times New Roman"/>
              </a:rPr>
              <a:t> </a:t>
            </a:r>
            <a:r>
              <a:rPr sz="1300" b="1" dirty="0">
                <a:latin typeface="Times New Roman"/>
                <a:cs typeface="Times New Roman"/>
              </a:rPr>
              <a:t>D</a:t>
            </a:r>
            <a:r>
              <a:rPr sz="1300" dirty="0">
                <a:latin typeface="Times New Roman"/>
                <a:cs typeface="Times New Roman"/>
              </a:rPr>
              <a:t>ata</a:t>
            </a:r>
            <a:r>
              <a:rPr sz="1300" spc="-25" dirty="0">
                <a:latin typeface="Times New Roman"/>
                <a:cs typeface="Times New Roman"/>
              </a:rPr>
              <a:t> </a:t>
            </a:r>
            <a:r>
              <a:rPr sz="1300" dirty="0">
                <a:latin typeface="Times New Roman"/>
                <a:cs typeface="Times New Roman"/>
              </a:rPr>
              <a:t>acquisition</a:t>
            </a:r>
            <a:r>
              <a:rPr sz="1300" spc="-30" dirty="0">
                <a:latin typeface="Times New Roman"/>
                <a:cs typeface="Times New Roman"/>
              </a:rPr>
              <a:t>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a:t>
            </a:r>
            <a:r>
              <a:rPr sz="1300" spc="-25" dirty="0">
                <a:latin typeface="Times New Roman"/>
                <a:cs typeface="Times New Roman"/>
              </a:rPr>
              <a:t> </a:t>
            </a:r>
            <a:r>
              <a:rPr sz="1300" dirty="0">
                <a:latin typeface="Times New Roman"/>
                <a:cs typeface="Times New Roman"/>
              </a:rPr>
              <a:t>consists</a:t>
            </a:r>
            <a:r>
              <a:rPr sz="1300" spc="-30"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components</a:t>
            </a:r>
            <a:r>
              <a:rPr sz="1300" spc="-30" dirty="0">
                <a:latin typeface="Times New Roman"/>
                <a:cs typeface="Times New Roman"/>
              </a:rPr>
              <a:t> </a:t>
            </a:r>
            <a:r>
              <a:rPr sz="1300" dirty="0">
                <a:latin typeface="Times New Roman"/>
                <a:cs typeface="Times New Roman"/>
              </a:rPr>
              <a:t>that</a:t>
            </a:r>
            <a:r>
              <a:rPr sz="1300" spc="-25" dirty="0">
                <a:latin typeface="Times New Roman"/>
                <a:cs typeface="Times New Roman"/>
              </a:rPr>
              <a:t> </a:t>
            </a:r>
            <a:r>
              <a:rPr sz="1300" dirty="0">
                <a:latin typeface="Times New Roman"/>
                <a:cs typeface="Times New Roman"/>
              </a:rPr>
              <a:t>generate</a:t>
            </a:r>
            <a:r>
              <a:rPr sz="1300" spc="-3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timed</a:t>
            </a:r>
            <a:r>
              <a:rPr sz="1300" spc="-30" dirty="0">
                <a:latin typeface="Times New Roman"/>
                <a:cs typeface="Times New Roman"/>
              </a:rPr>
              <a:t> </a:t>
            </a:r>
            <a:r>
              <a:rPr sz="1300" spc="-10" dirty="0">
                <a:latin typeface="Times New Roman"/>
                <a:cs typeface="Times New Roman"/>
              </a:rPr>
              <a:t>control </a:t>
            </a:r>
            <a:r>
              <a:rPr sz="1300" dirty="0">
                <a:latin typeface="Times New Roman"/>
                <a:cs typeface="Times New Roman"/>
              </a:rPr>
              <a:t>signals</a:t>
            </a:r>
            <a:r>
              <a:rPr sz="1300" spc="-30" dirty="0">
                <a:latin typeface="Times New Roman"/>
                <a:cs typeface="Times New Roman"/>
              </a:rPr>
              <a:t> </a:t>
            </a:r>
            <a:r>
              <a:rPr sz="1300" dirty="0">
                <a:latin typeface="Times New Roman"/>
                <a:cs typeface="Times New Roman"/>
              </a:rPr>
              <a:t>necessary</a:t>
            </a:r>
            <a:r>
              <a:rPr sz="1300" spc="-30"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control</a:t>
            </a:r>
            <a:r>
              <a:rPr sz="1300" spc="-30"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MR</a:t>
            </a:r>
            <a:r>
              <a:rPr sz="1300" spc="-25" dirty="0">
                <a:latin typeface="Times New Roman"/>
                <a:cs typeface="Times New Roman"/>
              </a:rPr>
              <a:t> </a:t>
            </a:r>
            <a:r>
              <a:rPr sz="1300" dirty="0">
                <a:latin typeface="Times New Roman"/>
                <a:cs typeface="Times New Roman"/>
              </a:rPr>
              <a:t>imaging</a:t>
            </a:r>
            <a:r>
              <a:rPr sz="1300" spc="-30" dirty="0">
                <a:latin typeface="Times New Roman"/>
                <a:cs typeface="Times New Roman"/>
              </a:rPr>
              <a:t> </a:t>
            </a:r>
            <a:r>
              <a:rPr sz="1300" dirty="0">
                <a:latin typeface="Times New Roman"/>
                <a:cs typeface="Times New Roman"/>
              </a:rPr>
              <a:t>system</a:t>
            </a:r>
            <a:r>
              <a:rPr sz="1300" spc="-35" dirty="0">
                <a:latin typeface="Times New Roman"/>
                <a:cs typeface="Times New Roman"/>
              </a:rPr>
              <a:t> </a:t>
            </a:r>
            <a:r>
              <a:rPr sz="1300" dirty="0">
                <a:latin typeface="Times New Roman"/>
                <a:cs typeface="Times New Roman"/>
              </a:rPr>
              <a:t>under</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direction</a:t>
            </a:r>
            <a:r>
              <a:rPr sz="1300" spc="-25" dirty="0">
                <a:latin typeface="Times New Roman"/>
                <a:cs typeface="Times New Roman"/>
              </a:rPr>
              <a:t> </a:t>
            </a:r>
            <a:r>
              <a:rPr sz="1300" dirty="0">
                <a:latin typeface="Times New Roman"/>
                <a:cs typeface="Times New Roman"/>
              </a:rPr>
              <a:t>of</a:t>
            </a:r>
            <a:r>
              <a:rPr sz="1300" spc="-30"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imaging</a:t>
            </a:r>
            <a:r>
              <a:rPr sz="1300" spc="-25" dirty="0">
                <a:latin typeface="Times New Roman"/>
                <a:cs typeface="Times New Roman"/>
              </a:rPr>
              <a:t> </a:t>
            </a:r>
            <a:r>
              <a:rPr sz="1300" dirty="0">
                <a:latin typeface="Times New Roman"/>
                <a:cs typeface="Times New Roman"/>
              </a:rPr>
              <a:t>sequence.</a:t>
            </a:r>
            <a:r>
              <a:rPr sz="1300" spc="-30" dirty="0">
                <a:latin typeface="Times New Roman"/>
                <a:cs typeface="Times New Roman"/>
              </a:rPr>
              <a:t> </a:t>
            </a:r>
            <a:r>
              <a:rPr sz="1300" dirty="0">
                <a:latin typeface="Times New Roman"/>
                <a:cs typeface="Times New Roman"/>
              </a:rPr>
              <a:t>(pulse</a:t>
            </a:r>
            <a:r>
              <a:rPr sz="1300" spc="-30" dirty="0">
                <a:latin typeface="Times New Roman"/>
                <a:cs typeface="Times New Roman"/>
              </a:rPr>
              <a:t> </a:t>
            </a:r>
            <a:r>
              <a:rPr sz="1300" spc="-10" dirty="0">
                <a:latin typeface="Times New Roman"/>
                <a:cs typeface="Times New Roman"/>
              </a:rPr>
              <a:t>sequence) </a:t>
            </a:r>
            <a:r>
              <a:rPr sz="1300" dirty="0">
                <a:latin typeface="Times New Roman"/>
                <a:cs typeface="Times New Roman"/>
              </a:rPr>
              <a:t>These</a:t>
            </a:r>
            <a:r>
              <a:rPr sz="1300" spc="-25" dirty="0">
                <a:latin typeface="Times New Roman"/>
                <a:cs typeface="Times New Roman"/>
              </a:rPr>
              <a:t> </a:t>
            </a:r>
            <a:r>
              <a:rPr sz="1300" dirty="0">
                <a:latin typeface="Times New Roman"/>
                <a:cs typeface="Times New Roman"/>
              </a:rPr>
              <a:t>control</a:t>
            </a:r>
            <a:r>
              <a:rPr sz="1300" spc="-25" dirty="0">
                <a:latin typeface="Times New Roman"/>
                <a:cs typeface="Times New Roman"/>
              </a:rPr>
              <a:t> </a:t>
            </a:r>
            <a:r>
              <a:rPr sz="1300" dirty="0">
                <a:latin typeface="Times New Roman"/>
                <a:cs typeface="Times New Roman"/>
              </a:rPr>
              <a:t>signals</a:t>
            </a:r>
            <a:r>
              <a:rPr sz="1300" spc="-20" dirty="0">
                <a:latin typeface="Times New Roman"/>
                <a:cs typeface="Times New Roman"/>
              </a:rPr>
              <a:t> </a:t>
            </a:r>
            <a:r>
              <a:rPr sz="1300" dirty="0">
                <a:latin typeface="Times New Roman"/>
                <a:cs typeface="Times New Roman"/>
              </a:rPr>
              <a:t>drive</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gradient</a:t>
            </a:r>
            <a:r>
              <a:rPr sz="1300" spc="-15" dirty="0">
                <a:latin typeface="Times New Roman"/>
                <a:cs typeface="Times New Roman"/>
              </a:rPr>
              <a:t> </a:t>
            </a:r>
            <a:r>
              <a:rPr sz="1300" dirty="0">
                <a:latin typeface="Times New Roman"/>
                <a:cs typeface="Times New Roman"/>
              </a:rPr>
              <a:t>output,</a:t>
            </a:r>
            <a:r>
              <a:rPr sz="1300" spc="-25" dirty="0">
                <a:latin typeface="Times New Roman"/>
                <a:cs typeface="Times New Roman"/>
              </a:rPr>
              <a:t> </a:t>
            </a:r>
            <a:r>
              <a:rPr sz="1300" dirty="0">
                <a:latin typeface="Times New Roman"/>
                <a:cs typeface="Times New Roman"/>
              </a:rPr>
              <a:t>rf</a:t>
            </a:r>
            <a:r>
              <a:rPr sz="1300" spc="-25" dirty="0">
                <a:latin typeface="Times New Roman"/>
                <a:cs typeface="Times New Roman"/>
              </a:rPr>
              <a:t> </a:t>
            </a:r>
            <a:r>
              <a:rPr sz="1300" dirty="0">
                <a:latin typeface="Times New Roman"/>
                <a:cs typeface="Times New Roman"/>
              </a:rPr>
              <a:t>output,</a:t>
            </a:r>
            <a:r>
              <a:rPr sz="1300" spc="-20" dirty="0">
                <a:latin typeface="Times New Roman"/>
                <a:cs typeface="Times New Roman"/>
              </a:rPr>
              <a:t> </a:t>
            </a:r>
            <a:r>
              <a:rPr sz="1300" dirty="0">
                <a:latin typeface="Times New Roman"/>
                <a:cs typeface="Times New Roman"/>
              </a:rPr>
              <a:t>as</a:t>
            </a:r>
            <a:r>
              <a:rPr sz="1300" spc="-25" dirty="0">
                <a:latin typeface="Times New Roman"/>
                <a:cs typeface="Times New Roman"/>
              </a:rPr>
              <a:t> </a:t>
            </a:r>
            <a:r>
              <a:rPr sz="1300" dirty="0">
                <a:latin typeface="Times New Roman"/>
                <a:cs typeface="Times New Roman"/>
              </a:rPr>
              <a:t>well</a:t>
            </a:r>
            <a:r>
              <a:rPr sz="1300" spc="-25" dirty="0">
                <a:latin typeface="Times New Roman"/>
                <a:cs typeface="Times New Roman"/>
              </a:rPr>
              <a:t> </a:t>
            </a:r>
            <a:r>
              <a:rPr sz="1300" dirty="0">
                <a:latin typeface="Times New Roman"/>
                <a:cs typeface="Times New Roman"/>
              </a:rPr>
              <a:t>as</a:t>
            </a:r>
            <a:r>
              <a:rPr sz="1300" spc="-20" dirty="0">
                <a:latin typeface="Times New Roman"/>
                <a:cs typeface="Times New Roman"/>
              </a:rPr>
              <a:t> </a:t>
            </a:r>
            <a:r>
              <a:rPr sz="1300" dirty="0">
                <a:latin typeface="Times New Roman"/>
                <a:cs typeface="Times New Roman"/>
              </a:rPr>
              <a:t>gate</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rf</a:t>
            </a:r>
            <a:r>
              <a:rPr sz="1300" spc="-10" dirty="0">
                <a:latin typeface="Times New Roman"/>
                <a:cs typeface="Times New Roman"/>
              </a:rPr>
              <a:t> </a:t>
            </a:r>
            <a:r>
              <a:rPr sz="1300" dirty="0">
                <a:latin typeface="Times New Roman"/>
                <a:cs typeface="Times New Roman"/>
              </a:rPr>
              <a:t>receive</a:t>
            </a:r>
            <a:r>
              <a:rPr sz="1300" spc="-25" dirty="0">
                <a:latin typeface="Times New Roman"/>
                <a:cs typeface="Times New Roman"/>
              </a:rPr>
              <a:t> </a:t>
            </a:r>
            <a:r>
              <a:rPr sz="1300" dirty="0">
                <a:latin typeface="Times New Roman"/>
                <a:cs typeface="Times New Roman"/>
              </a:rPr>
              <a:t>window.</a:t>
            </a:r>
            <a:r>
              <a:rPr sz="1300" spc="-25" dirty="0">
                <a:latin typeface="Times New Roman"/>
                <a:cs typeface="Times New Roman"/>
              </a:rPr>
              <a:t> </a:t>
            </a:r>
            <a:r>
              <a:rPr sz="1300" dirty="0">
                <a:latin typeface="Times New Roman"/>
                <a:cs typeface="Times New Roman"/>
              </a:rPr>
              <a:t>Details</a:t>
            </a:r>
            <a:r>
              <a:rPr sz="1300" spc="-20"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spc="-10" dirty="0">
                <a:latin typeface="Times New Roman"/>
                <a:cs typeface="Times New Roman"/>
              </a:rPr>
              <a:t>circuit </a:t>
            </a:r>
            <a:r>
              <a:rPr sz="1300" dirty="0">
                <a:latin typeface="Times New Roman"/>
                <a:cs typeface="Times New Roman"/>
              </a:rPr>
              <a:t>board</a:t>
            </a:r>
            <a:r>
              <a:rPr sz="1300" spc="-40" dirty="0">
                <a:latin typeface="Times New Roman"/>
                <a:cs typeface="Times New Roman"/>
              </a:rPr>
              <a:t> </a:t>
            </a:r>
            <a:r>
              <a:rPr sz="1300" dirty="0">
                <a:latin typeface="Times New Roman"/>
                <a:cs typeface="Times New Roman"/>
              </a:rPr>
              <a:t>functionality</a:t>
            </a:r>
            <a:r>
              <a:rPr sz="1300" spc="-35" dirty="0">
                <a:latin typeface="Times New Roman"/>
                <a:cs typeface="Times New Roman"/>
              </a:rPr>
              <a:t> </a:t>
            </a:r>
            <a:r>
              <a:rPr sz="1300" dirty="0">
                <a:latin typeface="Times New Roman"/>
                <a:cs typeface="Times New Roman"/>
              </a:rPr>
              <a:t>is</a:t>
            </a:r>
            <a:r>
              <a:rPr sz="1300" spc="-35" dirty="0">
                <a:latin typeface="Times New Roman"/>
                <a:cs typeface="Times New Roman"/>
              </a:rPr>
              <a:t> </a:t>
            </a:r>
            <a:r>
              <a:rPr sz="1300" dirty="0">
                <a:latin typeface="Times New Roman"/>
                <a:cs typeface="Times New Roman"/>
              </a:rPr>
              <a:t>described</a:t>
            </a:r>
            <a:r>
              <a:rPr sz="1300" spc="-35" dirty="0">
                <a:latin typeface="Times New Roman"/>
                <a:cs typeface="Times New Roman"/>
              </a:rPr>
              <a:t> </a:t>
            </a:r>
            <a:r>
              <a:rPr sz="1300" spc="-10" dirty="0">
                <a:latin typeface="Times New Roman"/>
                <a:cs typeface="Times New Roman"/>
              </a:rPr>
              <a:t>later.</a:t>
            </a:r>
            <a:endParaRPr sz="1300">
              <a:latin typeface="Times New Roman"/>
              <a:cs typeface="Times New Roman"/>
            </a:endParaRPr>
          </a:p>
          <a:p>
            <a:pPr marL="12700" marR="151765">
              <a:lnSpc>
                <a:spcPct val="100000"/>
              </a:lnSpc>
              <a:spcBef>
                <a:spcPts val="800"/>
              </a:spcBef>
            </a:pPr>
            <a:r>
              <a:rPr sz="1300" b="1" dirty="0">
                <a:latin typeface="Times New Roman"/>
                <a:cs typeface="Times New Roman"/>
              </a:rPr>
              <a:t>ASC</a:t>
            </a:r>
            <a:r>
              <a:rPr sz="1300" b="1" spc="-30" dirty="0">
                <a:latin typeface="Times New Roman"/>
                <a:cs typeface="Times New Roman"/>
              </a:rPr>
              <a:t> </a:t>
            </a:r>
            <a:r>
              <a:rPr sz="1300" b="1" dirty="0">
                <a:latin typeface="Times New Roman"/>
                <a:cs typeface="Times New Roman"/>
              </a:rPr>
              <a:t>Chassis</a:t>
            </a:r>
            <a:r>
              <a:rPr sz="1300" b="1" spc="-30" dirty="0">
                <a:latin typeface="Times New Roman"/>
                <a:cs typeface="Times New Roman"/>
              </a:rPr>
              <a:t> </a:t>
            </a:r>
            <a:r>
              <a:rPr sz="1300" dirty="0">
                <a:latin typeface="Times New Roman"/>
                <a:cs typeface="Times New Roman"/>
              </a:rPr>
              <a:t>–</a:t>
            </a:r>
            <a:r>
              <a:rPr sz="1300" spc="-35" dirty="0">
                <a:latin typeface="Times New Roman"/>
                <a:cs typeface="Times New Roman"/>
              </a:rPr>
              <a:t> </a:t>
            </a:r>
            <a:r>
              <a:rPr sz="1300" b="1" dirty="0">
                <a:latin typeface="Times New Roman"/>
                <a:cs typeface="Times New Roman"/>
              </a:rPr>
              <a:t>A</a:t>
            </a:r>
            <a:r>
              <a:rPr sz="1300" dirty="0">
                <a:latin typeface="Times New Roman"/>
                <a:cs typeface="Times New Roman"/>
              </a:rPr>
              <a:t>mplifier</a:t>
            </a:r>
            <a:r>
              <a:rPr sz="1300" spc="-30" dirty="0">
                <a:latin typeface="Times New Roman"/>
                <a:cs typeface="Times New Roman"/>
              </a:rPr>
              <a:t> </a:t>
            </a:r>
            <a:r>
              <a:rPr sz="1300" b="1" dirty="0">
                <a:latin typeface="Times New Roman"/>
                <a:cs typeface="Times New Roman"/>
              </a:rPr>
              <a:t>S</a:t>
            </a:r>
            <a:r>
              <a:rPr sz="1300" dirty="0">
                <a:latin typeface="Times New Roman"/>
                <a:cs typeface="Times New Roman"/>
              </a:rPr>
              <a:t>upport</a:t>
            </a:r>
            <a:r>
              <a:rPr sz="1300" spc="-30" dirty="0">
                <a:latin typeface="Times New Roman"/>
                <a:cs typeface="Times New Roman"/>
              </a:rPr>
              <a:t> </a:t>
            </a:r>
            <a:r>
              <a:rPr sz="1300" b="1" dirty="0">
                <a:latin typeface="Times New Roman"/>
                <a:cs typeface="Times New Roman"/>
              </a:rPr>
              <a:t>C</a:t>
            </a:r>
            <a:r>
              <a:rPr sz="1300" dirty="0">
                <a:latin typeface="Times New Roman"/>
                <a:cs typeface="Times New Roman"/>
              </a:rPr>
              <a:t>ontroller</a:t>
            </a:r>
            <a:r>
              <a:rPr sz="1300" spc="-25" dirty="0">
                <a:latin typeface="Times New Roman"/>
                <a:cs typeface="Times New Roman"/>
              </a:rPr>
              <a:t> </a:t>
            </a:r>
            <a:r>
              <a:rPr sz="1300" dirty="0">
                <a:latin typeface="Times New Roman"/>
                <a:cs typeface="Times New Roman"/>
              </a:rPr>
              <a:t>–</a:t>
            </a:r>
            <a:r>
              <a:rPr sz="1300" spc="-20" dirty="0">
                <a:latin typeface="Times New Roman"/>
                <a:cs typeface="Times New Roman"/>
              </a:rPr>
              <a:t> </a:t>
            </a:r>
            <a:r>
              <a:rPr sz="1300" dirty="0">
                <a:latin typeface="Times New Roman"/>
                <a:cs typeface="Times New Roman"/>
              </a:rPr>
              <a:t>provides</a:t>
            </a:r>
            <a:r>
              <a:rPr sz="1300" spc="-30"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Narrow</a:t>
            </a:r>
            <a:r>
              <a:rPr sz="1300" spc="-35" dirty="0">
                <a:latin typeface="Times New Roman"/>
                <a:cs typeface="Times New Roman"/>
              </a:rPr>
              <a:t> </a:t>
            </a:r>
            <a:r>
              <a:rPr sz="1300" dirty="0">
                <a:latin typeface="Times New Roman"/>
                <a:cs typeface="Times New Roman"/>
              </a:rPr>
              <a:t>and</a:t>
            </a:r>
            <a:r>
              <a:rPr sz="1300" spc="-35" dirty="0">
                <a:latin typeface="Times New Roman"/>
                <a:cs typeface="Times New Roman"/>
              </a:rPr>
              <a:t> </a:t>
            </a:r>
            <a:r>
              <a:rPr sz="1300" dirty="0">
                <a:latin typeface="Times New Roman"/>
                <a:cs typeface="Times New Roman"/>
              </a:rPr>
              <a:t>Broadband</a:t>
            </a:r>
            <a:r>
              <a:rPr sz="1300" spc="-30" dirty="0">
                <a:latin typeface="Times New Roman"/>
                <a:cs typeface="Times New Roman"/>
              </a:rPr>
              <a:t> </a:t>
            </a:r>
            <a:r>
              <a:rPr sz="1300" dirty="0">
                <a:latin typeface="Times New Roman"/>
                <a:cs typeface="Times New Roman"/>
              </a:rPr>
              <a:t>RF</a:t>
            </a:r>
            <a:r>
              <a:rPr sz="1300" spc="-35" dirty="0">
                <a:latin typeface="Times New Roman"/>
                <a:cs typeface="Times New Roman"/>
              </a:rPr>
              <a:t> </a:t>
            </a:r>
            <a:r>
              <a:rPr sz="1300" dirty="0">
                <a:latin typeface="Times New Roman"/>
                <a:cs typeface="Times New Roman"/>
              </a:rPr>
              <a:t>Amplifier</a:t>
            </a:r>
            <a:r>
              <a:rPr sz="1300" spc="-25" dirty="0">
                <a:latin typeface="Times New Roman"/>
                <a:cs typeface="Times New Roman"/>
              </a:rPr>
              <a:t> </a:t>
            </a:r>
            <a:r>
              <a:rPr sz="1300" dirty="0">
                <a:latin typeface="Times New Roman"/>
                <a:cs typeface="Times New Roman"/>
              </a:rPr>
              <a:t>interface</a:t>
            </a:r>
            <a:r>
              <a:rPr sz="1300" spc="-25" dirty="0">
                <a:latin typeface="Times New Roman"/>
                <a:cs typeface="Times New Roman"/>
              </a:rPr>
              <a:t> </a:t>
            </a:r>
            <a:r>
              <a:rPr sz="1300" spc="-10" dirty="0">
                <a:latin typeface="Times New Roman"/>
                <a:cs typeface="Times New Roman"/>
              </a:rPr>
              <a:t>(Control </a:t>
            </a:r>
            <a:r>
              <a:rPr sz="1300" dirty="0">
                <a:latin typeface="Times New Roman"/>
                <a:cs typeface="Times New Roman"/>
              </a:rPr>
              <a:t>signals)</a:t>
            </a:r>
            <a:r>
              <a:rPr sz="1300" spc="-25"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RF</a:t>
            </a:r>
            <a:r>
              <a:rPr sz="1300" spc="-20" dirty="0">
                <a:latin typeface="Times New Roman"/>
                <a:cs typeface="Times New Roman"/>
              </a:rPr>
              <a:t> </a:t>
            </a:r>
            <a:r>
              <a:rPr sz="1300" dirty="0">
                <a:latin typeface="Times New Roman"/>
                <a:cs typeface="Times New Roman"/>
              </a:rPr>
              <a:t>Power</a:t>
            </a:r>
            <a:r>
              <a:rPr sz="1300" spc="-25" dirty="0">
                <a:latin typeface="Times New Roman"/>
                <a:cs typeface="Times New Roman"/>
              </a:rPr>
              <a:t> </a:t>
            </a:r>
            <a:r>
              <a:rPr sz="1300" dirty="0">
                <a:latin typeface="Times New Roman"/>
                <a:cs typeface="Times New Roman"/>
              </a:rPr>
              <a:t>Monitoring.</a:t>
            </a:r>
            <a:r>
              <a:rPr sz="1300" spc="280" dirty="0">
                <a:latin typeface="Times New Roman"/>
                <a:cs typeface="Times New Roman"/>
              </a:rPr>
              <a:t> </a:t>
            </a:r>
            <a:r>
              <a:rPr sz="1300" dirty="0">
                <a:latin typeface="Times New Roman"/>
                <a:cs typeface="Times New Roman"/>
              </a:rPr>
              <a:t>See</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ASC</a:t>
            </a:r>
            <a:r>
              <a:rPr sz="1300" spc="-25" dirty="0">
                <a:latin typeface="Times New Roman"/>
                <a:cs typeface="Times New Roman"/>
              </a:rPr>
              <a:t> </a:t>
            </a:r>
            <a:r>
              <a:rPr sz="1300" dirty="0">
                <a:latin typeface="Times New Roman"/>
                <a:cs typeface="Times New Roman"/>
              </a:rPr>
              <a:t>help</a:t>
            </a:r>
            <a:r>
              <a:rPr sz="1300" spc="-30" dirty="0">
                <a:latin typeface="Times New Roman"/>
                <a:cs typeface="Times New Roman"/>
              </a:rPr>
              <a:t> </a:t>
            </a:r>
            <a:r>
              <a:rPr sz="1300" dirty="0">
                <a:latin typeface="Times New Roman"/>
                <a:cs typeface="Times New Roman"/>
              </a:rPr>
              <a:t>pages</a:t>
            </a:r>
            <a:r>
              <a:rPr sz="1300" spc="-25" dirty="0">
                <a:latin typeface="Times New Roman"/>
                <a:cs typeface="Times New Roman"/>
              </a:rPr>
              <a:t> </a:t>
            </a:r>
            <a:r>
              <a:rPr sz="1300" dirty="0">
                <a:latin typeface="Times New Roman"/>
                <a:cs typeface="Times New Roman"/>
              </a:rPr>
              <a:t>for</a:t>
            </a:r>
            <a:r>
              <a:rPr sz="1300" spc="-20" dirty="0">
                <a:latin typeface="Times New Roman"/>
                <a:cs typeface="Times New Roman"/>
              </a:rPr>
              <a:t> </a:t>
            </a:r>
            <a:r>
              <a:rPr sz="1300" dirty="0">
                <a:latin typeface="Times New Roman"/>
                <a:cs typeface="Times New Roman"/>
              </a:rPr>
              <a:t>more</a:t>
            </a:r>
            <a:r>
              <a:rPr sz="1300" spc="-25" dirty="0">
                <a:latin typeface="Times New Roman"/>
                <a:cs typeface="Times New Roman"/>
              </a:rPr>
              <a:t> </a:t>
            </a:r>
            <a:r>
              <a:rPr sz="1300" spc="-10" dirty="0">
                <a:latin typeface="Times New Roman"/>
                <a:cs typeface="Times New Roman"/>
              </a:rPr>
              <a:t>details.</a:t>
            </a:r>
            <a:endParaRPr sz="1300">
              <a:latin typeface="Times New Roman"/>
              <a:cs typeface="Times New Roman"/>
            </a:endParaRPr>
          </a:p>
          <a:p>
            <a:pPr marL="12700" marR="5080">
              <a:lnSpc>
                <a:spcPct val="100000"/>
              </a:lnSpc>
              <a:spcBef>
                <a:spcPts val="790"/>
              </a:spcBef>
            </a:pPr>
            <a:r>
              <a:rPr sz="1300" b="1" dirty="0">
                <a:latin typeface="Times New Roman"/>
                <a:cs typeface="Times New Roman"/>
              </a:rPr>
              <a:t>CAM</a:t>
            </a:r>
            <a:r>
              <a:rPr sz="1300" b="1" spc="-30" dirty="0">
                <a:latin typeface="Times New Roman"/>
                <a:cs typeface="Times New Roman"/>
              </a:rPr>
              <a:t> </a:t>
            </a:r>
            <a:r>
              <a:rPr sz="1300" b="1" dirty="0">
                <a:latin typeface="Times New Roman"/>
                <a:cs typeface="Times New Roman"/>
              </a:rPr>
              <a:t>Chassis</a:t>
            </a:r>
            <a:r>
              <a:rPr sz="1300" b="1" spc="-25" dirty="0">
                <a:latin typeface="Times New Roman"/>
                <a:cs typeface="Times New Roman"/>
              </a:rPr>
              <a:t> </a:t>
            </a:r>
            <a:r>
              <a:rPr sz="1300" dirty="0">
                <a:latin typeface="Times New Roman"/>
                <a:cs typeface="Times New Roman"/>
              </a:rPr>
              <a:t>–</a:t>
            </a:r>
            <a:r>
              <a:rPr sz="1300" spc="-30" dirty="0">
                <a:latin typeface="Times New Roman"/>
                <a:cs typeface="Times New Roman"/>
              </a:rPr>
              <a:t> </a:t>
            </a:r>
            <a:r>
              <a:rPr sz="1300" b="1" dirty="0">
                <a:latin typeface="Times New Roman"/>
                <a:cs typeface="Times New Roman"/>
              </a:rPr>
              <a:t>C</a:t>
            </a:r>
            <a:r>
              <a:rPr sz="1300" dirty="0">
                <a:latin typeface="Times New Roman"/>
                <a:cs typeface="Times New Roman"/>
              </a:rPr>
              <a:t>ombined</a:t>
            </a:r>
            <a:r>
              <a:rPr sz="1300" spc="-20" dirty="0">
                <a:latin typeface="Times New Roman"/>
                <a:cs typeface="Times New Roman"/>
              </a:rPr>
              <a:t> </a:t>
            </a:r>
            <a:r>
              <a:rPr sz="1300" b="1" dirty="0">
                <a:latin typeface="Times New Roman"/>
                <a:cs typeface="Times New Roman"/>
              </a:rPr>
              <a:t>A</a:t>
            </a:r>
            <a:r>
              <a:rPr sz="1300" dirty="0">
                <a:latin typeface="Times New Roman"/>
                <a:cs typeface="Times New Roman"/>
              </a:rPr>
              <a:t>SC</a:t>
            </a:r>
            <a:r>
              <a:rPr sz="1300" spc="-35"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b="1" dirty="0">
                <a:latin typeface="Times New Roman"/>
                <a:cs typeface="Times New Roman"/>
              </a:rPr>
              <a:t>M</a:t>
            </a:r>
            <a:r>
              <a:rPr sz="1300" dirty="0">
                <a:latin typeface="Times New Roman"/>
                <a:cs typeface="Times New Roman"/>
              </a:rPr>
              <a:t>GD</a:t>
            </a:r>
            <a:r>
              <a:rPr sz="1300" spc="-25" dirty="0">
                <a:latin typeface="Times New Roman"/>
                <a:cs typeface="Times New Roman"/>
              </a:rPr>
              <a:t> </a:t>
            </a:r>
            <a:r>
              <a:rPr sz="1300" dirty="0">
                <a:latin typeface="Times New Roman"/>
                <a:cs typeface="Times New Roman"/>
              </a:rPr>
              <a:t>Chassis</a:t>
            </a:r>
            <a:r>
              <a:rPr sz="1300" spc="-20" dirty="0">
                <a:latin typeface="Times New Roman"/>
                <a:cs typeface="Times New Roman"/>
              </a:rPr>
              <a:t> </a:t>
            </a:r>
            <a:r>
              <a:rPr sz="1300" dirty="0">
                <a:latin typeface="Times New Roman"/>
                <a:cs typeface="Times New Roman"/>
              </a:rPr>
              <a:t>–</a:t>
            </a:r>
            <a:r>
              <a:rPr sz="1300" spc="-20" dirty="0">
                <a:latin typeface="Times New Roman"/>
                <a:cs typeface="Times New Roman"/>
              </a:rPr>
              <a:t> </a:t>
            </a:r>
            <a:r>
              <a:rPr sz="1300" dirty="0">
                <a:latin typeface="Times New Roman"/>
                <a:cs typeface="Times New Roman"/>
              </a:rPr>
              <a:t>combines</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MGD</a:t>
            </a:r>
            <a:r>
              <a:rPr sz="1300" spc="-20"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ASC</a:t>
            </a:r>
            <a:r>
              <a:rPr sz="1300" spc="-25" dirty="0">
                <a:latin typeface="Times New Roman"/>
                <a:cs typeface="Times New Roman"/>
              </a:rPr>
              <a:t> </a:t>
            </a:r>
            <a:r>
              <a:rPr sz="1300" dirty="0">
                <a:latin typeface="Times New Roman"/>
                <a:cs typeface="Times New Roman"/>
              </a:rPr>
              <a:t>functionality</a:t>
            </a:r>
            <a:r>
              <a:rPr sz="1300" spc="-25" dirty="0">
                <a:latin typeface="Times New Roman"/>
                <a:cs typeface="Times New Roman"/>
              </a:rPr>
              <a:t> </a:t>
            </a:r>
            <a:r>
              <a:rPr sz="1300" dirty="0">
                <a:latin typeface="Times New Roman"/>
                <a:cs typeface="Times New Roman"/>
              </a:rPr>
              <a:t>into</a:t>
            </a:r>
            <a:r>
              <a:rPr sz="1300" spc="-20" dirty="0">
                <a:latin typeface="Times New Roman"/>
                <a:cs typeface="Times New Roman"/>
              </a:rPr>
              <a:t> </a:t>
            </a:r>
            <a:r>
              <a:rPr sz="1300" dirty="0">
                <a:latin typeface="Times New Roman"/>
                <a:cs typeface="Times New Roman"/>
              </a:rPr>
              <a:t>one</a:t>
            </a:r>
            <a:r>
              <a:rPr sz="1300" spc="-25" dirty="0">
                <a:latin typeface="Times New Roman"/>
                <a:cs typeface="Times New Roman"/>
              </a:rPr>
              <a:t> </a:t>
            </a:r>
            <a:r>
              <a:rPr sz="1300" dirty="0">
                <a:latin typeface="Times New Roman"/>
                <a:cs typeface="Times New Roman"/>
              </a:rPr>
              <a:t>chassis.</a:t>
            </a:r>
            <a:r>
              <a:rPr sz="1300" spc="285" dirty="0">
                <a:latin typeface="Times New Roman"/>
                <a:cs typeface="Times New Roman"/>
              </a:rPr>
              <a:t> </a:t>
            </a:r>
            <a:r>
              <a:rPr sz="1300" spc="-25" dirty="0">
                <a:latin typeface="Times New Roman"/>
                <a:cs typeface="Times New Roman"/>
              </a:rPr>
              <a:t>See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MGD</a:t>
            </a:r>
            <a:r>
              <a:rPr sz="1300" spc="-30" dirty="0">
                <a:latin typeface="Times New Roman"/>
                <a:cs typeface="Times New Roman"/>
              </a:rPr>
              <a:t> </a:t>
            </a:r>
            <a:r>
              <a:rPr sz="1300" dirty="0">
                <a:latin typeface="Times New Roman"/>
                <a:cs typeface="Times New Roman"/>
              </a:rPr>
              <a:t>Chassis</a:t>
            </a:r>
            <a:r>
              <a:rPr sz="1300" spc="-30" dirty="0">
                <a:latin typeface="Times New Roman"/>
                <a:cs typeface="Times New Roman"/>
              </a:rPr>
              <a:t> </a:t>
            </a:r>
            <a:r>
              <a:rPr sz="1300" dirty="0">
                <a:latin typeface="Times New Roman"/>
                <a:cs typeface="Times New Roman"/>
              </a:rPr>
              <a:t>or</a:t>
            </a:r>
            <a:r>
              <a:rPr sz="1300" spc="-30" dirty="0">
                <a:latin typeface="Times New Roman"/>
                <a:cs typeface="Times New Roman"/>
              </a:rPr>
              <a:t> </a:t>
            </a:r>
            <a:r>
              <a:rPr sz="1300" dirty="0">
                <a:latin typeface="Times New Roman"/>
                <a:cs typeface="Times New Roman"/>
              </a:rPr>
              <a:t>ASC</a:t>
            </a:r>
            <a:r>
              <a:rPr sz="1300" spc="-30" dirty="0">
                <a:latin typeface="Times New Roman"/>
                <a:cs typeface="Times New Roman"/>
              </a:rPr>
              <a:t> </a:t>
            </a:r>
            <a:r>
              <a:rPr sz="1300" dirty="0">
                <a:latin typeface="Times New Roman"/>
                <a:cs typeface="Times New Roman"/>
              </a:rPr>
              <a:t>Chassis</a:t>
            </a:r>
            <a:r>
              <a:rPr sz="1300" spc="-35" dirty="0">
                <a:latin typeface="Times New Roman"/>
                <a:cs typeface="Times New Roman"/>
              </a:rPr>
              <a:t> </a:t>
            </a:r>
            <a:r>
              <a:rPr sz="1300" dirty="0">
                <a:latin typeface="Times New Roman"/>
                <a:cs typeface="Times New Roman"/>
              </a:rPr>
              <a:t>for</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detailed</a:t>
            </a:r>
            <a:r>
              <a:rPr sz="1300" spc="-25" dirty="0">
                <a:latin typeface="Times New Roman"/>
                <a:cs typeface="Times New Roman"/>
              </a:rPr>
              <a:t> </a:t>
            </a:r>
            <a:r>
              <a:rPr sz="1300" dirty="0">
                <a:latin typeface="Times New Roman"/>
                <a:cs typeface="Times New Roman"/>
              </a:rPr>
              <a:t>board</a:t>
            </a:r>
            <a:r>
              <a:rPr sz="1300" spc="-25" dirty="0">
                <a:latin typeface="Times New Roman"/>
                <a:cs typeface="Times New Roman"/>
              </a:rPr>
              <a:t> </a:t>
            </a:r>
            <a:r>
              <a:rPr sz="1300" dirty="0">
                <a:latin typeface="Times New Roman"/>
                <a:cs typeface="Times New Roman"/>
              </a:rPr>
              <a:t>functionality.</a:t>
            </a:r>
            <a:r>
              <a:rPr sz="1300" spc="27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CAM</a:t>
            </a:r>
            <a:r>
              <a:rPr sz="1300" spc="-25" dirty="0">
                <a:latin typeface="Times New Roman"/>
                <a:cs typeface="Times New Roman"/>
              </a:rPr>
              <a:t>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differences</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MGD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are</a:t>
            </a:r>
            <a:r>
              <a:rPr sz="1300" spc="-25" dirty="0">
                <a:latin typeface="Times New Roman"/>
                <a:cs typeface="Times New Roman"/>
              </a:rPr>
              <a:t> </a:t>
            </a:r>
            <a:r>
              <a:rPr sz="1300" dirty="0">
                <a:latin typeface="Times New Roman"/>
                <a:cs typeface="Times New Roman"/>
              </a:rPr>
              <a:t>described</a:t>
            </a:r>
            <a:r>
              <a:rPr sz="1300" spc="-25" dirty="0">
                <a:latin typeface="Times New Roman"/>
                <a:cs typeface="Times New Roman"/>
              </a:rPr>
              <a:t> </a:t>
            </a:r>
            <a:r>
              <a:rPr sz="1300" dirty="0">
                <a:latin typeface="Times New Roman"/>
                <a:cs typeface="Times New Roman"/>
              </a:rPr>
              <a:t>in</a:t>
            </a:r>
            <a:r>
              <a:rPr sz="1300" spc="-20" dirty="0">
                <a:latin typeface="Times New Roman"/>
                <a:cs typeface="Times New Roman"/>
              </a:rPr>
              <a:t> </a:t>
            </a:r>
            <a:r>
              <a:rPr sz="1300" dirty="0">
                <a:latin typeface="Times New Roman"/>
                <a:cs typeface="Times New Roman"/>
              </a:rPr>
              <a:t>this</a:t>
            </a:r>
            <a:r>
              <a:rPr sz="1300" spc="-25" dirty="0">
                <a:latin typeface="Times New Roman"/>
                <a:cs typeface="Times New Roman"/>
              </a:rPr>
              <a:t> </a:t>
            </a:r>
            <a:r>
              <a:rPr sz="1300" dirty="0">
                <a:latin typeface="Times New Roman"/>
                <a:cs typeface="Times New Roman"/>
              </a:rPr>
              <a:t>help</a:t>
            </a:r>
            <a:r>
              <a:rPr sz="1300" spc="-25" dirty="0">
                <a:latin typeface="Times New Roman"/>
                <a:cs typeface="Times New Roman"/>
              </a:rPr>
              <a:t> </a:t>
            </a:r>
            <a:r>
              <a:rPr sz="1300" spc="-10" dirty="0">
                <a:latin typeface="Times New Roman"/>
                <a:cs typeface="Times New Roman"/>
              </a:rPr>
              <a:t>document.</a:t>
            </a:r>
            <a:endParaRPr sz="1300">
              <a:latin typeface="Times New Roman"/>
              <a:cs typeface="Times New Roman"/>
            </a:endParaRPr>
          </a:p>
          <a:p>
            <a:pPr marL="12700" marR="269240" indent="-635">
              <a:lnSpc>
                <a:spcPct val="100000"/>
              </a:lnSpc>
              <a:spcBef>
                <a:spcPts val="800"/>
              </a:spcBef>
            </a:pPr>
            <a:r>
              <a:rPr sz="1300" b="1" dirty="0">
                <a:latin typeface="Times New Roman"/>
                <a:cs typeface="Times New Roman"/>
              </a:rPr>
              <a:t>Term</a:t>
            </a:r>
            <a:r>
              <a:rPr sz="1300" b="1" spc="-25" dirty="0">
                <a:latin typeface="Times New Roman"/>
                <a:cs typeface="Times New Roman"/>
              </a:rPr>
              <a:t> </a:t>
            </a:r>
            <a:r>
              <a:rPr sz="1300" b="1" dirty="0">
                <a:latin typeface="Times New Roman"/>
                <a:cs typeface="Times New Roman"/>
              </a:rPr>
              <a:t>Server</a:t>
            </a:r>
            <a:r>
              <a:rPr sz="1300" b="1" spc="-25" dirty="0">
                <a:latin typeface="Times New Roman"/>
                <a:cs typeface="Times New Roman"/>
              </a:rPr>
              <a:t> </a:t>
            </a:r>
            <a:r>
              <a:rPr sz="1300" dirty="0">
                <a:latin typeface="Times New Roman"/>
                <a:cs typeface="Times New Roman"/>
              </a:rPr>
              <a:t>–</a:t>
            </a:r>
            <a:r>
              <a:rPr sz="1300" spc="-15" dirty="0">
                <a:latin typeface="Times New Roman"/>
                <a:cs typeface="Times New Roman"/>
              </a:rPr>
              <a:t> </a:t>
            </a:r>
            <a:r>
              <a:rPr sz="1300" dirty="0">
                <a:latin typeface="Times New Roman"/>
                <a:cs typeface="Times New Roman"/>
              </a:rPr>
              <a:t>permits</a:t>
            </a:r>
            <a:r>
              <a:rPr sz="1300" spc="-25" dirty="0">
                <a:latin typeface="Times New Roman"/>
                <a:cs typeface="Times New Roman"/>
              </a:rPr>
              <a:t> </a:t>
            </a:r>
            <a:r>
              <a:rPr sz="1300" spc="-10" dirty="0">
                <a:latin typeface="Times New Roman"/>
                <a:cs typeface="Times New Roman"/>
              </a:rPr>
              <a:t>RS-</a:t>
            </a:r>
            <a:r>
              <a:rPr sz="1300" dirty="0">
                <a:latin typeface="Times New Roman"/>
                <a:cs typeface="Times New Roman"/>
              </a:rPr>
              <a:t>232C</a:t>
            </a:r>
            <a:r>
              <a:rPr sz="1300" spc="-25" dirty="0">
                <a:latin typeface="Times New Roman"/>
                <a:cs typeface="Times New Roman"/>
              </a:rPr>
              <a:t> </a:t>
            </a:r>
            <a:r>
              <a:rPr sz="1300" dirty="0">
                <a:latin typeface="Times New Roman"/>
                <a:cs typeface="Times New Roman"/>
              </a:rPr>
              <a:t>serial</a:t>
            </a:r>
            <a:r>
              <a:rPr sz="1300" spc="-20" dirty="0">
                <a:latin typeface="Times New Roman"/>
                <a:cs typeface="Times New Roman"/>
              </a:rPr>
              <a:t> </a:t>
            </a:r>
            <a:r>
              <a:rPr sz="1300" dirty="0">
                <a:latin typeface="Times New Roman"/>
                <a:cs typeface="Times New Roman"/>
              </a:rPr>
              <a:t>connection</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each</a:t>
            </a:r>
            <a:r>
              <a:rPr sz="1300" spc="-20"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processor</a:t>
            </a:r>
            <a:r>
              <a:rPr sz="1300" spc="-25" dirty="0">
                <a:latin typeface="Times New Roman"/>
                <a:cs typeface="Times New Roman"/>
              </a:rPr>
              <a:t> </a:t>
            </a:r>
            <a:r>
              <a:rPr sz="1300" dirty="0">
                <a:latin typeface="Times New Roman"/>
                <a:cs typeface="Times New Roman"/>
              </a:rPr>
              <a:t>boards</a:t>
            </a:r>
            <a:r>
              <a:rPr sz="1300" spc="-25" dirty="0">
                <a:latin typeface="Times New Roman"/>
                <a:cs typeface="Times New Roman"/>
              </a:rPr>
              <a:t> </a:t>
            </a:r>
            <a:r>
              <a:rPr sz="1300" dirty="0">
                <a:latin typeface="Times New Roman"/>
                <a:cs typeface="Times New Roman"/>
              </a:rPr>
              <a:t>(APS,</a:t>
            </a:r>
            <a:r>
              <a:rPr sz="1300" spc="-20" dirty="0">
                <a:latin typeface="Times New Roman"/>
                <a:cs typeface="Times New Roman"/>
              </a:rPr>
              <a:t> </a:t>
            </a:r>
            <a:r>
              <a:rPr sz="1300" dirty="0">
                <a:latin typeface="Times New Roman"/>
                <a:cs typeface="Times New Roman"/>
              </a:rPr>
              <a:t>AGP,</a:t>
            </a:r>
            <a:r>
              <a:rPr sz="1300" spc="-25" dirty="0">
                <a:latin typeface="Times New Roman"/>
                <a:cs typeface="Times New Roman"/>
              </a:rPr>
              <a:t> </a:t>
            </a:r>
            <a:r>
              <a:rPr sz="1300" dirty="0">
                <a:latin typeface="Times New Roman"/>
                <a:cs typeface="Times New Roman"/>
              </a:rPr>
              <a:t>SCP)</a:t>
            </a:r>
            <a:r>
              <a:rPr sz="1300" spc="-25" dirty="0">
                <a:latin typeface="Times New Roman"/>
                <a:cs typeface="Times New Roman"/>
              </a:rPr>
              <a:t> </a:t>
            </a:r>
            <a:r>
              <a:rPr sz="1300" dirty="0">
                <a:latin typeface="Times New Roman"/>
                <a:cs typeface="Times New Roman"/>
              </a:rPr>
              <a:t>and</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spc="-20" dirty="0">
                <a:latin typeface="Times New Roman"/>
                <a:cs typeface="Times New Roman"/>
              </a:rPr>
              <a:t>STIF </a:t>
            </a:r>
            <a:r>
              <a:rPr sz="1300" dirty="0">
                <a:latin typeface="Times New Roman"/>
                <a:cs typeface="Times New Roman"/>
              </a:rPr>
              <a:t>Board</a:t>
            </a:r>
            <a:r>
              <a:rPr sz="1300" spc="-30" dirty="0">
                <a:latin typeface="Times New Roman"/>
                <a:cs typeface="Times New Roman"/>
              </a:rPr>
              <a:t> </a:t>
            </a:r>
            <a:r>
              <a:rPr sz="1300" dirty="0">
                <a:latin typeface="Times New Roman"/>
                <a:cs typeface="Times New Roman"/>
              </a:rPr>
              <a:t>by</a:t>
            </a:r>
            <a:r>
              <a:rPr sz="1300" spc="-30" dirty="0">
                <a:latin typeface="Times New Roman"/>
                <a:cs typeface="Times New Roman"/>
              </a:rPr>
              <a:t> </a:t>
            </a:r>
            <a:r>
              <a:rPr sz="1300" dirty="0">
                <a:latin typeface="Times New Roman"/>
                <a:cs typeface="Times New Roman"/>
              </a:rPr>
              <a:t>utilizing</a:t>
            </a:r>
            <a:r>
              <a:rPr sz="1300" spc="-30"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existing</a:t>
            </a:r>
            <a:r>
              <a:rPr sz="1300" spc="-30" dirty="0">
                <a:latin typeface="Times New Roman"/>
                <a:cs typeface="Times New Roman"/>
              </a:rPr>
              <a:t> </a:t>
            </a:r>
            <a:r>
              <a:rPr sz="1300" dirty="0">
                <a:latin typeface="Times New Roman"/>
                <a:cs typeface="Times New Roman"/>
              </a:rPr>
              <a:t>Ethernet</a:t>
            </a:r>
            <a:r>
              <a:rPr sz="1300" spc="-25" dirty="0">
                <a:latin typeface="Times New Roman"/>
                <a:cs typeface="Times New Roman"/>
              </a:rPr>
              <a:t> </a:t>
            </a:r>
            <a:r>
              <a:rPr sz="1300" spc="-10" dirty="0">
                <a:latin typeface="Times New Roman"/>
                <a:cs typeface="Times New Roman"/>
              </a:rPr>
              <a:t>link.</a:t>
            </a:r>
            <a:endParaRPr sz="1300">
              <a:latin typeface="Times New Roman"/>
              <a:cs typeface="Times New Roman"/>
            </a:endParaRPr>
          </a:p>
          <a:p>
            <a:pPr marL="12700" marR="68580">
              <a:lnSpc>
                <a:spcPct val="100000"/>
              </a:lnSpc>
              <a:spcBef>
                <a:spcPts val="790"/>
              </a:spcBef>
            </a:pPr>
            <a:r>
              <a:rPr sz="1300" b="1" dirty="0">
                <a:latin typeface="Times New Roman"/>
                <a:cs typeface="Times New Roman"/>
              </a:rPr>
              <a:t>VRE</a:t>
            </a:r>
            <a:r>
              <a:rPr sz="1300" b="1" spc="-30" dirty="0">
                <a:latin typeface="Times New Roman"/>
                <a:cs typeface="Times New Roman"/>
              </a:rPr>
              <a:t> </a:t>
            </a:r>
            <a:r>
              <a:rPr sz="1300" b="1" dirty="0">
                <a:latin typeface="Times New Roman"/>
                <a:cs typeface="Times New Roman"/>
              </a:rPr>
              <a:t>–</a:t>
            </a:r>
            <a:r>
              <a:rPr sz="1300" b="1" spc="-30" dirty="0">
                <a:latin typeface="Times New Roman"/>
                <a:cs typeface="Times New Roman"/>
              </a:rPr>
              <a:t> </a:t>
            </a:r>
            <a:r>
              <a:rPr sz="1300" b="1" dirty="0">
                <a:latin typeface="Times New Roman"/>
                <a:cs typeface="Times New Roman"/>
              </a:rPr>
              <a:t>Volume</a:t>
            </a:r>
            <a:r>
              <a:rPr sz="1300" b="1" spc="-20" dirty="0">
                <a:latin typeface="Times New Roman"/>
                <a:cs typeface="Times New Roman"/>
              </a:rPr>
              <a:t> </a:t>
            </a:r>
            <a:r>
              <a:rPr sz="1300" b="1" dirty="0">
                <a:latin typeface="Times New Roman"/>
                <a:cs typeface="Times New Roman"/>
              </a:rPr>
              <a:t>Reconstruction</a:t>
            </a:r>
            <a:r>
              <a:rPr sz="1300" b="1" spc="-25" dirty="0">
                <a:latin typeface="Times New Roman"/>
                <a:cs typeface="Times New Roman"/>
              </a:rPr>
              <a:t> </a:t>
            </a:r>
            <a:r>
              <a:rPr sz="1300" b="1" dirty="0">
                <a:latin typeface="Times New Roman"/>
                <a:cs typeface="Times New Roman"/>
              </a:rPr>
              <a:t>Engine</a:t>
            </a:r>
            <a:r>
              <a:rPr sz="1300" b="1" spc="-25" dirty="0">
                <a:latin typeface="Times New Roman"/>
                <a:cs typeface="Times New Roman"/>
              </a:rPr>
              <a:t> </a:t>
            </a:r>
            <a:r>
              <a:rPr sz="1300" b="1" dirty="0">
                <a:latin typeface="Times New Roman"/>
                <a:cs typeface="Times New Roman"/>
              </a:rPr>
              <a:t>–</a:t>
            </a:r>
            <a:r>
              <a:rPr sz="1300" b="1" spc="-30" dirty="0">
                <a:latin typeface="Times New Roman"/>
                <a:cs typeface="Times New Roman"/>
              </a:rPr>
              <a:t> </a:t>
            </a:r>
            <a:r>
              <a:rPr sz="1300" dirty="0">
                <a:latin typeface="Times New Roman"/>
                <a:cs typeface="Times New Roman"/>
              </a:rPr>
              <a:t>which</a:t>
            </a:r>
            <a:r>
              <a:rPr sz="1300" spc="-15" dirty="0">
                <a:latin typeface="Times New Roman"/>
                <a:cs typeface="Times New Roman"/>
              </a:rPr>
              <a:t> </a:t>
            </a:r>
            <a:r>
              <a:rPr sz="1300" dirty="0">
                <a:latin typeface="Times New Roman"/>
                <a:cs typeface="Times New Roman"/>
              </a:rPr>
              <a:t>reconstructs</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image.</a:t>
            </a:r>
            <a:r>
              <a:rPr sz="1300" spc="28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VRE</a:t>
            </a:r>
            <a:r>
              <a:rPr sz="1300" spc="-25" dirty="0">
                <a:latin typeface="Times New Roman"/>
                <a:cs typeface="Times New Roman"/>
              </a:rPr>
              <a:t> </a:t>
            </a:r>
            <a:r>
              <a:rPr sz="1300" dirty="0">
                <a:latin typeface="Times New Roman"/>
                <a:cs typeface="Times New Roman"/>
              </a:rPr>
              <a:t>is</a:t>
            </a:r>
            <a:r>
              <a:rPr sz="1300" spc="-20" dirty="0">
                <a:latin typeface="Times New Roman"/>
                <a:cs typeface="Times New Roman"/>
              </a:rPr>
              <a:t> </a:t>
            </a:r>
            <a:r>
              <a:rPr sz="1300" dirty="0">
                <a:latin typeface="Times New Roman"/>
                <a:cs typeface="Times New Roman"/>
              </a:rPr>
              <a:t>made</a:t>
            </a:r>
            <a:r>
              <a:rPr sz="1300" spc="-25" dirty="0">
                <a:latin typeface="Times New Roman"/>
                <a:cs typeface="Times New Roman"/>
              </a:rPr>
              <a:t> </a:t>
            </a:r>
            <a:r>
              <a:rPr sz="1300" dirty="0">
                <a:latin typeface="Times New Roman"/>
                <a:cs typeface="Times New Roman"/>
              </a:rPr>
              <a:t>up</a:t>
            </a:r>
            <a:r>
              <a:rPr sz="1300" spc="-25" dirty="0">
                <a:latin typeface="Times New Roman"/>
                <a:cs typeface="Times New Roman"/>
              </a:rPr>
              <a:t> </a:t>
            </a:r>
            <a:r>
              <a:rPr sz="1300" dirty="0">
                <a:latin typeface="Times New Roman"/>
                <a:cs typeface="Times New Roman"/>
              </a:rPr>
              <a:t>of</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spc="-10" dirty="0">
                <a:latin typeface="Times New Roman"/>
                <a:cs typeface="Times New Roman"/>
              </a:rPr>
              <a:t>Infiniband</a:t>
            </a:r>
            <a:r>
              <a:rPr sz="1300" spc="500" dirty="0">
                <a:latin typeface="Times New Roman"/>
                <a:cs typeface="Times New Roman"/>
              </a:rPr>
              <a:t> </a:t>
            </a:r>
            <a:r>
              <a:rPr sz="1300" dirty="0">
                <a:latin typeface="Times New Roman"/>
                <a:cs typeface="Times New Roman"/>
              </a:rPr>
              <a:t>board</a:t>
            </a:r>
            <a:r>
              <a:rPr sz="1300" spc="-30" dirty="0">
                <a:latin typeface="Times New Roman"/>
                <a:cs typeface="Times New Roman"/>
              </a:rPr>
              <a:t> </a:t>
            </a:r>
            <a:r>
              <a:rPr sz="1300" dirty="0">
                <a:latin typeface="Times New Roman"/>
                <a:cs typeface="Times New Roman"/>
              </a:rPr>
              <a:t>contained</a:t>
            </a:r>
            <a:r>
              <a:rPr sz="1300" spc="-30" dirty="0">
                <a:latin typeface="Times New Roman"/>
                <a:cs typeface="Times New Roman"/>
              </a:rPr>
              <a:t> </a:t>
            </a:r>
            <a:r>
              <a:rPr sz="1300" dirty="0">
                <a:latin typeface="Times New Roman"/>
                <a:cs typeface="Times New Roman"/>
              </a:rPr>
              <a:t>within</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MGD</a:t>
            </a:r>
            <a:r>
              <a:rPr sz="1300" spc="-30" dirty="0">
                <a:latin typeface="Times New Roman"/>
                <a:cs typeface="Times New Roman"/>
              </a:rPr>
              <a:t> </a:t>
            </a:r>
            <a:r>
              <a:rPr sz="1300" dirty="0">
                <a:latin typeface="Times New Roman"/>
                <a:cs typeface="Times New Roman"/>
              </a:rPr>
              <a:t>or</a:t>
            </a:r>
            <a:r>
              <a:rPr sz="1300" spc="-25" dirty="0">
                <a:latin typeface="Times New Roman"/>
                <a:cs typeface="Times New Roman"/>
              </a:rPr>
              <a:t> </a:t>
            </a:r>
            <a:r>
              <a:rPr sz="1300" dirty="0">
                <a:latin typeface="Times New Roman"/>
                <a:cs typeface="Times New Roman"/>
              </a:rPr>
              <a:t>CAM</a:t>
            </a:r>
            <a:r>
              <a:rPr sz="1300" spc="-30" dirty="0">
                <a:latin typeface="Times New Roman"/>
                <a:cs typeface="Times New Roman"/>
              </a:rPr>
              <a:t> </a:t>
            </a:r>
            <a:r>
              <a:rPr sz="1300" dirty="0">
                <a:latin typeface="Times New Roman"/>
                <a:cs typeface="Times New Roman"/>
              </a:rPr>
              <a:t>chassis,</a:t>
            </a:r>
            <a:r>
              <a:rPr sz="1300" spc="-3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Image</a:t>
            </a:r>
            <a:r>
              <a:rPr sz="1300" spc="-30" dirty="0">
                <a:latin typeface="Times New Roman"/>
                <a:cs typeface="Times New Roman"/>
              </a:rPr>
              <a:t> </a:t>
            </a:r>
            <a:r>
              <a:rPr sz="1300" dirty="0">
                <a:latin typeface="Times New Roman"/>
                <a:cs typeface="Times New Roman"/>
              </a:rPr>
              <a:t>Compute</a:t>
            </a:r>
            <a:r>
              <a:rPr sz="1300" spc="-35" dirty="0">
                <a:latin typeface="Times New Roman"/>
                <a:cs typeface="Times New Roman"/>
              </a:rPr>
              <a:t> </a:t>
            </a:r>
            <a:r>
              <a:rPr sz="1300" dirty="0">
                <a:latin typeface="Times New Roman"/>
                <a:cs typeface="Times New Roman"/>
              </a:rPr>
              <a:t>Nodes</a:t>
            </a:r>
            <a:r>
              <a:rPr sz="1300" spc="-35" dirty="0">
                <a:latin typeface="Times New Roman"/>
                <a:cs typeface="Times New Roman"/>
              </a:rPr>
              <a:t> </a:t>
            </a:r>
            <a:r>
              <a:rPr sz="1300" dirty="0">
                <a:latin typeface="Times New Roman"/>
                <a:cs typeface="Times New Roman"/>
              </a:rPr>
              <a:t>(ICNs),</a:t>
            </a:r>
            <a:r>
              <a:rPr sz="1300" spc="-30"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Network</a:t>
            </a:r>
            <a:r>
              <a:rPr sz="1300" spc="-30" dirty="0">
                <a:latin typeface="Times New Roman"/>
                <a:cs typeface="Times New Roman"/>
              </a:rPr>
              <a:t> </a:t>
            </a:r>
            <a:r>
              <a:rPr sz="1300" dirty="0">
                <a:latin typeface="Times New Roman"/>
                <a:cs typeface="Times New Roman"/>
              </a:rPr>
              <a:t>Switch.</a:t>
            </a:r>
            <a:r>
              <a:rPr sz="1300" spc="270" dirty="0">
                <a:latin typeface="Times New Roman"/>
                <a:cs typeface="Times New Roman"/>
              </a:rPr>
              <a:t> </a:t>
            </a:r>
            <a:r>
              <a:rPr sz="1300" spc="-20" dirty="0">
                <a:latin typeface="Times New Roman"/>
                <a:cs typeface="Times New Roman"/>
              </a:rPr>
              <a:t>Some </a:t>
            </a:r>
            <a:r>
              <a:rPr sz="1300" dirty="0">
                <a:latin typeface="Times New Roman"/>
                <a:cs typeface="Times New Roman"/>
              </a:rPr>
              <a:t>early</a:t>
            </a:r>
            <a:r>
              <a:rPr sz="1300" spc="-40" dirty="0">
                <a:latin typeface="Times New Roman"/>
                <a:cs typeface="Times New Roman"/>
              </a:rPr>
              <a:t> </a:t>
            </a:r>
            <a:r>
              <a:rPr sz="1300" dirty="0">
                <a:latin typeface="Times New Roman"/>
                <a:cs typeface="Times New Roman"/>
              </a:rPr>
              <a:t>4</a:t>
            </a:r>
            <a:r>
              <a:rPr sz="1300" spc="-25" dirty="0">
                <a:latin typeface="Times New Roman"/>
                <a:cs typeface="Times New Roman"/>
              </a:rPr>
              <a:t> </a:t>
            </a:r>
            <a:r>
              <a:rPr sz="1300" dirty="0">
                <a:latin typeface="Times New Roman"/>
                <a:cs typeface="Times New Roman"/>
              </a:rPr>
              <a:t>ICN</a:t>
            </a:r>
            <a:r>
              <a:rPr sz="1300" spc="-25" dirty="0">
                <a:latin typeface="Times New Roman"/>
                <a:cs typeface="Times New Roman"/>
              </a:rPr>
              <a:t> </a:t>
            </a:r>
            <a:r>
              <a:rPr sz="1300" dirty="0">
                <a:latin typeface="Times New Roman"/>
                <a:cs typeface="Times New Roman"/>
              </a:rPr>
              <a:t>systems</a:t>
            </a:r>
            <a:r>
              <a:rPr sz="1300" spc="-25" dirty="0">
                <a:latin typeface="Times New Roman"/>
                <a:cs typeface="Times New Roman"/>
              </a:rPr>
              <a:t> </a:t>
            </a:r>
            <a:r>
              <a:rPr sz="1300" dirty="0">
                <a:latin typeface="Times New Roman"/>
                <a:cs typeface="Times New Roman"/>
              </a:rPr>
              <a:t>also</a:t>
            </a:r>
            <a:r>
              <a:rPr sz="1300" spc="-25" dirty="0">
                <a:latin typeface="Times New Roman"/>
                <a:cs typeface="Times New Roman"/>
              </a:rPr>
              <a:t> </a:t>
            </a:r>
            <a:r>
              <a:rPr sz="1300" dirty="0">
                <a:latin typeface="Times New Roman"/>
                <a:cs typeface="Times New Roman"/>
              </a:rPr>
              <a:t>included</a:t>
            </a:r>
            <a:r>
              <a:rPr sz="1300" spc="-25" dirty="0">
                <a:latin typeface="Times New Roman"/>
                <a:cs typeface="Times New Roman"/>
              </a:rPr>
              <a:t> </a:t>
            </a:r>
            <a:r>
              <a:rPr sz="1300" dirty="0">
                <a:latin typeface="Times New Roman"/>
                <a:cs typeface="Times New Roman"/>
              </a:rPr>
              <a:t>an</a:t>
            </a:r>
            <a:r>
              <a:rPr sz="1300" spc="-25" dirty="0">
                <a:latin typeface="Times New Roman"/>
                <a:cs typeface="Times New Roman"/>
              </a:rPr>
              <a:t> </a:t>
            </a:r>
            <a:r>
              <a:rPr sz="1300" dirty="0">
                <a:latin typeface="Times New Roman"/>
                <a:cs typeface="Times New Roman"/>
              </a:rPr>
              <a:t>Infiniband</a:t>
            </a:r>
            <a:r>
              <a:rPr sz="1300" spc="-25" dirty="0">
                <a:latin typeface="Times New Roman"/>
                <a:cs typeface="Times New Roman"/>
              </a:rPr>
              <a:t> </a:t>
            </a:r>
            <a:r>
              <a:rPr sz="1300" dirty="0">
                <a:latin typeface="Times New Roman"/>
                <a:cs typeface="Times New Roman"/>
              </a:rPr>
              <a:t>Switch.</a:t>
            </a:r>
            <a:r>
              <a:rPr sz="1300" spc="28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Infiniband</a:t>
            </a:r>
            <a:r>
              <a:rPr sz="1300" spc="-25" dirty="0">
                <a:latin typeface="Times New Roman"/>
                <a:cs typeface="Times New Roman"/>
              </a:rPr>
              <a:t> </a:t>
            </a:r>
            <a:r>
              <a:rPr sz="1300" dirty="0">
                <a:latin typeface="Times New Roman"/>
                <a:cs typeface="Times New Roman"/>
              </a:rPr>
              <a:t>Switch</a:t>
            </a:r>
            <a:r>
              <a:rPr sz="1300" spc="-25" dirty="0">
                <a:latin typeface="Times New Roman"/>
                <a:cs typeface="Times New Roman"/>
              </a:rPr>
              <a:t> </a:t>
            </a:r>
            <a:r>
              <a:rPr sz="1300" dirty="0">
                <a:latin typeface="Times New Roman"/>
                <a:cs typeface="Times New Roman"/>
              </a:rPr>
              <a:t>is</a:t>
            </a:r>
            <a:r>
              <a:rPr sz="1300" spc="-25" dirty="0">
                <a:latin typeface="Times New Roman"/>
                <a:cs typeface="Times New Roman"/>
              </a:rPr>
              <a:t> </a:t>
            </a:r>
            <a:r>
              <a:rPr sz="1300" dirty="0">
                <a:latin typeface="Times New Roman"/>
                <a:cs typeface="Times New Roman"/>
              </a:rPr>
              <a:t>not</a:t>
            </a:r>
            <a:r>
              <a:rPr sz="1300" spc="-25" dirty="0">
                <a:latin typeface="Times New Roman"/>
                <a:cs typeface="Times New Roman"/>
              </a:rPr>
              <a:t> </a:t>
            </a:r>
            <a:r>
              <a:rPr sz="1300" dirty="0">
                <a:latin typeface="Times New Roman"/>
                <a:cs typeface="Times New Roman"/>
              </a:rPr>
              <a:t>necessary</a:t>
            </a:r>
            <a:r>
              <a:rPr sz="1300" spc="-25" dirty="0">
                <a:latin typeface="Times New Roman"/>
                <a:cs typeface="Times New Roman"/>
              </a:rPr>
              <a:t> </a:t>
            </a:r>
            <a:r>
              <a:rPr sz="1300" dirty="0">
                <a:latin typeface="Times New Roman"/>
                <a:cs typeface="Times New Roman"/>
              </a:rPr>
              <a:t>anymore</a:t>
            </a:r>
            <a:r>
              <a:rPr sz="1300" spc="-25"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can</a:t>
            </a:r>
            <a:r>
              <a:rPr sz="1300" spc="-25" dirty="0">
                <a:latin typeface="Times New Roman"/>
                <a:cs typeface="Times New Roman"/>
              </a:rPr>
              <a:t> be </a:t>
            </a:r>
            <a:r>
              <a:rPr sz="1300" dirty="0">
                <a:latin typeface="Times New Roman"/>
                <a:cs typeface="Times New Roman"/>
              </a:rPr>
              <a:t>removed</a:t>
            </a:r>
            <a:r>
              <a:rPr sz="1300" spc="280" dirty="0">
                <a:latin typeface="Times New Roman"/>
                <a:cs typeface="Times New Roman"/>
              </a:rPr>
              <a:t> </a:t>
            </a:r>
            <a:r>
              <a:rPr sz="1300" dirty="0">
                <a:latin typeface="Times New Roman"/>
                <a:cs typeface="Times New Roman"/>
              </a:rPr>
              <a:t>by</a:t>
            </a:r>
            <a:r>
              <a:rPr sz="1300" spc="-20" dirty="0">
                <a:latin typeface="Times New Roman"/>
                <a:cs typeface="Times New Roman"/>
              </a:rPr>
              <a:t> </a:t>
            </a:r>
            <a:r>
              <a:rPr sz="1300" dirty="0">
                <a:latin typeface="Times New Roman"/>
                <a:cs typeface="Times New Roman"/>
              </a:rPr>
              <a:t>rewiring</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spc="-10" dirty="0">
                <a:latin typeface="Times New Roman"/>
                <a:cs typeface="Times New Roman"/>
              </a:rPr>
              <a:t>system.</a:t>
            </a:r>
            <a:endParaRPr sz="1300">
              <a:latin typeface="Times New Roman"/>
              <a:cs typeface="Times New Roman"/>
            </a:endParaRPr>
          </a:p>
          <a:p>
            <a:pPr marL="12700" marR="26670" indent="-635">
              <a:lnSpc>
                <a:spcPct val="100000"/>
              </a:lnSpc>
              <a:spcBef>
                <a:spcPts val="800"/>
              </a:spcBef>
            </a:pPr>
            <a:r>
              <a:rPr sz="1300" b="1" dirty="0">
                <a:latin typeface="Times New Roman"/>
                <a:cs typeface="Times New Roman"/>
              </a:rPr>
              <a:t>Network</a:t>
            </a:r>
            <a:r>
              <a:rPr sz="1300" b="1" spc="-40" dirty="0">
                <a:latin typeface="Times New Roman"/>
                <a:cs typeface="Times New Roman"/>
              </a:rPr>
              <a:t> </a:t>
            </a:r>
            <a:r>
              <a:rPr sz="1300" b="1" dirty="0">
                <a:latin typeface="Times New Roman"/>
                <a:cs typeface="Times New Roman"/>
              </a:rPr>
              <a:t>Switch</a:t>
            </a:r>
            <a:r>
              <a:rPr sz="1300" b="1" spc="-20" dirty="0">
                <a:latin typeface="Times New Roman"/>
                <a:cs typeface="Times New Roman"/>
              </a:rPr>
              <a:t> </a:t>
            </a:r>
            <a:r>
              <a:rPr sz="1300" dirty="0">
                <a:latin typeface="Times New Roman"/>
                <a:cs typeface="Times New Roman"/>
              </a:rPr>
              <a:t>–</a:t>
            </a:r>
            <a:r>
              <a:rPr sz="1300" spc="-20" dirty="0">
                <a:latin typeface="Times New Roman"/>
                <a:cs typeface="Times New Roman"/>
              </a:rPr>
              <a:t> </a:t>
            </a:r>
            <a:r>
              <a:rPr sz="1300" dirty="0">
                <a:latin typeface="Times New Roman"/>
                <a:cs typeface="Times New Roman"/>
              </a:rPr>
              <a:t>16</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24</a:t>
            </a:r>
            <a:r>
              <a:rPr sz="1300" spc="-30" dirty="0">
                <a:latin typeface="Times New Roman"/>
                <a:cs typeface="Times New Roman"/>
              </a:rPr>
              <a:t> </a:t>
            </a:r>
            <a:r>
              <a:rPr sz="1300" dirty="0">
                <a:latin typeface="Times New Roman"/>
                <a:cs typeface="Times New Roman"/>
              </a:rPr>
              <a:t>port</a:t>
            </a:r>
            <a:r>
              <a:rPr sz="1300" spc="-15" dirty="0">
                <a:latin typeface="Times New Roman"/>
                <a:cs typeface="Times New Roman"/>
              </a:rPr>
              <a:t> </a:t>
            </a:r>
            <a:r>
              <a:rPr sz="1300" dirty="0">
                <a:latin typeface="Times New Roman"/>
                <a:cs typeface="Times New Roman"/>
              </a:rPr>
              <a:t>Gigabit</a:t>
            </a:r>
            <a:r>
              <a:rPr sz="1300" spc="-25" dirty="0">
                <a:latin typeface="Times New Roman"/>
                <a:cs typeface="Times New Roman"/>
              </a:rPr>
              <a:t> </a:t>
            </a:r>
            <a:r>
              <a:rPr sz="1300" dirty="0">
                <a:latin typeface="Times New Roman"/>
                <a:cs typeface="Times New Roman"/>
              </a:rPr>
              <a:t>Ethernet</a:t>
            </a:r>
            <a:r>
              <a:rPr sz="1300" spc="-30" dirty="0">
                <a:latin typeface="Times New Roman"/>
                <a:cs typeface="Times New Roman"/>
              </a:rPr>
              <a:t> </a:t>
            </a:r>
            <a:r>
              <a:rPr sz="1300" dirty="0">
                <a:latin typeface="Times New Roman"/>
                <a:cs typeface="Times New Roman"/>
              </a:rPr>
              <a:t>switch</a:t>
            </a:r>
            <a:r>
              <a:rPr sz="1300" spc="-25" dirty="0">
                <a:latin typeface="Times New Roman"/>
                <a:cs typeface="Times New Roman"/>
              </a:rPr>
              <a:t> </a:t>
            </a:r>
            <a:r>
              <a:rPr sz="1300" dirty="0">
                <a:latin typeface="Times New Roman"/>
                <a:cs typeface="Times New Roman"/>
              </a:rPr>
              <a:t>that</a:t>
            </a:r>
            <a:r>
              <a:rPr sz="1300" spc="-25" dirty="0">
                <a:latin typeface="Times New Roman"/>
                <a:cs typeface="Times New Roman"/>
              </a:rPr>
              <a:t> </a:t>
            </a:r>
            <a:r>
              <a:rPr sz="1300" dirty="0">
                <a:latin typeface="Times New Roman"/>
                <a:cs typeface="Times New Roman"/>
              </a:rPr>
              <a:t>provides</a:t>
            </a:r>
            <a:r>
              <a:rPr sz="1300" spc="-25" dirty="0">
                <a:latin typeface="Times New Roman"/>
                <a:cs typeface="Times New Roman"/>
              </a:rPr>
              <a:t> </a:t>
            </a:r>
            <a:r>
              <a:rPr sz="1300" dirty="0">
                <a:latin typeface="Times New Roman"/>
                <a:cs typeface="Times New Roman"/>
              </a:rPr>
              <a:t>a</a:t>
            </a:r>
            <a:r>
              <a:rPr sz="1300" spc="-30" dirty="0">
                <a:latin typeface="Times New Roman"/>
                <a:cs typeface="Times New Roman"/>
              </a:rPr>
              <a:t> </a:t>
            </a:r>
            <a:r>
              <a:rPr sz="1300" dirty="0">
                <a:latin typeface="Times New Roman"/>
                <a:cs typeface="Times New Roman"/>
              </a:rPr>
              <a:t>network</a:t>
            </a:r>
            <a:r>
              <a:rPr sz="1300" spc="-25" dirty="0">
                <a:latin typeface="Times New Roman"/>
                <a:cs typeface="Times New Roman"/>
              </a:rPr>
              <a:t> </a:t>
            </a:r>
            <a:r>
              <a:rPr sz="1300" dirty="0">
                <a:latin typeface="Times New Roman"/>
                <a:cs typeface="Times New Roman"/>
              </a:rPr>
              <a:t>path</a:t>
            </a:r>
            <a:r>
              <a:rPr sz="1300" spc="-25" dirty="0">
                <a:latin typeface="Times New Roman"/>
                <a:cs typeface="Times New Roman"/>
              </a:rPr>
              <a:t> </a:t>
            </a:r>
            <a:r>
              <a:rPr sz="1300" dirty="0">
                <a:latin typeface="Times New Roman"/>
                <a:cs typeface="Times New Roman"/>
              </a:rPr>
              <a:t>between</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Host</a:t>
            </a:r>
            <a:r>
              <a:rPr sz="1300" spc="-25" dirty="0">
                <a:latin typeface="Times New Roman"/>
                <a:cs typeface="Times New Roman"/>
              </a:rPr>
              <a:t> </a:t>
            </a:r>
            <a:r>
              <a:rPr sz="1300" dirty="0">
                <a:latin typeface="Times New Roman"/>
                <a:cs typeface="Times New Roman"/>
              </a:rPr>
              <a:t>computer</a:t>
            </a:r>
            <a:r>
              <a:rPr sz="1300" spc="-25" dirty="0">
                <a:latin typeface="Times New Roman"/>
                <a:cs typeface="Times New Roman"/>
              </a:rPr>
              <a:t> and </a:t>
            </a:r>
            <a:r>
              <a:rPr sz="1300" dirty="0">
                <a:latin typeface="Times New Roman"/>
                <a:cs typeface="Times New Roman"/>
              </a:rPr>
              <a:t>the</a:t>
            </a:r>
            <a:r>
              <a:rPr sz="1300" spc="270" dirty="0">
                <a:latin typeface="Times New Roman"/>
                <a:cs typeface="Times New Roman"/>
              </a:rPr>
              <a:t> </a:t>
            </a:r>
            <a:r>
              <a:rPr sz="1300" dirty="0">
                <a:latin typeface="Times New Roman"/>
                <a:cs typeface="Times New Roman"/>
              </a:rPr>
              <a:t>ICNs,</a:t>
            </a:r>
            <a:r>
              <a:rPr sz="1300" spc="-30" dirty="0">
                <a:latin typeface="Times New Roman"/>
                <a:cs typeface="Times New Roman"/>
              </a:rPr>
              <a:t> </a:t>
            </a:r>
            <a:r>
              <a:rPr sz="1300" dirty="0">
                <a:latin typeface="Times New Roman"/>
                <a:cs typeface="Times New Roman"/>
              </a:rPr>
              <a:t>MGD</a:t>
            </a:r>
            <a:r>
              <a:rPr sz="1300" spc="-25" dirty="0">
                <a:latin typeface="Times New Roman"/>
                <a:cs typeface="Times New Roman"/>
              </a:rPr>
              <a:t> </a:t>
            </a:r>
            <a:r>
              <a:rPr sz="1300" dirty="0">
                <a:latin typeface="Times New Roman"/>
                <a:cs typeface="Times New Roman"/>
              </a:rPr>
              <a:t>processors,</a:t>
            </a:r>
            <a:r>
              <a:rPr sz="1300" spc="-25" dirty="0">
                <a:latin typeface="Times New Roman"/>
                <a:cs typeface="Times New Roman"/>
              </a:rPr>
              <a:t> </a:t>
            </a:r>
            <a:r>
              <a:rPr sz="1300" dirty="0">
                <a:latin typeface="Times New Roman"/>
                <a:cs typeface="Times New Roman"/>
              </a:rPr>
              <a:t>and</a:t>
            </a:r>
            <a:r>
              <a:rPr sz="1300" spc="-3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Term</a:t>
            </a:r>
            <a:r>
              <a:rPr sz="1300" spc="-35" dirty="0">
                <a:latin typeface="Times New Roman"/>
                <a:cs typeface="Times New Roman"/>
              </a:rPr>
              <a:t> </a:t>
            </a:r>
            <a:r>
              <a:rPr sz="1300" dirty="0">
                <a:latin typeface="Times New Roman"/>
                <a:cs typeface="Times New Roman"/>
              </a:rPr>
              <a:t>Server.</a:t>
            </a:r>
            <a:r>
              <a:rPr sz="1300" spc="-25" dirty="0">
                <a:latin typeface="Times New Roman"/>
                <a:cs typeface="Times New Roman"/>
              </a:rPr>
              <a:t> </a:t>
            </a:r>
            <a:r>
              <a:rPr sz="1300" dirty="0">
                <a:latin typeface="Times New Roman"/>
                <a:cs typeface="Times New Roman"/>
              </a:rPr>
              <a:t>This</a:t>
            </a:r>
            <a:r>
              <a:rPr sz="1300" spc="-25" dirty="0">
                <a:latin typeface="Times New Roman"/>
                <a:cs typeface="Times New Roman"/>
              </a:rPr>
              <a:t> </a:t>
            </a:r>
            <a:r>
              <a:rPr sz="1300" dirty="0">
                <a:latin typeface="Times New Roman"/>
                <a:cs typeface="Times New Roman"/>
              </a:rPr>
              <a:t>network</a:t>
            </a:r>
            <a:r>
              <a:rPr sz="1300" spc="-30" dirty="0">
                <a:latin typeface="Times New Roman"/>
                <a:cs typeface="Times New Roman"/>
              </a:rPr>
              <a:t> </a:t>
            </a:r>
            <a:r>
              <a:rPr sz="1300" dirty="0">
                <a:latin typeface="Times New Roman"/>
                <a:cs typeface="Times New Roman"/>
              </a:rPr>
              <a:t>path</a:t>
            </a:r>
            <a:r>
              <a:rPr sz="1300" spc="-25" dirty="0">
                <a:latin typeface="Times New Roman"/>
                <a:cs typeface="Times New Roman"/>
              </a:rPr>
              <a:t> </a:t>
            </a:r>
            <a:r>
              <a:rPr sz="1300" dirty="0">
                <a:latin typeface="Times New Roman"/>
                <a:cs typeface="Times New Roman"/>
              </a:rPr>
              <a:t>is</a:t>
            </a:r>
            <a:r>
              <a:rPr sz="1300" spc="-25" dirty="0">
                <a:latin typeface="Times New Roman"/>
                <a:cs typeface="Times New Roman"/>
              </a:rPr>
              <a:t> </a:t>
            </a:r>
            <a:r>
              <a:rPr sz="1300" dirty="0">
                <a:latin typeface="Times New Roman"/>
                <a:cs typeface="Times New Roman"/>
              </a:rPr>
              <a:t>used</a:t>
            </a:r>
            <a:r>
              <a:rPr sz="1300" spc="-25" dirty="0">
                <a:latin typeface="Times New Roman"/>
                <a:cs typeface="Times New Roman"/>
              </a:rPr>
              <a:t> </a:t>
            </a:r>
            <a:r>
              <a:rPr sz="1300" dirty="0">
                <a:latin typeface="Times New Roman"/>
                <a:cs typeface="Times New Roman"/>
              </a:rPr>
              <a:t>for</a:t>
            </a:r>
            <a:r>
              <a:rPr sz="1300" spc="-25" dirty="0">
                <a:latin typeface="Times New Roman"/>
                <a:cs typeface="Times New Roman"/>
              </a:rPr>
              <a:t> </a:t>
            </a:r>
            <a:r>
              <a:rPr sz="1300" dirty="0">
                <a:latin typeface="Times New Roman"/>
                <a:cs typeface="Times New Roman"/>
              </a:rPr>
              <a:t>application</a:t>
            </a:r>
            <a:r>
              <a:rPr sz="1300" spc="-35" dirty="0">
                <a:latin typeface="Times New Roman"/>
                <a:cs typeface="Times New Roman"/>
              </a:rPr>
              <a:t> </a:t>
            </a:r>
            <a:r>
              <a:rPr sz="1300" dirty="0">
                <a:latin typeface="Times New Roman"/>
                <a:cs typeface="Times New Roman"/>
              </a:rPr>
              <a:t>download</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the</a:t>
            </a:r>
            <a:r>
              <a:rPr sz="1300" spc="500" dirty="0">
                <a:latin typeface="Times New Roman"/>
                <a:cs typeface="Times New Roman"/>
              </a:rPr>
              <a:t> </a:t>
            </a:r>
            <a:r>
              <a:rPr sz="1300" dirty="0">
                <a:latin typeface="Times New Roman"/>
                <a:cs typeface="Times New Roman"/>
              </a:rPr>
              <a:t>controllers,</a:t>
            </a:r>
            <a:r>
              <a:rPr sz="1300" spc="-30" dirty="0">
                <a:latin typeface="Times New Roman"/>
                <a:cs typeface="Times New Roman"/>
              </a:rPr>
              <a:t> </a:t>
            </a:r>
            <a:r>
              <a:rPr sz="1300" dirty="0">
                <a:latin typeface="Times New Roman"/>
                <a:cs typeface="Times New Roman"/>
              </a:rPr>
              <a:t>including</a:t>
            </a:r>
            <a:r>
              <a:rPr sz="1300" spc="-3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downloading</a:t>
            </a:r>
            <a:r>
              <a:rPr sz="1300" spc="-30"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PSDs</a:t>
            </a:r>
            <a:r>
              <a:rPr sz="1300" spc="-3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MGD.</a:t>
            </a:r>
            <a:r>
              <a:rPr sz="1300" spc="275" dirty="0">
                <a:latin typeface="Times New Roman"/>
                <a:cs typeface="Times New Roman"/>
              </a:rPr>
              <a:t> </a:t>
            </a:r>
            <a:r>
              <a:rPr sz="1300" dirty="0">
                <a:latin typeface="Times New Roman"/>
                <a:cs typeface="Times New Roman"/>
              </a:rPr>
              <a:t>It</a:t>
            </a:r>
            <a:r>
              <a:rPr sz="1300" spc="-25" dirty="0">
                <a:latin typeface="Times New Roman"/>
                <a:cs typeface="Times New Roman"/>
              </a:rPr>
              <a:t> </a:t>
            </a:r>
            <a:r>
              <a:rPr sz="1300" dirty="0">
                <a:latin typeface="Times New Roman"/>
                <a:cs typeface="Times New Roman"/>
              </a:rPr>
              <a:t>is</a:t>
            </a:r>
            <a:r>
              <a:rPr sz="1300" spc="-30" dirty="0">
                <a:latin typeface="Times New Roman"/>
                <a:cs typeface="Times New Roman"/>
              </a:rPr>
              <a:t> </a:t>
            </a:r>
            <a:r>
              <a:rPr sz="1300" dirty="0">
                <a:latin typeface="Times New Roman"/>
                <a:cs typeface="Times New Roman"/>
              </a:rPr>
              <a:t>also</a:t>
            </a:r>
            <a:r>
              <a:rPr sz="1300" spc="-30" dirty="0">
                <a:latin typeface="Times New Roman"/>
                <a:cs typeface="Times New Roman"/>
              </a:rPr>
              <a:t> </a:t>
            </a:r>
            <a:r>
              <a:rPr sz="1300" dirty="0">
                <a:latin typeface="Times New Roman"/>
                <a:cs typeface="Times New Roman"/>
              </a:rPr>
              <a:t>used</a:t>
            </a:r>
            <a:r>
              <a:rPr sz="1300" spc="-25" dirty="0">
                <a:latin typeface="Times New Roman"/>
                <a:cs typeface="Times New Roman"/>
              </a:rPr>
              <a:t> </a:t>
            </a:r>
            <a:r>
              <a:rPr sz="1300" dirty="0">
                <a:latin typeface="Times New Roman"/>
                <a:cs typeface="Times New Roman"/>
              </a:rPr>
              <a:t>for</a:t>
            </a:r>
            <a:r>
              <a:rPr sz="1300" spc="-30" dirty="0">
                <a:latin typeface="Times New Roman"/>
                <a:cs typeface="Times New Roman"/>
              </a:rPr>
              <a:t> </a:t>
            </a:r>
            <a:r>
              <a:rPr sz="1300" dirty="0">
                <a:latin typeface="Times New Roman"/>
                <a:cs typeface="Times New Roman"/>
              </a:rPr>
              <a:t>serial</a:t>
            </a:r>
            <a:r>
              <a:rPr sz="1300" spc="-25" dirty="0">
                <a:latin typeface="Times New Roman"/>
                <a:cs typeface="Times New Roman"/>
              </a:rPr>
              <a:t> </a:t>
            </a:r>
            <a:r>
              <a:rPr sz="1300" dirty="0">
                <a:latin typeface="Times New Roman"/>
                <a:cs typeface="Times New Roman"/>
              </a:rPr>
              <a:t>communication</a:t>
            </a:r>
            <a:r>
              <a:rPr sz="1300" spc="-30" dirty="0">
                <a:latin typeface="Times New Roman"/>
                <a:cs typeface="Times New Roman"/>
              </a:rPr>
              <a:t> </a:t>
            </a:r>
            <a:r>
              <a:rPr sz="1300" dirty="0">
                <a:latin typeface="Times New Roman"/>
                <a:cs typeface="Times New Roman"/>
              </a:rPr>
              <a:t>between</a:t>
            </a:r>
            <a:r>
              <a:rPr sz="1300" spc="-2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spc="-20" dirty="0">
                <a:latin typeface="Times New Roman"/>
                <a:cs typeface="Times New Roman"/>
              </a:rPr>
              <a:t>host </a:t>
            </a:r>
            <a:r>
              <a:rPr sz="1300" dirty="0">
                <a:latin typeface="Times New Roman"/>
                <a:cs typeface="Times New Roman"/>
              </a:rPr>
              <a:t>and</a:t>
            </a:r>
            <a:r>
              <a:rPr sz="1300" spc="-3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three</a:t>
            </a:r>
            <a:r>
              <a:rPr sz="1300" spc="-25" dirty="0">
                <a:latin typeface="Times New Roman"/>
                <a:cs typeface="Times New Roman"/>
              </a:rPr>
              <a:t> </a:t>
            </a:r>
            <a:r>
              <a:rPr sz="1300" dirty="0">
                <a:latin typeface="Times New Roman"/>
                <a:cs typeface="Times New Roman"/>
              </a:rPr>
              <a:t>(3)</a:t>
            </a:r>
            <a:r>
              <a:rPr sz="1300" spc="-30" dirty="0">
                <a:latin typeface="Times New Roman"/>
                <a:cs typeface="Times New Roman"/>
              </a:rPr>
              <a:t> </a:t>
            </a:r>
            <a:r>
              <a:rPr sz="1300" dirty="0">
                <a:latin typeface="Times New Roman"/>
                <a:cs typeface="Times New Roman"/>
              </a:rPr>
              <a:t>MGD</a:t>
            </a:r>
            <a:r>
              <a:rPr sz="1300" spc="-25" dirty="0">
                <a:latin typeface="Times New Roman"/>
                <a:cs typeface="Times New Roman"/>
              </a:rPr>
              <a:t> </a:t>
            </a:r>
            <a:r>
              <a:rPr sz="1300" dirty="0">
                <a:latin typeface="Times New Roman"/>
                <a:cs typeface="Times New Roman"/>
              </a:rPr>
              <a:t>processor</a:t>
            </a:r>
            <a:r>
              <a:rPr sz="1300" spc="-25" dirty="0">
                <a:latin typeface="Times New Roman"/>
                <a:cs typeface="Times New Roman"/>
              </a:rPr>
              <a:t> </a:t>
            </a:r>
            <a:r>
              <a:rPr sz="1300" dirty="0">
                <a:latin typeface="Times New Roman"/>
                <a:cs typeface="Times New Roman"/>
              </a:rPr>
              <a:t>boards</a:t>
            </a:r>
            <a:r>
              <a:rPr sz="1300" spc="-30"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STIF</a:t>
            </a:r>
            <a:r>
              <a:rPr sz="1300" spc="-30" dirty="0">
                <a:latin typeface="Times New Roman"/>
                <a:cs typeface="Times New Roman"/>
              </a:rPr>
              <a:t> </a:t>
            </a:r>
            <a:r>
              <a:rPr sz="1300" spc="-10" dirty="0">
                <a:latin typeface="Times New Roman"/>
                <a:cs typeface="Times New Roman"/>
              </a:rPr>
              <a:t>board.</a:t>
            </a:r>
            <a:endParaRPr sz="1300">
              <a:latin typeface="Times New Roman"/>
              <a:cs typeface="Times New Roman"/>
            </a:endParaRPr>
          </a:p>
          <a:p>
            <a:pPr marL="12700" marR="614045">
              <a:lnSpc>
                <a:spcPct val="100000"/>
              </a:lnSpc>
              <a:spcBef>
                <a:spcPts val="795"/>
              </a:spcBef>
            </a:pPr>
            <a:r>
              <a:rPr sz="1300" b="1" dirty="0">
                <a:latin typeface="Times New Roman"/>
                <a:cs typeface="Times New Roman"/>
              </a:rPr>
              <a:t>ICNs</a:t>
            </a:r>
            <a:r>
              <a:rPr sz="1300" b="1" spc="-35" dirty="0">
                <a:latin typeface="Times New Roman"/>
                <a:cs typeface="Times New Roman"/>
              </a:rPr>
              <a:t> </a:t>
            </a:r>
            <a:r>
              <a:rPr sz="1300" dirty="0">
                <a:latin typeface="Times New Roman"/>
                <a:cs typeface="Times New Roman"/>
              </a:rPr>
              <a:t>–</a:t>
            </a:r>
            <a:r>
              <a:rPr sz="1300" spc="-30" dirty="0">
                <a:latin typeface="Times New Roman"/>
                <a:cs typeface="Times New Roman"/>
              </a:rPr>
              <a:t> </a:t>
            </a:r>
            <a:r>
              <a:rPr sz="1300" b="1" dirty="0">
                <a:latin typeface="Times New Roman"/>
                <a:cs typeface="Times New Roman"/>
              </a:rPr>
              <a:t>I</a:t>
            </a:r>
            <a:r>
              <a:rPr sz="1300" dirty="0">
                <a:latin typeface="Times New Roman"/>
                <a:cs typeface="Times New Roman"/>
              </a:rPr>
              <a:t>mage</a:t>
            </a:r>
            <a:r>
              <a:rPr sz="1300" spc="-30" dirty="0">
                <a:latin typeface="Times New Roman"/>
                <a:cs typeface="Times New Roman"/>
              </a:rPr>
              <a:t> </a:t>
            </a:r>
            <a:r>
              <a:rPr sz="1300" b="1" dirty="0">
                <a:latin typeface="Times New Roman"/>
                <a:cs typeface="Times New Roman"/>
              </a:rPr>
              <a:t>C</a:t>
            </a:r>
            <a:r>
              <a:rPr sz="1300" dirty="0">
                <a:latin typeface="Times New Roman"/>
                <a:cs typeface="Times New Roman"/>
              </a:rPr>
              <a:t>ompute</a:t>
            </a:r>
            <a:r>
              <a:rPr sz="1300" spc="-25" dirty="0">
                <a:latin typeface="Times New Roman"/>
                <a:cs typeface="Times New Roman"/>
              </a:rPr>
              <a:t> </a:t>
            </a:r>
            <a:r>
              <a:rPr sz="1300" b="1" dirty="0">
                <a:latin typeface="Times New Roman"/>
                <a:cs typeface="Times New Roman"/>
              </a:rPr>
              <a:t>N</a:t>
            </a:r>
            <a:r>
              <a:rPr sz="1300" dirty="0">
                <a:latin typeface="Times New Roman"/>
                <a:cs typeface="Times New Roman"/>
              </a:rPr>
              <a:t>odes</a:t>
            </a:r>
            <a:r>
              <a:rPr sz="1300" spc="-20" dirty="0">
                <a:latin typeface="Times New Roman"/>
                <a:cs typeface="Times New Roman"/>
              </a:rPr>
              <a:t> </a:t>
            </a:r>
            <a:r>
              <a:rPr sz="1300" dirty="0">
                <a:latin typeface="Times New Roman"/>
                <a:cs typeface="Times New Roman"/>
              </a:rPr>
              <a:t>–</a:t>
            </a:r>
            <a:r>
              <a:rPr sz="1300" spc="-30" dirty="0">
                <a:latin typeface="Times New Roman"/>
                <a:cs typeface="Times New Roman"/>
              </a:rPr>
              <a:t> </a:t>
            </a:r>
            <a:r>
              <a:rPr sz="1300" dirty="0">
                <a:latin typeface="Times New Roman"/>
                <a:cs typeface="Times New Roman"/>
              </a:rPr>
              <a:t>Rack</a:t>
            </a:r>
            <a:r>
              <a:rPr sz="1300" spc="-20" dirty="0">
                <a:latin typeface="Times New Roman"/>
                <a:cs typeface="Times New Roman"/>
              </a:rPr>
              <a:t> </a:t>
            </a:r>
            <a:r>
              <a:rPr sz="1300" dirty="0">
                <a:latin typeface="Times New Roman"/>
                <a:cs typeface="Times New Roman"/>
              </a:rPr>
              <a:t>mounted</a:t>
            </a:r>
            <a:r>
              <a:rPr sz="1300" spc="-25" dirty="0">
                <a:latin typeface="Times New Roman"/>
                <a:cs typeface="Times New Roman"/>
              </a:rPr>
              <a:t> </a:t>
            </a:r>
            <a:r>
              <a:rPr sz="1300" dirty="0">
                <a:latin typeface="Times New Roman"/>
                <a:cs typeface="Times New Roman"/>
              </a:rPr>
              <a:t>computers</a:t>
            </a:r>
            <a:r>
              <a:rPr sz="1300" spc="-20" dirty="0">
                <a:latin typeface="Times New Roman"/>
                <a:cs typeface="Times New Roman"/>
              </a:rPr>
              <a:t> </a:t>
            </a:r>
            <a:r>
              <a:rPr sz="1300" dirty="0">
                <a:latin typeface="Times New Roman"/>
                <a:cs typeface="Times New Roman"/>
              </a:rPr>
              <a:t>that</a:t>
            </a:r>
            <a:r>
              <a:rPr sz="1300" spc="-25" dirty="0">
                <a:latin typeface="Times New Roman"/>
                <a:cs typeface="Times New Roman"/>
              </a:rPr>
              <a:t> </a:t>
            </a:r>
            <a:r>
              <a:rPr sz="1300" dirty="0">
                <a:latin typeface="Times New Roman"/>
                <a:cs typeface="Times New Roman"/>
              </a:rPr>
              <a:t>provide</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high</a:t>
            </a:r>
            <a:r>
              <a:rPr sz="1300" spc="-25" dirty="0">
                <a:latin typeface="Times New Roman"/>
                <a:cs typeface="Times New Roman"/>
              </a:rPr>
              <a:t> </a:t>
            </a:r>
            <a:r>
              <a:rPr sz="1300" dirty="0">
                <a:latin typeface="Times New Roman"/>
                <a:cs typeface="Times New Roman"/>
              </a:rPr>
              <a:t>speed</a:t>
            </a:r>
            <a:r>
              <a:rPr sz="1300" spc="-20" dirty="0">
                <a:latin typeface="Times New Roman"/>
                <a:cs typeface="Times New Roman"/>
              </a:rPr>
              <a:t> </a:t>
            </a:r>
            <a:r>
              <a:rPr sz="1300" dirty="0">
                <a:latin typeface="Times New Roman"/>
                <a:cs typeface="Times New Roman"/>
              </a:rPr>
              <a:t>image</a:t>
            </a:r>
            <a:r>
              <a:rPr sz="1300" spc="-25" dirty="0">
                <a:latin typeface="Times New Roman"/>
                <a:cs typeface="Times New Roman"/>
              </a:rPr>
              <a:t> </a:t>
            </a:r>
            <a:r>
              <a:rPr sz="1300" dirty="0">
                <a:latin typeface="Times New Roman"/>
                <a:cs typeface="Times New Roman"/>
              </a:rPr>
              <a:t>data</a:t>
            </a:r>
            <a:r>
              <a:rPr sz="1300" spc="-20"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Host </a:t>
            </a:r>
            <a:r>
              <a:rPr sz="1300" spc="-10" dirty="0">
                <a:latin typeface="Times New Roman"/>
                <a:cs typeface="Times New Roman"/>
              </a:rPr>
              <a:t>computer.</a:t>
            </a:r>
            <a:endParaRPr sz="13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489196"/>
            <a:ext cx="4255134" cy="369332"/>
          </a:xfrm>
        </p:spPr>
        <p:txBody>
          <a:bodyPr/>
          <a:lstStyle/>
          <a:p>
            <a:r>
              <a:rPr lang="en-US" dirty="0">
                <a:solidFill>
                  <a:schemeClr val="accent1">
                    <a:lumMod val="75000"/>
                  </a:schemeClr>
                </a:solidFill>
              </a:rPr>
              <a:t>Upgrades vs Forward production</a:t>
            </a:r>
          </a:p>
        </p:txBody>
      </p:sp>
      <p:sp>
        <p:nvSpPr>
          <p:cNvPr id="3" name="Content Placeholder 2"/>
          <p:cNvSpPr>
            <a:spLocks noGrp="1"/>
          </p:cNvSpPr>
          <p:nvPr>
            <p:ph idx="1"/>
          </p:nvPr>
        </p:nvSpPr>
        <p:spPr>
          <a:xfrm>
            <a:off x="444500" y="1175512"/>
            <a:ext cx="8317225" cy="4679188"/>
          </a:xfrm>
        </p:spPr>
        <p:txBody>
          <a:bodyPr>
            <a:noAutofit/>
          </a:bodyPr>
          <a:lstStyle/>
          <a:p>
            <a:r>
              <a:rPr lang="en-US" sz="2400" dirty="0">
                <a:solidFill>
                  <a:schemeClr val="tx2">
                    <a:lumMod val="60000"/>
                    <a:lumOff val="40000"/>
                  </a:schemeClr>
                </a:solidFill>
              </a:rPr>
              <a:t>Systems are design to be able to keep some of the older electronics if the technology can be adapted to the newer revisions to keep upgrade costs down.</a:t>
            </a:r>
          </a:p>
          <a:p>
            <a:r>
              <a:rPr lang="en-US" sz="2400" dirty="0">
                <a:solidFill>
                  <a:schemeClr val="tx2">
                    <a:lumMod val="60000"/>
                    <a:lumOff val="40000"/>
                  </a:schemeClr>
                </a:solidFill>
              </a:rPr>
              <a:t>You can find various combinations and mismatches of the technology covered in this class.</a:t>
            </a:r>
          </a:p>
          <a:p>
            <a:r>
              <a:rPr lang="en-US" sz="2400" dirty="0">
                <a:solidFill>
                  <a:schemeClr val="tx2">
                    <a:lumMod val="60000"/>
                    <a:lumOff val="40000"/>
                  </a:schemeClr>
                </a:solidFill>
              </a:rPr>
              <a:t>Please refer to your system and the Parts manual to be able to pinpoint the system you are working on or the part needed.</a:t>
            </a: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14</a:t>
            </a:fld>
            <a:endParaRPr lang="en-US"/>
          </a:p>
        </p:txBody>
      </p:sp>
    </p:spTree>
    <p:extLst>
      <p:ext uri="{BB962C8B-B14F-4D97-AF65-F5344CB8AC3E}">
        <p14:creationId xmlns:p14="http://schemas.microsoft.com/office/powerpoint/2010/main" val="2066515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4" y="75918"/>
            <a:ext cx="9110133" cy="683260"/>
          </a:xfrm>
        </p:spPr>
        <p:txBody>
          <a:bodyPr anchor="ctr">
            <a:normAutofit/>
          </a:bodyPr>
          <a:lstStyle/>
          <a:p>
            <a:r>
              <a:rPr lang="en-US"/>
              <a:t>Communication Paths</a:t>
            </a:r>
          </a:p>
        </p:txBody>
      </p:sp>
      <p:pic>
        <p:nvPicPr>
          <p:cNvPr id="8" name="Picture 7" descr="A diagram of a computer network&#10;&#10;Description automatically generated">
            <a:extLst>
              <a:ext uri="{FF2B5EF4-FFF2-40B4-BE49-F238E27FC236}">
                <a16:creationId xmlns:a16="http://schemas.microsoft.com/office/drawing/2014/main" id="{F96EFABC-023A-248C-D52D-1863712832E1}"/>
              </a:ext>
            </a:extLst>
          </p:cNvPr>
          <p:cNvPicPr>
            <a:picLocks noChangeAspect="1"/>
          </p:cNvPicPr>
          <p:nvPr/>
        </p:nvPicPr>
        <p:blipFill>
          <a:blip r:embed="rId2"/>
          <a:stretch>
            <a:fillRect/>
          </a:stretch>
        </p:blipFill>
        <p:spPr>
          <a:xfrm>
            <a:off x="1816100" y="759178"/>
            <a:ext cx="4256724" cy="5811227"/>
          </a:xfrm>
          <a:prstGeom prst="rect">
            <a:avLst/>
          </a:prstGeom>
          <a:noFill/>
        </p:spPr>
      </p:pic>
      <p:sp>
        <p:nvSpPr>
          <p:cNvPr id="4" name="Slide Number Placeholder 3"/>
          <p:cNvSpPr>
            <a:spLocks noGrp="1"/>
          </p:cNvSpPr>
          <p:nvPr>
            <p:ph type="sldNum" sz="quarter" idx="12"/>
          </p:nvPr>
        </p:nvSpPr>
        <p:spPr>
          <a:xfrm>
            <a:off x="6553200" y="6356350"/>
            <a:ext cx="2133600" cy="365125"/>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Aft>
                <a:spcPts val="598"/>
              </a:spcAft>
            </a:pPr>
            <a:fld id="{A96FCAC1-F539-4436-A8D9-9E19D1673FCA}" type="slidenum">
              <a:rPr lang="en-US" smtClean="0"/>
              <a:pPr>
                <a:lnSpc>
                  <a:spcPct val="90000"/>
                </a:lnSpc>
                <a:spcAft>
                  <a:spcPts val="598"/>
                </a:spcAft>
              </a:pPr>
              <a:t>15</a:t>
            </a:fld>
            <a:endParaRPr lang="en-US"/>
          </a:p>
        </p:txBody>
      </p:sp>
    </p:spTree>
    <p:extLst>
      <p:ext uri="{BB962C8B-B14F-4D97-AF65-F5344CB8AC3E}">
        <p14:creationId xmlns:p14="http://schemas.microsoft.com/office/powerpoint/2010/main" val="2789823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2605" y="459994"/>
            <a:ext cx="4255134" cy="369332"/>
          </a:xfrm>
        </p:spPr>
        <p:txBody>
          <a:bodyPr/>
          <a:lstStyle/>
          <a:p>
            <a:r>
              <a:rPr lang="en-US" dirty="0">
                <a:solidFill>
                  <a:schemeClr val="accent1">
                    <a:lumMod val="75000"/>
                  </a:schemeClr>
                </a:solidFill>
              </a:rPr>
              <a:t>Systems Cabinet</a:t>
            </a:r>
          </a:p>
        </p:txBody>
      </p:sp>
      <p:sp>
        <p:nvSpPr>
          <p:cNvPr id="3" name="Content Placeholder 2"/>
          <p:cNvSpPr>
            <a:spLocks noGrp="1"/>
          </p:cNvSpPr>
          <p:nvPr>
            <p:ph idx="1"/>
          </p:nvPr>
        </p:nvSpPr>
        <p:spPr>
          <a:xfrm>
            <a:off x="156069" y="986933"/>
            <a:ext cx="8806462" cy="531423"/>
          </a:xfrm>
        </p:spPr>
        <p:txBody>
          <a:bodyPr>
            <a:normAutofit/>
          </a:bodyPr>
          <a:lstStyle/>
          <a:p>
            <a:r>
              <a:rPr lang="en-US" dirty="0">
                <a:solidFill>
                  <a:schemeClr val="tx2">
                    <a:lumMod val="60000"/>
                    <a:lumOff val="40000"/>
                  </a:schemeClr>
                </a:solidFill>
              </a:rPr>
              <a:t>Probably the biggest changes in the system happen in the console and the system cabinet.</a:t>
            </a:r>
          </a:p>
        </p:txBody>
      </p:sp>
      <p:sp>
        <p:nvSpPr>
          <p:cNvPr id="7" name="Right Arrow 6"/>
          <p:cNvSpPr/>
          <p:nvPr/>
        </p:nvSpPr>
        <p:spPr>
          <a:xfrm>
            <a:off x="5175786" y="3752525"/>
            <a:ext cx="683260" cy="178743"/>
          </a:xfrm>
          <a:prstGeom prst="rightArrow">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l="29293" r="17483" b="1923"/>
          <a:stretch/>
        </p:blipFill>
        <p:spPr>
          <a:xfrm>
            <a:off x="1180415" y="1341700"/>
            <a:ext cx="2000142" cy="4914217"/>
          </a:xfrm>
          <a:prstGeom prst="rect">
            <a:avLst/>
          </a:prstGeom>
        </p:spPr>
      </p:pic>
      <p:pic>
        <p:nvPicPr>
          <p:cNvPr id="1026" name="Picture 2" descr="C:\Users\BUBA\Google Drive\MR Training\Pictures\IMG_059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496" t="21410" r="25780" b="10995"/>
          <a:stretch/>
        </p:blipFill>
        <p:spPr bwMode="auto">
          <a:xfrm>
            <a:off x="3492500" y="1425483"/>
            <a:ext cx="1240096" cy="4918699"/>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6FCAC1-F539-4436-A8D9-9E19D1673FCA}" type="slidenum">
              <a:rPr lang="en-US" smtClean="0"/>
              <a:pPr/>
              <a:t>16</a:t>
            </a:fld>
            <a:endParaRPr lang="en-US"/>
          </a:p>
        </p:txBody>
      </p:sp>
      <p:pic>
        <p:nvPicPr>
          <p:cNvPr id="8" name="Picture 7" descr="A machine with many wires and a few other objects&#10;&#10;Description automatically generated with medium confidence">
            <a:extLst>
              <a:ext uri="{FF2B5EF4-FFF2-40B4-BE49-F238E27FC236}">
                <a16:creationId xmlns:a16="http://schemas.microsoft.com/office/drawing/2014/main" id="{9C3055D2-35E4-A938-7F7E-21C88B02CC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2236" y="1425483"/>
            <a:ext cx="1635949" cy="4918699"/>
          </a:xfrm>
          <a:prstGeom prst="rect">
            <a:avLst/>
          </a:prstGeom>
        </p:spPr>
      </p:pic>
    </p:spTree>
    <p:extLst>
      <p:ext uri="{BB962C8B-B14F-4D97-AF65-F5344CB8AC3E}">
        <p14:creationId xmlns:p14="http://schemas.microsoft.com/office/powerpoint/2010/main" val="1239672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68300" y="-4762"/>
            <a:ext cx="8755380" cy="6470650"/>
            <a:chOff x="368300" y="-4762"/>
            <a:chExt cx="8755380" cy="6470650"/>
          </a:xfrm>
        </p:grpSpPr>
        <p:pic>
          <p:nvPicPr>
            <p:cNvPr id="3" name="object 3"/>
            <p:cNvPicPr/>
            <p:nvPr/>
          </p:nvPicPr>
          <p:blipFill>
            <a:blip r:embed="rId2" cstate="print"/>
            <a:stretch>
              <a:fillRect/>
            </a:stretch>
          </p:blipFill>
          <p:spPr>
            <a:xfrm>
              <a:off x="368300" y="250952"/>
              <a:ext cx="8289543" cy="6214871"/>
            </a:xfrm>
            <a:prstGeom prst="rect">
              <a:avLst/>
            </a:prstGeom>
          </p:spPr>
        </p:pic>
        <p:sp>
          <p:nvSpPr>
            <p:cNvPr id="4" name="object 4"/>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5" name="object 5"/>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6" name="object 6"/>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grpSp>
        <p:nvGrpSpPr>
          <p:cNvPr id="7" name="object 7"/>
          <p:cNvGrpSpPr/>
          <p:nvPr/>
        </p:nvGrpSpPr>
        <p:grpSpPr>
          <a:xfrm>
            <a:off x="2297493" y="531939"/>
            <a:ext cx="6656070" cy="2889250"/>
            <a:chOff x="2297493" y="531939"/>
            <a:chExt cx="6656070" cy="2889250"/>
          </a:xfrm>
        </p:grpSpPr>
        <p:sp>
          <p:nvSpPr>
            <p:cNvPr id="8" name="object 8"/>
            <p:cNvSpPr/>
            <p:nvPr/>
          </p:nvSpPr>
          <p:spPr>
            <a:xfrm>
              <a:off x="2302255" y="536701"/>
              <a:ext cx="6646545" cy="2879725"/>
            </a:xfrm>
            <a:custGeom>
              <a:avLst/>
              <a:gdLst/>
              <a:ahLst/>
              <a:cxnLst/>
              <a:rect l="l" t="t" r="r" b="b"/>
              <a:pathLst>
                <a:path w="6646545" h="2879725">
                  <a:moveTo>
                    <a:pt x="6646164" y="2879598"/>
                  </a:moveTo>
                  <a:lnTo>
                    <a:pt x="6646164" y="0"/>
                  </a:lnTo>
                  <a:lnTo>
                    <a:pt x="0" y="0"/>
                  </a:lnTo>
                  <a:lnTo>
                    <a:pt x="0" y="2879598"/>
                  </a:lnTo>
                  <a:lnTo>
                    <a:pt x="6646164" y="2879598"/>
                  </a:lnTo>
                  <a:close/>
                </a:path>
              </a:pathLst>
            </a:custGeom>
            <a:solidFill>
              <a:srgbClr val="FFFFFF"/>
            </a:solidFill>
          </p:spPr>
          <p:txBody>
            <a:bodyPr wrap="square" lIns="0" tIns="0" rIns="0" bIns="0" rtlCol="0"/>
            <a:lstStyle/>
            <a:p>
              <a:endParaRPr/>
            </a:p>
          </p:txBody>
        </p:sp>
        <p:sp>
          <p:nvSpPr>
            <p:cNvPr id="9" name="object 9"/>
            <p:cNvSpPr/>
            <p:nvPr/>
          </p:nvSpPr>
          <p:spPr>
            <a:xfrm>
              <a:off x="2302255" y="536701"/>
              <a:ext cx="6646545" cy="2879725"/>
            </a:xfrm>
            <a:custGeom>
              <a:avLst/>
              <a:gdLst/>
              <a:ahLst/>
              <a:cxnLst/>
              <a:rect l="l" t="t" r="r" b="b"/>
              <a:pathLst>
                <a:path w="6646545" h="2879725">
                  <a:moveTo>
                    <a:pt x="6646164" y="2879598"/>
                  </a:moveTo>
                  <a:lnTo>
                    <a:pt x="6646164" y="0"/>
                  </a:lnTo>
                  <a:lnTo>
                    <a:pt x="0" y="0"/>
                  </a:lnTo>
                  <a:lnTo>
                    <a:pt x="0" y="2879598"/>
                  </a:lnTo>
                  <a:lnTo>
                    <a:pt x="6646164" y="2879598"/>
                  </a:lnTo>
                  <a:close/>
                </a:path>
              </a:pathLst>
            </a:custGeom>
            <a:ln w="9144">
              <a:solidFill>
                <a:srgbClr val="000000"/>
              </a:solidFill>
            </a:ln>
          </p:spPr>
          <p:txBody>
            <a:bodyPr wrap="square" lIns="0" tIns="0" rIns="0" bIns="0" rtlCol="0"/>
            <a:lstStyle/>
            <a:p>
              <a:endParaRPr/>
            </a:p>
          </p:txBody>
        </p:sp>
      </p:grpSp>
      <p:sp>
        <p:nvSpPr>
          <p:cNvPr id="10" name="object 10"/>
          <p:cNvSpPr txBox="1"/>
          <p:nvPr/>
        </p:nvSpPr>
        <p:spPr>
          <a:xfrm>
            <a:off x="2386329" y="569722"/>
            <a:ext cx="6476365" cy="2803525"/>
          </a:xfrm>
          <a:prstGeom prst="rect">
            <a:avLst/>
          </a:prstGeom>
        </p:spPr>
        <p:txBody>
          <a:bodyPr vert="horz" wrap="square" lIns="0" tIns="12700" rIns="0" bIns="0" rtlCol="0">
            <a:spAutoFit/>
          </a:bodyPr>
          <a:lstStyle/>
          <a:p>
            <a:pPr marL="12700" marR="64769">
              <a:lnSpc>
                <a:spcPct val="100000"/>
              </a:lnSpc>
              <a:spcBef>
                <a:spcPts val="100"/>
              </a:spcBef>
            </a:pPr>
            <a:r>
              <a:rPr sz="1300" dirty="0">
                <a:latin typeface="Times New Roman"/>
                <a:cs typeface="Times New Roman"/>
              </a:rPr>
              <a:t>All</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circuit</a:t>
            </a:r>
            <a:r>
              <a:rPr sz="1300" spc="-25" dirty="0">
                <a:latin typeface="Times New Roman"/>
                <a:cs typeface="Times New Roman"/>
              </a:rPr>
              <a:t> </a:t>
            </a:r>
            <a:r>
              <a:rPr sz="1300" dirty="0">
                <a:latin typeface="Times New Roman"/>
                <a:cs typeface="Times New Roman"/>
              </a:rPr>
              <a:t>boards</a:t>
            </a:r>
            <a:r>
              <a:rPr sz="1300" spc="-20" dirty="0">
                <a:latin typeface="Times New Roman"/>
                <a:cs typeface="Times New Roman"/>
              </a:rPr>
              <a:t> </a:t>
            </a:r>
            <a:r>
              <a:rPr sz="1300" dirty="0">
                <a:latin typeface="Times New Roman"/>
                <a:cs typeface="Times New Roman"/>
              </a:rPr>
              <a:t>that</a:t>
            </a:r>
            <a:r>
              <a:rPr sz="1300" spc="-25" dirty="0">
                <a:latin typeface="Times New Roman"/>
                <a:cs typeface="Times New Roman"/>
              </a:rPr>
              <a:t> </a:t>
            </a:r>
            <a:r>
              <a:rPr sz="1300" dirty="0">
                <a:latin typeface="Times New Roman"/>
                <a:cs typeface="Times New Roman"/>
              </a:rPr>
              <a:t>comprise</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MGD</a:t>
            </a:r>
            <a:r>
              <a:rPr sz="1300" spc="-20" dirty="0">
                <a:latin typeface="Times New Roman"/>
                <a:cs typeface="Times New Roman"/>
              </a:rPr>
              <a:t> </a:t>
            </a:r>
            <a:r>
              <a:rPr sz="1300" dirty="0">
                <a:latin typeface="Times New Roman"/>
                <a:cs typeface="Times New Roman"/>
              </a:rPr>
              <a:t>are</a:t>
            </a:r>
            <a:r>
              <a:rPr sz="1300" spc="-25" dirty="0">
                <a:latin typeface="Times New Roman"/>
                <a:cs typeface="Times New Roman"/>
              </a:rPr>
              <a:t> </a:t>
            </a:r>
            <a:r>
              <a:rPr sz="1300" dirty="0">
                <a:latin typeface="Times New Roman"/>
                <a:cs typeface="Times New Roman"/>
              </a:rPr>
              <a:t>contained</a:t>
            </a:r>
            <a:r>
              <a:rPr sz="1300" spc="-20" dirty="0">
                <a:latin typeface="Times New Roman"/>
                <a:cs typeface="Times New Roman"/>
              </a:rPr>
              <a:t> </a:t>
            </a:r>
            <a:r>
              <a:rPr sz="1300" dirty="0">
                <a:latin typeface="Times New Roman"/>
                <a:cs typeface="Times New Roman"/>
              </a:rPr>
              <a:t>in</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b="1" spc="-10" dirty="0">
                <a:latin typeface="Times New Roman"/>
                <a:cs typeface="Times New Roman"/>
              </a:rPr>
              <a:t>M</a:t>
            </a:r>
            <a:r>
              <a:rPr sz="1300" spc="-10" dirty="0">
                <a:latin typeface="Times New Roman"/>
                <a:cs typeface="Times New Roman"/>
              </a:rPr>
              <a:t>ulti-</a:t>
            </a:r>
            <a:r>
              <a:rPr sz="1300" b="1" dirty="0">
                <a:latin typeface="Times New Roman"/>
                <a:cs typeface="Times New Roman"/>
              </a:rPr>
              <a:t>G</a:t>
            </a:r>
            <a:r>
              <a:rPr sz="1300" dirty="0">
                <a:latin typeface="Times New Roman"/>
                <a:cs typeface="Times New Roman"/>
              </a:rPr>
              <a:t>enerational</a:t>
            </a:r>
            <a:r>
              <a:rPr sz="1300" spc="-25" dirty="0">
                <a:latin typeface="Times New Roman"/>
                <a:cs typeface="Times New Roman"/>
              </a:rPr>
              <a:t> </a:t>
            </a:r>
            <a:r>
              <a:rPr sz="1300" b="1" spc="-20" dirty="0">
                <a:latin typeface="Times New Roman"/>
                <a:cs typeface="Times New Roman"/>
              </a:rPr>
              <a:t>D</a:t>
            </a:r>
            <a:r>
              <a:rPr sz="1300" spc="-20" dirty="0">
                <a:latin typeface="Times New Roman"/>
                <a:cs typeface="Times New Roman"/>
              </a:rPr>
              <a:t>ata </a:t>
            </a:r>
            <a:r>
              <a:rPr sz="1300" dirty="0">
                <a:latin typeface="Times New Roman"/>
                <a:cs typeface="Times New Roman"/>
              </a:rPr>
              <a:t>acquisition</a:t>
            </a:r>
            <a:r>
              <a:rPr sz="1300" spc="-25" dirty="0">
                <a:latin typeface="Times New Roman"/>
                <a:cs typeface="Times New Roman"/>
              </a:rPr>
              <a:t> </a:t>
            </a:r>
            <a:r>
              <a:rPr sz="1300" dirty="0">
                <a:latin typeface="Times New Roman"/>
                <a:cs typeface="Times New Roman"/>
              </a:rPr>
              <a:t>Chassis.</a:t>
            </a:r>
            <a:r>
              <a:rPr sz="1300" spc="285" dirty="0">
                <a:latin typeface="Times New Roman"/>
                <a:cs typeface="Times New Roman"/>
              </a:rPr>
              <a:t> </a:t>
            </a:r>
            <a:r>
              <a:rPr sz="1300" dirty="0">
                <a:latin typeface="Times New Roman"/>
                <a:cs typeface="Times New Roman"/>
              </a:rPr>
              <a:t>Boards</a:t>
            </a:r>
            <a:r>
              <a:rPr sz="1300" spc="-20" dirty="0">
                <a:latin typeface="Times New Roman"/>
                <a:cs typeface="Times New Roman"/>
              </a:rPr>
              <a:t> </a:t>
            </a:r>
            <a:r>
              <a:rPr sz="1300" dirty="0">
                <a:latin typeface="Times New Roman"/>
                <a:cs typeface="Times New Roman"/>
              </a:rPr>
              <a:t>are</a:t>
            </a:r>
            <a:r>
              <a:rPr sz="1300" spc="-20" dirty="0">
                <a:latin typeface="Times New Roman"/>
                <a:cs typeface="Times New Roman"/>
              </a:rPr>
              <a:t> </a:t>
            </a:r>
            <a:r>
              <a:rPr sz="1300" dirty="0">
                <a:latin typeface="Times New Roman"/>
                <a:cs typeface="Times New Roman"/>
              </a:rPr>
              <a:t>located</a:t>
            </a:r>
            <a:r>
              <a:rPr sz="1300" spc="-20" dirty="0">
                <a:latin typeface="Times New Roman"/>
                <a:cs typeface="Times New Roman"/>
              </a:rPr>
              <a:t> </a:t>
            </a:r>
            <a:r>
              <a:rPr sz="1300" dirty="0">
                <a:latin typeface="Times New Roman"/>
                <a:cs typeface="Times New Roman"/>
              </a:rPr>
              <a:t>on</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front</a:t>
            </a:r>
            <a:r>
              <a:rPr sz="1300" spc="-20" dirty="0">
                <a:latin typeface="Times New Roman"/>
                <a:cs typeface="Times New Roman"/>
              </a:rPr>
              <a:t> </a:t>
            </a:r>
            <a:r>
              <a:rPr sz="1300" dirty="0">
                <a:latin typeface="Times New Roman"/>
                <a:cs typeface="Times New Roman"/>
              </a:rPr>
              <a:t>and</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rear</a:t>
            </a:r>
            <a:r>
              <a:rPr sz="1300" spc="-20"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chassis</a:t>
            </a:r>
            <a:r>
              <a:rPr sz="1300" spc="-20" dirty="0">
                <a:latin typeface="Times New Roman"/>
                <a:cs typeface="Times New Roman"/>
              </a:rPr>
              <a:t> </a:t>
            </a:r>
            <a:r>
              <a:rPr sz="1300" dirty="0">
                <a:latin typeface="Times New Roman"/>
                <a:cs typeface="Times New Roman"/>
              </a:rPr>
              <a:t>and</a:t>
            </a:r>
            <a:r>
              <a:rPr sz="1300" spc="-20" dirty="0">
                <a:latin typeface="Times New Roman"/>
                <a:cs typeface="Times New Roman"/>
              </a:rPr>
              <a:t> </a:t>
            </a:r>
            <a:r>
              <a:rPr sz="1300" dirty="0">
                <a:latin typeface="Times New Roman"/>
                <a:cs typeface="Times New Roman"/>
              </a:rPr>
              <a:t>all</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spc="-10" dirty="0">
                <a:latin typeface="Times New Roman"/>
                <a:cs typeface="Times New Roman"/>
              </a:rPr>
              <a:t>boards </a:t>
            </a:r>
            <a:r>
              <a:rPr sz="1300" dirty="0">
                <a:latin typeface="Times New Roman"/>
                <a:cs typeface="Times New Roman"/>
              </a:rPr>
              <a:t>interface</a:t>
            </a:r>
            <a:r>
              <a:rPr sz="1300" spc="-20" dirty="0">
                <a:latin typeface="Times New Roman"/>
                <a:cs typeface="Times New Roman"/>
              </a:rPr>
              <a:t> </a:t>
            </a:r>
            <a:r>
              <a:rPr sz="1300" dirty="0">
                <a:latin typeface="Times New Roman"/>
                <a:cs typeface="Times New Roman"/>
              </a:rPr>
              <a:t>to</a:t>
            </a:r>
            <a:r>
              <a:rPr sz="1300" spc="-15" dirty="0">
                <a:latin typeface="Times New Roman"/>
                <a:cs typeface="Times New Roman"/>
              </a:rPr>
              <a:t> </a:t>
            </a:r>
            <a:r>
              <a:rPr sz="1300" dirty="0">
                <a:latin typeface="Times New Roman"/>
                <a:cs typeface="Times New Roman"/>
              </a:rPr>
              <a:t>a</a:t>
            </a:r>
            <a:r>
              <a:rPr sz="1300" spc="-15" dirty="0">
                <a:latin typeface="Times New Roman"/>
                <a:cs typeface="Times New Roman"/>
              </a:rPr>
              <a:t> </a:t>
            </a:r>
            <a:r>
              <a:rPr sz="1300" dirty="0">
                <a:latin typeface="Times New Roman"/>
                <a:cs typeface="Times New Roman"/>
              </a:rPr>
              <a:t>common</a:t>
            </a:r>
            <a:r>
              <a:rPr sz="1300" spc="-15" dirty="0">
                <a:latin typeface="Times New Roman"/>
                <a:cs typeface="Times New Roman"/>
              </a:rPr>
              <a:t> </a:t>
            </a:r>
            <a:r>
              <a:rPr sz="1300" spc="-10" dirty="0">
                <a:latin typeface="Times New Roman"/>
                <a:cs typeface="Times New Roman"/>
              </a:rPr>
              <a:t>mid-</a:t>
            </a:r>
            <a:r>
              <a:rPr sz="1300" dirty="0">
                <a:latin typeface="Times New Roman"/>
                <a:cs typeface="Times New Roman"/>
              </a:rPr>
              <a:t>plane.</a:t>
            </a:r>
            <a:r>
              <a:rPr sz="1300" spc="295" dirty="0">
                <a:latin typeface="Times New Roman"/>
                <a:cs typeface="Times New Roman"/>
              </a:rPr>
              <a:t> </a:t>
            </a:r>
            <a:r>
              <a:rPr sz="1300" dirty="0">
                <a:latin typeface="Times New Roman"/>
                <a:cs typeface="Times New Roman"/>
              </a:rPr>
              <a:t>The</a:t>
            </a:r>
            <a:r>
              <a:rPr sz="1300" spc="-15" dirty="0">
                <a:latin typeface="Times New Roman"/>
                <a:cs typeface="Times New Roman"/>
              </a:rPr>
              <a:t> </a:t>
            </a:r>
            <a:r>
              <a:rPr sz="1300" spc="-10" dirty="0">
                <a:latin typeface="Times New Roman"/>
                <a:cs typeface="Times New Roman"/>
              </a:rPr>
              <a:t>mid-</a:t>
            </a:r>
            <a:r>
              <a:rPr sz="1300" dirty="0">
                <a:latin typeface="Times New Roman"/>
                <a:cs typeface="Times New Roman"/>
              </a:rPr>
              <a:t>plane</a:t>
            </a:r>
            <a:r>
              <a:rPr sz="1300" spc="-15" dirty="0">
                <a:latin typeface="Times New Roman"/>
                <a:cs typeface="Times New Roman"/>
              </a:rPr>
              <a:t> </a:t>
            </a:r>
            <a:r>
              <a:rPr sz="1300" dirty="0">
                <a:latin typeface="Times New Roman"/>
                <a:cs typeface="Times New Roman"/>
              </a:rPr>
              <a:t>contains</a:t>
            </a:r>
            <a:r>
              <a:rPr sz="1300" spc="-15" dirty="0">
                <a:latin typeface="Times New Roman"/>
                <a:cs typeface="Times New Roman"/>
              </a:rPr>
              <a:t> </a:t>
            </a:r>
            <a:r>
              <a:rPr sz="1300" dirty="0">
                <a:latin typeface="Times New Roman"/>
                <a:cs typeface="Times New Roman"/>
              </a:rPr>
              <a:t>two</a:t>
            </a:r>
            <a:r>
              <a:rPr sz="1300" spc="-20" dirty="0">
                <a:latin typeface="Times New Roman"/>
                <a:cs typeface="Times New Roman"/>
              </a:rPr>
              <a:t> </a:t>
            </a:r>
            <a:r>
              <a:rPr sz="1300" dirty="0">
                <a:latin typeface="Times New Roman"/>
                <a:cs typeface="Times New Roman"/>
              </a:rPr>
              <a:t>independent</a:t>
            </a:r>
            <a:r>
              <a:rPr sz="1300" spc="-15" dirty="0">
                <a:latin typeface="Times New Roman"/>
                <a:cs typeface="Times New Roman"/>
              </a:rPr>
              <a:t> </a:t>
            </a:r>
            <a:r>
              <a:rPr sz="1300" spc="-10" dirty="0">
                <a:latin typeface="Times New Roman"/>
                <a:cs typeface="Times New Roman"/>
              </a:rPr>
              <a:t>compact-</a:t>
            </a:r>
            <a:r>
              <a:rPr sz="1300" dirty="0">
                <a:latin typeface="Times New Roman"/>
                <a:cs typeface="Times New Roman"/>
              </a:rPr>
              <a:t>PCI</a:t>
            </a:r>
            <a:r>
              <a:rPr sz="1300" spc="-15" dirty="0">
                <a:latin typeface="Times New Roman"/>
                <a:cs typeface="Times New Roman"/>
              </a:rPr>
              <a:t> </a:t>
            </a:r>
            <a:r>
              <a:rPr sz="1300" spc="-10" dirty="0">
                <a:latin typeface="Times New Roman"/>
                <a:cs typeface="Times New Roman"/>
              </a:rPr>
              <a:t>buses </a:t>
            </a:r>
            <a:r>
              <a:rPr sz="1300" dirty="0">
                <a:latin typeface="Times New Roman"/>
                <a:cs typeface="Times New Roman"/>
              </a:rPr>
              <a:t>that</a:t>
            </a:r>
            <a:r>
              <a:rPr sz="1300" spc="-25" dirty="0">
                <a:latin typeface="Times New Roman"/>
                <a:cs typeface="Times New Roman"/>
              </a:rPr>
              <a:t> </a:t>
            </a:r>
            <a:r>
              <a:rPr sz="1300" dirty="0">
                <a:latin typeface="Times New Roman"/>
                <a:cs typeface="Times New Roman"/>
              </a:rPr>
              <a:t>are</a:t>
            </a:r>
            <a:r>
              <a:rPr sz="1300" spc="-20" dirty="0">
                <a:latin typeface="Times New Roman"/>
                <a:cs typeface="Times New Roman"/>
              </a:rPr>
              <a:t> </a:t>
            </a:r>
            <a:r>
              <a:rPr sz="1300" dirty="0">
                <a:latin typeface="Times New Roman"/>
                <a:cs typeface="Times New Roman"/>
              </a:rPr>
              <a:t>linked</a:t>
            </a:r>
            <a:r>
              <a:rPr sz="1300" spc="-20" dirty="0">
                <a:latin typeface="Times New Roman"/>
                <a:cs typeface="Times New Roman"/>
              </a:rPr>
              <a:t> </a:t>
            </a:r>
            <a:r>
              <a:rPr sz="1300" dirty="0">
                <a:latin typeface="Times New Roman"/>
                <a:cs typeface="Times New Roman"/>
              </a:rPr>
              <a:t>together</a:t>
            </a:r>
            <a:r>
              <a:rPr sz="1300" spc="-25" dirty="0">
                <a:latin typeface="Times New Roman"/>
                <a:cs typeface="Times New Roman"/>
              </a:rPr>
              <a:t> </a:t>
            </a:r>
            <a:r>
              <a:rPr sz="1300" dirty="0">
                <a:latin typeface="Times New Roman"/>
                <a:cs typeface="Times New Roman"/>
              </a:rPr>
              <a:t>by</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Bridge</a:t>
            </a:r>
            <a:r>
              <a:rPr sz="1300" spc="-25" dirty="0">
                <a:latin typeface="Times New Roman"/>
                <a:cs typeface="Times New Roman"/>
              </a:rPr>
              <a:t> </a:t>
            </a:r>
            <a:r>
              <a:rPr sz="1300" dirty="0">
                <a:latin typeface="Times New Roman"/>
                <a:cs typeface="Times New Roman"/>
              </a:rPr>
              <a:t>Board.</a:t>
            </a:r>
            <a:r>
              <a:rPr sz="1300" spc="28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spc="-10" dirty="0">
                <a:latin typeface="Times New Roman"/>
                <a:cs typeface="Times New Roman"/>
              </a:rPr>
              <a:t>compact-</a:t>
            </a:r>
            <a:r>
              <a:rPr sz="1300" dirty="0">
                <a:latin typeface="Times New Roman"/>
                <a:cs typeface="Times New Roman"/>
              </a:rPr>
              <a:t>PCI</a:t>
            </a:r>
            <a:r>
              <a:rPr sz="1300" spc="-20" dirty="0">
                <a:latin typeface="Times New Roman"/>
                <a:cs typeface="Times New Roman"/>
              </a:rPr>
              <a:t> </a:t>
            </a:r>
            <a:r>
              <a:rPr sz="1300" dirty="0">
                <a:latin typeface="Times New Roman"/>
                <a:cs typeface="Times New Roman"/>
              </a:rPr>
              <a:t>bus</a:t>
            </a:r>
            <a:r>
              <a:rPr sz="1300" spc="-25" dirty="0">
                <a:latin typeface="Times New Roman"/>
                <a:cs typeface="Times New Roman"/>
              </a:rPr>
              <a:t> </a:t>
            </a:r>
            <a:r>
              <a:rPr sz="1300" dirty="0">
                <a:latin typeface="Times New Roman"/>
                <a:cs typeface="Times New Roman"/>
              </a:rPr>
              <a:t>standard</a:t>
            </a:r>
            <a:r>
              <a:rPr sz="1300" spc="-30" dirty="0">
                <a:latin typeface="Times New Roman"/>
                <a:cs typeface="Times New Roman"/>
              </a:rPr>
              <a:t> </a:t>
            </a:r>
            <a:r>
              <a:rPr sz="1300" dirty="0">
                <a:latin typeface="Times New Roman"/>
                <a:cs typeface="Times New Roman"/>
              </a:rPr>
              <a:t>is</a:t>
            </a:r>
            <a:r>
              <a:rPr sz="1300" spc="-25" dirty="0">
                <a:latin typeface="Times New Roman"/>
                <a:cs typeface="Times New Roman"/>
              </a:rPr>
              <a:t> </a:t>
            </a:r>
            <a:r>
              <a:rPr sz="1300" dirty="0">
                <a:latin typeface="Times New Roman"/>
                <a:cs typeface="Times New Roman"/>
              </a:rPr>
              <a:t>connectors</a:t>
            </a:r>
            <a:r>
              <a:rPr sz="1300" spc="-25" dirty="0">
                <a:latin typeface="Times New Roman"/>
                <a:cs typeface="Times New Roman"/>
              </a:rPr>
              <a:t> </a:t>
            </a:r>
            <a:r>
              <a:rPr sz="1300" spc="-20" dirty="0">
                <a:latin typeface="Times New Roman"/>
                <a:cs typeface="Times New Roman"/>
              </a:rPr>
              <a:t>with </a:t>
            </a:r>
            <a:r>
              <a:rPr sz="1300" dirty="0">
                <a:latin typeface="Times New Roman"/>
                <a:cs typeface="Times New Roman"/>
              </a:rPr>
              <a:t>male</a:t>
            </a:r>
            <a:r>
              <a:rPr sz="1300" spc="-25" dirty="0">
                <a:latin typeface="Times New Roman"/>
                <a:cs typeface="Times New Roman"/>
              </a:rPr>
              <a:t> </a:t>
            </a:r>
            <a:r>
              <a:rPr sz="1300" dirty="0">
                <a:latin typeface="Times New Roman"/>
                <a:cs typeface="Times New Roman"/>
              </a:rPr>
              <a:t>pins</a:t>
            </a:r>
            <a:r>
              <a:rPr sz="1300" spc="-25" dirty="0">
                <a:latin typeface="Times New Roman"/>
                <a:cs typeface="Times New Roman"/>
              </a:rPr>
              <a:t> </a:t>
            </a:r>
            <a:r>
              <a:rPr sz="1300" dirty="0">
                <a:latin typeface="Times New Roman"/>
                <a:cs typeface="Times New Roman"/>
              </a:rPr>
              <a:t>present</a:t>
            </a:r>
            <a:r>
              <a:rPr sz="1300" spc="-25" dirty="0">
                <a:latin typeface="Times New Roman"/>
                <a:cs typeface="Times New Roman"/>
              </a:rPr>
              <a:t> </a:t>
            </a:r>
            <a:r>
              <a:rPr sz="1300" dirty="0">
                <a:latin typeface="Times New Roman"/>
                <a:cs typeface="Times New Roman"/>
              </a:rPr>
              <a:t>on</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spc="-10" dirty="0">
                <a:latin typeface="Times New Roman"/>
                <a:cs typeface="Times New Roman"/>
              </a:rPr>
              <a:t>mid-</a:t>
            </a:r>
            <a:r>
              <a:rPr sz="1300" dirty="0">
                <a:latin typeface="Times New Roman"/>
                <a:cs typeface="Times New Roman"/>
              </a:rPr>
              <a:t>plane.</a:t>
            </a:r>
            <a:r>
              <a:rPr sz="1300" spc="280" dirty="0">
                <a:latin typeface="Times New Roman"/>
                <a:cs typeface="Times New Roman"/>
              </a:rPr>
              <a:t> </a:t>
            </a:r>
            <a:r>
              <a:rPr sz="1300" dirty="0">
                <a:latin typeface="Times New Roman"/>
                <a:cs typeface="Times New Roman"/>
              </a:rPr>
              <a:t>Exercise</a:t>
            </a:r>
            <a:r>
              <a:rPr sz="1300" spc="-25" dirty="0">
                <a:latin typeface="Times New Roman"/>
                <a:cs typeface="Times New Roman"/>
              </a:rPr>
              <a:t> </a:t>
            </a:r>
            <a:r>
              <a:rPr sz="1300" dirty="0">
                <a:latin typeface="Times New Roman"/>
                <a:cs typeface="Times New Roman"/>
              </a:rPr>
              <a:t>care</a:t>
            </a:r>
            <a:r>
              <a:rPr sz="1300" spc="-25" dirty="0">
                <a:latin typeface="Times New Roman"/>
                <a:cs typeface="Times New Roman"/>
              </a:rPr>
              <a:t> </a:t>
            </a:r>
            <a:r>
              <a:rPr sz="1300" dirty="0">
                <a:latin typeface="Times New Roman"/>
                <a:cs typeface="Times New Roman"/>
              </a:rPr>
              <a:t>when</a:t>
            </a:r>
            <a:r>
              <a:rPr sz="1300" spc="-25" dirty="0">
                <a:latin typeface="Times New Roman"/>
                <a:cs typeface="Times New Roman"/>
              </a:rPr>
              <a:t> </a:t>
            </a:r>
            <a:r>
              <a:rPr sz="1300" dirty="0">
                <a:latin typeface="Times New Roman"/>
                <a:cs typeface="Times New Roman"/>
              </a:rPr>
              <a:t>replacing</a:t>
            </a:r>
            <a:r>
              <a:rPr sz="1300" spc="-25" dirty="0">
                <a:latin typeface="Times New Roman"/>
                <a:cs typeface="Times New Roman"/>
              </a:rPr>
              <a:t> </a:t>
            </a:r>
            <a:r>
              <a:rPr sz="1300" dirty="0">
                <a:latin typeface="Times New Roman"/>
                <a:cs typeface="Times New Roman"/>
              </a:rPr>
              <a:t>or</a:t>
            </a:r>
            <a:r>
              <a:rPr sz="1300" spc="-20" dirty="0">
                <a:latin typeface="Times New Roman"/>
                <a:cs typeface="Times New Roman"/>
              </a:rPr>
              <a:t> </a:t>
            </a:r>
            <a:r>
              <a:rPr sz="1300" dirty="0">
                <a:latin typeface="Times New Roman"/>
                <a:cs typeface="Times New Roman"/>
              </a:rPr>
              <a:t>installing</a:t>
            </a:r>
            <a:r>
              <a:rPr sz="1300" spc="-25" dirty="0">
                <a:latin typeface="Times New Roman"/>
                <a:cs typeface="Times New Roman"/>
              </a:rPr>
              <a:t> </a:t>
            </a:r>
            <a:r>
              <a:rPr sz="1300" dirty="0">
                <a:latin typeface="Times New Roman"/>
                <a:cs typeface="Times New Roman"/>
              </a:rPr>
              <a:t>circuit</a:t>
            </a:r>
            <a:r>
              <a:rPr sz="1300" spc="-25" dirty="0">
                <a:latin typeface="Times New Roman"/>
                <a:cs typeface="Times New Roman"/>
              </a:rPr>
              <a:t> </a:t>
            </a:r>
            <a:r>
              <a:rPr sz="1300" dirty="0">
                <a:latin typeface="Times New Roman"/>
                <a:cs typeface="Times New Roman"/>
              </a:rPr>
              <a:t>boards</a:t>
            </a:r>
            <a:r>
              <a:rPr sz="1300" spc="-25" dirty="0">
                <a:latin typeface="Times New Roman"/>
                <a:cs typeface="Times New Roman"/>
              </a:rPr>
              <a:t> in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MGD</a:t>
            </a:r>
            <a:r>
              <a:rPr sz="1300" spc="-30" dirty="0">
                <a:latin typeface="Times New Roman"/>
                <a:cs typeface="Times New Roman"/>
              </a:rPr>
              <a:t>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in</a:t>
            </a:r>
            <a:r>
              <a:rPr sz="1300" spc="-30" dirty="0">
                <a:latin typeface="Times New Roman"/>
                <a:cs typeface="Times New Roman"/>
              </a:rPr>
              <a:t> </a:t>
            </a:r>
            <a:r>
              <a:rPr sz="1300" dirty="0">
                <a:latin typeface="Times New Roman"/>
                <a:cs typeface="Times New Roman"/>
              </a:rPr>
              <a:t>order</a:t>
            </a:r>
            <a:r>
              <a:rPr sz="1300" spc="-25" dirty="0">
                <a:latin typeface="Times New Roman"/>
                <a:cs typeface="Times New Roman"/>
              </a:rPr>
              <a:t> </a:t>
            </a:r>
            <a:r>
              <a:rPr sz="1300" dirty="0">
                <a:latin typeface="Times New Roman"/>
                <a:cs typeface="Times New Roman"/>
              </a:rPr>
              <a:t>to</a:t>
            </a:r>
            <a:r>
              <a:rPr sz="1300" spc="-30" dirty="0">
                <a:latin typeface="Times New Roman"/>
                <a:cs typeface="Times New Roman"/>
              </a:rPr>
              <a:t> </a:t>
            </a:r>
            <a:r>
              <a:rPr sz="1300" dirty="0">
                <a:latin typeface="Times New Roman"/>
                <a:cs typeface="Times New Roman"/>
              </a:rPr>
              <a:t>avoid</a:t>
            </a:r>
            <a:r>
              <a:rPr sz="1300" spc="-20" dirty="0">
                <a:latin typeface="Times New Roman"/>
                <a:cs typeface="Times New Roman"/>
              </a:rPr>
              <a:t> </a:t>
            </a:r>
            <a:r>
              <a:rPr sz="1300" dirty="0">
                <a:latin typeface="Times New Roman"/>
                <a:cs typeface="Times New Roman"/>
              </a:rPr>
              <a:t>bending</a:t>
            </a:r>
            <a:r>
              <a:rPr sz="1300" spc="-25" dirty="0">
                <a:latin typeface="Times New Roman"/>
                <a:cs typeface="Times New Roman"/>
              </a:rPr>
              <a:t> </a:t>
            </a:r>
            <a:r>
              <a:rPr sz="1300" dirty="0">
                <a:latin typeface="Times New Roman"/>
                <a:cs typeface="Times New Roman"/>
              </a:rPr>
              <a:t>one</a:t>
            </a:r>
            <a:r>
              <a:rPr sz="1300" spc="-20"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these</a:t>
            </a:r>
            <a:r>
              <a:rPr sz="1300" spc="-20" dirty="0">
                <a:latin typeface="Times New Roman"/>
                <a:cs typeface="Times New Roman"/>
              </a:rPr>
              <a:t> </a:t>
            </a:r>
            <a:r>
              <a:rPr sz="1300" dirty="0">
                <a:latin typeface="Times New Roman"/>
                <a:cs typeface="Times New Roman"/>
              </a:rPr>
              <a:t>pins.</a:t>
            </a:r>
            <a:r>
              <a:rPr sz="1300" spc="280" dirty="0">
                <a:latin typeface="Times New Roman"/>
                <a:cs typeface="Times New Roman"/>
              </a:rPr>
              <a:t> </a:t>
            </a:r>
            <a:r>
              <a:rPr sz="1300" i="1" dirty="0">
                <a:latin typeface="Times New Roman"/>
                <a:cs typeface="Times New Roman"/>
              </a:rPr>
              <a:t>Before</a:t>
            </a:r>
            <a:r>
              <a:rPr sz="1300" i="1" spc="-30" dirty="0">
                <a:latin typeface="Times New Roman"/>
                <a:cs typeface="Times New Roman"/>
              </a:rPr>
              <a:t> </a:t>
            </a:r>
            <a:r>
              <a:rPr sz="1300" i="1" dirty="0">
                <a:latin typeface="Times New Roman"/>
                <a:cs typeface="Times New Roman"/>
              </a:rPr>
              <a:t>installing</a:t>
            </a:r>
            <a:r>
              <a:rPr sz="1300" i="1" spc="-25" dirty="0">
                <a:latin typeface="Times New Roman"/>
                <a:cs typeface="Times New Roman"/>
              </a:rPr>
              <a:t> </a:t>
            </a:r>
            <a:r>
              <a:rPr sz="1300" i="1" dirty="0">
                <a:latin typeface="Times New Roman"/>
                <a:cs typeface="Times New Roman"/>
              </a:rPr>
              <a:t>or</a:t>
            </a:r>
            <a:r>
              <a:rPr sz="1300" i="1" spc="-20" dirty="0">
                <a:latin typeface="Times New Roman"/>
                <a:cs typeface="Times New Roman"/>
              </a:rPr>
              <a:t> </a:t>
            </a:r>
            <a:r>
              <a:rPr sz="1300" i="1" dirty="0">
                <a:latin typeface="Times New Roman"/>
                <a:cs typeface="Times New Roman"/>
              </a:rPr>
              <a:t>replacing</a:t>
            </a:r>
            <a:r>
              <a:rPr sz="1300" i="1" spc="-25" dirty="0">
                <a:latin typeface="Times New Roman"/>
                <a:cs typeface="Times New Roman"/>
              </a:rPr>
              <a:t> </a:t>
            </a:r>
            <a:r>
              <a:rPr sz="1300" i="1" spc="-50" dirty="0">
                <a:latin typeface="Times New Roman"/>
                <a:cs typeface="Times New Roman"/>
              </a:rPr>
              <a:t>a </a:t>
            </a:r>
            <a:r>
              <a:rPr sz="1300" i="1" dirty="0">
                <a:latin typeface="Times New Roman"/>
                <a:cs typeface="Times New Roman"/>
              </a:rPr>
              <a:t>board</a:t>
            </a:r>
            <a:r>
              <a:rPr sz="1300" i="1" spc="-35" dirty="0">
                <a:latin typeface="Times New Roman"/>
                <a:cs typeface="Times New Roman"/>
              </a:rPr>
              <a:t> </a:t>
            </a:r>
            <a:r>
              <a:rPr sz="1300" i="1" dirty="0">
                <a:latin typeface="Times New Roman"/>
                <a:cs typeface="Times New Roman"/>
              </a:rPr>
              <a:t>into</a:t>
            </a:r>
            <a:r>
              <a:rPr sz="1300" i="1" spc="-20" dirty="0">
                <a:latin typeface="Times New Roman"/>
                <a:cs typeface="Times New Roman"/>
              </a:rPr>
              <a:t> </a:t>
            </a:r>
            <a:r>
              <a:rPr sz="1300" i="1" dirty="0">
                <a:latin typeface="Times New Roman"/>
                <a:cs typeface="Times New Roman"/>
              </a:rPr>
              <a:t>an</a:t>
            </a:r>
            <a:r>
              <a:rPr sz="1300" i="1" spc="-25" dirty="0">
                <a:latin typeface="Times New Roman"/>
                <a:cs typeface="Times New Roman"/>
              </a:rPr>
              <a:t> </a:t>
            </a:r>
            <a:r>
              <a:rPr sz="1300" i="1" dirty="0">
                <a:latin typeface="Times New Roman"/>
                <a:cs typeface="Times New Roman"/>
              </a:rPr>
              <a:t>empty</a:t>
            </a:r>
            <a:r>
              <a:rPr sz="1300" i="1" spc="-20" dirty="0">
                <a:latin typeface="Times New Roman"/>
                <a:cs typeface="Times New Roman"/>
              </a:rPr>
              <a:t> </a:t>
            </a:r>
            <a:r>
              <a:rPr sz="1300" i="1" dirty="0">
                <a:latin typeface="Times New Roman"/>
                <a:cs typeface="Times New Roman"/>
              </a:rPr>
              <a:t>slot,</a:t>
            </a:r>
            <a:r>
              <a:rPr sz="1300" i="1" spc="-25" dirty="0">
                <a:latin typeface="Times New Roman"/>
                <a:cs typeface="Times New Roman"/>
              </a:rPr>
              <a:t> </a:t>
            </a:r>
            <a:r>
              <a:rPr sz="1300" i="1" dirty="0">
                <a:latin typeface="Times New Roman"/>
                <a:cs typeface="Times New Roman"/>
              </a:rPr>
              <a:t>visually</a:t>
            </a:r>
            <a:r>
              <a:rPr sz="1300" i="1" spc="-25" dirty="0">
                <a:latin typeface="Times New Roman"/>
                <a:cs typeface="Times New Roman"/>
              </a:rPr>
              <a:t> </a:t>
            </a:r>
            <a:r>
              <a:rPr sz="1300" i="1" dirty="0">
                <a:latin typeface="Times New Roman"/>
                <a:cs typeface="Times New Roman"/>
              </a:rPr>
              <a:t>inspect</a:t>
            </a:r>
            <a:r>
              <a:rPr sz="1300" i="1" spc="-25" dirty="0">
                <a:latin typeface="Times New Roman"/>
                <a:cs typeface="Times New Roman"/>
              </a:rPr>
              <a:t> </a:t>
            </a:r>
            <a:r>
              <a:rPr sz="1300" i="1" dirty="0">
                <a:latin typeface="Times New Roman"/>
                <a:cs typeface="Times New Roman"/>
              </a:rPr>
              <a:t>the</a:t>
            </a:r>
            <a:r>
              <a:rPr sz="1300" i="1" spc="-25" dirty="0">
                <a:latin typeface="Times New Roman"/>
                <a:cs typeface="Times New Roman"/>
              </a:rPr>
              <a:t> </a:t>
            </a:r>
            <a:r>
              <a:rPr sz="1300" i="1" dirty="0">
                <a:latin typeface="Times New Roman"/>
                <a:cs typeface="Times New Roman"/>
              </a:rPr>
              <a:t>connectors</a:t>
            </a:r>
            <a:r>
              <a:rPr sz="1300" i="1" spc="-30" dirty="0">
                <a:latin typeface="Times New Roman"/>
                <a:cs typeface="Times New Roman"/>
              </a:rPr>
              <a:t> </a:t>
            </a:r>
            <a:r>
              <a:rPr sz="1300" i="1" dirty="0">
                <a:latin typeface="Times New Roman"/>
                <a:cs typeface="Times New Roman"/>
              </a:rPr>
              <a:t>on</a:t>
            </a:r>
            <a:r>
              <a:rPr sz="1300" i="1" spc="-30" dirty="0">
                <a:latin typeface="Times New Roman"/>
                <a:cs typeface="Times New Roman"/>
              </a:rPr>
              <a:t> </a:t>
            </a:r>
            <a:r>
              <a:rPr sz="1300" i="1" dirty="0">
                <a:latin typeface="Times New Roman"/>
                <a:cs typeface="Times New Roman"/>
              </a:rPr>
              <a:t>the</a:t>
            </a:r>
            <a:r>
              <a:rPr sz="1300" i="1" spc="-20" dirty="0">
                <a:latin typeface="Times New Roman"/>
                <a:cs typeface="Times New Roman"/>
              </a:rPr>
              <a:t> </a:t>
            </a:r>
            <a:r>
              <a:rPr sz="1300" i="1" spc="-10" dirty="0">
                <a:latin typeface="Times New Roman"/>
                <a:cs typeface="Times New Roman"/>
              </a:rPr>
              <a:t>mid-</a:t>
            </a:r>
            <a:r>
              <a:rPr sz="1300" i="1" dirty="0">
                <a:latin typeface="Times New Roman"/>
                <a:cs typeface="Times New Roman"/>
              </a:rPr>
              <a:t>plane</a:t>
            </a:r>
            <a:r>
              <a:rPr sz="1300" i="1" spc="-25" dirty="0">
                <a:latin typeface="Times New Roman"/>
                <a:cs typeface="Times New Roman"/>
              </a:rPr>
              <a:t> </a:t>
            </a:r>
            <a:r>
              <a:rPr sz="1300" i="1" dirty="0">
                <a:latin typeface="Times New Roman"/>
                <a:cs typeface="Times New Roman"/>
              </a:rPr>
              <a:t>for</a:t>
            </a:r>
            <a:r>
              <a:rPr sz="1300" i="1" spc="-25" dirty="0">
                <a:latin typeface="Times New Roman"/>
                <a:cs typeface="Times New Roman"/>
              </a:rPr>
              <a:t> </a:t>
            </a:r>
            <a:r>
              <a:rPr sz="1300" i="1" dirty="0">
                <a:latin typeface="Times New Roman"/>
                <a:cs typeface="Times New Roman"/>
              </a:rPr>
              <a:t>bent</a:t>
            </a:r>
            <a:r>
              <a:rPr sz="1300" i="1" spc="-20" dirty="0">
                <a:latin typeface="Times New Roman"/>
                <a:cs typeface="Times New Roman"/>
              </a:rPr>
              <a:t> </a:t>
            </a:r>
            <a:r>
              <a:rPr sz="1300" i="1" spc="-10" dirty="0">
                <a:latin typeface="Times New Roman"/>
                <a:cs typeface="Times New Roman"/>
              </a:rPr>
              <a:t>pins.</a:t>
            </a:r>
            <a:endParaRPr sz="1300">
              <a:latin typeface="Times New Roman"/>
              <a:cs typeface="Times New Roman"/>
            </a:endParaRPr>
          </a:p>
          <a:p>
            <a:pPr marL="12700" marR="5080">
              <a:lnSpc>
                <a:spcPct val="100000"/>
              </a:lnSpc>
              <a:spcBef>
                <a:spcPts val="20"/>
              </a:spcBef>
            </a:pPr>
            <a:r>
              <a:rPr sz="1300" i="1" dirty="0">
                <a:latin typeface="Times New Roman"/>
                <a:cs typeface="Times New Roman"/>
              </a:rPr>
              <a:t>Also,check</a:t>
            </a:r>
            <a:r>
              <a:rPr sz="1300" i="1" spc="-45" dirty="0">
                <a:latin typeface="Times New Roman"/>
                <a:cs typeface="Times New Roman"/>
              </a:rPr>
              <a:t> </a:t>
            </a:r>
            <a:r>
              <a:rPr sz="1300" i="1" dirty="0">
                <a:latin typeface="Times New Roman"/>
                <a:cs typeface="Times New Roman"/>
              </a:rPr>
              <a:t>the</a:t>
            </a:r>
            <a:r>
              <a:rPr sz="1300" i="1" spc="-30" dirty="0">
                <a:latin typeface="Times New Roman"/>
                <a:cs typeface="Times New Roman"/>
              </a:rPr>
              <a:t> </a:t>
            </a:r>
            <a:r>
              <a:rPr sz="1300" i="1" dirty="0">
                <a:latin typeface="Times New Roman"/>
                <a:cs typeface="Times New Roman"/>
              </a:rPr>
              <a:t>female</a:t>
            </a:r>
            <a:r>
              <a:rPr sz="1300" i="1" spc="-30" dirty="0">
                <a:latin typeface="Times New Roman"/>
                <a:cs typeface="Times New Roman"/>
              </a:rPr>
              <a:t> </a:t>
            </a:r>
            <a:r>
              <a:rPr sz="1300" i="1" dirty="0">
                <a:latin typeface="Times New Roman"/>
                <a:cs typeface="Times New Roman"/>
              </a:rPr>
              <a:t>connector</a:t>
            </a:r>
            <a:r>
              <a:rPr sz="1300" i="1" spc="-20" dirty="0">
                <a:latin typeface="Times New Roman"/>
                <a:cs typeface="Times New Roman"/>
              </a:rPr>
              <a:t> </a:t>
            </a:r>
            <a:r>
              <a:rPr sz="1300" i="1" dirty="0">
                <a:latin typeface="Times New Roman"/>
                <a:cs typeface="Times New Roman"/>
              </a:rPr>
              <a:t>on</a:t>
            </a:r>
            <a:r>
              <a:rPr sz="1300" i="1" spc="-25" dirty="0">
                <a:latin typeface="Times New Roman"/>
                <a:cs typeface="Times New Roman"/>
              </a:rPr>
              <a:t> </a:t>
            </a:r>
            <a:r>
              <a:rPr sz="1300" i="1" dirty="0">
                <a:latin typeface="Times New Roman"/>
                <a:cs typeface="Times New Roman"/>
              </a:rPr>
              <a:t>the</a:t>
            </a:r>
            <a:r>
              <a:rPr sz="1300" i="1" spc="-25" dirty="0">
                <a:latin typeface="Times New Roman"/>
                <a:cs typeface="Times New Roman"/>
              </a:rPr>
              <a:t> </a:t>
            </a:r>
            <a:r>
              <a:rPr sz="1300" i="1" dirty="0">
                <a:latin typeface="Times New Roman"/>
                <a:cs typeface="Times New Roman"/>
              </a:rPr>
              <a:t>board</a:t>
            </a:r>
            <a:r>
              <a:rPr sz="1300" i="1" spc="-25" dirty="0">
                <a:latin typeface="Times New Roman"/>
                <a:cs typeface="Times New Roman"/>
              </a:rPr>
              <a:t> </a:t>
            </a:r>
            <a:r>
              <a:rPr sz="1300" i="1" dirty="0">
                <a:latin typeface="Times New Roman"/>
                <a:cs typeface="Times New Roman"/>
              </a:rPr>
              <a:t>for</a:t>
            </a:r>
            <a:r>
              <a:rPr sz="1300" i="1" spc="-25" dirty="0">
                <a:latin typeface="Times New Roman"/>
                <a:cs typeface="Times New Roman"/>
              </a:rPr>
              <a:t> </a:t>
            </a:r>
            <a:r>
              <a:rPr sz="1300" i="1" dirty="0">
                <a:latin typeface="Times New Roman"/>
                <a:cs typeface="Times New Roman"/>
              </a:rPr>
              <a:t>signs</a:t>
            </a:r>
            <a:r>
              <a:rPr sz="1300" i="1" spc="-30" dirty="0">
                <a:latin typeface="Times New Roman"/>
                <a:cs typeface="Times New Roman"/>
              </a:rPr>
              <a:t> </a:t>
            </a:r>
            <a:r>
              <a:rPr sz="1300" i="1" dirty="0">
                <a:latin typeface="Times New Roman"/>
                <a:cs typeface="Times New Roman"/>
              </a:rPr>
              <a:t>of</a:t>
            </a:r>
            <a:r>
              <a:rPr sz="1300" i="1" spc="-25" dirty="0">
                <a:latin typeface="Times New Roman"/>
                <a:cs typeface="Times New Roman"/>
              </a:rPr>
              <a:t> </a:t>
            </a:r>
            <a:r>
              <a:rPr sz="1300" i="1" dirty="0">
                <a:latin typeface="Times New Roman"/>
                <a:cs typeface="Times New Roman"/>
              </a:rPr>
              <a:t>damage</a:t>
            </a:r>
            <a:r>
              <a:rPr sz="1300" i="1" spc="-25" dirty="0">
                <a:latin typeface="Times New Roman"/>
                <a:cs typeface="Times New Roman"/>
              </a:rPr>
              <a:t> </a:t>
            </a:r>
            <a:r>
              <a:rPr sz="1300" i="1" dirty="0">
                <a:latin typeface="Times New Roman"/>
                <a:cs typeface="Times New Roman"/>
              </a:rPr>
              <a:t>before</a:t>
            </a:r>
            <a:r>
              <a:rPr sz="1300" i="1" spc="-25" dirty="0">
                <a:latin typeface="Times New Roman"/>
                <a:cs typeface="Times New Roman"/>
              </a:rPr>
              <a:t> </a:t>
            </a:r>
            <a:r>
              <a:rPr sz="1300" i="1" dirty="0">
                <a:latin typeface="Times New Roman"/>
                <a:cs typeface="Times New Roman"/>
              </a:rPr>
              <a:t>attempting</a:t>
            </a:r>
            <a:r>
              <a:rPr sz="1300" i="1" spc="-25" dirty="0">
                <a:latin typeface="Times New Roman"/>
                <a:cs typeface="Times New Roman"/>
              </a:rPr>
              <a:t> </a:t>
            </a:r>
            <a:r>
              <a:rPr sz="1300" i="1" dirty="0">
                <a:latin typeface="Times New Roman"/>
                <a:cs typeface="Times New Roman"/>
              </a:rPr>
              <a:t>to</a:t>
            </a:r>
            <a:r>
              <a:rPr sz="1300" i="1" spc="-25" dirty="0">
                <a:latin typeface="Times New Roman"/>
                <a:cs typeface="Times New Roman"/>
              </a:rPr>
              <a:t> </a:t>
            </a:r>
            <a:r>
              <a:rPr sz="1300" i="1" dirty="0">
                <a:latin typeface="Times New Roman"/>
                <a:cs typeface="Times New Roman"/>
              </a:rPr>
              <a:t>seat</a:t>
            </a:r>
            <a:r>
              <a:rPr sz="1300" i="1" spc="-25" dirty="0">
                <a:latin typeface="Times New Roman"/>
                <a:cs typeface="Times New Roman"/>
              </a:rPr>
              <a:t> the </a:t>
            </a:r>
            <a:r>
              <a:rPr sz="1300" i="1" dirty="0">
                <a:latin typeface="Times New Roman"/>
                <a:cs typeface="Times New Roman"/>
              </a:rPr>
              <a:t>board</a:t>
            </a:r>
            <a:r>
              <a:rPr sz="1300" i="1" spc="-20" dirty="0">
                <a:latin typeface="Times New Roman"/>
                <a:cs typeface="Times New Roman"/>
              </a:rPr>
              <a:t> </a:t>
            </a:r>
            <a:r>
              <a:rPr sz="1300" i="1" dirty="0">
                <a:latin typeface="Times New Roman"/>
                <a:cs typeface="Times New Roman"/>
              </a:rPr>
              <a:t>into</a:t>
            </a:r>
            <a:r>
              <a:rPr sz="1300" i="1" spc="-15" dirty="0">
                <a:latin typeface="Times New Roman"/>
                <a:cs typeface="Times New Roman"/>
              </a:rPr>
              <a:t> </a:t>
            </a:r>
            <a:r>
              <a:rPr sz="1300" i="1" dirty="0">
                <a:latin typeface="Times New Roman"/>
                <a:cs typeface="Times New Roman"/>
              </a:rPr>
              <a:t>the</a:t>
            </a:r>
            <a:r>
              <a:rPr sz="1300" i="1" spc="-20" dirty="0">
                <a:latin typeface="Times New Roman"/>
                <a:cs typeface="Times New Roman"/>
              </a:rPr>
              <a:t> </a:t>
            </a:r>
            <a:r>
              <a:rPr sz="1300" i="1" dirty="0">
                <a:latin typeface="Times New Roman"/>
                <a:cs typeface="Times New Roman"/>
              </a:rPr>
              <a:t>slot.</a:t>
            </a:r>
            <a:r>
              <a:rPr sz="1300" i="1" spc="290" dirty="0">
                <a:latin typeface="Times New Roman"/>
                <a:cs typeface="Times New Roman"/>
              </a:rPr>
              <a:t> </a:t>
            </a:r>
            <a:r>
              <a:rPr sz="1300" dirty="0">
                <a:latin typeface="Times New Roman"/>
                <a:cs typeface="Times New Roman"/>
              </a:rPr>
              <a:t>All</a:t>
            </a:r>
            <a:r>
              <a:rPr sz="1300" spc="-1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slots</a:t>
            </a:r>
            <a:r>
              <a:rPr sz="1300" spc="-20" dirty="0">
                <a:latin typeface="Times New Roman"/>
                <a:cs typeface="Times New Roman"/>
              </a:rPr>
              <a:t> </a:t>
            </a:r>
            <a:r>
              <a:rPr sz="1300" dirty="0">
                <a:latin typeface="Times New Roman"/>
                <a:cs typeface="Times New Roman"/>
              </a:rPr>
              <a:t>are</a:t>
            </a:r>
            <a:r>
              <a:rPr sz="1300" spc="-20" dirty="0">
                <a:latin typeface="Times New Roman"/>
                <a:cs typeface="Times New Roman"/>
              </a:rPr>
              <a:t> </a:t>
            </a:r>
            <a:r>
              <a:rPr sz="1300" dirty="0">
                <a:latin typeface="Times New Roman"/>
                <a:cs typeface="Times New Roman"/>
              </a:rPr>
              <a:t>keyed</a:t>
            </a:r>
            <a:r>
              <a:rPr sz="1300" spc="-20" dirty="0">
                <a:latin typeface="Times New Roman"/>
                <a:cs typeface="Times New Roman"/>
              </a:rPr>
              <a:t> </a:t>
            </a:r>
            <a:r>
              <a:rPr sz="1300" dirty="0">
                <a:latin typeface="Times New Roman"/>
                <a:cs typeface="Times New Roman"/>
              </a:rPr>
              <a:t>in</a:t>
            </a:r>
            <a:r>
              <a:rPr sz="1300" spc="-20" dirty="0">
                <a:latin typeface="Times New Roman"/>
                <a:cs typeface="Times New Roman"/>
              </a:rPr>
              <a:t> </a:t>
            </a:r>
            <a:r>
              <a:rPr sz="1300" dirty="0">
                <a:latin typeface="Times New Roman"/>
                <a:cs typeface="Times New Roman"/>
              </a:rPr>
              <a:t>order</a:t>
            </a:r>
            <a:r>
              <a:rPr sz="1300" spc="-15" dirty="0">
                <a:latin typeface="Times New Roman"/>
                <a:cs typeface="Times New Roman"/>
              </a:rPr>
              <a:t> </a:t>
            </a:r>
            <a:r>
              <a:rPr sz="1300" dirty="0">
                <a:latin typeface="Times New Roman"/>
                <a:cs typeface="Times New Roman"/>
              </a:rPr>
              <a:t>to</a:t>
            </a:r>
            <a:r>
              <a:rPr sz="1300" spc="-20" dirty="0">
                <a:latin typeface="Times New Roman"/>
                <a:cs typeface="Times New Roman"/>
              </a:rPr>
              <a:t> </a:t>
            </a:r>
            <a:r>
              <a:rPr sz="1300" dirty="0">
                <a:latin typeface="Times New Roman"/>
                <a:cs typeface="Times New Roman"/>
              </a:rPr>
              <a:t>make</a:t>
            </a:r>
            <a:r>
              <a:rPr sz="1300" spc="-20" dirty="0">
                <a:latin typeface="Times New Roman"/>
                <a:cs typeface="Times New Roman"/>
              </a:rPr>
              <a:t> </a:t>
            </a:r>
            <a:r>
              <a:rPr sz="1300" dirty="0">
                <a:latin typeface="Times New Roman"/>
                <a:cs typeface="Times New Roman"/>
              </a:rPr>
              <a:t>it</a:t>
            </a:r>
            <a:r>
              <a:rPr sz="1300" spc="-20" dirty="0">
                <a:latin typeface="Times New Roman"/>
                <a:cs typeface="Times New Roman"/>
              </a:rPr>
              <a:t> </a:t>
            </a:r>
            <a:r>
              <a:rPr sz="1300" dirty="0">
                <a:latin typeface="Times New Roman"/>
                <a:cs typeface="Times New Roman"/>
              </a:rPr>
              <a:t>difficult</a:t>
            </a:r>
            <a:r>
              <a:rPr sz="1300" spc="-20" dirty="0">
                <a:latin typeface="Times New Roman"/>
                <a:cs typeface="Times New Roman"/>
              </a:rPr>
              <a:t> </a:t>
            </a:r>
            <a:r>
              <a:rPr sz="1300" dirty="0">
                <a:latin typeface="Times New Roman"/>
                <a:cs typeface="Times New Roman"/>
              </a:rPr>
              <a:t>to</a:t>
            </a:r>
            <a:r>
              <a:rPr sz="1300" spc="-15" dirty="0">
                <a:latin typeface="Times New Roman"/>
                <a:cs typeface="Times New Roman"/>
              </a:rPr>
              <a:t> </a:t>
            </a:r>
            <a:r>
              <a:rPr sz="1300" dirty="0">
                <a:latin typeface="Times New Roman"/>
                <a:cs typeface="Times New Roman"/>
              </a:rPr>
              <a:t>put</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wrong</a:t>
            </a:r>
            <a:r>
              <a:rPr sz="1300" spc="-20" dirty="0">
                <a:latin typeface="Times New Roman"/>
                <a:cs typeface="Times New Roman"/>
              </a:rPr>
              <a:t> </a:t>
            </a:r>
            <a:r>
              <a:rPr sz="1300" spc="-10" dirty="0">
                <a:latin typeface="Times New Roman"/>
                <a:cs typeface="Times New Roman"/>
              </a:rPr>
              <a:t>board</a:t>
            </a:r>
            <a:r>
              <a:rPr sz="1300" spc="500" dirty="0">
                <a:latin typeface="Times New Roman"/>
                <a:cs typeface="Times New Roman"/>
              </a:rPr>
              <a:t> </a:t>
            </a:r>
            <a:r>
              <a:rPr sz="1300" dirty="0">
                <a:latin typeface="Times New Roman"/>
                <a:cs typeface="Times New Roman"/>
              </a:rPr>
              <a:t>into</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wrong</a:t>
            </a:r>
            <a:r>
              <a:rPr sz="1300" spc="-15" dirty="0">
                <a:latin typeface="Times New Roman"/>
                <a:cs typeface="Times New Roman"/>
              </a:rPr>
              <a:t> </a:t>
            </a:r>
            <a:r>
              <a:rPr sz="1300" dirty="0">
                <a:latin typeface="Times New Roman"/>
                <a:cs typeface="Times New Roman"/>
              </a:rPr>
              <a:t>slot.</a:t>
            </a:r>
            <a:r>
              <a:rPr sz="1300" spc="290" dirty="0">
                <a:latin typeface="Times New Roman"/>
                <a:cs typeface="Times New Roman"/>
              </a:rPr>
              <a:t> </a:t>
            </a:r>
            <a:r>
              <a:rPr sz="1300" dirty="0">
                <a:latin typeface="Times New Roman"/>
                <a:cs typeface="Times New Roman"/>
              </a:rPr>
              <a:t>Two</a:t>
            </a:r>
            <a:r>
              <a:rPr sz="1300" spc="-15" dirty="0">
                <a:latin typeface="Times New Roman"/>
                <a:cs typeface="Times New Roman"/>
              </a:rPr>
              <a:t> </a:t>
            </a:r>
            <a:r>
              <a:rPr sz="1300" b="1" dirty="0">
                <a:latin typeface="Times New Roman"/>
                <a:cs typeface="Times New Roman"/>
              </a:rPr>
              <a:t>fans</a:t>
            </a:r>
            <a:r>
              <a:rPr sz="1300" b="1" spc="-15" dirty="0">
                <a:latin typeface="Times New Roman"/>
                <a:cs typeface="Times New Roman"/>
              </a:rPr>
              <a:t> </a:t>
            </a:r>
            <a:r>
              <a:rPr sz="1300" dirty="0">
                <a:latin typeface="Times New Roman"/>
                <a:cs typeface="Times New Roman"/>
              </a:rPr>
              <a:t>are</a:t>
            </a:r>
            <a:r>
              <a:rPr sz="1300" spc="-20" dirty="0">
                <a:latin typeface="Times New Roman"/>
                <a:cs typeface="Times New Roman"/>
              </a:rPr>
              <a:t> </a:t>
            </a:r>
            <a:r>
              <a:rPr sz="1300" dirty="0">
                <a:latin typeface="Times New Roman"/>
                <a:cs typeface="Times New Roman"/>
              </a:rPr>
              <a:t>located</a:t>
            </a:r>
            <a:r>
              <a:rPr sz="1300" spc="-20" dirty="0">
                <a:latin typeface="Times New Roman"/>
                <a:cs typeface="Times New Roman"/>
              </a:rPr>
              <a:t> </a:t>
            </a:r>
            <a:r>
              <a:rPr sz="1300" dirty="0">
                <a:latin typeface="Times New Roman"/>
                <a:cs typeface="Times New Roman"/>
              </a:rPr>
              <a:t>behind</a:t>
            </a:r>
            <a:r>
              <a:rPr sz="1300" spc="-1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metal</a:t>
            </a:r>
            <a:r>
              <a:rPr sz="1300" spc="-20" dirty="0">
                <a:latin typeface="Times New Roman"/>
                <a:cs typeface="Times New Roman"/>
              </a:rPr>
              <a:t> </a:t>
            </a:r>
            <a:r>
              <a:rPr sz="1300" dirty="0">
                <a:latin typeface="Times New Roman"/>
                <a:cs typeface="Times New Roman"/>
              </a:rPr>
              <a:t>cover</a:t>
            </a:r>
            <a:r>
              <a:rPr sz="1300" spc="-15" dirty="0">
                <a:latin typeface="Times New Roman"/>
                <a:cs typeface="Times New Roman"/>
              </a:rPr>
              <a:t> </a:t>
            </a:r>
            <a:r>
              <a:rPr sz="1300" dirty="0">
                <a:latin typeface="Times New Roman"/>
                <a:cs typeface="Times New Roman"/>
              </a:rPr>
              <a:t>plate</a:t>
            </a:r>
            <a:r>
              <a:rPr sz="1300" spc="-20" dirty="0">
                <a:latin typeface="Times New Roman"/>
                <a:cs typeface="Times New Roman"/>
              </a:rPr>
              <a:t> </a:t>
            </a:r>
            <a:r>
              <a:rPr sz="1300" dirty="0">
                <a:latin typeface="Times New Roman"/>
                <a:cs typeface="Times New Roman"/>
              </a:rPr>
              <a:t>at</a:t>
            </a:r>
            <a:r>
              <a:rPr sz="1300" spc="-20" dirty="0">
                <a:latin typeface="Times New Roman"/>
                <a:cs typeface="Times New Roman"/>
              </a:rPr>
              <a:t> </a:t>
            </a:r>
            <a:r>
              <a:rPr sz="1300" dirty="0">
                <a:latin typeface="Times New Roman"/>
                <a:cs typeface="Times New Roman"/>
              </a:rPr>
              <a:t>the</a:t>
            </a:r>
            <a:r>
              <a:rPr sz="1300" spc="-15" dirty="0">
                <a:latin typeface="Times New Roman"/>
                <a:cs typeface="Times New Roman"/>
              </a:rPr>
              <a:t> </a:t>
            </a:r>
            <a:r>
              <a:rPr sz="1300" spc="-20" dirty="0">
                <a:latin typeface="Times New Roman"/>
                <a:cs typeface="Times New Roman"/>
              </a:rPr>
              <a:t>top-</a:t>
            </a:r>
            <a:r>
              <a:rPr sz="1300" dirty="0">
                <a:latin typeface="Times New Roman"/>
                <a:cs typeface="Times New Roman"/>
              </a:rPr>
              <a:t>front</a:t>
            </a:r>
            <a:r>
              <a:rPr sz="1300" spc="-20" dirty="0">
                <a:latin typeface="Times New Roman"/>
                <a:cs typeface="Times New Roman"/>
              </a:rPr>
              <a:t> </a:t>
            </a:r>
            <a:r>
              <a:rPr sz="1300" dirty="0">
                <a:latin typeface="Times New Roman"/>
                <a:cs typeface="Times New Roman"/>
              </a:rPr>
              <a:t>of</a:t>
            </a:r>
            <a:r>
              <a:rPr sz="1300" spc="-20" dirty="0">
                <a:latin typeface="Times New Roman"/>
                <a:cs typeface="Times New Roman"/>
              </a:rPr>
              <a:t> </a:t>
            </a:r>
            <a:r>
              <a:rPr sz="1300" spc="-25" dirty="0">
                <a:latin typeface="Times New Roman"/>
                <a:cs typeface="Times New Roman"/>
              </a:rPr>
              <a:t>the </a:t>
            </a:r>
            <a:r>
              <a:rPr sz="1300" dirty="0">
                <a:latin typeface="Times New Roman"/>
                <a:cs typeface="Times New Roman"/>
              </a:rPr>
              <a:t>MGD</a:t>
            </a:r>
            <a:r>
              <a:rPr sz="1300" spc="-35" dirty="0">
                <a:latin typeface="Times New Roman"/>
                <a:cs typeface="Times New Roman"/>
              </a:rPr>
              <a:t> </a:t>
            </a:r>
            <a:r>
              <a:rPr sz="1300" dirty="0">
                <a:latin typeface="Times New Roman"/>
                <a:cs typeface="Times New Roman"/>
              </a:rPr>
              <a:t>Chassis.</a:t>
            </a:r>
            <a:r>
              <a:rPr sz="1300" spc="270" dirty="0">
                <a:latin typeface="Times New Roman"/>
                <a:cs typeface="Times New Roman"/>
              </a:rPr>
              <a:t> </a:t>
            </a:r>
            <a:r>
              <a:rPr sz="1300" dirty="0">
                <a:latin typeface="Times New Roman"/>
                <a:cs typeface="Times New Roman"/>
              </a:rPr>
              <a:t>The</a:t>
            </a:r>
            <a:r>
              <a:rPr sz="1300" spc="-35" dirty="0">
                <a:latin typeface="Times New Roman"/>
                <a:cs typeface="Times New Roman"/>
              </a:rPr>
              <a:t> </a:t>
            </a:r>
            <a:r>
              <a:rPr sz="1300" dirty="0">
                <a:latin typeface="Times New Roman"/>
                <a:cs typeface="Times New Roman"/>
              </a:rPr>
              <a:t>MGD</a:t>
            </a:r>
            <a:r>
              <a:rPr sz="1300" spc="-30" dirty="0">
                <a:latin typeface="Times New Roman"/>
                <a:cs typeface="Times New Roman"/>
              </a:rPr>
              <a:t>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contains</a:t>
            </a:r>
            <a:r>
              <a:rPr sz="1300" spc="-30" dirty="0">
                <a:latin typeface="Times New Roman"/>
                <a:cs typeface="Times New Roman"/>
              </a:rPr>
              <a:t> </a:t>
            </a:r>
            <a:r>
              <a:rPr sz="1300" dirty="0">
                <a:latin typeface="Times New Roman"/>
                <a:cs typeface="Times New Roman"/>
              </a:rPr>
              <a:t>two</a:t>
            </a:r>
            <a:r>
              <a:rPr sz="1300" spc="-25" dirty="0">
                <a:latin typeface="Times New Roman"/>
                <a:cs typeface="Times New Roman"/>
              </a:rPr>
              <a:t> </a:t>
            </a:r>
            <a:r>
              <a:rPr sz="1300" dirty="0">
                <a:latin typeface="Times New Roman"/>
                <a:cs typeface="Times New Roman"/>
              </a:rPr>
              <a:t>independent</a:t>
            </a:r>
            <a:r>
              <a:rPr sz="1300" spc="-40" dirty="0">
                <a:latin typeface="Times New Roman"/>
                <a:cs typeface="Times New Roman"/>
              </a:rPr>
              <a:t> </a:t>
            </a:r>
            <a:r>
              <a:rPr sz="1300" b="1" dirty="0">
                <a:latin typeface="Times New Roman"/>
                <a:cs typeface="Times New Roman"/>
              </a:rPr>
              <a:t>temperature</a:t>
            </a:r>
            <a:r>
              <a:rPr sz="1300" b="1" spc="-25" dirty="0">
                <a:latin typeface="Times New Roman"/>
                <a:cs typeface="Times New Roman"/>
              </a:rPr>
              <a:t> </a:t>
            </a:r>
            <a:r>
              <a:rPr sz="1300" b="1" dirty="0">
                <a:latin typeface="Times New Roman"/>
                <a:cs typeface="Times New Roman"/>
              </a:rPr>
              <a:t>sensors</a:t>
            </a:r>
            <a:r>
              <a:rPr sz="1300" dirty="0">
                <a:latin typeface="Times New Roman"/>
                <a:cs typeface="Times New Roman"/>
              </a:rPr>
              <a:t>.</a:t>
            </a:r>
            <a:r>
              <a:rPr sz="1300" spc="270" dirty="0">
                <a:latin typeface="Times New Roman"/>
                <a:cs typeface="Times New Roman"/>
              </a:rPr>
              <a:t> </a:t>
            </a:r>
            <a:r>
              <a:rPr sz="1300" dirty="0">
                <a:latin typeface="Times New Roman"/>
                <a:cs typeface="Times New Roman"/>
              </a:rPr>
              <a:t>One</a:t>
            </a:r>
            <a:r>
              <a:rPr sz="1300" spc="-30" dirty="0">
                <a:latin typeface="Times New Roman"/>
                <a:cs typeface="Times New Roman"/>
              </a:rPr>
              <a:t> </a:t>
            </a:r>
            <a:r>
              <a:rPr sz="1300" spc="-25" dirty="0">
                <a:latin typeface="Times New Roman"/>
                <a:cs typeface="Times New Roman"/>
              </a:rPr>
              <a:t>is </a:t>
            </a:r>
            <a:r>
              <a:rPr sz="1300" dirty="0">
                <a:latin typeface="Times New Roman"/>
                <a:cs typeface="Times New Roman"/>
              </a:rPr>
              <a:t>designed</a:t>
            </a:r>
            <a:r>
              <a:rPr sz="1300" spc="-25" dirty="0">
                <a:latin typeface="Times New Roman"/>
                <a:cs typeface="Times New Roman"/>
              </a:rPr>
              <a:t> </a:t>
            </a:r>
            <a:r>
              <a:rPr sz="1300" dirty="0">
                <a:latin typeface="Times New Roman"/>
                <a:cs typeface="Times New Roman"/>
              </a:rPr>
              <a:t>to</a:t>
            </a:r>
            <a:r>
              <a:rPr sz="1300" spc="-20" dirty="0">
                <a:latin typeface="Times New Roman"/>
                <a:cs typeface="Times New Roman"/>
              </a:rPr>
              <a:t> </a:t>
            </a:r>
            <a:r>
              <a:rPr sz="1300" dirty="0">
                <a:latin typeface="Times New Roman"/>
                <a:cs typeface="Times New Roman"/>
              </a:rPr>
              <a:t>report</a:t>
            </a:r>
            <a:r>
              <a:rPr sz="1300" spc="-25" dirty="0">
                <a:latin typeface="Times New Roman"/>
                <a:cs typeface="Times New Roman"/>
              </a:rPr>
              <a:t> </a:t>
            </a:r>
            <a:r>
              <a:rPr sz="1300" dirty="0">
                <a:latin typeface="Times New Roman"/>
                <a:cs typeface="Times New Roman"/>
              </a:rPr>
              <a:t>an</a:t>
            </a:r>
            <a:r>
              <a:rPr sz="1300" spc="-20" dirty="0">
                <a:latin typeface="Times New Roman"/>
                <a:cs typeface="Times New Roman"/>
              </a:rPr>
              <a:t> </a:t>
            </a:r>
            <a:r>
              <a:rPr sz="1300" spc="-10" dirty="0">
                <a:latin typeface="Times New Roman"/>
                <a:cs typeface="Times New Roman"/>
              </a:rPr>
              <a:t>over-</a:t>
            </a:r>
            <a:r>
              <a:rPr sz="1300" dirty="0">
                <a:latin typeface="Times New Roman"/>
                <a:cs typeface="Times New Roman"/>
              </a:rPr>
              <a:t>temp</a:t>
            </a:r>
            <a:r>
              <a:rPr sz="1300" spc="-25" dirty="0">
                <a:latin typeface="Times New Roman"/>
                <a:cs typeface="Times New Roman"/>
              </a:rPr>
              <a:t> </a:t>
            </a:r>
            <a:r>
              <a:rPr sz="1300" dirty="0">
                <a:latin typeface="Times New Roman"/>
                <a:cs typeface="Times New Roman"/>
              </a:rPr>
              <a:t>condition</a:t>
            </a:r>
            <a:r>
              <a:rPr sz="1300" spc="-20" dirty="0">
                <a:latin typeface="Times New Roman"/>
                <a:cs typeface="Times New Roman"/>
              </a:rPr>
              <a:t> </a:t>
            </a:r>
            <a:r>
              <a:rPr sz="1300" dirty="0">
                <a:latin typeface="Times New Roman"/>
                <a:cs typeface="Times New Roman"/>
              </a:rPr>
              <a:t>when</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temperature</a:t>
            </a:r>
            <a:r>
              <a:rPr sz="1300" spc="-30" dirty="0">
                <a:latin typeface="Times New Roman"/>
                <a:cs typeface="Times New Roman"/>
              </a:rPr>
              <a:t> </a:t>
            </a:r>
            <a:r>
              <a:rPr sz="1300" dirty="0">
                <a:latin typeface="Times New Roman"/>
                <a:cs typeface="Times New Roman"/>
              </a:rPr>
              <a:t>in</a:t>
            </a:r>
            <a:r>
              <a:rPr sz="1300" spc="-15"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reaches</a:t>
            </a:r>
            <a:r>
              <a:rPr sz="1300" spc="-25" dirty="0">
                <a:latin typeface="Times New Roman"/>
                <a:cs typeface="Times New Roman"/>
              </a:rPr>
              <a:t> </a:t>
            </a:r>
            <a:r>
              <a:rPr sz="1300" dirty="0">
                <a:latin typeface="Times New Roman"/>
                <a:cs typeface="Times New Roman"/>
              </a:rPr>
              <a:t>40</a:t>
            </a:r>
            <a:r>
              <a:rPr sz="1300" spc="-30" dirty="0">
                <a:latin typeface="Times New Roman"/>
                <a:cs typeface="Times New Roman"/>
              </a:rPr>
              <a:t> </a:t>
            </a:r>
            <a:r>
              <a:rPr sz="1300" spc="-10" dirty="0">
                <a:latin typeface="Times New Roman"/>
                <a:cs typeface="Times New Roman"/>
              </a:rPr>
              <a:t>degrees </a:t>
            </a:r>
            <a:r>
              <a:rPr sz="1300" dirty="0">
                <a:latin typeface="Times New Roman"/>
                <a:cs typeface="Times New Roman"/>
              </a:rPr>
              <a:t>C</a:t>
            </a:r>
            <a:r>
              <a:rPr sz="1300" spc="-25" dirty="0">
                <a:latin typeface="Times New Roman"/>
                <a:cs typeface="Times New Roman"/>
              </a:rPr>
              <a:t> </a:t>
            </a:r>
            <a:r>
              <a:rPr sz="1300" dirty="0">
                <a:latin typeface="Times New Roman"/>
                <a:cs typeface="Times New Roman"/>
              </a:rPr>
              <a:t>(104</a:t>
            </a:r>
            <a:r>
              <a:rPr sz="1300" spc="-20" dirty="0">
                <a:latin typeface="Times New Roman"/>
                <a:cs typeface="Times New Roman"/>
              </a:rPr>
              <a:t> </a:t>
            </a:r>
            <a:r>
              <a:rPr sz="1300" dirty="0">
                <a:latin typeface="Times New Roman"/>
                <a:cs typeface="Times New Roman"/>
              </a:rPr>
              <a:t>degrees</a:t>
            </a:r>
            <a:r>
              <a:rPr sz="1300" spc="-20" dirty="0">
                <a:latin typeface="Times New Roman"/>
                <a:cs typeface="Times New Roman"/>
              </a:rPr>
              <a:t> </a:t>
            </a:r>
            <a:r>
              <a:rPr sz="1300" dirty="0">
                <a:latin typeface="Times New Roman"/>
                <a:cs typeface="Times New Roman"/>
              </a:rPr>
              <a:t>F)</a:t>
            </a:r>
            <a:r>
              <a:rPr sz="1300" spc="-25" dirty="0">
                <a:latin typeface="Times New Roman"/>
                <a:cs typeface="Times New Roman"/>
              </a:rPr>
              <a:t> </a:t>
            </a:r>
            <a:r>
              <a:rPr sz="1300" dirty="0">
                <a:latin typeface="Times New Roman"/>
                <a:cs typeface="Times New Roman"/>
              </a:rPr>
              <a:t>while</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other</a:t>
            </a:r>
            <a:r>
              <a:rPr sz="1300" spc="-20" dirty="0">
                <a:latin typeface="Times New Roman"/>
                <a:cs typeface="Times New Roman"/>
              </a:rPr>
              <a:t> </a:t>
            </a:r>
            <a:r>
              <a:rPr sz="1300" dirty="0">
                <a:latin typeface="Times New Roman"/>
                <a:cs typeface="Times New Roman"/>
              </a:rPr>
              <a:t>will</a:t>
            </a:r>
            <a:r>
              <a:rPr sz="1300" spc="-25" dirty="0">
                <a:latin typeface="Times New Roman"/>
                <a:cs typeface="Times New Roman"/>
              </a:rPr>
              <a:t> </a:t>
            </a:r>
            <a:r>
              <a:rPr sz="1300" dirty="0">
                <a:latin typeface="Times New Roman"/>
                <a:cs typeface="Times New Roman"/>
              </a:rPr>
              <a:t>report</a:t>
            </a:r>
            <a:r>
              <a:rPr sz="1300" spc="-20" dirty="0">
                <a:latin typeface="Times New Roman"/>
                <a:cs typeface="Times New Roman"/>
              </a:rPr>
              <a:t> </a:t>
            </a:r>
            <a:r>
              <a:rPr sz="1300" dirty="0">
                <a:latin typeface="Times New Roman"/>
                <a:cs typeface="Times New Roman"/>
              </a:rPr>
              <a:t>an</a:t>
            </a:r>
            <a:r>
              <a:rPr sz="1300" spc="-20" dirty="0">
                <a:latin typeface="Times New Roman"/>
                <a:cs typeface="Times New Roman"/>
              </a:rPr>
              <a:t> </a:t>
            </a:r>
            <a:r>
              <a:rPr sz="1300" spc="-10" dirty="0">
                <a:latin typeface="Times New Roman"/>
                <a:cs typeface="Times New Roman"/>
              </a:rPr>
              <a:t>over-</a:t>
            </a:r>
            <a:r>
              <a:rPr sz="1300" dirty="0">
                <a:latin typeface="Times New Roman"/>
                <a:cs typeface="Times New Roman"/>
              </a:rPr>
              <a:t>temp</a:t>
            </a:r>
            <a:r>
              <a:rPr sz="1300" spc="-20" dirty="0">
                <a:latin typeface="Times New Roman"/>
                <a:cs typeface="Times New Roman"/>
              </a:rPr>
              <a:t> </a:t>
            </a:r>
            <a:r>
              <a:rPr sz="1300" dirty="0">
                <a:latin typeface="Times New Roman"/>
                <a:cs typeface="Times New Roman"/>
              </a:rPr>
              <a:t>condition</a:t>
            </a:r>
            <a:r>
              <a:rPr sz="1300" spc="-25" dirty="0">
                <a:latin typeface="Times New Roman"/>
                <a:cs typeface="Times New Roman"/>
              </a:rPr>
              <a:t> </a:t>
            </a:r>
            <a:r>
              <a:rPr sz="1300" dirty="0">
                <a:latin typeface="Times New Roman"/>
                <a:cs typeface="Times New Roman"/>
              </a:rPr>
              <a:t>when</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temperature</a:t>
            </a:r>
            <a:r>
              <a:rPr sz="1300" spc="-20" dirty="0">
                <a:latin typeface="Times New Roman"/>
                <a:cs typeface="Times New Roman"/>
              </a:rPr>
              <a:t> </a:t>
            </a:r>
            <a:r>
              <a:rPr sz="1300" dirty="0">
                <a:latin typeface="Times New Roman"/>
                <a:cs typeface="Times New Roman"/>
              </a:rPr>
              <a:t>in</a:t>
            </a:r>
            <a:r>
              <a:rPr sz="1300" spc="-25" dirty="0">
                <a:latin typeface="Times New Roman"/>
                <a:cs typeface="Times New Roman"/>
              </a:rPr>
              <a:t> the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reaches</a:t>
            </a:r>
            <a:r>
              <a:rPr sz="1300" spc="-25" dirty="0">
                <a:latin typeface="Times New Roman"/>
                <a:cs typeface="Times New Roman"/>
              </a:rPr>
              <a:t> </a:t>
            </a:r>
            <a:r>
              <a:rPr sz="1300" dirty="0">
                <a:latin typeface="Times New Roman"/>
                <a:cs typeface="Times New Roman"/>
              </a:rPr>
              <a:t>50</a:t>
            </a:r>
            <a:r>
              <a:rPr sz="1300" spc="-25" dirty="0">
                <a:latin typeface="Times New Roman"/>
                <a:cs typeface="Times New Roman"/>
              </a:rPr>
              <a:t> </a:t>
            </a:r>
            <a:r>
              <a:rPr sz="1300" dirty="0">
                <a:latin typeface="Times New Roman"/>
                <a:cs typeface="Times New Roman"/>
              </a:rPr>
              <a:t>degrees</a:t>
            </a:r>
            <a:r>
              <a:rPr sz="1300" spc="-25" dirty="0">
                <a:latin typeface="Times New Roman"/>
                <a:cs typeface="Times New Roman"/>
              </a:rPr>
              <a:t> </a:t>
            </a:r>
            <a:r>
              <a:rPr sz="1300" dirty="0">
                <a:latin typeface="Times New Roman"/>
                <a:cs typeface="Times New Roman"/>
              </a:rPr>
              <a:t>C</a:t>
            </a:r>
            <a:r>
              <a:rPr sz="1300" spc="-25" dirty="0">
                <a:latin typeface="Times New Roman"/>
                <a:cs typeface="Times New Roman"/>
              </a:rPr>
              <a:t> </a:t>
            </a:r>
            <a:r>
              <a:rPr sz="1300" dirty="0">
                <a:latin typeface="Times New Roman"/>
                <a:cs typeface="Times New Roman"/>
              </a:rPr>
              <a:t>(122</a:t>
            </a:r>
            <a:r>
              <a:rPr sz="1300" spc="-25" dirty="0">
                <a:latin typeface="Times New Roman"/>
                <a:cs typeface="Times New Roman"/>
              </a:rPr>
              <a:t> </a:t>
            </a:r>
            <a:r>
              <a:rPr sz="1300" dirty="0">
                <a:latin typeface="Times New Roman"/>
                <a:cs typeface="Times New Roman"/>
              </a:rPr>
              <a:t>degrees</a:t>
            </a:r>
            <a:r>
              <a:rPr sz="1300" spc="-25" dirty="0">
                <a:latin typeface="Times New Roman"/>
                <a:cs typeface="Times New Roman"/>
              </a:rPr>
              <a:t> F).</a:t>
            </a:r>
            <a:endParaRPr sz="1300">
              <a:latin typeface="Times New Roman"/>
              <a:cs typeface="Times New Roman"/>
            </a:endParaRPr>
          </a:p>
        </p:txBody>
      </p:sp>
      <p:grpSp>
        <p:nvGrpSpPr>
          <p:cNvPr id="11" name="object 11"/>
          <p:cNvGrpSpPr/>
          <p:nvPr/>
        </p:nvGrpSpPr>
        <p:grpSpPr>
          <a:xfrm>
            <a:off x="1905063" y="139509"/>
            <a:ext cx="5112385" cy="416559"/>
            <a:chOff x="1905063" y="139509"/>
            <a:chExt cx="5112385" cy="416559"/>
          </a:xfrm>
        </p:grpSpPr>
        <p:sp>
          <p:nvSpPr>
            <p:cNvPr id="12" name="object 12"/>
            <p:cNvSpPr/>
            <p:nvPr/>
          </p:nvSpPr>
          <p:spPr>
            <a:xfrm>
              <a:off x="1909826" y="144271"/>
              <a:ext cx="5102860" cy="407034"/>
            </a:xfrm>
            <a:custGeom>
              <a:avLst/>
              <a:gdLst/>
              <a:ahLst/>
              <a:cxnLst/>
              <a:rect l="l" t="t" r="r" b="b"/>
              <a:pathLst>
                <a:path w="5102859" h="407034">
                  <a:moveTo>
                    <a:pt x="5102352" y="406907"/>
                  </a:moveTo>
                  <a:lnTo>
                    <a:pt x="5102352" y="0"/>
                  </a:lnTo>
                  <a:lnTo>
                    <a:pt x="0" y="0"/>
                  </a:lnTo>
                  <a:lnTo>
                    <a:pt x="0" y="406907"/>
                  </a:lnTo>
                  <a:lnTo>
                    <a:pt x="5102352" y="406907"/>
                  </a:lnTo>
                  <a:close/>
                </a:path>
              </a:pathLst>
            </a:custGeom>
            <a:solidFill>
              <a:srgbClr val="FFFFFF"/>
            </a:solidFill>
          </p:spPr>
          <p:txBody>
            <a:bodyPr wrap="square" lIns="0" tIns="0" rIns="0" bIns="0" rtlCol="0"/>
            <a:lstStyle/>
            <a:p>
              <a:endParaRPr/>
            </a:p>
          </p:txBody>
        </p:sp>
        <p:sp>
          <p:nvSpPr>
            <p:cNvPr id="13" name="object 13"/>
            <p:cNvSpPr/>
            <p:nvPr/>
          </p:nvSpPr>
          <p:spPr>
            <a:xfrm>
              <a:off x="1909826" y="144271"/>
              <a:ext cx="5102860" cy="407034"/>
            </a:xfrm>
            <a:custGeom>
              <a:avLst/>
              <a:gdLst/>
              <a:ahLst/>
              <a:cxnLst/>
              <a:rect l="l" t="t" r="r" b="b"/>
              <a:pathLst>
                <a:path w="5102859" h="407034">
                  <a:moveTo>
                    <a:pt x="5102352" y="406907"/>
                  </a:moveTo>
                  <a:lnTo>
                    <a:pt x="5102352" y="0"/>
                  </a:lnTo>
                  <a:lnTo>
                    <a:pt x="0" y="0"/>
                  </a:lnTo>
                  <a:lnTo>
                    <a:pt x="0" y="406907"/>
                  </a:lnTo>
                  <a:lnTo>
                    <a:pt x="5102352" y="406907"/>
                  </a:lnTo>
                  <a:close/>
                </a:path>
              </a:pathLst>
            </a:custGeom>
            <a:ln w="9144">
              <a:solidFill>
                <a:srgbClr val="000000"/>
              </a:solidFill>
            </a:ln>
          </p:spPr>
          <p:txBody>
            <a:bodyPr wrap="square" lIns="0" tIns="0" rIns="0" bIns="0" rtlCol="0"/>
            <a:lstStyle/>
            <a:p>
              <a:endParaRPr/>
            </a:p>
          </p:txBody>
        </p:sp>
      </p:grpSp>
      <p:sp>
        <p:nvSpPr>
          <p:cNvPr id="14" name="object 14"/>
          <p:cNvSpPr txBox="1">
            <a:spLocks noGrp="1"/>
          </p:cNvSpPr>
          <p:nvPr>
            <p:ph type="title"/>
          </p:nvPr>
        </p:nvSpPr>
        <p:spPr>
          <a:xfrm>
            <a:off x="2015998" y="173482"/>
            <a:ext cx="4892040" cy="330200"/>
          </a:xfrm>
          <a:prstGeom prst="rect">
            <a:avLst/>
          </a:prstGeom>
        </p:spPr>
        <p:txBody>
          <a:bodyPr vert="horz" wrap="square" lIns="0" tIns="12065" rIns="0" bIns="0" rtlCol="0">
            <a:spAutoFit/>
          </a:bodyPr>
          <a:lstStyle/>
          <a:p>
            <a:pPr marL="12700">
              <a:lnSpc>
                <a:spcPct val="100000"/>
              </a:lnSpc>
              <a:spcBef>
                <a:spcPts val="9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0"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0" dirty="0">
                <a:latin typeface="Times New Roman"/>
                <a:cs typeface="Times New Roman"/>
              </a:rPr>
              <a:t> </a:t>
            </a:r>
            <a:r>
              <a:rPr sz="2000" b="1" dirty="0">
                <a:latin typeface="Times New Roman"/>
                <a:cs typeface="Times New Roman"/>
              </a:rPr>
              <a:t>Chassis</a:t>
            </a:r>
            <a:r>
              <a:rPr sz="2000" b="1" spc="-20" dirty="0">
                <a:latin typeface="Times New Roman"/>
                <a:cs typeface="Times New Roman"/>
              </a:rPr>
              <a:t> </a:t>
            </a:r>
            <a:r>
              <a:rPr sz="2000" b="1" dirty="0">
                <a:latin typeface="Times New Roman"/>
                <a:cs typeface="Times New Roman"/>
              </a:rPr>
              <a:t>(Front</a:t>
            </a:r>
            <a:r>
              <a:rPr sz="2000" b="1" spc="-20" dirty="0">
                <a:latin typeface="Times New Roman"/>
                <a:cs typeface="Times New Roman"/>
              </a:rPr>
              <a:t> </a:t>
            </a:r>
            <a:r>
              <a:rPr sz="2000" b="1" spc="-10" dirty="0">
                <a:latin typeface="Times New Roman"/>
                <a:cs typeface="Times New Roman"/>
              </a:rPr>
              <a:t>view)</a:t>
            </a:r>
            <a:endParaRPr sz="2000">
              <a:latin typeface="Times New Roman"/>
              <a:cs typeface="Times New Roman"/>
            </a:endParaRPr>
          </a:p>
        </p:txBody>
      </p:sp>
      <p:sp>
        <p:nvSpPr>
          <p:cNvPr id="15" name="object 15"/>
          <p:cNvSpPr/>
          <p:nvPr/>
        </p:nvSpPr>
        <p:spPr>
          <a:xfrm>
            <a:off x="2308351" y="5262626"/>
            <a:ext cx="6604634" cy="1292860"/>
          </a:xfrm>
          <a:custGeom>
            <a:avLst/>
            <a:gdLst/>
            <a:ahLst/>
            <a:cxnLst/>
            <a:rect l="l" t="t" r="r" b="b"/>
            <a:pathLst>
              <a:path w="6604634" h="1292859">
                <a:moveTo>
                  <a:pt x="6604254" y="1292352"/>
                </a:moveTo>
                <a:lnTo>
                  <a:pt x="6604254" y="0"/>
                </a:lnTo>
                <a:lnTo>
                  <a:pt x="0" y="0"/>
                </a:lnTo>
                <a:lnTo>
                  <a:pt x="0" y="1292352"/>
                </a:lnTo>
                <a:lnTo>
                  <a:pt x="6604254" y="1292352"/>
                </a:lnTo>
                <a:close/>
              </a:path>
            </a:pathLst>
          </a:custGeom>
          <a:solidFill>
            <a:srgbClr val="FFFFFF"/>
          </a:solidFill>
        </p:spPr>
        <p:txBody>
          <a:bodyPr wrap="square" lIns="0" tIns="0" rIns="0" bIns="0" rtlCol="0"/>
          <a:lstStyle/>
          <a:p>
            <a:endParaRPr/>
          </a:p>
        </p:txBody>
      </p:sp>
      <p:sp>
        <p:nvSpPr>
          <p:cNvPr id="16" name="object 16"/>
          <p:cNvSpPr txBox="1"/>
          <p:nvPr/>
        </p:nvSpPr>
        <p:spPr>
          <a:xfrm>
            <a:off x="2308351" y="5262626"/>
            <a:ext cx="6604634" cy="1292860"/>
          </a:xfrm>
          <a:prstGeom prst="rect">
            <a:avLst/>
          </a:prstGeom>
          <a:ln w="9144">
            <a:solidFill>
              <a:srgbClr val="000000"/>
            </a:solidFill>
          </a:ln>
        </p:spPr>
        <p:txBody>
          <a:bodyPr vert="horz" wrap="square" lIns="0" tIns="45720" rIns="0" bIns="0" rtlCol="0">
            <a:spAutoFit/>
          </a:bodyPr>
          <a:lstStyle/>
          <a:p>
            <a:pPr marL="96520" marR="118745">
              <a:lnSpc>
                <a:spcPct val="100000"/>
              </a:lnSpc>
              <a:spcBef>
                <a:spcPts val="360"/>
              </a:spcBef>
            </a:pPr>
            <a:r>
              <a:rPr sz="1300" dirty="0">
                <a:latin typeface="Times New Roman"/>
                <a:cs typeface="Times New Roman"/>
              </a:rPr>
              <a:t>Note</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gray</a:t>
            </a:r>
            <a:r>
              <a:rPr sz="1300" spc="-20" dirty="0">
                <a:latin typeface="Times New Roman"/>
                <a:cs typeface="Times New Roman"/>
              </a:rPr>
              <a:t> </a:t>
            </a:r>
            <a:r>
              <a:rPr sz="1300" dirty="0">
                <a:latin typeface="Times New Roman"/>
                <a:cs typeface="Times New Roman"/>
              </a:rPr>
              <a:t>tabs</a:t>
            </a:r>
            <a:r>
              <a:rPr sz="1300" spc="-25" dirty="0">
                <a:latin typeface="Times New Roman"/>
                <a:cs typeface="Times New Roman"/>
              </a:rPr>
              <a:t> </a:t>
            </a:r>
            <a:r>
              <a:rPr sz="1300" dirty="0">
                <a:latin typeface="Times New Roman"/>
                <a:cs typeface="Times New Roman"/>
              </a:rPr>
              <a:t>inset</a:t>
            </a:r>
            <a:r>
              <a:rPr sz="1300" spc="-25" dirty="0">
                <a:latin typeface="Times New Roman"/>
                <a:cs typeface="Times New Roman"/>
              </a:rPr>
              <a:t> </a:t>
            </a:r>
            <a:r>
              <a:rPr sz="1300" dirty="0">
                <a:latin typeface="Times New Roman"/>
                <a:cs typeface="Times New Roman"/>
              </a:rPr>
              <a:t>into</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black</a:t>
            </a:r>
            <a:r>
              <a:rPr sz="1300" spc="-25" dirty="0">
                <a:latin typeface="Times New Roman"/>
                <a:cs typeface="Times New Roman"/>
              </a:rPr>
              <a:t> </a:t>
            </a:r>
            <a:r>
              <a:rPr sz="1300" dirty="0">
                <a:latin typeface="Times New Roman"/>
                <a:cs typeface="Times New Roman"/>
              </a:rPr>
              <a:t>tabs</a:t>
            </a:r>
            <a:r>
              <a:rPr sz="1300" spc="-25" dirty="0">
                <a:latin typeface="Times New Roman"/>
                <a:cs typeface="Times New Roman"/>
              </a:rPr>
              <a:t> </a:t>
            </a:r>
            <a:r>
              <a:rPr sz="1300" dirty="0">
                <a:latin typeface="Times New Roman"/>
                <a:cs typeface="Times New Roman"/>
              </a:rPr>
              <a:t>on</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DRF2</a:t>
            </a:r>
            <a:r>
              <a:rPr sz="1300" spc="-25" dirty="0">
                <a:latin typeface="Times New Roman"/>
                <a:cs typeface="Times New Roman"/>
              </a:rPr>
              <a:t> </a:t>
            </a:r>
            <a:r>
              <a:rPr sz="1300" dirty="0">
                <a:latin typeface="Times New Roman"/>
                <a:cs typeface="Times New Roman"/>
              </a:rPr>
              <a:t>Boards,</a:t>
            </a:r>
            <a:r>
              <a:rPr sz="1300" spc="-20" dirty="0">
                <a:latin typeface="Times New Roman"/>
                <a:cs typeface="Times New Roman"/>
              </a:rPr>
              <a:t> </a:t>
            </a:r>
            <a:r>
              <a:rPr sz="1300" dirty="0">
                <a:latin typeface="Times New Roman"/>
                <a:cs typeface="Times New Roman"/>
              </a:rPr>
              <a:t>IRF2</a:t>
            </a:r>
            <a:r>
              <a:rPr sz="1300" spc="-30" dirty="0">
                <a:latin typeface="Times New Roman"/>
                <a:cs typeface="Times New Roman"/>
              </a:rPr>
              <a:t> </a:t>
            </a:r>
            <a:r>
              <a:rPr sz="1300" dirty="0">
                <a:latin typeface="Times New Roman"/>
                <a:cs typeface="Times New Roman"/>
              </a:rPr>
              <a:t>Board,</a:t>
            </a:r>
            <a:r>
              <a:rPr sz="1300" spc="-25" dirty="0">
                <a:latin typeface="Times New Roman"/>
                <a:cs typeface="Times New Roman"/>
              </a:rPr>
              <a:t> </a:t>
            </a:r>
            <a:r>
              <a:rPr sz="1300" dirty="0">
                <a:latin typeface="Times New Roman"/>
                <a:cs typeface="Times New Roman"/>
              </a:rPr>
              <a:t>SRF/TRF</a:t>
            </a:r>
            <a:r>
              <a:rPr sz="1300" spc="-30" dirty="0">
                <a:latin typeface="Times New Roman"/>
                <a:cs typeface="Times New Roman"/>
              </a:rPr>
              <a:t> </a:t>
            </a:r>
            <a:r>
              <a:rPr sz="1300" spc="-10" dirty="0">
                <a:latin typeface="Times New Roman"/>
                <a:cs typeface="Times New Roman"/>
              </a:rPr>
              <a:t>Board, </a:t>
            </a:r>
            <a:r>
              <a:rPr sz="1300" dirty="0">
                <a:latin typeface="Times New Roman"/>
                <a:cs typeface="Times New Roman"/>
              </a:rPr>
              <a:t>IRF</a:t>
            </a:r>
            <a:r>
              <a:rPr sz="1300" spc="-25" dirty="0">
                <a:latin typeface="Times New Roman"/>
                <a:cs typeface="Times New Roman"/>
              </a:rPr>
              <a:t> </a:t>
            </a:r>
            <a:r>
              <a:rPr sz="1300" dirty="0">
                <a:latin typeface="Times New Roman"/>
                <a:cs typeface="Times New Roman"/>
              </a:rPr>
              <a:t>I/O</a:t>
            </a:r>
            <a:r>
              <a:rPr sz="1300" spc="-25" dirty="0">
                <a:latin typeface="Times New Roman"/>
                <a:cs typeface="Times New Roman"/>
              </a:rPr>
              <a:t> </a:t>
            </a:r>
            <a:r>
              <a:rPr sz="1300" dirty="0">
                <a:latin typeface="Times New Roman"/>
                <a:cs typeface="Times New Roman"/>
              </a:rPr>
              <a:t>Board</a:t>
            </a:r>
            <a:r>
              <a:rPr sz="1300" spc="-25" dirty="0">
                <a:latin typeface="Times New Roman"/>
                <a:cs typeface="Times New Roman"/>
              </a:rPr>
              <a:t> </a:t>
            </a:r>
            <a:r>
              <a:rPr sz="1300" dirty="0">
                <a:latin typeface="Times New Roman"/>
                <a:cs typeface="Times New Roman"/>
              </a:rPr>
              <a:t>(not</a:t>
            </a:r>
            <a:r>
              <a:rPr sz="1300" spc="-20" dirty="0">
                <a:latin typeface="Times New Roman"/>
                <a:cs typeface="Times New Roman"/>
              </a:rPr>
              <a:t> </a:t>
            </a:r>
            <a:r>
              <a:rPr sz="1300" dirty="0">
                <a:latin typeface="Times New Roman"/>
                <a:cs typeface="Times New Roman"/>
              </a:rPr>
              <a:t>shown),</a:t>
            </a:r>
            <a:r>
              <a:rPr sz="1300" spc="-25"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STIF</a:t>
            </a:r>
            <a:r>
              <a:rPr sz="1300" spc="-25" dirty="0">
                <a:latin typeface="Times New Roman"/>
                <a:cs typeface="Times New Roman"/>
              </a:rPr>
              <a:t> </a:t>
            </a:r>
            <a:r>
              <a:rPr sz="1300" dirty="0">
                <a:latin typeface="Times New Roman"/>
                <a:cs typeface="Times New Roman"/>
              </a:rPr>
              <a:t>Board</a:t>
            </a:r>
            <a:r>
              <a:rPr sz="1300" spc="-20" dirty="0">
                <a:latin typeface="Times New Roman"/>
                <a:cs typeface="Times New Roman"/>
              </a:rPr>
              <a:t> </a:t>
            </a:r>
            <a:r>
              <a:rPr sz="1300" dirty="0">
                <a:latin typeface="Times New Roman"/>
                <a:cs typeface="Times New Roman"/>
              </a:rPr>
              <a:t>(not</a:t>
            </a:r>
            <a:r>
              <a:rPr sz="1300" spc="-25" dirty="0">
                <a:latin typeface="Times New Roman"/>
                <a:cs typeface="Times New Roman"/>
              </a:rPr>
              <a:t> </a:t>
            </a:r>
            <a:r>
              <a:rPr sz="1300" dirty="0">
                <a:latin typeface="Times New Roman"/>
                <a:cs typeface="Times New Roman"/>
              </a:rPr>
              <a:t>shown).</a:t>
            </a:r>
            <a:r>
              <a:rPr sz="1300" spc="285" dirty="0">
                <a:latin typeface="Times New Roman"/>
                <a:cs typeface="Times New Roman"/>
              </a:rPr>
              <a:t> </a:t>
            </a:r>
            <a:r>
              <a:rPr sz="1300" b="1" dirty="0">
                <a:latin typeface="Times New Roman"/>
                <a:cs typeface="Times New Roman"/>
              </a:rPr>
              <a:t>In</a:t>
            </a:r>
            <a:r>
              <a:rPr sz="1300" b="1" spc="-25" dirty="0">
                <a:latin typeface="Times New Roman"/>
                <a:cs typeface="Times New Roman"/>
              </a:rPr>
              <a:t> </a:t>
            </a:r>
            <a:r>
              <a:rPr sz="1300" b="1" dirty="0">
                <a:latin typeface="Times New Roman"/>
                <a:cs typeface="Times New Roman"/>
              </a:rPr>
              <a:t>order</a:t>
            </a:r>
            <a:r>
              <a:rPr sz="1300" b="1" spc="-25" dirty="0">
                <a:latin typeface="Times New Roman"/>
                <a:cs typeface="Times New Roman"/>
              </a:rPr>
              <a:t> </a:t>
            </a:r>
            <a:r>
              <a:rPr sz="1300" b="1" dirty="0">
                <a:latin typeface="Times New Roman"/>
                <a:cs typeface="Times New Roman"/>
              </a:rPr>
              <a:t>to</a:t>
            </a:r>
            <a:r>
              <a:rPr sz="1300" b="1" spc="-25" dirty="0">
                <a:latin typeface="Times New Roman"/>
                <a:cs typeface="Times New Roman"/>
              </a:rPr>
              <a:t> </a:t>
            </a:r>
            <a:r>
              <a:rPr sz="1300" b="1" dirty="0">
                <a:latin typeface="Times New Roman"/>
                <a:cs typeface="Times New Roman"/>
              </a:rPr>
              <a:t>remove</a:t>
            </a:r>
            <a:r>
              <a:rPr sz="1300" b="1" spc="-20" dirty="0">
                <a:latin typeface="Times New Roman"/>
                <a:cs typeface="Times New Roman"/>
              </a:rPr>
              <a:t> </a:t>
            </a:r>
            <a:r>
              <a:rPr sz="1300" b="1" dirty="0">
                <a:latin typeface="Times New Roman"/>
                <a:cs typeface="Times New Roman"/>
              </a:rPr>
              <a:t>these</a:t>
            </a:r>
            <a:r>
              <a:rPr sz="1300" b="1" spc="-25" dirty="0">
                <a:latin typeface="Times New Roman"/>
                <a:cs typeface="Times New Roman"/>
              </a:rPr>
              <a:t> </a:t>
            </a:r>
            <a:r>
              <a:rPr sz="1300" b="1" spc="-10" dirty="0">
                <a:latin typeface="Times New Roman"/>
                <a:cs typeface="Times New Roman"/>
              </a:rPr>
              <a:t>boards, </a:t>
            </a:r>
            <a:r>
              <a:rPr sz="1300" b="1" dirty="0">
                <a:latin typeface="Times New Roman"/>
                <a:cs typeface="Times New Roman"/>
              </a:rPr>
              <a:t>the</a:t>
            </a:r>
            <a:r>
              <a:rPr sz="1300" b="1" spc="-25" dirty="0">
                <a:latin typeface="Times New Roman"/>
                <a:cs typeface="Times New Roman"/>
              </a:rPr>
              <a:t> </a:t>
            </a:r>
            <a:r>
              <a:rPr sz="1300" b="1" dirty="0">
                <a:latin typeface="Times New Roman"/>
                <a:cs typeface="Times New Roman"/>
              </a:rPr>
              <a:t>two</a:t>
            </a:r>
            <a:r>
              <a:rPr sz="1300" b="1" spc="-25" dirty="0">
                <a:latin typeface="Times New Roman"/>
                <a:cs typeface="Times New Roman"/>
              </a:rPr>
              <a:t> </a:t>
            </a:r>
            <a:r>
              <a:rPr sz="1300" b="1" dirty="0">
                <a:latin typeface="Times New Roman"/>
                <a:cs typeface="Times New Roman"/>
              </a:rPr>
              <a:t>screws</a:t>
            </a:r>
            <a:r>
              <a:rPr sz="1300" b="1" spc="-25" dirty="0">
                <a:latin typeface="Times New Roman"/>
                <a:cs typeface="Times New Roman"/>
              </a:rPr>
              <a:t> </a:t>
            </a:r>
            <a:r>
              <a:rPr sz="1300" b="1" dirty="0">
                <a:latin typeface="Times New Roman"/>
                <a:cs typeface="Times New Roman"/>
              </a:rPr>
              <a:t>that</a:t>
            </a:r>
            <a:r>
              <a:rPr sz="1300" b="1" spc="-20" dirty="0">
                <a:latin typeface="Times New Roman"/>
                <a:cs typeface="Times New Roman"/>
              </a:rPr>
              <a:t> </a:t>
            </a:r>
            <a:r>
              <a:rPr sz="1300" b="1" dirty="0">
                <a:latin typeface="Times New Roman"/>
                <a:cs typeface="Times New Roman"/>
              </a:rPr>
              <a:t>secure</a:t>
            </a:r>
            <a:r>
              <a:rPr sz="1300" b="1" spc="-25" dirty="0">
                <a:latin typeface="Times New Roman"/>
                <a:cs typeface="Times New Roman"/>
              </a:rPr>
              <a:t> </a:t>
            </a:r>
            <a:r>
              <a:rPr sz="1300" b="1" dirty="0">
                <a:latin typeface="Times New Roman"/>
                <a:cs typeface="Times New Roman"/>
              </a:rPr>
              <a:t>the</a:t>
            </a:r>
            <a:r>
              <a:rPr sz="1300" b="1" spc="-25" dirty="0">
                <a:latin typeface="Times New Roman"/>
                <a:cs typeface="Times New Roman"/>
              </a:rPr>
              <a:t> </a:t>
            </a:r>
            <a:r>
              <a:rPr sz="1300" b="1" dirty="0">
                <a:latin typeface="Times New Roman"/>
                <a:cs typeface="Times New Roman"/>
              </a:rPr>
              <a:t>boards</a:t>
            </a:r>
            <a:r>
              <a:rPr sz="1300" b="1" spc="-20" dirty="0">
                <a:latin typeface="Times New Roman"/>
                <a:cs typeface="Times New Roman"/>
              </a:rPr>
              <a:t> </a:t>
            </a:r>
            <a:r>
              <a:rPr sz="1300" b="1" dirty="0">
                <a:latin typeface="Times New Roman"/>
                <a:cs typeface="Times New Roman"/>
              </a:rPr>
              <a:t>to</a:t>
            </a:r>
            <a:r>
              <a:rPr sz="1300" b="1" spc="-25" dirty="0">
                <a:latin typeface="Times New Roman"/>
                <a:cs typeface="Times New Roman"/>
              </a:rPr>
              <a:t> </a:t>
            </a:r>
            <a:r>
              <a:rPr sz="1300" b="1" dirty="0">
                <a:latin typeface="Times New Roman"/>
                <a:cs typeface="Times New Roman"/>
              </a:rPr>
              <a:t>the</a:t>
            </a:r>
            <a:r>
              <a:rPr sz="1300" b="1" spc="-25" dirty="0">
                <a:latin typeface="Times New Roman"/>
                <a:cs typeface="Times New Roman"/>
              </a:rPr>
              <a:t> </a:t>
            </a:r>
            <a:r>
              <a:rPr sz="1300" b="1" dirty="0">
                <a:latin typeface="Times New Roman"/>
                <a:cs typeface="Times New Roman"/>
              </a:rPr>
              <a:t>MGD</a:t>
            </a:r>
            <a:r>
              <a:rPr sz="1300" b="1" spc="-25" dirty="0">
                <a:latin typeface="Times New Roman"/>
                <a:cs typeface="Times New Roman"/>
              </a:rPr>
              <a:t> </a:t>
            </a:r>
            <a:r>
              <a:rPr sz="1300" b="1" dirty="0">
                <a:latin typeface="Times New Roman"/>
                <a:cs typeface="Times New Roman"/>
              </a:rPr>
              <a:t>Chassis</a:t>
            </a:r>
            <a:r>
              <a:rPr sz="1300" b="1" spc="-20" dirty="0">
                <a:latin typeface="Times New Roman"/>
                <a:cs typeface="Times New Roman"/>
              </a:rPr>
              <a:t> </a:t>
            </a:r>
            <a:r>
              <a:rPr sz="1300" b="1" dirty="0">
                <a:latin typeface="Times New Roman"/>
                <a:cs typeface="Times New Roman"/>
              </a:rPr>
              <a:t>must</a:t>
            </a:r>
            <a:r>
              <a:rPr sz="1300" b="1" spc="-25" dirty="0">
                <a:latin typeface="Times New Roman"/>
                <a:cs typeface="Times New Roman"/>
              </a:rPr>
              <a:t> </a:t>
            </a:r>
            <a:r>
              <a:rPr sz="1300" b="1" dirty="0">
                <a:latin typeface="Times New Roman"/>
                <a:cs typeface="Times New Roman"/>
              </a:rPr>
              <a:t>be</a:t>
            </a:r>
            <a:r>
              <a:rPr sz="1300" b="1" spc="-25" dirty="0">
                <a:latin typeface="Times New Roman"/>
                <a:cs typeface="Times New Roman"/>
              </a:rPr>
              <a:t> </a:t>
            </a:r>
            <a:r>
              <a:rPr sz="1300" b="1" dirty="0">
                <a:latin typeface="Times New Roman"/>
                <a:cs typeface="Times New Roman"/>
              </a:rPr>
              <a:t>retracted</a:t>
            </a:r>
            <a:r>
              <a:rPr sz="1300" b="1" spc="-20" dirty="0">
                <a:latin typeface="Times New Roman"/>
                <a:cs typeface="Times New Roman"/>
              </a:rPr>
              <a:t> </a:t>
            </a:r>
            <a:r>
              <a:rPr sz="1300" b="1" dirty="0">
                <a:latin typeface="Times New Roman"/>
                <a:cs typeface="Times New Roman"/>
              </a:rPr>
              <a:t>and</a:t>
            </a:r>
            <a:r>
              <a:rPr sz="1300" b="1" spc="-25" dirty="0">
                <a:latin typeface="Times New Roman"/>
                <a:cs typeface="Times New Roman"/>
              </a:rPr>
              <a:t> </a:t>
            </a:r>
            <a:r>
              <a:rPr sz="1300" b="1" dirty="0">
                <a:latin typeface="Times New Roman"/>
                <a:cs typeface="Times New Roman"/>
              </a:rPr>
              <a:t>the</a:t>
            </a:r>
            <a:r>
              <a:rPr sz="1300" b="1" spc="-25" dirty="0">
                <a:latin typeface="Times New Roman"/>
                <a:cs typeface="Times New Roman"/>
              </a:rPr>
              <a:t> </a:t>
            </a:r>
            <a:r>
              <a:rPr sz="1300" b="1" spc="-20" dirty="0">
                <a:latin typeface="Times New Roman"/>
                <a:cs typeface="Times New Roman"/>
              </a:rPr>
              <a:t>gray </a:t>
            </a:r>
            <a:r>
              <a:rPr sz="1300" b="1" dirty="0">
                <a:latin typeface="Times New Roman"/>
                <a:cs typeface="Times New Roman"/>
              </a:rPr>
              <a:t>tabs</a:t>
            </a:r>
            <a:r>
              <a:rPr sz="1300" b="1" spc="-25" dirty="0">
                <a:latin typeface="Times New Roman"/>
                <a:cs typeface="Times New Roman"/>
              </a:rPr>
              <a:t> </a:t>
            </a:r>
            <a:r>
              <a:rPr sz="1300" b="1" dirty="0">
                <a:latin typeface="Times New Roman"/>
                <a:cs typeface="Times New Roman"/>
              </a:rPr>
              <a:t>inset</a:t>
            </a:r>
            <a:r>
              <a:rPr sz="1300" b="1" spc="-20" dirty="0">
                <a:latin typeface="Times New Roman"/>
                <a:cs typeface="Times New Roman"/>
              </a:rPr>
              <a:t> </a:t>
            </a:r>
            <a:r>
              <a:rPr sz="1300" b="1" dirty="0">
                <a:latin typeface="Times New Roman"/>
                <a:cs typeface="Times New Roman"/>
              </a:rPr>
              <a:t>in</a:t>
            </a:r>
            <a:r>
              <a:rPr sz="1300" b="1" spc="-20" dirty="0">
                <a:latin typeface="Times New Roman"/>
                <a:cs typeface="Times New Roman"/>
              </a:rPr>
              <a:t> </a:t>
            </a:r>
            <a:r>
              <a:rPr sz="1300" b="1" dirty="0">
                <a:latin typeface="Times New Roman"/>
                <a:cs typeface="Times New Roman"/>
              </a:rPr>
              <a:t>each</a:t>
            </a:r>
            <a:r>
              <a:rPr sz="1300" b="1" spc="-20" dirty="0">
                <a:latin typeface="Times New Roman"/>
                <a:cs typeface="Times New Roman"/>
              </a:rPr>
              <a:t> </a:t>
            </a:r>
            <a:r>
              <a:rPr sz="1300" b="1" dirty="0">
                <a:latin typeface="Times New Roman"/>
                <a:cs typeface="Times New Roman"/>
              </a:rPr>
              <a:t>of</a:t>
            </a:r>
            <a:r>
              <a:rPr sz="1300" b="1" spc="-20" dirty="0">
                <a:latin typeface="Times New Roman"/>
                <a:cs typeface="Times New Roman"/>
              </a:rPr>
              <a:t> </a:t>
            </a:r>
            <a:r>
              <a:rPr sz="1300" b="1" dirty="0">
                <a:latin typeface="Times New Roman"/>
                <a:cs typeface="Times New Roman"/>
              </a:rPr>
              <a:t>the</a:t>
            </a:r>
            <a:r>
              <a:rPr sz="1300" b="1" spc="-20" dirty="0">
                <a:latin typeface="Times New Roman"/>
                <a:cs typeface="Times New Roman"/>
              </a:rPr>
              <a:t> </a:t>
            </a:r>
            <a:r>
              <a:rPr sz="1300" b="1" dirty="0">
                <a:latin typeface="Times New Roman"/>
                <a:cs typeface="Times New Roman"/>
              </a:rPr>
              <a:t>upper</a:t>
            </a:r>
            <a:r>
              <a:rPr sz="1300" b="1" spc="-20" dirty="0">
                <a:latin typeface="Times New Roman"/>
                <a:cs typeface="Times New Roman"/>
              </a:rPr>
              <a:t> </a:t>
            </a:r>
            <a:r>
              <a:rPr sz="1300" b="1" dirty="0">
                <a:latin typeface="Times New Roman"/>
                <a:cs typeface="Times New Roman"/>
              </a:rPr>
              <a:t>and</a:t>
            </a:r>
            <a:r>
              <a:rPr sz="1300" b="1" spc="-25" dirty="0">
                <a:latin typeface="Times New Roman"/>
                <a:cs typeface="Times New Roman"/>
              </a:rPr>
              <a:t> </a:t>
            </a:r>
            <a:r>
              <a:rPr sz="1300" b="1" dirty="0">
                <a:latin typeface="Times New Roman"/>
                <a:cs typeface="Times New Roman"/>
              </a:rPr>
              <a:t>lower</a:t>
            </a:r>
            <a:r>
              <a:rPr sz="1300" b="1" spc="-20" dirty="0">
                <a:latin typeface="Times New Roman"/>
                <a:cs typeface="Times New Roman"/>
              </a:rPr>
              <a:t> </a:t>
            </a:r>
            <a:r>
              <a:rPr sz="1300" b="1" dirty="0">
                <a:latin typeface="Times New Roman"/>
                <a:cs typeface="Times New Roman"/>
              </a:rPr>
              <a:t>black</a:t>
            </a:r>
            <a:r>
              <a:rPr sz="1300" b="1" spc="-20" dirty="0">
                <a:latin typeface="Times New Roman"/>
                <a:cs typeface="Times New Roman"/>
              </a:rPr>
              <a:t> </a:t>
            </a:r>
            <a:r>
              <a:rPr sz="1300" b="1" dirty="0">
                <a:latin typeface="Times New Roman"/>
                <a:cs typeface="Times New Roman"/>
              </a:rPr>
              <a:t>tabs</a:t>
            </a:r>
            <a:r>
              <a:rPr sz="1300" b="1" spc="-20" dirty="0">
                <a:latin typeface="Times New Roman"/>
                <a:cs typeface="Times New Roman"/>
              </a:rPr>
              <a:t> </a:t>
            </a:r>
            <a:r>
              <a:rPr sz="1300" b="1" dirty="0">
                <a:latin typeface="Times New Roman"/>
                <a:cs typeface="Times New Roman"/>
              </a:rPr>
              <a:t>must</a:t>
            </a:r>
            <a:r>
              <a:rPr sz="1300" b="1" spc="-20" dirty="0">
                <a:latin typeface="Times New Roman"/>
                <a:cs typeface="Times New Roman"/>
              </a:rPr>
              <a:t> </a:t>
            </a:r>
            <a:r>
              <a:rPr sz="1300" b="1" dirty="0">
                <a:latin typeface="Times New Roman"/>
                <a:cs typeface="Times New Roman"/>
              </a:rPr>
              <a:t>be</a:t>
            </a:r>
            <a:r>
              <a:rPr sz="1300" b="1" spc="-20" dirty="0">
                <a:latin typeface="Times New Roman"/>
                <a:cs typeface="Times New Roman"/>
              </a:rPr>
              <a:t> </a:t>
            </a:r>
            <a:r>
              <a:rPr sz="1300" b="1" dirty="0">
                <a:latin typeface="Times New Roman"/>
                <a:cs typeface="Times New Roman"/>
              </a:rPr>
              <a:t>pressed</a:t>
            </a:r>
            <a:r>
              <a:rPr sz="1300" b="1" spc="-20" dirty="0">
                <a:latin typeface="Times New Roman"/>
                <a:cs typeface="Times New Roman"/>
              </a:rPr>
              <a:t> </a:t>
            </a:r>
            <a:r>
              <a:rPr sz="1300" b="1" dirty="0">
                <a:latin typeface="Times New Roman"/>
                <a:cs typeface="Times New Roman"/>
              </a:rPr>
              <a:t>inward</a:t>
            </a:r>
            <a:r>
              <a:rPr sz="1300" b="1" spc="-20" dirty="0">
                <a:latin typeface="Times New Roman"/>
                <a:cs typeface="Times New Roman"/>
              </a:rPr>
              <a:t> </a:t>
            </a:r>
            <a:r>
              <a:rPr sz="1300" b="1" dirty="0">
                <a:latin typeface="Times New Roman"/>
                <a:cs typeface="Times New Roman"/>
              </a:rPr>
              <a:t>to</a:t>
            </a:r>
            <a:r>
              <a:rPr sz="1300" b="1" spc="-25" dirty="0">
                <a:latin typeface="Times New Roman"/>
                <a:cs typeface="Times New Roman"/>
              </a:rPr>
              <a:t> </a:t>
            </a:r>
            <a:r>
              <a:rPr sz="1300" b="1" dirty="0">
                <a:latin typeface="Times New Roman"/>
                <a:cs typeface="Times New Roman"/>
              </a:rPr>
              <a:t>allow</a:t>
            </a:r>
            <a:r>
              <a:rPr sz="1300" b="1" spc="-20" dirty="0">
                <a:latin typeface="Times New Roman"/>
                <a:cs typeface="Times New Roman"/>
              </a:rPr>
              <a:t> </a:t>
            </a:r>
            <a:r>
              <a:rPr sz="1300" b="1" spc="-25" dirty="0">
                <a:latin typeface="Times New Roman"/>
                <a:cs typeface="Times New Roman"/>
              </a:rPr>
              <a:t>the </a:t>
            </a:r>
            <a:r>
              <a:rPr sz="1300" b="1" dirty="0">
                <a:latin typeface="Times New Roman"/>
                <a:cs typeface="Times New Roman"/>
              </a:rPr>
              <a:t>black</a:t>
            </a:r>
            <a:r>
              <a:rPr sz="1300" b="1" spc="-25" dirty="0">
                <a:latin typeface="Times New Roman"/>
                <a:cs typeface="Times New Roman"/>
              </a:rPr>
              <a:t> </a:t>
            </a:r>
            <a:r>
              <a:rPr sz="1300" b="1" dirty="0">
                <a:latin typeface="Times New Roman"/>
                <a:cs typeface="Times New Roman"/>
              </a:rPr>
              <a:t>tabs</a:t>
            </a:r>
            <a:r>
              <a:rPr sz="1300" b="1" spc="-20" dirty="0">
                <a:latin typeface="Times New Roman"/>
                <a:cs typeface="Times New Roman"/>
              </a:rPr>
              <a:t> </a:t>
            </a:r>
            <a:r>
              <a:rPr sz="1300" b="1" dirty="0">
                <a:latin typeface="Times New Roman"/>
                <a:cs typeface="Times New Roman"/>
              </a:rPr>
              <a:t>to</a:t>
            </a:r>
            <a:r>
              <a:rPr sz="1300" b="1" spc="-20" dirty="0">
                <a:latin typeface="Times New Roman"/>
                <a:cs typeface="Times New Roman"/>
              </a:rPr>
              <a:t> </a:t>
            </a:r>
            <a:r>
              <a:rPr sz="1300" b="1" dirty="0">
                <a:latin typeface="Times New Roman"/>
                <a:cs typeface="Times New Roman"/>
              </a:rPr>
              <a:t>release.</a:t>
            </a:r>
            <a:r>
              <a:rPr sz="1300" b="1" spc="280" dirty="0">
                <a:latin typeface="Times New Roman"/>
                <a:cs typeface="Times New Roman"/>
              </a:rPr>
              <a:t> </a:t>
            </a:r>
            <a:r>
              <a:rPr sz="1300" dirty="0">
                <a:latin typeface="Times New Roman"/>
                <a:cs typeface="Times New Roman"/>
              </a:rPr>
              <a:t>This</a:t>
            </a:r>
            <a:r>
              <a:rPr sz="1300" spc="-20" dirty="0">
                <a:latin typeface="Times New Roman"/>
                <a:cs typeface="Times New Roman"/>
              </a:rPr>
              <a:t> </a:t>
            </a:r>
            <a:r>
              <a:rPr sz="1300" dirty="0">
                <a:latin typeface="Times New Roman"/>
                <a:cs typeface="Times New Roman"/>
              </a:rPr>
              <a:t>must</a:t>
            </a:r>
            <a:r>
              <a:rPr sz="1300" spc="-20" dirty="0">
                <a:latin typeface="Times New Roman"/>
                <a:cs typeface="Times New Roman"/>
              </a:rPr>
              <a:t> </a:t>
            </a:r>
            <a:r>
              <a:rPr sz="1300" dirty="0">
                <a:latin typeface="Times New Roman"/>
                <a:cs typeface="Times New Roman"/>
              </a:rPr>
              <a:t>be</a:t>
            </a:r>
            <a:r>
              <a:rPr sz="1300" spc="-20" dirty="0">
                <a:latin typeface="Times New Roman"/>
                <a:cs typeface="Times New Roman"/>
              </a:rPr>
              <a:t> </a:t>
            </a:r>
            <a:r>
              <a:rPr sz="1300" dirty="0">
                <a:latin typeface="Times New Roman"/>
                <a:cs typeface="Times New Roman"/>
              </a:rPr>
              <a:t>done</a:t>
            </a:r>
            <a:r>
              <a:rPr sz="1300" spc="-25" dirty="0">
                <a:latin typeface="Times New Roman"/>
                <a:cs typeface="Times New Roman"/>
              </a:rPr>
              <a:t> </a:t>
            </a:r>
            <a:r>
              <a:rPr sz="1300" dirty="0">
                <a:latin typeface="Times New Roman"/>
                <a:cs typeface="Times New Roman"/>
              </a:rPr>
              <a:t>before</a:t>
            </a:r>
            <a:r>
              <a:rPr sz="1300" spc="-20" dirty="0">
                <a:latin typeface="Times New Roman"/>
                <a:cs typeface="Times New Roman"/>
              </a:rPr>
              <a:t> </a:t>
            </a:r>
            <a:r>
              <a:rPr sz="1300" dirty="0">
                <a:latin typeface="Times New Roman"/>
                <a:cs typeface="Times New Roman"/>
              </a:rPr>
              <a:t>attempting</a:t>
            </a:r>
            <a:r>
              <a:rPr sz="1300" spc="-20" dirty="0">
                <a:latin typeface="Times New Roman"/>
                <a:cs typeface="Times New Roman"/>
              </a:rPr>
              <a:t> </a:t>
            </a:r>
            <a:r>
              <a:rPr sz="1300" dirty="0">
                <a:latin typeface="Times New Roman"/>
                <a:cs typeface="Times New Roman"/>
              </a:rPr>
              <a:t>to</a:t>
            </a:r>
            <a:r>
              <a:rPr sz="1300" spc="-10" dirty="0">
                <a:latin typeface="Times New Roman"/>
                <a:cs typeface="Times New Roman"/>
              </a:rPr>
              <a:t> </a:t>
            </a:r>
            <a:r>
              <a:rPr sz="1300" dirty="0">
                <a:latin typeface="Times New Roman"/>
                <a:cs typeface="Times New Roman"/>
              </a:rPr>
              <a:t>use</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tabs</a:t>
            </a:r>
            <a:r>
              <a:rPr sz="1300" spc="-20" dirty="0">
                <a:latin typeface="Times New Roman"/>
                <a:cs typeface="Times New Roman"/>
              </a:rPr>
              <a:t> </a:t>
            </a:r>
            <a:r>
              <a:rPr sz="1300" dirty="0">
                <a:latin typeface="Times New Roman"/>
                <a:cs typeface="Times New Roman"/>
              </a:rPr>
              <a:t>to</a:t>
            </a:r>
            <a:r>
              <a:rPr sz="1300" spc="-20" dirty="0">
                <a:latin typeface="Times New Roman"/>
                <a:cs typeface="Times New Roman"/>
              </a:rPr>
              <a:t> </a:t>
            </a:r>
            <a:r>
              <a:rPr sz="1300" dirty="0">
                <a:latin typeface="Times New Roman"/>
                <a:cs typeface="Times New Roman"/>
              </a:rPr>
              <a:t>extract</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spc="-10" dirty="0">
                <a:latin typeface="Times New Roman"/>
                <a:cs typeface="Times New Roman"/>
              </a:rPr>
              <a:t>boards. </a:t>
            </a:r>
            <a:r>
              <a:rPr sz="1300" dirty="0">
                <a:latin typeface="Times New Roman"/>
                <a:cs typeface="Times New Roman"/>
              </a:rPr>
              <a:t>Failure</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release</a:t>
            </a:r>
            <a:r>
              <a:rPr sz="1300" spc="-2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black</a:t>
            </a:r>
            <a:r>
              <a:rPr sz="1300" spc="-25" dirty="0">
                <a:latin typeface="Times New Roman"/>
                <a:cs typeface="Times New Roman"/>
              </a:rPr>
              <a:t> </a:t>
            </a:r>
            <a:r>
              <a:rPr sz="1300" dirty="0">
                <a:latin typeface="Times New Roman"/>
                <a:cs typeface="Times New Roman"/>
              </a:rPr>
              <a:t>tabs</a:t>
            </a:r>
            <a:r>
              <a:rPr sz="1300" spc="-25" dirty="0">
                <a:latin typeface="Times New Roman"/>
                <a:cs typeface="Times New Roman"/>
              </a:rPr>
              <a:t> </a:t>
            </a:r>
            <a:r>
              <a:rPr sz="1300" dirty="0">
                <a:latin typeface="Times New Roman"/>
                <a:cs typeface="Times New Roman"/>
              </a:rPr>
              <a:t>first</a:t>
            </a:r>
            <a:r>
              <a:rPr sz="1300" spc="-20" dirty="0">
                <a:latin typeface="Times New Roman"/>
                <a:cs typeface="Times New Roman"/>
              </a:rPr>
              <a:t> </a:t>
            </a:r>
            <a:r>
              <a:rPr sz="1300" dirty="0">
                <a:latin typeface="Times New Roman"/>
                <a:cs typeface="Times New Roman"/>
              </a:rPr>
              <a:t>will</a:t>
            </a:r>
            <a:r>
              <a:rPr sz="1300" spc="-25" dirty="0">
                <a:latin typeface="Times New Roman"/>
                <a:cs typeface="Times New Roman"/>
              </a:rPr>
              <a:t> </a:t>
            </a:r>
            <a:r>
              <a:rPr sz="1300" dirty="0">
                <a:latin typeface="Times New Roman"/>
                <a:cs typeface="Times New Roman"/>
              </a:rPr>
              <a:t>result</a:t>
            </a:r>
            <a:r>
              <a:rPr sz="1300" spc="-25" dirty="0">
                <a:latin typeface="Times New Roman"/>
                <a:cs typeface="Times New Roman"/>
              </a:rPr>
              <a:t> </a:t>
            </a:r>
            <a:r>
              <a:rPr sz="1300" dirty="0">
                <a:latin typeface="Times New Roman"/>
                <a:cs typeface="Times New Roman"/>
              </a:rPr>
              <a:t>in</a:t>
            </a:r>
            <a:r>
              <a:rPr sz="1300" spc="-25" dirty="0">
                <a:latin typeface="Times New Roman"/>
                <a:cs typeface="Times New Roman"/>
              </a:rPr>
              <a:t> </a:t>
            </a:r>
            <a:r>
              <a:rPr sz="1300" dirty="0">
                <a:latin typeface="Times New Roman"/>
                <a:cs typeface="Times New Roman"/>
              </a:rPr>
              <a:t>physical</a:t>
            </a:r>
            <a:r>
              <a:rPr sz="1300" spc="-20" dirty="0">
                <a:latin typeface="Times New Roman"/>
                <a:cs typeface="Times New Roman"/>
              </a:rPr>
              <a:t> </a:t>
            </a:r>
            <a:r>
              <a:rPr sz="1300" dirty="0">
                <a:latin typeface="Times New Roman"/>
                <a:cs typeface="Times New Roman"/>
              </a:rPr>
              <a:t>damage</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black</a:t>
            </a:r>
            <a:r>
              <a:rPr sz="1300" spc="-20" dirty="0">
                <a:latin typeface="Times New Roman"/>
                <a:cs typeface="Times New Roman"/>
              </a:rPr>
              <a:t> </a:t>
            </a:r>
            <a:r>
              <a:rPr sz="1300" spc="-10" dirty="0">
                <a:latin typeface="Times New Roman"/>
                <a:cs typeface="Times New Roman"/>
              </a:rPr>
              <a:t>tabs.</a:t>
            </a:r>
            <a:endParaRPr sz="1300">
              <a:latin typeface="Times New Roman"/>
              <a:cs typeface="Times New Roman"/>
            </a:endParaRPr>
          </a:p>
        </p:txBody>
      </p:sp>
      <p:sp>
        <p:nvSpPr>
          <p:cNvPr id="17" name="object 17"/>
          <p:cNvSpPr/>
          <p:nvPr/>
        </p:nvSpPr>
        <p:spPr>
          <a:xfrm>
            <a:off x="2311400" y="3675379"/>
            <a:ext cx="6615430" cy="1490980"/>
          </a:xfrm>
          <a:custGeom>
            <a:avLst/>
            <a:gdLst/>
            <a:ahLst/>
            <a:cxnLst/>
            <a:rect l="l" t="t" r="r" b="b"/>
            <a:pathLst>
              <a:path w="6615430" h="1490979">
                <a:moveTo>
                  <a:pt x="6614922" y="1490472"/>
                </a:moveTo>
                <a:lnTo>
                  <a:pt x="6614922" y="0"/>
                </a:lnTo>
                <a:lnTo>
                  <a:pt x="0" y="0"/>
                </a:lnTo>
                <a:lnTo>
                  <a:pt x="0" y="1490472"/>
                </a:lnTo>
                <a:lnTo>
                  <a:pt x="6614922" y="1490472"/>
                </a:lnTo>
                <a:close/>
              </a:path>
            </a:pathLst>
          </a:custGeom>
          <a:solidFill>
            <a:srgbClr val="FFFFFF"/>
          </a:solidFill>
        </p:spPr>
        <p:txBody>
          <a:bodyPr wrap="square" lIns="0" tIns="0" rIns="0" bIns="0" rtlCol="0"/>
          <a:lstStyle/>
          <a:p>
            <a:endParaRPr/>
          </a:p>
        </p:txBody>
      </p:sp>
      <p:sp>
        <p:nvSpPr>
          <p:cNvPr id="18" name="object 18"/>
          <p:cNvSpPr txBox="1"/>
          <p:nvPr/>
        </p:nvSpPr>
        <p:spPr>
          <a:xfrm>
            <a:off x="2311400" y="3675379"/>
            <a:ext cx="6615430" cy="1490980"/>
          </a:xfrm>
          <a:prstGeom prst="rect">
            <a:avLst/>
          </a:prstGeom>
          <a:ln w="9144">
            <a:solidFill>
              <a:srgbClr val="000000"/>
            </a:solidFill>
          </a:ln>
        </p:spPr>
        <p:txBody>
          <a:bodyPr vert="horz" wrap="square" lIns="0" tIns="45720" rIns="0" bIns="0" rtlCol="0">
            <a:spAutoFit/>
          </a:bodyPr>
          <a:lstStyle/>
          <a:p>
            <a:pPr marL="96520" marR="96520">
              <a:lnSpc>
                <a:spcPct val="100000"/>
              </a:lnSpc>
              <a:spcBef>
                <a:spcPts val="360"/>
              </a:spcBef>
            </a:pPr>
            <a:r>
              <a:rPr sz="1300" dirty="0">
                <a:latin typeface="Times New Roman"/>
                <a:cs typeface="Times New Roman"/>
              </a:rPr>
              <a:t>The</a:t>
            </a:r>
            <a:r>
              <a:rPr sz="1300" spc="-25" dirty="0">
                <a:latin typeface="Times New Roman"/>
                <a:cs typeface="Times New Roman"/>
              </a:rPr>
              <a:t> </a:t>
            </a:r>
            <a:r>
              <a:rPr sz="1300" b="1" spc="-10" dirty="0">
                <a:latin typeface="Times New Roman"/>
                <a:cs typeface="Times New Roman"/>
              </a:rPr>
              <a:t>minimum</a:t>
            </a:r>
            <a:r>
              <a:rPr sz="1300" b="1" spc="-25" dirty="0">
                <a:latin typeface="Times New Roman"/>
                <a:cs typeface="Times New Roman"/>
              </a:rPr>
              <a:t> </a:t>
            </a:r>
            <a:r>
              <a:rPr sz="1300" b="1" dirty="0">
                <a:latin typeface="Times New Roman"/>
                <a:cs typeface="Times New Roman"/>
              </a:rPr>
              <a:t>configuration</a:t>
            </a:r>
            <a:r>
              <a:rPr sz="1300" b="1" spc="-25"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boards</a:t>
            </a:r>
            <a:r>
              <a:rPr sz="1300" spc="-25" dirty="0">
                <a:latin typeface="Times New Roman"/>
                <a:cs typeface="Times New Roman"/>
              </a:rPr>
              <a:t> </a:t>
            </a:r>
            <a:r>
              <a:rPr sz="1300" dirty="0">
                <a:latin typeface="Times New Roman"/>
                <a:cs typeface="Times New Roman"/>
              </a:rPr>
              <a:t>installed</a:t>
            </a:r>
            <a:r>
              <a:rPr sz="1300" spc="-30" dirty="0">
                <a:latin typeface="Times New Roman"/>
                <a:cs typeface="Times New Roman"/>
              </a:rPr>
              <a:t> </a:t>
            </a:r>
            <a:r>
              <a:rPr sz="1300" dirty="0">
                <a:latin typeface="Times New Roman"/>
                <a:cs typeface="Times New Roman"/>
              </a:rPr>
              <a:t>in</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MGD</a:t>
            </a:r>
            <a:r>
              <a:rPr sz="1300" spc="-30" dirty="0">
                <a:latin typeface="Times New Roman"/>
                <a:cs typeface="Times New Roman"/>
              </a:rPr>
              <a:t> </a:t>
            </a:r>
            <a:r>
              <a:rPr sz="1300" dirty="0">
                <a:latin typeface="Times New Roman"/>
                <a:cs typeface="Times New Roman"/>
              </a:rPr>
              <a:t>Chassis</a:t>
            </a:r>
            <a:r>
              <a:rPr sz="1300" spc="-25" dirty="0">
                <a:latin typeface="Times New Roman"/>
                <a:cs typeface="Times New Roman"/>
              </a:rPr>
              <a:t> </a:t>
            </a:r>
            <a:r>
              <a:rPr sz="1300" dirty="0">
                <a:latin typeface="Times New Roman"/>
                <a:cs typeface="Times New Roman"/>
              </a:rPr>
              <a:t>necessary</a:t>
            </a:r>
            <a:r>
              <a:rPr sz="1300" spc="-25" dirty="0">
                <a:latin typeface="Times New Roman"/>
                <a:cs typeface="Times New Roman"/>
              </a:rPr>
              <a:t> </a:t>
            </a:r>
            <a:r>
              <a:rPr sz="1300" dirty="0">
                <a:latin typeface="Times New Roman"/>
                <a:cs typeface="Times New Roman"/>
              </a:rPr>
              <a:t>for</a:t>
            </a:r>
            <a:r>
              <a:rPr sz="1300" spc="-30" dirty="0">
                <a:latin typeface="Times New Roman"/>
                <a:cs typeface="Times New Roman"/>
              </a:rPr>
              <a:t> </a:t>
            </a:r>
            <a:r>
              <a:rPr sz="1300" spc="-10" dirty="0">
                <a:latin typeface="Times New Roman"/>
                <a:cs typeface="Times New Roman"/>
              </a:rPr>
              <a:t>applications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successfully</a:t>
            </a:r>
            <a:r>
              <a:rPr sz="1300" spc="-20" dirty="0">
                <a:latin typeface="Times New Roman"/>
                <a:cs typeface="Times New Roman"/>
              </a:rPr>
              <a:t> </a:t>
            </a:r>
            <a:r>
              <a:rPr sz="1300" dirty="0">
                <a:latin typeface="Times New Roman"/>
                <a:cs typeface="Times New Roman"/>
              </a:rPr>
              <a:t>load</a:t>
            </a:r>
            <a:r>
              <a:rPr sz="1300" spc="-20" dirty="0">
                <a:latin typeface="Times New Roman"/>
                <a:cs typeface="Times New Roman"/>
              </a:rPr>
              <a:t> </a:t>
            </a:r>
            <a:r>
              <a:rPr sz="1300" dirty="0">
                <a:latin typeface="Times New Roman"/>
                <a:cs typeface="Times New Roman"/>
              </a:rPr>
              <a:t>are</a:t>
            </a:r>
            <a:r>
              <a:rPr sz="1300" spc="-20" dirty="0">
                <a:latin typeface="Times New Roman"/>
                <a:cs typeface="Times New Roman"/>
              </a:rPr>
              <a:t> </a:t>
            </a:r>
            <a:r>
              <a:rPr sz="1300" dirty="0">
                <a:latin typeface="Times New Roman"/>
                <a:cs typeface="Times New Roman"/>
              </a:rPr>
              <a:t>as</a:t>
            </a:r>
            <a:r>
              <a:rPr sz="1300" spc="-20" dirty="0">
                <a:latin typeface="Times New Roman"/>
                <a:cs typeface="Times New Roman"/>
              </a:rPr>
              <a:t> </a:t>
            </a:r>
            <a:r>
              <a:rPr sz="1300" dirty="0">
                <a:latin typeface="Times New Roman"/>
                <a:cs typeface="Times New Roman"/>
              </a:rPr>
              <a:t>follows:</a:t>
            </a:r>
            <a:r>
              <a:rPr sz="1300" spc="-25" dirty="0">
                <a:latin typeface="Times New Roman"/>
                <a:cs typeface="Times New Roman"/>
              </a:rPr>
              <a:t> </a:t>
            </a:r>
            <a:r>
              <a:rPr sz="1300" dirty="0">
                <a:latin typeface="Times New Roman"/>
                <a:cs typeface="Times New Roman"/>
              </a:rPr>
              <a:t>APS</a:t>
            </a:r>
            <a:r>
              <a:rPr sz="1300" spc="-25" dirty="0">
                <a:latin typeface="Times New Roman"/>
                <a:cs typeface="Times New Roman"/>
              </a:rPr>
              <a:t> </a:t>
            </a:r>
            <a:r>
              <a:rPr sz="1300" dirty="0">
                <a:latin typeface="Times New Roman"/>
                <a:cs typeface="Times New Roman"/>
              </a:rPr>
              <a:t>Board,</a:t>
            </a:r>
            <a:r>
              <a:rPr sz="1300" spc="-25" dirty="0">
                <a:latin typeface="Times New Roman"/>
                <a:cs typeface="Times New Roman"/>
              </a:rPr>
              <a:t> </a:t>
            </a:r>
            <a:r>
              <a:rPr sz="1300" dirty="0">
                <a:latin typeface="Times New Roman"/>
                <a:cs typeface="Times New Roman"/>
              </a:rPr>
              <a:t>AGP</a:t>
            </a:r>
            <a:r>
              <a:rPr sz="1300" spc="-25" dirty="0">
                <a:latin typeface="Times New Roman"/>
                <a:cs typeface="Times New Roman"/>
              </a:rPr>
              <a:t> </a:t>
            </a:r>
            <a:r>
              <a:rPr sz="1300" dirty="0">
                <a:latin typeface="Times New Roman"/>
                <a:cs typeface="Times New Roman"/>
              </a:rPr>
              <a:t>Board,</a:t>
            </a:r>
            <a:r>
              <a:rPr sz="1300" spc="-15" dirty="0">
                <a:latin typeface="Times New Roman"/>
                <a:cs typeface="Times New Roman"/>
              </a:rPr>
              <a:t> </a:t>
            </a:r>
            <a:r>
              <a:rPr sz="1300" dirty="0">
                <a:latin typeface="Times New Roman"/>
                <a:cs typeface="Times New Roman"/>
              </a:rPr>
              <a:t>SCP</a:t>
            </a:r>
            <a:r>
              <a:rPr sz="1300" spc="-20" dirty="0">
                <a:latin typeface="Times New Roman"/>
                <a:cs typeface="Times New Roman"/>
              </a:rPr>
              <a:t> </a:t>
            </a:r>
            <a:r>
              <a:rPr sz="1300" dirty="0">
                <a:latin typeface="Times New Roman"/>
                <a:cs typeface="Times New Roman"/>
              </a:rPr>
              <a:t>Board,</a:t>
            </a:r>
            <a:r>
              <a:rPr sz="1300" spc="-20" dirty="0">
                <a:latin typeface="Times New Roman"/>
                <a:cs typeface="Times New Roman"/>
              </a:rPr>
              <a:t> </a:t>
            </a:r>
            <a:r>
              <a:rPr sz="1300" dirty="0">
                <a:latin typeface="Times New Roman"/>
                <a:cs typeface="Times New Roman"/>
              </a:rPr>
              <a:t>PS1</a:t>
            </a:r>
            <a:r>
              <a:rPr sz="1300" spc="-20" dirty="0">
                <a:latin typeface="Times New Roman"/>
                <a:cs typeface="Times New Roman"/>
              </a:rPr>
              <a:t> </a:t>
            </a:r>
            <a:r>
              <a:rPr sz="1300" dirty="0">
                <a:latin typeface="Times New Roman"/>
                <a:cs typeface="Times New Roman"/>
              </a:rPr>
              <a:t>and</a:t>
            </a:r>
            <a:r>
              <a:rPr sz="1300" spc="-20" dirty="0">
                <a:latin typeface="Times New Roman"/>
                <a:cs typeface="Times New Roman"/>
              </a:rPr>
              <a:t> </a:t>
            </a:r>
            <a:r>
              <a:rPr sz="1300" dirty="0">
                <a:latin typeface="Times New Roman"/>
                <a:cs typeface="Times New Roman"/>
              </a:rPr>
              <a:t>PS2</a:t>
            </a:r>
            <a:r>
              <a:rPr sz="1300" spc="-25" dirty="0">
                <a:latin typeface="Times New Roman"/>
                <a:cs typeface="Times New Roman"/>
              </a:rPr>
              <a:t> </a:t>
            </a:r>
            <a:r>
              <a:rPr sz="1300" spc="-10" dirty="0">
                <a:latin typeface="Times New Roman"/>
                <a:cs typeface="Times New Roman"/>
              </a:rPr>
              <a:t>power </a:t>
            </a:r>
            <a:r>
              <a:rPr sz="1300" dirty="0">
                <a:latin typeface="Times New Roman"/>
                <a:cs typeface="Times New Roman"/>
              </a:rPr>
              <a:t>supplies,</a:t>
            </a:r>
            <a:r>
              <a:rPr sz="1300" spc="-35" dirty="0">
                <a:latin typeface="Times New Roman"/>
                <a:cs typeface="Times New Roman"/>
              </a:rPr>
              <a:t> </a:t>
            </a:r>
            <a:r>
              <a:rPr sz="1300" dirty="0">
                <a:latin typeface="Times New Roman"/>
                <a:cs typeface="Times New Roman"/>
              </a:rPr>
              <a:t>and</a:t>
            </a:r>
            <a:r>
              <a:rPr sz="1300" spc="-25" dirty="0">
                <a:latin typeface="Times New Roman"/>
                <a:cs typeface="Times New Roman"/>
              </a:rPr>
              <a:t> </a:t>
            </a:r>
            <a:r>
              <a:rPr sz="1300" dirty="0">
                <a:latin typeface="Times New Roman"/>
                <a:cs typeface="Times New Roman"/>
              </a:rPr>
              <a:t>Bridge</a:t>
            </a:r>
            <a:r>
              <a:rPr sz="1300" spc="-20" dirty="0">
                <a:latin typeface="Times New Roman"/>
                <a:cs typeface="Times New Roman"/>
              </a:rPr>
              <a:t> </a:t>
            </a:r>
            <a:r>
              <a:rPr sz="1300" dirty="0">
                <a:latin typeface="Times New Roman"/>
                <a:cs typeface="Times New Roman"/>
              </a:rPr>
              <a:t>Board.</a:t>
            </a:r>
            <a:r>
              <a:rPr sz="1300" spc="275" dirty="0">
                <a:latin typeface="Times New Roman"/>
                <a:cs typeface="Times New Roman"/>
              </a:rPr>
              <a:t> </a:t>
            </a:r>
            <a:r>
              <a:rPr sz="1300" dirty="0">
                <a:latin typeface="Times New Roman"/>
                <a:cs typeface="Times New Roman"/>
              </a:rPr>
              <a:t>All</a:t>
            </a:r>
            <a:r>
              <a:rPr sz="1300" spc="-25" dirty="0">
                <a:latin typeface="Times New Roman"/>
                <a:cs typeface="Times New Roman"/>
              </a:rPr>
              <a:t> </a:t>
            </a:r>
            <a:r>
              <a:rPr sz="1300" dirty="0">
                <a:latin typeface="Times New Roman"/>
                <a:cs typeface="Times New Roman"/>
              </a:rPr>
              <a:t>these</a:t>
            </a:r>
            <a:r>
              <a:rPr sz="1300" spc="-25" dirty="0">
                <a:latin typeface="Times New Roman"/>
                <a:cs typeface="Times New Roman"/>
              </a:rPr>
              <a:t> </a:t>
            </a:r>
            <a:r>
              <a:rPr sz="1300" dirty="0">
                <a:latin typeface="Times New Roman"/>
                <a:cs typeface="Times New Roman"/>
              </a:rPr>
              <a:t>boards</a:t>
            </a:r>
            <a:r>
              <a:rPr sz="1300" spc="-35" dirty="0">
                <a:latin typeface="Times New Roman"/>
                <a:cs typeface="Times New Roman"/>
              </a:rPr>
              <a:t> </a:t>
            </a:r>
            <a:r>
              <a:rPr sz="1300" dirty="0">
                <a:latin typeface="Times New Roman"/>
                <a:cs typeface="Times New Roman"/>
              </a:rPr>
              <a:t>must</a:t>
            </a:r>
            <a:r>
              <a:rPr sz="1300" spc="-20" dirty="0">
                <a:latin typeface="Times New Roman"/>
                <a:cs typeface="Times New Roman"/>
              </a:rPr>
              <a:t> </a:t>
            </a:r>
            <a:r>
              <a:rPr sz="1300" dirty="0">
                <a:latin typeface="Times New Roman"/>
                <a:cs typeface="Times New Roman"/>
              </a:rPr>
              <a:t>be</a:t>
            </a:r>
            <a:r>
              <a:rPr sz="1300" spc="-25" dirty="0">
                <a:latin typeface="Times New Roman"/>
                <a:cs typeface="Times New Roman"/>
              </a:rPr>
              <a:t> </a:t>
            </a:r>
            <a:r>
              <a:rPr sz="1300" dirty="0">
                <a:latin typeface="Times New Roman"/>
                <a:cs typeface="Times New Roman"/>
              </a:rPr>
              <a:t>installed</a:t>
            </a:r>
            <a:r>
              <a:rPr sz="1300" spc="-25" dirty="0">
                <a:latin typeface="Times New Roman"/>
                <a:cs typeface="Times New Roman"/>
              </a:rPr>
              <a:t> </a:t>
            </a:r>
            <a:r>
              <a:rPr sz="1300" dirty="0">
                <a:latin typeface="Times New Roman"/>
                <a:cs typeface="Times New Roman"/>
              </a:rPr>
              <a:t>in</a:t>
            </a:r>
            <a:r>
              <a:rPr sz="1300" spc="-20"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correct</a:t>
            </a:r>
            <a:r>
              <a:rPr sz="1300" spc="-25" dirty="0">
                <a:latin typeface="Times New Roman"/>
                <a:cs typeface="Times New Roman"/>
              </a:rPr>
              <a:t> </a:t>
            </a:r>
            <a:r>
              <a:rPr sz="1300" dirty="0">
                <a:latin typeface="Times New Roman"/>
                <a:cs typeface="Times New Roman"/>
              </a:rPr>
              <a:t>slots</a:t>
            </a:r>
            <a:r>
              <a:rPr sz="1300" spc="-20" dirty="0">
                <a:latin typeface="Times New Roman"/>
                <a:cs typeface="Times New Roman"/>
              </a:rPr>
              <a:t> </a:t>
            </a:r>
            <a:r>
              <a:rPr sz="1300" dirty="0">
                <a:latin typeface="Times New Roman"/>
                <a:cs typeface="Times New Roman"/>
              </a:rPr>
              <a:t>with</a:t>
            </a:r>
            <a:r>
              <a:rPr sz="1300" spc="-25" dirty="0">
                <a:latin typeface="Times New Roman"/>
                <a:cs typeface="Times New Roman"/>
              </a:rPr>
              <a:t> </a:t>
            </a:r>
            <a:r>
              <a:rPr sz="1300" dirty="0">
                <a:latin typeface="Times New Roman"/>
                <a:cs typeface="Times New Roman"/>
              </a:rPr>
              <a:t>all</a:t>
            </a:r>
            <a:r>
              <a:rPr sz="1300" spc="-20" dirty="0">
                <a:latin typeface="Times New Roman"/>
                <a:cs typeface="Times New Roman"/>
              </a:rPr>
              <a:t> </a:t>
            </a:r>
            <a:r>
              <a:rPr sz="1300" spc="-25" dirty="0">
                <a:latin typeface="Times New Roman"/>
                <a:cs typeface="Times New Roman"/>
              </a:rPr>
              <a:t>the </a:t>
            </a:r>
            <a:r>
              <a:rPr sz="1300" dirty="0">
                <a:latin typeface="Times New Roman"/>
                <a:cs typeface="Times New Roman"/>
              </a:rPr>
              <a:t>necessary</a:t>
            </a:r>
            <a:r>
              <a:rPr sz="1300" spc="-25" dirty="0">
                <a:latin typeface="Times New Roman"/>
                <a:cs typeface="Times New Roman"/>
              </a:rPr>
              <a:t> </a:t>
            </a:r>
            <a:r>
              <a:rPr sz="1300" dirty="0">
                <a:latin typeface="Times New Roman"/>
                <a:cs typeface="Times New Roman"/>
              </a:rPr>
              <a:t>cabling</a:t>
            </a:r>
            <a:r>
              <a:rPr sz="1300" spc="-20" dirty="0">
                <a:latin typeface="Times New Roman"/>
                <a:cs typeface="Times New Roman"/>
              </a:rPr>
              <a:t> </a:t>
            </a:r>
            <a:r>
              <a:rPr sz="1300" dirty="0">
                <a:latin typeface="Times New Roman"/>
                <a:cs typeface="Times New Roman"/>
              </a:rPr>
              <a:t>attached.</a:t>
            </a:r>
            <a:r>
              <a:rPr sz="1300" spc="-25" dirty="0">
                <a:latin typeface="Times New Roman"/>
                <a:cs typeface="Times New Roman"/>
              </a:rPr>
              <a:t> </a:t>
            </a:r>
            <a:r>
              <a:rPr sz="1300" dirty="0">
                <a:latin typeface="Times New Roman"/>
                <a:cs typeface="Times New Roman"/>
              </a:rPr>
              <a:t>As</a:t>
            </a:r>
            <a:r>
              <a:rPr sz="1300" spc="-20" dirty="0">
                <a:latin typeface="Times New Roman"/>
                <a:cs typeface="Times New Roman"/>
              </a:rPr>
              <a:t> </a:t>
            </a:r>
            <a:r>
              <a:rPr sz="1300" dirty="0">
                <a:latin typeface="Times New Roman"/>
                <a:cs typeface="Times New Roman"/>
              </a:rPr>
              <a:t>long</a:t>
            </a:r>
            <a:r>
              <a:rPr sz="1300" spc="-25" dirty="0">
                <a:latin typeface="Times New Roman"/>
                <a:cs typeface="Times New Roman"/>
              </a:rPr>
              <a:t> </a:t>
            </a:r>
            <a:r>
              <a:rPr sz="1300" dirty="0">
                <a:latin typeface="Times New Roman"/>
                <a:cs typeface="Times New Roman"/>
              </a:rPr>
              <a:t>as</a:t>
            </a:r>
            <a:r>
              <a:rPr sz="1300" spc="-30" dirty="0">
                <a:latin typeface="Times New Roman"/>
                <a:cs typeface="Times New Roman"/>
              </a:rPr>
              <a:t> </a:t>
            </a:r>
            <a:r>
              <a:rPr sz="1300" dirty="0">
                <a:latin typeface="Times New Roman"/>
                <a:cs typeface="Times New Roman"/>
              </a:rPr>
              <a:t>one</a:t>
            </a:r>
            <a:r>
              <a:rPr sz="1300" spc="-25" dirty="0">
                <a:latin typeface="Times New Roman"/>
                <a:cs typeface="Times New Roman"/>
              </a:rPr>
              <a:t> </a:t>
            </a:r>
            <a:r>
              <a:rPr sz="1300" dirty="0">
                <a:latin typeface="Times New Roman"/>
                <a:cs typeface="Times New Roman"/>
              </a:rPr>
              <a:t>is</a:t>
            </a:r>
            <a:r>
              <a:rPr sz="1300" spc="-30" dirty="0">
                <a:latin typeface="Times New Roman"/>
                <a:cs typeface="Times New Roman"/>
              </a:rPr>
              <a:t> </a:t>
            </a:r>
            <a:r>
              <a:rPr sz="1300" dirty="0">
                <a:latin typeface="Times New Roman"/>
                <a:cs typeface="Times New Roman"/>
              </a:rPr>
              <a:t>confident</a:t>
            </a:r>
            <a:r>
              <a:rPr sz="1300" spc="-25" dirty="0">
                <a:latin typeface="Times New Roman"/>
                <a:cs typeface="Times New Roman"/>
              </a:rPr>
              <a:t> </a:t>
            </a:r>
            <a:r>
              <a:rPr sz="1300" dirty="0">
                <a:latin typeface="Times New Roman"/>
                <a:cs typeface="Times New Roman"/>
              </a:rPr>
              <a:t>that</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software</a:t>
            </a:r>
            <a:r>
              <a:rPr sz="1300" spc="-20" dirty="0">
                <a:latin typeface="Times New Roman"/>
                <a:cs typeface="Times New Roman"/>
              </a:rPr>
              <a:t> </a:t>
            </a:r>
            <a:r>
              <a:rPr sz="1300" dirty="0">
                <a:latin typeface="Times New Roman"/>
                <a:cs typeface="Times New Roman"/>
              </a:rPr>
              <a:t>is</a:t>
            </a:r>
            <a:r>
              <a:rPr sz="1300" spc="-25" dirty="0">
                <a:latin typeface="Times New Roman"/>
                <a:cs typeface="Times New Roman"/>
              </a:rPr>
              <a:t> </a:t>
            </a:r>
            <a:r>
              <a:rPr sz="1300" dirty="0">
                <a:latin typeface="Times New Roman"/>
                <a:cs typeface="Times New Roman"/>
              </a:rPr>
              <a:t>in</a:t>
            </a:r>
            <a:r>
              <a:rPr sz="1300" spc="-20" dirty="0">
                <a:latin typeface="Times New Roman"/>
                <a:cs typeface="Times New Roman"/>
              </a:rPr>
              <a:t> </a:t>
            </a:r>
            <a:r>
              <a:rPr sz="1300" dirty="0">
                <a:latin typeface="Times New Roman"/>
                <a:cs typeface="Times New Roman"/>
              </a:rPr>
              <a:t>good</a:t>
            </a:r>
            <a:r>
              <a:rPr sz="1300" spc="-20" dirty="0">
                <a:latin typeface="Times New Roman"/>
                <a:cs typeface="Times New Roman"/>
              </a:rPr>
              <a:t> </a:t>
            </a:r>
            <a:r>
              <a:rPr sz="1300" spc="-10" dirty="0">
                <a:latin typeface="Times New Roman"/>
                <a:cs typeface="Times New Roman"/>
              </a:rPr>
              <a:t>working</a:t>
            </a:r>
            <a:r>
              <a:rPr sz="1300" spc="500" dirty="0">
                <a:latin typeface="Times New Roman"/>
                <a:cs typeface="Times New Roman"/>
              </a:rPr>
              <a:t> </a:t>
            </a:r>
            <a:r>
              <a:rPr sz="1300" dirty="0">
                <a:latin typeface="Times New Roman"/>
                <a:cs typeface="Times New Roman"/>
              </a:rPr>
              <a:t>order,</a:t>
            </a:r>
            <a:r>
              <a:rPr sz="1300" spc="-30" dirty="0">
                <a:latin typeface="Times New Roman"/>
                <a:cs typeface="Times New Roman"/>
              </a:rPr>
              <a:t> </a:t>
            </a:r>
            <a:r>
              <a:rPr sz="1300" dirty="0">
                <a:latin typeface="Times New Roman"/>
                <a:cs typeface="Times New Roman"/>
              </a:rPr>
              <a:t>failure</a:t>
            </a:r>
            <a:r>
              <a:rPr sz="1300" spc="-25" dirty="0">
                <a:latin typeface="Times New Roman"/>
                <a:cs typeface="Times New Roman"/>
              </a:rPr>
              <a:t> </a:t>
            </a:r>
            <a:r>
              <a:rPr sz="1300" dirty="0">
                <a:latin typeface="Times New Roman"/>
                <a:cs typeface="Times New Roman"/>
              </a:rPr>
              <a:t>of</a:t>
            </a:r>
            <a:r>
              <a:rPr sz="1300" spc="-25" dirty="0">
                <a:latin typeface="Times New Roman"/>
                <a:cs typeface="Times New Roman"/>
              </a:rPr>
              <a:t> </a:t>
            </a:r>
            <a:r>
              <a:rPr sz="1300" dirty="0">
                <a:latin typeface="Times New Roman"/>
                <a:cs typeface="Times New Roman"/>
              </a:rPr>
              <a:t>the</a:t>
            </a:r>
            <a:r>
              <a:rPr sz="1300" spc="-25" dirty="0">
                <a:latin typeface="Times New Roman"/>
                <a:cs typeface="Times New Roman"/>
              </a:rPr>
              <a:t> </a:t>
            </a:r>
            <a:r>
              <a:rPr sz="1300" dirty="0">
                <a:latin typeface="Times New Roman"/>
                <a:cs typeface="Times New Roman"/>
              </a:rPr>
              <a:t>applications</a:t>
            </a:r>
            <a:r>
              <a:rPr sz="1300" spc="-40" dirty="0">
                <a:latin typeface="Times New Roman"/>
                <a:cs typeface="Times New Roman"/>
              </a:rPr>
              <a:t> </a:t>
            </a:r>
            <a:r>
              <a:rPr sz="1300" dirty="0">
                <a:latin typeface="Times New Roman"/>
                <a:cs typeface="Times New Roman"/>
              </a:rPr>
              <a:t>software</a:t>
            </a:r>
            <a:r>
              <a:rPr sz="1300" spc="-30"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boot</a:t>
            </a:r>
            <a:r>
              <a:rPr sz="1300" spc="-30" dirty="0">
                <a:latin typeface="Times New Roman"/>
                <a:cs typeface="Times New Roman"/>
              </a:rPr>
              <a:t> </a:t>
            </a:r>
            <a:r>
              <a:rPr sz="1300" dirty="0">
                <a:latin typeface="Times New Roman"/>
                <a:cs typeface="Times New Roman"/>
              </a:rPr>
              <a:t>successfully</a:t>
            </a:r>
            <a:r>
              <a:rPr sz="1300" spc="-25" dirty="0">
                <a:latin typeface="Times New Roman"/>
                <a:cs typeface="Times New Roman"/>
              </a:rPr>
              <a:t> </a:t>
            </a:r>
            <a:r>
              <a:rPr sz="1300" dirty="0">
                <a:latin typeface="Times New Roman"/>
                <a:cs typeface="Times New Roman"/>
              </a:rPr>
              <a:t>at</a:t>
            </a:r>
            <a:r>
              <a:rPr sz="1300" spc="-30" dirty="0">
                <a:latin typeface="Times New Roman"/>
                <a:cs typeface="Times New Roman"/>
              </a:rPr>
              <a:t> </a:t>
            </a:r>
            <a:r>
              <a:rPr sz="1300" dirty="0">
                <a:latin typeface="Times New Roman"/>
                <a:cs typeface="Times New Roman"/>
              </a:rPr>
              <a:t>this</a:t>
            </a:r>
            <a:r>
              <a:rPr sz="1300" spc="-30" dirty="0">
                <a:latin typeface="Times New Roman"/>
                <a:cs typeface="Times New Roman"/>
              </a:rPr>
              <a:t> </a:t>
            </a:r>
            <a:r>
              <a:rPr sz="1300" dirty="0">
                <a:latin typeface="Times New Roman"/>
                <a:cs typeface="Times New Roman"/>
              </a:rPr>
              <a:t>point</a:t>
            </a:r>
            <a:r>
              <a:rPr sz="1300" spc="-30" dirty="0">
                <a:latin typeface="Times New Roman"/>
                <a:cs typeface="Times New Roman"/>
              </a:rPr>
              <a:t> </a:t>
            </a:r>
            <a:r>
              <a:rPr sz="1300" dirty="0">
                <a:latin typeface="Times New Roman"/>
                <a:cs typeface="Times New Roman"/>
              </a:rPr>
              <a:t>may</a:t>
            </a:r>
            <a:r>
              <a:rPr sz="1300" spc="-30" dirty="0">
                <a:latin typeface="Times New Roman"/>
                <a:cs typeface="Times New Roman"/>
              </a:rPr>
              <a:t> </a:t>
            </a:r>
            <a:r>
              <a:rPr sz="1300" dirty="0">
                <a:latin typeface="Times New Roman"/>
                <a:cs typeface="Times New Roman"/>
              </a:rPr>
              <a:t>indicate</a:t>
            </a:r>
            <a:r>
              <a:rPr sz="1300" spc="-30" dirty="0">
                <a:latin typeface="Times New Roman"/>
                <a:cs typeface="Times New Roman"/>
              </a:rPr>
              <a:t> </a:t>
            </a:r>
            <a:r>
              <a:rPr sz="1300" dirty="0">
                <a:latin typeface="Times New Roman"/>
                <a:cs typeface="Times New Roman"/>
              </a:rPr>
              <a:t>that</a:t>
            </a:r>
            <a:r>
              <a:rPr sz="1300" spc="-30" dirty="0">
                <a:latin typeface="Times New Roman"/>
                <a:cs typeface="Times New Roman"/>
              </a:rPr>
              <a:t> </a:t>
            </a:r>
            <a:r>
              <a:rPr sz="1300" spc="-25" dirty="0">
                <a:latin typeface="Times New Roman"/>
                <a:cs typeface="Times New Roman"/>
              </a:rPr>
              <a:t>one </a:t>
            </a:r>
            <a:r>
              <a:rPr sz="1300" dirty="0">
                <a:latin typeface="Times New Roman"/>
                <a:cs typeface="Times New Roman"/>
              </a:rPr>
              <a:t>of</a:t>
            </a:r>
            <a:r>
              <a:rPr sz="1300" spc="-30" dirty="0">
                <a:latin typeface="Times New Roman"/>
                <a:cs typeface="Times New Roman"/>
              </a:rPr>
              <a:t> </a:t>
            </a:r>
            <a:r>
              <a:rPr sz="1300" dirty="0">
                <a:latin typeface="Times New Roman"/>
                <a:cs typeface="Times New Roman"/>
              </a:rPr>
              <a:t>these</a:t>
            </a:r>
            <a:r>
              <a:rPr sz="1300" spc="-30" dirty="0">
                <a:latin typeface="Times New Roman"/>
                <a:cs typeface="Times New Roman"/>
              </a:rPr>
              <a:t> </a:t>
            </a:r>
            <a:r>
              <a:rPr sz="1300" dirty="0">
                <a:latin typeface="Times New Roman"/>
                <a:cs typeface="Times New Roman"/>
              </a:rPr>
              <a:t>boards</a:t>
            </a:r>
            <a:r>
              <a:rPr sz="1300" spc="-25" dirty="0">
                <a:latin typeface="Times New Roman"/>
                <a:cs typeface="Times New Roman"/>
              </a:rPr>
              <a:t> </a:t>
            </a:r>
            <a:r>
              <a:rPr sz="1300" dirty="0">
                <a:latin typeface="Times New Roman"/>
                <a:cs typeface="Times New Roman"/>
              </a:rPr>
              <a:t>has</a:t>
            </a:r>
            <a:r>
              <a:rPr sz="1300" spc="-30" dirty="0">
                <a:latin typeface="Times New Roman"/>
                <a:cs typeface="Times New Roman"/>
              </a:rPr>
              <a:t> </a:t>
            </a:r>
            <a:r>
              <a:rPr sz="1300" dirty="0">
                <a:latin typeface="Times New Roman"/>
                <a:cs typeface="Times New Roman"/>
              </a:rPr>
              <a:t>failed.</a:t>
            </a:r>
            <a:r>
              <a:rPr sz="1300" spc="-30" dirty="0">
                <a:latin typeface="Times New Roman"/>
                <a:cs typeface="Times New Roman"/>
              </a:rPr>
              <a:t> </a:t>
            </a:r>
            <a:r>
              <a:rPr sz="1300" dirty="0">
                <a:latin typeface="Times New Roman"/>
                <a:cs typeface="Times New Roman"/>
              </a:rPr>
              <a:t>Use</a:t>
            </a:r>
            <a:r>
              <a:rPr sz="1300" spc="-25" dirty="0">
                <a:latin typeface="Times New Roman"/>
                <a:cs typeface="Times New Roman"/>
              </a:rPr>
              <a:t> </a:t>
            </a:r>
            <a:r>
              <a:rPr sz="1300" dirty="0">
                <a:latin typeface="Times New Roman"/>
                <a:cs typeface="Times New Roman"/>
              </a:rPr>
              <a:t>“cu”</a:t>
            </a:r>
            <a:r>
              <a:rPr sz="1300" spc="-30" dirty="0">
                <a:latin typeface="Times New Roman"/>
                <a:cs typeface="Times New Roman"/>
              </a:rPr>
              <a:t> </a:t>
            </a:r>
            <a:r>
              <a:rPr sz="1300" dirty="0">
                <a:latin typeface="Times New Roman"/>
                <a:cs typeface="Times New Roman"/>
              </a:rPr>
              <a:t>(serial</a:t>
            </a:r>
            <a:r>
              <a:rPr sz="1300" spc="-30" dirty="0">
                <a:latin typeface="Times New Roman"/>
                <a:cs typeface="Times New Roman"/>
              </a:rPr>
              <a:t> </a:t>
            </a:r>
            <a:r>
              <a:rPr sz="1300" dirty="0">
                <a:latin typeface="Times New Roman"/>
                <a:cs typeface="Times New Roman"/>
              </a:rPr>
              <a:t>connection)</a:t>
            </a:r>
            <a:r>
              <a:rPr sz="1300" spc="-25" dirty="0">
                <a:latin typeface="Times New Roman"/>
                <a:cs typeface="Times New Roman"/>
              </a:rPr>
              <a:t> </a:t>
            </a:r>
            <a:r>
              <a:rPr sz="1300" dirty="0">
                <a:latin typeface="Times New Roman"/>
                <a:cs typeface="Times New Roman"/>
              </a:rPr>
              <a:t>or</a:t>
            </a:r>
            <a:r>
              <a:rPr sz="1300" spc="-30" dirty="0">
                <a:latin typeface="Times New Roman"/>
                <a:cs typeface="Times New Roman"/>
              </a:rPr>
              <a:t> </a:t>
            </a:r>
            <a:r>
              <a:rPr sz="1300" dirty="0">
                <a:latin typeface="Times New Roman"/>
                <a:cs typeface="Times New Roman"/>
              </a:rPr>
              <a:t>“rlogin”</a:t>
            </a:r>
            <a:r>
              <a:rPr sz="1300" spc="-25" dirty="0">
                <a:latin typeface="Times New Roman"/>
                <a:cs typeface="Times New Roman"/>
              </a:rPr>
              <a:t> </a:t>
            </a:r>
            <a:r>
              <a:rPr sz="1300" dirty="0">
                <a:latin typeface="Times New Roman"/>
                <a:cs typeface="Times New Roman"/>
              </a:rPr>
              <a:t>(Ethernet)</a:t>
            </a:r>
            <a:r>
              <a:rPr sz="1300" spc="-25" dirty="0">
                <a:latin typeface="Times New Roman"/>
                <a:cs typeface="Times New Roman"/>
              </a:rPr>
              <a:t> </a:t>
            </a:r>
            <a:r>
              <a:rPr sz="1300" dirty="0">
                <a:latin typeface="Times New Roman"/>
                <a:cs typeface="Times New Roman"/>
              </a:rPr>
              <a:t>to</a:t>
            </a:r>
            <a:r>
              <a:rPr sz="1300" spc="-25" dirty="0">
                <a:latin typeface="Times New Roman"/>
                <a:cs typeface="Times New Roman"/>
              </a:rPr>
              <a:t> </a:t>
            </a:r>
            <a:r>
              <a:rPr sz="1300" dirty="0">
                <a:latin typeface="Times New Roman"/>
                <a:cs typeface="Times New Roman"/>
              </a:rPr>
              <a:t>login</a:t>
            </a:r>
            <a:r>
              <a:rPr sz="1300" spc="-25" dirty="0">
                <a:latin typeface="Times New Roman"/>
                <a:cs typeface="Times New Roman"/>
              </a:rPr>
              <a:t> </a:t>
            </a:r>
            <a:r>
              <a:rPr sz="1300" dirty="0">
                <a:latin typeface="Times New Roman"/>
                <a:cs typeface="Times New Roman"/>
              </a:rPr>
              <a:t>to</a:t>
            </a:r>
            <a:r>
              <a:rPr sz="1300" spc="-20" dirty="0">
                <a:latin typeface="Times New Roman"/>
                <a:cs typeface="Times New Roman"/>
              </a:rPr>
              <a:t> </a:t>
            </a:r>
            <a:r>
              <a:rPr sz="1300" dirty="0">
                <a:latin typeface="Times New Roman"/>
                <a:cs typeface="Times New Roman"/>
              </a:rPr>
              <a:t>each</a:t>
            </a:r>
            <a:r>
              <a:rPr sz="1300" spc="-25" dirty="0">
                <a:latin typeface="Times New Roman"/>
                <a:cs typeface="Times New Roman"/>
              </a:rPr>
              <a:t> the </a:t>
            </a:r>
            <a:r>
              <a:rPr sz="1300" dirty="0">
                <a:latin typeface="Times New Roman"/>
                <a:cs typeface="Times New Roman"/>
              </a:rPr>
              <a:t>boards</a:t>
            </a:r>
            <a:r>
              <a:rPr sz="1300" spc="-30" dirty="0">
                <a:latin typeface="Times New Roman"/>
                <a:cs typeface="Times New Roman"/>
              </a:rPr>
              <a:t> </a:t>
            </a:r>
            <a:r>
              <a:rPr sz="1300" dirty="0">
                <a:latin typeface="Times New Roman"/>
                <a:cs typeface="Times New Roman"/>
              </a:rPr>
              <a:t>and</a:t>
            </a:r>
            <a:r>
              <a:rPr sz="1300" spc="-30" dirty="0">
                <a:latin typeface="Times New Roman"/>
                <a:cs typeface="Times New Roman"/>
              </a:rPr>
              <a:t> </a:t>
            </a:r>
            <a:r>
              <a:rPr sz="1300" dirty="0">
                <a:latin typeface="Times New Roman"/>
                <a:cs typeface="Times New Roman"/>
              </a:rPr>
              <a:t>monitor</a:t>
            </a:r>
            <a:r>
              <a:rPr sz="1300" spc="-30" dirty="0">
                <a:latin typeface="Times New Roman"/>
                <a:cs typeface="Times New Roman"/>
              </a:rPr>
              <a:t> </a:t>
            </a:r>
            <a:r>
              <a:rPr sz="1300" dirty="0">
                <a:latin typeface="Times New Roman"/>
                <a:cs typeface="Times New Roman"/>
              </a:rPr>
              <a:t>them</a:t>
            </a:r>
            <a:r>
              <a:rPr sz="1300" spc="-35" dirty="0">
                <a:latin typeface="Times New Roman"/>
                <a:cs typeface="Times New Roman"/>
              </a:rPr>
              <a:t> </a:t>
            </a:r>
            <a:r>
              <a:rPr sz="1300" dirty="0">
                <a:latin typeface="Times New Roman"/>
                <a:cs typeface="Times New Roman"/>
              </a:rPr>
              <a:t>for</a:t>
            </a:r>
            <a:r>
              <a:rPr sz="1300" spc="-30" dirty="0">
                <a:latin typeface="Times New Roman"/>
                <a:cs typeface="Times New Roman"/>
              </a:rPr>
              <a:t> </a:t>
            </a:r>
            <a:r>
              <a:rPr sz="1300" dirty="0">
                <a:latin typeface="Times New Roman"/>
                <a:cs typeface="Times New Roman"/>
              </a:rPr>
              <a:t>suspicious</a:t>
            </a:r>
            <a:r>
              <a:rPr sz="1300" spc="-30" dirty="0">
                <a:latin typeface="Times New Roman"/>
                <a:cs typeface="Times New Roman"/>
              </a:rPr>
              <a:t> </a:t>
            </a:r>
            <a:r>
              <a:rPr sz="1300" dirty="0">
                <a:latin typeface="Times New Roman"/>
                <a:cs typeface="Times New Roman"/>
              </a:rPr>
              <a:t>failures</a:t>
            </a:r>
            <a:r>
              <a:rPr sz="1300" spc="-30" dirty="0">
                <a:latin typeface="Times New Roman"/>
                <a:cs typeface="Times New Roman"/>
              </a:rPr>
              <a:t> </a:t>
            </a:r>
            <a:r>
              <a:rPr sz="1300" dirty="0">
                <a:latin typeface="Times New Roman"/>
                <a:cs typeface="Times New Roman"/>
              </a:rPr>
              <a:t>during</a:t>
            </a:r>
            <a:r>
              <a:rPr sz="1300" spc="-30" dirty="0">
                <a:latin typeface="Times New Roman"/>
                <a:cs typeface="Times New Roman"/>
              </a:rPr>
              <a:t> </a:t>
            </a:r>
            <a:r>
              <a:rPr sz="1300" dirty="0">
                <a:latin typeface="Times New Roman"/>
                <a:cs typeface="Times New Roman"/>
              </a:rPr>
              <a:t>the</a:t>
            </a:r>
            <a:r>
              <a:rPr sz="1300" spc="-30" dirty="0">
                <a:latin typeface="Times New Roman"/>
                <a:cs typeface="Times New Roman"/>
              </a:rPr>
              <a:t> </a:t>
            </a:r>
            <a:r>
              <a:rPr sz="1300" dirty="0">
                <a:latin typeface="Times New Roman"/>
                <a:cs typeface="Times New Roman"/>
              </a:rPr>
              <a:t>next</a:t>
            </a:r>
            <a:r>
              <a:rPr sz="1300" spc="-30" dirty="0">
                <a:latin typeface="Times New Roman"/>
                <a:cs typeface="Times New Roman"/>
              </a:rPr>
              <a:t> </a:t>
            </a:r>
            <a:r>
              <a:rPr sz="1300" spc="-10" dirty="0">
                <a:latin typeface="Times New Roman"/>
                <a:cs typeface="Times New Roman"/>
              </a:rPr>
              <a:t>boot.</a:t>
            </a:r>
            <a:endParaRPr sz="130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68300" y="250952"/>
            <a:ext cx="8575675" cy="6215380"/>
            <a:chOff x="368300" y="250952"/>
            <a:chExt cx="8575675" cy="6215380"/>
          </a:xfrm>
        </p:grpSpPr>
        <p:pic>
          <p:nvPicPr>
            <p:cNvPr id="3" name="object 3"/>
            <p:cNvPicPr/>
            <p:nvPr/>
          </p:nvPicPr>
          <p:blipFill>
            <a:blip r:embed="rId2" cstate="print"/>
            <a:stretch>
              <a:fillRect/>
            </a:stretch>
          </p:blipFill>
          <p:spPr>
            <a:xfrm>
              <a:off x="368300" y="250952"/>
              <a:ext cx="8289543" cy="6214871"/>
            </a:xfrm>
            <a:prstGeom prst="rect">
              <a:avLst/>
            </a:prstGeom>
          </p:spPr>
        </p:pic>
        <p:sp>
          <p:nvSpPr>
            <p:cNvPr id="4" name="object 4"/>
            <p:cNvSpPr/>
            <p:nvPr/>
          </p:nvSpPr>
          <p:spPr>
            <a:xfrm>
              <a:off x="1582927" y="982472"/>
              <a:ext cx="1503680" cy="908050"/>
            </a:xfrm>
            <a:custGeom>
              <a:avLst/>
              <a:gdLst/>
              <a:ahLst/>
              <a:cxnLst/>
              <a:rect l="l" t="t" r="r" b="b"/>
              <a:pathLst>
                <a:path w="1503680" h="908050">
                  <a:moveTo>
                    <a:pt x="1503426" y="0"/>
                  </a:moveTo>
                  <a:lnTo>
                    <a:pt x="0" y="907541"/>
                  </a:lnTo>
                </a:path>
              </a:pathLst>
            </a:custGeom>
            <a:ln w="114300">
              <a:solidFill>
                <a:srgbClr val="FFFFFF"/>
              </a:solidFill>
            </a:ln>
          </p:spPr>
          <p:txBody>
            <a:bodyPr wrap="square" lIns="0" tIns="0" rIns="0" bIns="0" rtlCol="0"/>
            <a:lstStyle/>
            <a:p>
              <a:endParaRPr/>
            </a:p>
          </p:txBody>
        </p:sp>
        <p:sp>
          <p:nvSpPr>
            <p:cNvPr id="5" name="object 5"/>
            <p:cNvSpPr/>
            <p:nvPr/>
          </p:nvSpPr>
          <p:spPr>
            <a:xfrm>
              <a:off x="1275080" y="1733804"/>
              <a:ext cx="403860" cy="341630"/>
            </a:xfrm>
            <a:custGeom>
              <a:avLst/>
              <a:gdLst/>
              <a:ahLst/>
              <a:cxnLst/>
              <a:rect l="l" t="t" r="r" b="b"/>
              <a:pathLst>
                <a:path w="403860" h="341630">
                  <a:moveTo>
                    <a:pt x="403859" y="309372"/>
                  </a:moveTo>
                  <a:lnTo>
                    <a:pt x="216407" y="0"/>
                  </a:lnTo>
                  <a:lnTo>
                    <a:pt x="0" y="341376"/>
                  </a:lnTo>
                  <a:lnTo>
                    <a:pt x="403859" y="309372"/>
                  </a:lnTo>
                  <a:close/>
                </a:path>
              </a:pathLst>
            </a:custGeom>
            <a:solidFill>
              <a:srgbClr val="FFFFFF"/>
            </a:solidFill>
          </p:spPr>
          <p:txBody>
            <a:bodyPr wrap="square" lIns="0" tIns="0" rIns="0" bIns="0" rtlCol="0"/>
            <a:lstStyle/>
            <a:p>
              <a:endParaRPr/>
            </a:p>
          </p:txBody>
        </p:sp>
        <p:sp>
          <p:nvSpPr>
            <p:cNvPr id="6" name="object 6"/>
            <p:cNvSpPr/>
            <p:nvPr/>
          </p:nvSpPr>
          <p:spPr>
            <a:xfrm>
              <a:off x="1569974" y="999997"/>
              <a:ext cx="1487805" cy="898525"/>
            </a:xfrm>
            <a:custGeom>
              <a:avLst/>
              <a:gdLst/>
              <a:ahLst/>
              <a:cxnLst/>
              <a:rect l="l" t="t" r="r" b="b"/>
              <a:pathLst>
                <a:path w="1487805" h="898525">
                  <a:moveTo>
                    <a:pt x="1487424" y="0"/>
                  </a:moveTo>
                  <a:lnTo>
                    <a:pt x="0" y="898397"/>
                  </a:lnTo>
                </a:path>
              </a:pathLst>
            </a:custGeom>
            <a:ln w="60198">
              <a:solidFill>
                <a:srgbClr val="000000"/>
              </a:solidFill>
            </a:ln>
          </p:spPr>
          <p:txBody>
            <a:bodyPr wrap="square" lIns="0" tIns="0" rIns="0" bIns="0" rtlCol="0"/>
            <a:lstStyle/>
            <a:p>
              <a:endParaRPr/>
            </a:p>
          </p:txBody>
        </p:sp>
        <p:sp>
          <p:nvSpPr>
            <p:cNvPr id="7" name="object 7"/>
            <p:cNvSpPr/>
            <p:nvPr/>
          </p:nvSpPr>
          <p:spPr>
            <a:xfrm>
              <a:off x="1378711" y="1800098"/>
              <a:ext cx="252729" cy="214629"/>
            </a:xfrm>
            <a:custGeom>
              <a:avLst/>
              <a:gdLst/>
              <a:ahLst/>
              <a:cxnLst/>
              <a:rect l="l" t="t" r="r" b="b"/>
              <a:pathLst>
                <a:path w="252730" h="214630">
                  <a:moveTo>
                    <a:pt x="252221" y="193547"/>
                  </a:moveTo>
                  <a:lnTo>
                    <a:pt x="134874" y="0"/>
                  </a:lnTo>
                  <a:lnTo>
                    <a:pt x="0" y="214121"/>
                  </a:lnTo>
                  <a:lnTo>
                    <a:pt x="252221" y="193547"/>
                  </a:lnTo>
                  <a:close/>
                </a:path>
              </a:pathLst>
            </a:custGeom>
            <a:solidFill>
              <a:srgbClr val="000000"/>
            </a:solidFill>
          </p:spPr>
          <p:txBody>
            <a:bodyPr wrap="square" lIns="0" tIns="0" rIns="0" bIns="0" rtlCol="0"/>
            <a:lstStyle/>
            <a:p>
              <a:endParaRPr/>
            </a:p>
          </p:txBody>
        </p:sp>
        <p:sp>
          <p:nvSpPr>
            <p:cNvPr id="8" name="object 8"/>
            <p:cNvSpPr/>
            <p:nvPr/>
          </p:nvSpPr>
          <p:spPr>
            <a:xfrm>
              <a:off x="3294379" y="1084579"/>
              <a:ext cx="5649595" cy="2228850"/>
            </a:xfrm>
            <a:custGeom>
              <a:avLst/>
              <a:gdLst/>
              <a:ahLst/>
              <a:cxnLst/>
              <a:rect l="l" t="t" r="r" b="b"/>
              <a:pathLst>
                <a:path w="5649595" h="2228850">
                  <a:moveTo>
                    <a:pt x="5649468" y="2228850"/>
                  </a:moveTo>
                  <a:lnTo>
                    <a:pt x="5649468" y="0"/>
                  </a:lnTo>
                  <a:lnTo>
                    <a:pt x="0" y="0"/>
                  </a:lnTo>
                  <a:lnTo>
                    <a:pt x="0" y="2228850"/>
                  </a:lnTo>
                  <a:lnTo>
                    <a:pt x="5649468" y="2228850"/>
                  </a:lnTo>
                  <a:close/>
                </a:path>
              </a:pathLst>
            </a:custGeom>
            <a:solidFill>
              <a:srgbClr val="FFFFFF"/>
            </a:solidFill>
          </p:spPr>
          <p:txBody>
            <a:bodyPr wrap="square" lIns="0" tIns="0" rIns="0" bIns="0" rtlCol="0"/>
            <a:lstStyle/>
            <a:p>
              <a:endParaRPr/>
            </a:p>
          </p:txBody>
        </p:sp>
      </p:grpSp>
      <p:sp>
        <p:nvSpPr>
          <p:cNvPr id="9" name="object 9"/>
          <p:cNvSpPr txBox="1"/>
          <p:nvPr/>
        </p:nvSpPr>
        <p:spPr>
          <a:xfrm>
            <a:off x="3294379" y="1084580"/>
            <a:ext cx="5649595" cy="2228850"/>
          </a:xfrm>
          <a:prstGeom prst="rect">
            <a:avLst/>
          </a:prstGeom>
          <a:ln w="9144">
            <a:solidFill>
              <a:srgbClr val="000000"/>
            </a:solidFill>
          </a:ln>
        </p:spPr>
        <p:txBody>
          <a:bodyPr vert="horz" wrap="square" lIns="0" tIns="43815" rIns="0" bIns="0" rtlCol="0">
            <a:spAutoFit/>
          </a:bodyPr>
          <a:lstStyle/>
          <a:p>
            <a:pPr marL="96520" marR="109855">
              <a:lnSpc>
                <a:spcPct val="100000"/>
              </a:lnSpc>
              <a:spcBef>
                <a:spcPts val="345"/>
              </a:spcBef>
            </a:pPr>
            <a:r>
              <a:rPr sz="1400" dirty="0">
                <a:latin typeface="Times New Roman"/>
                <a:cs typeface="Times New Roman"/>
              </a:rPr>
              <a:t>This</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responsible</a:t>
            </a:r>
            <a:r>
              <a:rPr sz="1400" spc="-25" dirty="0">
                <a:latin typeface="Times New Roman"/>
                <a:cs typeface="Times New Roman"/>
              </a:rPr>
              <a:t> </a:t>
            </a:r>
            <a:r>
              <a:rPr sz="1400" dirty="0">
                <a:latin typeface="Times New Roman"/>
                <a:cs typeface="Times New Roman"/>
              </a:rPr>
              <a:t>for</a:t>
            </a:r>
            <a:r>
              <a:rPr sz="1400" spc="-25" dirty="0">
                <a:latin typeface="Times New Roman"/>
                <a:cs typeface="Times New Roman"/>
              </a:rPr>
              <a:t> </a:t>
            </a:r>
            <a:r>
              <a:rPr sz="1400" dirty="0">
                <a:latin typeface="Times New Roman"/>
                <a:cs typeface="Times New Roman"/>
              </a:rPr>
              <a:t>coordinating</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data</a:t>
            </a:r>
            <a:r>
              <a:rPr sz="1400" spc="-20" dirty="0">
                <a:latin typeface="Times New Roman"/>
                <a:cs typeface="Times New Roman"/>
              </a:rPr>
              <a:t> </a:t>
            </a:r>
            <a:r>
              <a:rPr sz="1400" dirty="0">
                <a:latin typeface="Times New Roman"/>
                <a:cs typeface="Times New Roman"/>
              </a:rPr>
              <a:t>acquisition</a:t>
            </a:r>
            <a:r>
              <a:rPr sz="1400" spc="-20" dirty="0">
                <a:latin typeface="Times New Roman"/>
                <a:cs typeface="Times New Roman"/>
              </a:rPr>
              <a:t> </a:t>
            </a:r>
            <a:r>
              <a:rPr sz="1400" spc="-25" dirty="0">
                <a:latin typeface="Times New Roman"/>
                <a:cs typeface="Times New Roman"/>
              </a:rPr>
              <a:t>and </a:t>
            </a:r>
            <a:r>
              <a:rPr sz="1400" dirty="0">
                <a:latin typeface="Times New Roman"/>
                <a:cs typeface="Times New Roman"/>
              </a:rPr>
              <a:t>reconstruction</a:t>
            </a:r>
            <a:r>
              <a:rPr sz="1400" spc="-35" dirty="0">
                <a:latin typeface="Times New Roman"/>
                <a:cs typeface="Times New Roman"/>
              </a:rPr>
              <a:t> </a:t>
            </a:r>
            <a:r>
              <a:rPr sz="1400" dirty="0">
                <a:latin typeface="Times New Roman"/>
                <a:cs typeface="Times New Roman"/>
              </a:rPr>
              <a:t>process.</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top</a:t>
            </a:r>
            <a:r>
              <a:rPr sz="1400" spc="-25" dirty="0">
                <a:latin typeface="Times New Roman"/>
                <a:cs typeface="Times New Roman"/>
              </a:rPr>
              <a:t> </a:t>
            </a:r>
            <a:r>
              <a:rPr sz="1400" dirty="0">
                <a:latin typeface="Times New Roman"/>
                <a:cs typeface="Times New Roman"/>
              </a:rPr>
              <a:t>cable,</a:t>
            </a:r>
            <a:r>
              <a:rPr sz="1400" spc="-25" dirty="0">
                <a:latin typeface="Times New Roman"/>
                <a:cs typeface="Times New Roman"/>
              </a:rPr>
              <a:t> </a:t>
            </a:r>
            <a:r>
              <a:rPr sz="1400" dirty="0">
                <a:latin typeface="Times New Roman"/>
                <a:cs typeface="Times New Roman"/>
              </a:rPr>
              <a:t>equipped</a:t>
            </a:r>
            <a:r>
              <a:rPr sz="1400" spc="-30" dirty="0">
                <a:latin typeface="Times New Roman"/>
                <a:cs typeface="Times New Roman"/>
              </a:rPr>
              <a:t> </a:t>
            </a:r>
            <a:r>
              <a:rPr sz="1400" dirty="0">
                <a:latin typeface="Times New Roman"/>
                <a:cs typeface="Times New Roman"/>
              </a:rPr>
              <a:t>with</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male</a:t>
            </a:r>
            <a:r>
              <a:rPr sz="1400" spc="-25" dirty="0">
                <a:latin typeface="Times New Roman"/>
                <a:cs typeface="Times New Roman"/>
              </a:rPr>
              <a:t> </a:t>
            </a:r>
            <a:r>
              <a:rPr sz="1400" spc="-10" dirty="0">
                <a:latin typeface="Times New Roman"/>
                <a:cs typeface="Times New Roman"/>
              </a:rPr>
              <a:t>RJ-</a:t>
            </a:r>
            <a:r>
              <a:rPr sz="1400" spc="-25" dirty="0">
                <a:latin typeface="Times New Roman"/>
                <a:cs typeface="Times New Roman"/>
              </a:rPr>
              <a:t>45 </a:t>
            </a:r>
            <a:r>
              <a:rPr sz="1400" dirty="0">
                <a:latin typeface="Times New Roman"/>
                <a:cs typeface="Times New Roman"/>
              </a:rPr>
              <a:t>connector,</a:t>
            </a:r>
            <a:r>
              <a:rPr sz="1400" spc="-30" dirty="0">
                <a:latin typeface="Times New Roman"/>
                <a:cs typeface="Times New Roman"/>
              </a:rPr>
              <a:t> </a:t>
            </a:r>
            <a:r>
              <a:rPr sz="1400" dirty="0">
                <a:latin typeface="Times New Roman"/>
                <a:cs typeface="Times New Roman"/>
              </a:rPr>
              <a:t>provides</a:t>
            </a:r>
            <a:r>
              <a:rPr sz="1400" spc="-30" dirty="0">
                <a:latin typeface="Times New Roman"/>
                <a:cs typeface="Times New Roman"/>
              </a:rPr>
              <a:t> </a:t>
            </a:r>
            <a:r>
              <a:rPr sz="1400" dirty="0">
                <a:latin typeface="Times New Roman"/>
                <a:cs typeface="Times New Roman"/>
              </a:rPr>
              <a:t>an</a:t>
            </a:r>
            <a:r>
              <a:rPr sz="1400" spc="-30" dirty="0">
                <a:latin typeface="Times New Roman"/>
                <a:cs typeface="Times New Roman"/>
              </a:rPr>
              <a:t> </a:t>
            </a:r>
            <a:r>
              <a:rPr sz="1400" dirty="0">
                <a:latin typeface="Times New Roman"/>
                <a:cs typeface="Times New Roman"/>
              </a:rPr>
              <a:t>Ethernet</a:t>
            </a:r>
            <a:r>
              <a:rPr sz="1400" spc="-25" dirty="0">
                <a:latin typeface="Times New Roman"/>
                <a:cs typeface="Times New Roman"/>
              </a:rPr>
              <a:t> </a:t>
            </a:r>
            <a:r>
              <a:rPr sz="1400" dirty="0">
                <a:latin typeface="Times New Roman"/>
                <a:cs typeface="Times New Roman"/>
              </a:rPr>
              <a:t>link</a:t>
            </a:r>
            <a:r>
              <a:rPr sz="1400" spc="-30" dirty="0">
                <a:latin typeface="Times New Roman"/>
                <a:cs typeface="Times New Roman"/>
              </a:rPr>
              <a:t> </a:t>
            </a: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Host</a:t>
            </a:r>
            <a:r>
              <a:rPr sz="1400" spc="-2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APS.</a:t>
            </a:r>
            <a:r>
              <a:rPr sz="1400" spc="300" dirty="0">
                <a:latin typeface="Times New Roman"/>
                <a:cs typeface="Times New Roman"/>
              </a:rPr>
              <a:t> </a:t>
            </a:r>
            <a:r>
              <a:rPr sz="1400" spc="-10" dirty="0">
                <a:latin typeface="Times New Roman"/>
                <a:cs typeface="Times New Roman"/>
              </a:rPr>
              <a:t>During </a:t>
            </a:r>
            <a:r>
              <a:rPr sz="1400" dirty="0">
                <a:latin typeface="Times New Roman"/>
                <a:cs typeface="Times New Roman"/>
              </a:rPr>
              <a:t>a</a:t>
            </a:r>
            <a:r>
              <a:rPr sz="1400" spc="-5" dirty="0">
                <a:latin typeface="Times New Roman"/>
                <a:cs typeface="Times New Roman"/>
              </a:rPr>
              <a:t> </a:t>
            </a:r>
            <a:r>
              <a:rPr sz="1400" b="1" dirty="0">
                <a:latin typeface="Times New Roman"/>
                <a:cs typeface="Times New Roman"/>
              </a:rPr>
              <a:t>TPS</a:t>
            </a:r>
            <a:r>
              <a:rPr sz="1400" b="1" spc="-15" dirty="0">
                <a:latin typeface="Times New Roman"/>
                <a:cs typeface="Times New Roman"/>
              </a:rPr>
              <a:t> </a:t>
            </a:r>
            <a:r>
              <a:rPr sz="1400" b="1" dirty="0">
                <a:latin typeface="Times New Roman"/>
                <a:cs typeface="Times New Roman"/>
              </a:rPr>
              <a:t>Reset</a:t>
            </a:r>
            <a:r>
              <a:rPr sz="1400" b="1" spc="-10" dirty="0">
                <a:latin typeface="Times New Roman"/>
                <a:cs typeface="Times New Roman"/>
              </a:rPr>
              <a:t> </a:t>
            </a:r>
            <a:r>
              <a:rPr sz="1400" dirty="0">
                <a:latin typeface="Times New Roman"/>
                <a:cs typeface="Times New Roman"/>
              </a:rPr>
              <a:t>data</a:t>
            </a:r>
            <a:r>
              <a:rPr sz="1400" spc="-15" dirty="0">
                <a:latin typeface="Times New Roman"/>
                <a:cs typeface="Times New Roman"/>
              </a:rPr>
              <a:t> </a:t>
            </a:r>
            <a:r>
              <a:rPr sz="1400" dirty="0">
                <a:latin typeface="Times New Roman"/>
                <a:cs typeface="Times New Roman"/>
              </a:rPr>
              <a:t>is</a:t>
            </a:r>
            <a:r>
              <a:rPr sz="1400" spc="-15" dirty="0">
                <a:latin typeface="Times New Roman"/>
                <a:cs typeface="Times New Roman"/>
              </a:rPr>
              <a:t> </a:t>
            </a:r>
            <a:r>
              <a:rPr sz="1400" dirty="0">
                <a:latin typeface="Times New Roman"/>
                <a:cs typeface="Times New Roman"/>
              </a:rPr>
              <a:t>transferred</a:t>
            </a:r>
            <a:r>
              <a:rPr sz="1400" spc="-10" dirty="0">
                <a:latin typeface="Times New Roman"/>
                <a:cs typeface="Times New Roman"/>
              </a:rPr>
              <a:t> </a:t>
            </a:r>
            <a:r>
              <a:rPr sz="1400" dirty="0">
                <a:latin typeface="Times New Roman"/>
                <a:cs typeface="Times New Roman"/>
              </a:rPr>
              <a:t>to</a:t>
            </a:r>
            <a:r>
              <a:rPr sz="1400" spc="-1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APS</a:t>
            </a:r>
            <a:r>
              <a:rPr sz="1400" spc="-10" dirty="0">
                <a:latin typeface="Times New Roman"/>
                <a:cs typeface="Times New Roman"/>
              </a:rPr>
              <a:t> </a:t>
            </a:r>
            <a:r>
              <a:rPr sz="1400" dirty="0">
                <a:latin typeface="Times New Roman"/>
                <a:cs typeface="Times New Roman"/>
              </a:rPr>
              <a:t>via</a:t>
            </a:r>
            <a:r>
              <a:rPr sz="1400" spc="-15" dirty="0">
                <a:latin typeface="Times New Roman"/>
                <a:cs typeface="Times New Roman"/>
              </a:rPr>
              <a:t> </a:t>
            </a:r>
            <a:r>
              <a:rPr sz="1400" dirty="0">
                <a:latin typeface="Times New Roman"/>
                <a:cs typeface="Times New Roman"/>
              </a:rPr>
              <a:t>this</a:t>
            </a:r>
            <a:r>
              <a:rPr sz="1400" spc="-10" dirty="0">
                <a:latin typeface="Times New Roman"/>
                <a:cs typeface="Times New Roman"/>
              </a:rPr>
              <a:t> </a:t>
            </a:r>
            <a:r>
              <a:rPr sz="1400" dirty="0">
                <a:latin typeface="Times New Roman"/>
                <a:cs typeface="Times New Roman"/>
              </a:rPr>
              <a:t>link.</a:t>
            </a:r>
            <a:r>
              <a:rPr sz="1400" spc="325" dirty="0">
                <a:latin typeface="Times New Roman"/>
                <a:cs typeface="Times New Roman"/>
              </a:rPr>
              <a:t> </a:t>
            </a:r>
            <a:r>
              <a:rPr sz="1400" dirty="0">
                <a:latin typeface="Times New Roman"/>
                <a:cs typeface="Times New Roman"/>
              </a:rPr>
              <a:t>This</a:t>
            </a:r>
            <a:r>
              <a:rPr sz="1400" spc="-10" dirty="0">
                <a:latin typeface="Times New Roman"/>
                <a:cs typeface="Times New Roman"/>
              </a:rPr>
              <a:t> </a:t>
            </a:r>
            <a:r>
              <a:rPr sz="1400" dirty="0">
                <a:latin typeface="Times New Roman"/>
                <a:cs typeface="Times New Roman"/>
              </a:rPr>
              <a:t>link</a:t>
            </a:r>
            <a:r>
              <a:rPr sz="1400" spc="-15" dirty="0">
                <a:latin typeface="Times New Roman"/>
                <a:cs typeface="Times New Roman"/>
              </a:rPr>
              <a:t> </a:t>
            </a:r>
            <a:r>
              <a:rPr sz="1400" dirty="0">
                <a:latin typeface="Times New Roman"/>
                <a:cs typeface="Times New Roman"/>
              </a:rPr>
              <a:t>is</a:t>
            </a:r>
            <a:r>
              <a:rPr sz="1400" spc="-15" dirty="0">
                <a:latin typeface="Times New Roman"/>
                <a:cs typeface="Times New Roman"/>
              </a:rPr>
              <a:t> </a:t>
            </a:r>
            <a:r>
              <a:rPr sz="1400" spc="-20" dirty="0">
                <a:latin typeface="Times New Roman"/>
                <a:cs typeface="Times New Roman"/>
              </a:rPr>
              <a:t>also </a:t>
            </a:r>
            <a:r>
              <a:rPr sz="1400" dirty="0">
                <a:latin typeface="Times New Roman"/>
                <a:cs typeface="Times New Roman"/>
              </a:rPr>
              <a:t>used</a:t>
            </a:r>
            <a:r>
              <a:rPr sz="1400" spc="-25" dirty="0">
                <a:latin typeface="Times New Roman"/>
                <a:cs typeface="Times New Roman"/>
              </a:rPr>
              <a:t> </a:t>
            </a:r>
            <a:r>
              <a:rPr sz="1400" dirty="0">
                <a:latin typeface="Times New Roman"/>
                <a:cs typeface="Times New Roman"/>
              </a:rPr>
              <a:t>during</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transfer</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raw</a:t>
            </a:r>
            <a:r>
              <a:rPr sz="1400" spc="-25" dirty="0">
                <a:latin typeface="Times New Roman"/>
                <a:cs typeface="Times New Roman"/>
              </a:rPr>
              <a:t> </a:t>
            </a:r>
            <a:r>
              <a:rPr sz="1400" dirty="0">
                <a:latin typeface="Times New Roman"/>
                <a:cs typeface="Times New Roman"/>
              </a:rPr>
              <a:t>image</a:t>
            </a:r>
            <a:r>
              <a:rPr sz="1400" spc="-25" dirty="0">
                <a:latin typeface="Times New Roman"/>
                <a:cs typeface="Times New Roman"/>
              </a:rPr>
              <a:t> </a:t>
            </a:r>
            <a:r>
              <a:rPr sz="1400" dirty="0">
                <a:latin typeface="Times New Roman"/>
                <a:cs typeface="Times New Roman"/>
              </a:rPr>
              <a:t>data.</a:t>
            </a:r>
            <a:r>
              <a:rPr sz="1400" spc="30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bottom</a:t>
            </a:r>
            <a:r>
              <a:rPr sz="1400" spc="-30" dirty="0">
                <a:latin typeface="Times New Roman"/>
                <a:cs typeface="Times New Roman"/>
              </a:rPr>
              <a:t> </a:t>
            </a:r>
            <a:r>
              <a:rPr sz="1400" dirty="0">
                <a:latin typeface="Times New Roman"/>
                <a:cs typeface="Times New Roman"/>
              </a:rPr>
              <a:t>cable,</a:t>
            </a:r>
            <a:r>
              <a:rPr sz="1400" spc="-20" dirty="0">
                <a:latin typeface="Times New Roman"/>
                <a:cs typeface="Times New Roman"/>
              </a:rPr>
              <a:t> </a:t>
            </a:r>
            <a:r>
              <a:rPr sz="1400" spc="-10" dirty="0">
                <a:latin typeface="Times New Roman"/>
                <a:cs typeface="Times New Roman"/>
              </a:rPr>
              <a:t>equipped</a:t>
            </a:r>
            <a:r>
              <a:rPr sz="1400" spc="500" dirty="0">
                <a:latin typeface="Times New Roman"/>
                <a:cs typeface="Times New Roman"/>
              </a:rPr>
              <a:t> </a:t>
            </a:r>
            <a:r>
              <a:rPr sz="1400" dirty="0">
                <a:latin typeface="Times New Roman"/>
                <a:cs typeface="Times New Roman"/>
              </a:rPr>
              <a:t>with</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male</a:t>
            </a:r>
            <a:r>
              <a:rPr sz="1400" spc="-20" dirty="0">
                <a:latin typeface="Times New Roman"/>
                <a:cs typeface="Times New Roman"/>
              </a:rPr>
              <a:t> RJ-</a:t>
            </a:r>
            <a:r>
              <a:rPr sz="1400" dirty="0">
                <a:latin typeface="Times New Roman"/>
                <a:cs typeface="Times New Roman"/>
              </a:rPr>
              <a:t>45</a:t>
            </a:r>
            <a:r>
              <a:rPr sz="1400" spc="-15" dirty="0">
                <a:latin typeface="Times New Roman"/>
                <a:cs typeface="Times New Roman"/>
              </a:rPr>
              <a:t> </a:t>
            </a:r>
            <a:r>
              <a:rPr sz="1400" spc="-10" dirty="0">
                <a:latin typeface="Times New Roman"/>
                <a:cs typeface="Times New Roman"/>
              </a:rPr>
              <a:t>connector,</a:t>
            </a:r>
            <a:r>
              <a:rPr sz="1400" spc="-20" dirty="0">
                <a:latin typeface="Times New Roman"/>
                <a:cs typeface="Times New Roman"/>
              </a:rPr>
              <a:t> </a:t>
            </a:r>
            <a:r>
              <a:rPr sz="1400" dirty="0">
                <a:latin typeface="Times New Roman"/>
                <a:cs typeface="Times New Roman"/>
              </a:rPr>
              <a:t>provides</a:t>
            </a:r>
            <a:r>
              <a:rPr sz="1400" spc="-20" dirty="0">
                <a:latin typeface="Times New Roman"/>
                <a:cs typeface="Times New Roman"/>
              </a:rPr>
              <a:t> </a:t>
            </a:r>
            <a:r>
              <a:rPr sz="1400" dirty="0">
                <a:latin typeface="Times New Roman"/>
                <a:cs typeface="Times New Roman"/>
              </a:rPr>
              <a:t>a</a:t>
            </a:r>
            <a:r>
              <a:rPr sz="1400" spc="-15" dirty="0">
                <a:latin typeface="Times New Roman"/>
                <a:cs typeface="Times New Roman"/>
              </a:rPr>
              <a:t> </a:t>
            </a:r>
            <a:r>
              <a:rPr sz="1400" dirty="0">
                <a:latin typeface="Times New Roman"/>
                <a:cs typeface="Times New Roman"/>
              </a:rPr>
              <a:t>service</a:t>
            </a:r>
            <a:r>
              <a:rPr sz="1400" spc="-20" dirty="0">
                <a:latin typeface="Times New Roman"/>
                <a:cs typeface="Times New Roman"/>
              </a:rPr>
              <a:t> </a:t>
            </a:r>
            <a:r>
              <a:rPr sz="1400" dirty="0">
                <a:latin typeface="Times New Roman"/>
                <a:cs typeface="Times New Roman"/>
              </a:rPr>
              <a:t>RS-232</a:t>
            </a:r>
            <a:r>
              <a:rPr sz="1400" spc="-20" dirty="0">
                <a:latin typeface="Times New Roman"/>
                <a:cs typeface="Times New Roman"/>
              </a:rPr>
              <a:t> </a:t>
            </a:r>
            <a:r>
              <a:rPr sz="1400" dirty="0">
                <a:latin typeface="Times New Roman"/>
                <a:cs typeface="Times New Roman"/>
              </a:rPr>
              <a:t>serial</a:t>
            </a:r>
            <a:r>
              <a:rPr sz="1400" spc="-20" dirty="0">
                <a:latin typeface="Times New Roman"/>
                <a:cs typeface="Times New Roman"/>
              </a:rPr>
              <a:t> link </a:t>
            </a: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APS</a:t>
            </a:r>
            <a:r>
              <a:rPr sz="1400" spc="-25"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Host</a:t>
            </a:r>
            <a:r>
              <a:rPr sz="1400" spc="-25" dirty="0">
                <a:latin typeface="Times New Roman"/>
                <a:cs typeface="Times New Roman"/>
              </a:rPr>
              <a:t> </a:t>
            </a:r>
            <a:r>
              <a:rPr sz="1400" dirty="0">
                <a:latin typeface="Times New Roman"/>
                <a:cs typeface="Times New Roman"/>
              </a:rPr>
              <a:t>via</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Term</a:t>
            </a:r>
            <a:r>
              <a:rPr sz="1400" spc="-20" dirty="0">
                <a:latin typeface="Times New Roman"/>
                <a:cs typeface="Times New Roman"/>
              </a:rPr>
              <a:t> </a:t>
            </a:r>
            <a:r>
              <a:rPr sz="1400" dirty="0">
                <a:latin typeface="Times New Roman"/>
                <a:cs typeface="Times New Roman"/>
              </a:rPr>
              <a:t>Server.</a:t>
            </a:r>
            <a:r>
              <a:rPr sz="1400" spc="31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APS</a:t>
            </a:r>
            <a:r>
              <a:rPr sz="1400" spc="-25"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spc="-25" dirty="0">
                <a:latin typeface="Times New Roman"/>
                <a:cs typeface="Times New Roman"/>
              </a:rPr>
              <a:t>is </a:t>
            </a:r>
            <a:r>
              <a:rPr sz="1400" dirty="0">
                <a:latin typeface="Times New Roman"/>
                <a:cs typeface="Times New Roman"/>
              </a:rPr>
              <a:t>identical</a:t>
            </a:r>
            <a:r>
              <a:rPr sz="1400" spc="-15" dirty="0">
                <a:latin typeface="Times New Roman"/>
                <a:cs typeface="Times New Roman"/>
              </a:rPr>
              <a:t> </a:t>
            </a:r>
            <a:r>
              <a:rPr sz="1400" dirty="0">
                <a:latin typeface="Times New Roman"/>
                <a:cs typeface="Times New Roman"/>
              </a:rPr>
              <a:t>and</a:t>
            </a:r>
            <a:r>
              <a:rPr sz="1400" spc="-15" dirty="0">
                <a:latin typeface="Times New Roman"/>
                <a:cs typeface="Times New Roman"/>
              </a:rPr>
              <a:t> </a:t>
            </a:r>
            <a:r>
              <a:rPr sz="1400" spc="-10" dirty="0">
                <a:latin typeface="Times New Roman"/>
                <a:cs typeface="Times New Roman"/>
              </a:rPr>
              <a:t>interchangeable</a:t>
            </a:r>
            <a:r>
              <a:rPr sz="1400" spc="-15" dirty="0">
                <a:latin typeface="Times New Roman"/>
                <a:cs typeface="Times New Roman"/>
              </a:rPr>
              <a:t> </a:t>
            </a:r>
            <a:r>
              <a:rPr sz="1400" dirty="0">
                <a:latin typeface="Times New Roman"/>
                <a:cs typeface="Times New Roman"/>
              </a:rPr>
              <a:t>with</a:t>
            </a:r>
            <a:r>
              <a:rPr sz="1400" spc="-20" dirty="0">
                <a:latin typeface="Times New Roman"/>
                <a:cs typeface="Times New Roman"/>
              </a:rPr>
              <a:t> </a:t>
            </a:r>
            <a:r>
              <a:rPr sz="1400" dirty="0">
                <a:latin typeface="Times New Roman"/>
                <a:cs typeface="Times New Roman"/>
              </a:rPr>
              <a:t>the</a:t>
            </a:r>
            <a:r>
              <a:rPr sz="1400" spc="-10" dirty="0">
                <a:latin typeface="Times New Roman"/>
                <a:cs typeface="Times New Roman"/>
              </a:rPr>
              <a:t> </a:t>
            </a:r>
            <a:r>
              <a:rPr sz="1400" dirty="0">
                <a:latin typeface="Times New Roman"/>
                <a:cs typeface="Times New Roman"/>
              </a:rPr>
              <a:t>AGP</a:t>
            </a:r>
            <a:r>
              <a:rPr sz="1400" spc="-15" dirty="0">
                <a:latin typeface="Times New Roman"/>
                <a:cs typeface="Times New Roman"/>
              </a:rPr>
              <a:t> </a:t>
            </a:r>
            <a:r>
              <a:rPr sz="1400" dirty="0">
                <a:latin typeface="Times New Roman"/>
                <a:cs typeface="Times New Roman"/>
              </a:rPr>
              <a:t>Board.</a:t>
            </a:r>
            <a:r>
              <a:rPr sz="1400" spc="-15" dirty="0">
                <a:latin typeface="Times New Roman"/>
                <a:cs typeface="Times New Roman"/>
              </a:rPr>
              <a:t> </a:t>
            </a:r>
            <a:r>
              <a:rPr sz="1400" dirty="0">
                <a:latin typeface="Times New Roman"/>
                <a:cs typeface="Times New Roman"/>
              </a:rPr>
              <a:t>There</a:t>
            </a:r>
            <a:r>
              <a:rPr sz="1400" spc="-15" dirty="0">
                <a:latin typeface="Times New Roman"/>
                <a:cs typeface="Times New Roman"/>
              </a:rPr>
              <a:t> </a:t>
            </a:r>
            <a:r>
              <a:rPr sz="1400" dirty="0">
                <a:latin typeface="Times New Roman"/>
                <a:cs typeface="Times New Roman"/>
              </a:rPr>
              <a:t>are</a:t>
            </a:r>
            <a:r>
              <a:rPr sz="1400" spc="-10" dirty="0">
                <a:latin typeface="Times New Roman"/>
                <a:cs typeface="Times New Roman"/>
              </a:rPr>
              <a:t> </a:t>
            </a:r>
            <a:r>
              <a:rPr sz="1400" dirty="0">
                <a:latin typeface="Times New Roman"/>
                <a:cs typeface="Times New Roman"/>
              </a:rPr>
              <a:t>no</a:t>
            </a:r>
            <a:r>
              <a:rPr sz="1400" spc="-15" dirty="0">
                <a:latin typeface="Times New Roman"/>
                <a:cs typeface="Times New Roman"/>
              </a:rPr>
              <a:t> </a:t>
            </a:r>
            <a:r>
              <a:rPr sz="1400" spc="-10" dirty="0">
                <a:latin typeface="Times New Roman"/>
                <a:cs typeface="Times New Roman"/>
              </a:rPr>
              <a:t>other </a:t>
            </a:r>
            <a:r>
              <a:rPr sz="1400" dirty="0">
                <a:latin typeface="Times New Roman"/>
                <a:cs typeface="Times New Roman"/>
              </a:rPr>
              <a:t>changes</a:t>
            </a:r>
            <a:r>
              <a:rPr sz="1400" spc="-30" dirty="0">
                <a:latin typeface="Times New Roman"/>
                <a:cs typeface="Times New Roman"/>
              </a:rPr>
              <a:t> </a:t>
            </a:r>
            <a:r>
              <a:rPr sz="1400" dirty="0">
                <a:latin typeface="Times New Roman"/>
                <a:cs typeface="Times New Roman"/>
              </a:rPr>
              <a:t>or</a:t>
            </a:r>
            <a:r>
              <a:rPr sz="1400" spc="-25" dirty="0">
                <a:latin typeface="Times New Roman"/>
                <a:cs typeface="Times New Roman"/>
              </a:rPr>
              <a:t> </a:t>
            </a:r>
            <a:r>
              <a:rPr sz="1400" dirty="0">
                <a:latin typeface="Times New Roman"/>
                <a:cs typeface="Times New Roman"/>
              </a:rPr>
              <a:t>jumper</a:t>
            </a:r>
            <a:r>
              <a:rPr sz="1400" spc="-30" dirty="0">
                <a:latin typeface="Times New Roman"/>
                <a:cs typeface="Times New Roman"/>
              </a:rPr>
              <a:t> </a:t>
            </a:r>
            <a:r>
              <a:rPr sz="1400" dirty="0">
                <a:latin typeface="Times New Roman"/>
                <a:cs typeface="Times New Roman"/>
              </a:rPr>
              <a:t>settings</a:t>
            </a:r>
            <a:r>
              <a:rPr sz="1400" spc="-30" dirty="0">
                <a:latin typeface="Times New Roman"/>
                <a:cs typeface="Times New Roman"/>
              </a:rPr>
              <a:t> </a:t>
            </a:r>
            <a:r>
              <a:rPr sz="1400" dirty="0">
                <a:latin typeface="Times New Roman"/>
                <a:cs typeface="Times New Roman"/>
              </a:rPr>
              <a:t>that</a:t>
            </a:r>
            <a:r>
              <a:rPr sz="1400" spc="-30" dirty="0">
                <a:latin typeface="Times New Roman"/>
                <a:cs typeface="Times New Roman"/>
              </a:rPr>
              <a:t> </a:t>
            </a:r>
            <a:r>
              <a:rPr sz="1400" dirty="0">
                <a:latin typeface="Times New Roman"/>
                <a:cs typeface="Times New Roman"/>
              </a:rPr>
              <a:t>must</a:t>
            </a:r>
            <a:r>
              <a:rPr sz="1400" spc="-20" dirty="0">
                <a:latin typeface="Times New Roman"/>
                <a:cs typeface="Times New Roman"/>
              </a:rPr>
              <a:t> </a:t>
            </a:r>
            <a:r>
              <a:rPr sz="1400" dirty="0">
                <a:latin typeface="Times New Roman"/>
                <a:cs typeface="Times New Roman"/>
              </a:rPr>
              <a:t>be</a:t>
            </a:r>
            <a:r>
              <a:rPr sz="1400" spc="-25" dirty="0">
                <a:latin typeface="Times New Roman"/>
                <a:cs typeface="Times New Roman"/>
              </a:rPr>
              <a:t> </a:t>
            </a:r>
            <a:r>
              <a:rPr sz="1400" dirty="0">
                <a:latin typeface="Times New Roman"/>
                <a:cs typeface="Times New Roman"/>
              </a:rPr>
              <a:t>made</a:t>
            </a:r>
            <a:r>
              <a:rPr sz="1400" spc="-30" dirty="0">
                <a:latin typeface="Times New Roman"/>
                <a:cs typeface="Times New Roman"/>
              </a:rPr>
              <a:t> </a:t>
            </a:r>
            <a:r>
              <a:rPr sz="1400" dirty="0">
                <a:latin typeface="Times New Roman"/>
                <a:cs typeface="Times New Roman"/>
              </a:rPr>
              <a:t>when</a:t>
            </a:r>
            <a:r>
              <a:rPr sz="1400" spc="-25" dirty="0">
                <a:latin typeface="Times New Roman"/>
                <a:cs typeface="Times New Roman"/>
              </a:rPr>
              <a:t> </a:t>
            </a:r>
            <a:r>
              <a:rPr sz="1400" dirty="0">
                <a:latin typeface="Times New Roman"/>
                <a:cs typeface="Times New Roman"/>
              </a:rPr>
              <a:t>swapping</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APS</a:t>
            </a:r>
            <a:r>
              <a:rPr sz="1400" spc="-25" dirty="0">
                <a:latin typeface="Times New Roman"/>
                <a:cs typeface="Times New Roman"/>
              </a:rPr>
              <a:t> and </a:t>
            </a:r>
            <a:r>
              <a:rPr sz="1400" dirty="0">
                <a:latin typeface="Times New Roman"/>
                <a:cs typeface="Times New Roman"/>
              </a:rPr>
              <a:t>AGP</a:t>
            </a:r>
            <a:r>
              <a:rPr sz="1400" spc="-5" dirty="0">
                <a:latin typeface="Times New Roman"/>
                <a:cs typeface="Times New Roman"/>
              </a:rPr>
              <a:t> </a:t>
            </a:r>
            <a:r>
              <a:rPr sz="1400" spc="-10" dirty="0">
                <a:latin typeface="Times New Roman"/>
                <a:cs typeface="Times New Roman"/>
              </a:rPr>
              <a:t>Boards.</a:t>
            </a:r>
            <a:endParaRPr sz="1400">
              <a:latin typeface="Times New Roman"/>
              <a:cs typeface="Times New Roman"/>
            </a:endParaRPr>
          </a:p>
        </p:txBody>
      </p:sp>
      <p:sp>
        <p:nvSpPr>
          <p:cNvPr id="10" name="object 10"/>
          <p:cNvSpPr/>
          <p:nvPr/>
        </p:nvSpPr>
        <p:spPr>
          <a:xfrm>
            <a:off x="3294379" y="4437379"/>
            <a:ext cx="5651500" cy="1271270"/>
          </a:xfrm>
          <a:custGeom>
            <a:avLst/>
            <a:gdLst/>
            <a:ahLst/>
            <a:cxnLst/>
            <a:rect l="l" t="t" r="r" b="b"/>
            <a:pathLst>
              <a:path w="5651500" h="1271270">
                <a:moveTo>
                  <a:pt x="5650992" y="1271015"/>
                </a:moveTo>
                <a:lnTo>
                  <a:pt x="5650992" y="0"/>
                </a:lnTo>
                <a:lnTo>
                  <a:pt x="0" y="0"/>
                </a:lnTo>
                <a:lnTo>
                  <a:pt x="0" y="1271016"/>
                </a:lnTo>
                <a:lnTo>
                  <a:pt x="5650992" y="1271015"/>
                </a:lnTo>
                <a:close/>
              </a:path>
            </a:pathLst>
          </a:custGeom>
          <a:solidFill>
            <a:srgbClr val="FFFFFF"/>
          </a:solidFill>
        </p:spPr>
        <p:txBody>
          <a:bodyPr wrap="square" lIns="0" tIns="0" rIns="0" bIns="0" rtlCol="0"/>
          <a:lstStyle/>
          <a:p>
            <a:endParaRPr/>
          </a:p>
        </p:txBody>
      </p:sp>
      <p:sp>
        <p:nvSpPr>
          <p:cNvPr id="11" name="object 11"/>
          <p:cNvSpPr txBox="1"/>
          <p:nvPr/>
        </p:nvSpPr>
        <p:spPr>
          <a:xfrm>
            <a:off x="3294379" y="4437379"/>
            <a:ext cx="5651500" cy="1271270"/>
          </a:xfrm>
          <a:prstGeom prst="rect">
            <a:avLst/>
          </a:prstGeom>
          <a:ln w="9144">
            <a:solidFill>
              <a:srgbClr val="000000"/>
            </a:solidFill>
          </a:ln>
        </p:spPr>
        <p:txBody>
          <a:bodyPr vert="horz" wrap="square" lIns="0" tIns="43815" rIns="0" bIns="0" rtlCol="0">
            <a:spAutoFit/>
          </a:bodyPr>
          <a:lstStyle/>
          <a:p>
            <a:pPr marL="96520">
              <a:lnSpc>
                <a:spcPct val="100000"/>
              </a:lnSpc>
              <a:spcBef>
                <a:spcPts val="345"/>
              </a:spcBef>
            </a:pPr>
            <a:r>
              <a:rPr sz="1400" b="1" u="sng" dirty="0">
                <a:uFill>
                  <a:solidFill>
                    <a:srgbClr val="000000"/>
                  </a:solidFill>
                </a:uFill>
                <a:latin typeface="Times New Roman"/>
                <a:cs typeface="Times New Roman"/>
              </a:rPr>
              <a:t>Available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40" dirty="0">
                <a:uFill>
                  <a:solidFill>
                    <a:srgbClr val="000000"/>
                  </a:solidFill>
                </a:uFill>
                <a:latin typeface="Times New Roman"/>
                <a:cs typeface="Times New Roman"/>
              </a:rPr>
              <a:t> </a:t>
            </a:r>
            <a:r>
              <a:rPr sz="1400" b="1" u="sng" spc="-25" dirty="0">
                <a:uFill>
                  <a:solidFill>
                    <a:srgbClr val="000000"/>
                  </a:solidFill>
                </a:uFill>
                <a:latin typeface="Times New Roman"/>
                <a:cs typeface="Times New Roman"/>
              </a:rPr>
              <a:t>APS</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MGD</a:t>
            </a:r>
            <a:r>
              <a:rPr sz="1400" b="1" spc="-20" dirty="0">
                <a:latin typeface="Times New Roman"/>
                <a:cs typeface="Times New Roman"/>
              </a:rPr>
              <a:t> </a:t>
            </a:r>
            <a:r>
              <a:rPr sz="1400" b="1" dirty="0">
                <a:latin typeface="Times New Roman"/>
                <a:cs typeface="Times New Roman"/>
              </a:rPr>
              <a:t>Datapaths:</a:t>
            </a:r>
            <a:r>
              <a:rPr sz="1400" b="1" spc="-15" dirty="0">
                <a:latin typeface="Times New Roman"/>
                <a:cs typeface="Times New Roman"/>
              </a:rPr>
              <a:t> </a:t>
            </a:r>
            <a:r>
              <a:rPr sz="1400" dirty="0">
                <a:latin typeface="Times New Roman"/>
                <a:cs typeface="Times New Roman"/>
              </a:rPr>
              <a:t>APS</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dirty="0">
                <a:latin typeface="Times New Roman"/>
                <a:cs typeface="Times New Roman"/>
              </a:rPr>
              <a:t>Bridge,</a:t>
            </a:r>
            <a:r>
              <a:rPr sz="1400" spc="-20" dirty="0">
                <a:latin typeface="Times New Roman"/>
                <a:cs typeface="Times New Roman"/>
              </a:rPr>
              <a:t> </a:t>
            </a:r>
            <a:r>
              <a:rPr sz="1400" dirty="0">
                <a:latin typeface="Times New Roman"/>
                <a:cs typeface="Times New Roman"/>
              </a:rPr>
              <a:t>IRF</a:t>
            </a:r>
            <a:r>
              <a:rPr sz="1400" spc="-1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30" dirty="0">
                <a:latin typeface="Times New Roman"/>
                <a:cs typeface="Times New Roman"/>
              </a:rPr>
              <a:t> </a:t>
            </a:r>
            <a:r>
              <a:rPr sz="1400" dirty="0">
                <a:latin typeface="Times New Roman"/>
                <a:cs typeface="Times New Roman"/>
              </a:rPr>
              <a:t>APS,</a:t>
            </a:r>
            <a:r>
              <a:rPr sz="1400" spc="-20" dirty="0">
                <a:latin typeface="Times New Roman"/>
                <a:cs typeface="Times New Roman"/>
              </a:rPr>
              <a:t> </a:t>
            </a:r>
            <a:r>
              <a:rPr sz="1400" dirty="0">
                <a:latin typeface="Times New Roman"/>
                <a:cs typeface="Times New Roman"/>
              </a:rPr>
              <a:t>SRF</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spc="-25" dirty="0">
                <a:latin typeface="Times New Roman"/>
                <a:cs typeface="Times New Roman"/>
              </a:rPr>
              <a:t>APS</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APS,</a:t>
            </a:r>
            <a:r>
              <a:rPr sz="1400" b="1" spc="-25" dirty="0">
                <a:latin typeface="Times New Roman"/>
                <a:cs typeface="Times New Roman"/>
              </a:rPr>
              <a:t> </a:t>
            </a:r>
            <a:r>
              <a:rPr sz="1400" b="1" dirty="0">
                <a:latin typeface="Times New Roman"/>
                <a:cs typeface="Times New Roman"/>
              </a:rPr>
              <a:t>AGP</a:t>
            </a:r>
            <a:r>
              <a:rPr sz="1400" b="1" spc="-20" dirty="0">
                <a:latin typeface="Times New Roman"/>
                <a:cs typeface="Times New Roman"/>
              </a:rPr>
              <a:t> </a:t>
            </a:r>
            <a:r>
              <a:rPr sz="1400" b="1" dirty="0">
                <a:latin typeface="Times New Roman"/>
                <a:cs typeface="Times New Roman"/>
              </a:rPr>
              <a:t>and</a:t>
            </a:r>
            <a:r>
              <a:rPr sz="1400" b="1" spc="-25" dirty="0">
                <a:latin typeface="Times New Roman"/>
                <a:cs typeface="Times New Roman"/>
              </a:rPr>
              <a:t> </a:t>
            </a:r>
            <a:r>
              <a:rPr sz="1400" b="1" dirty="0">
                <a:latin typeface="Times New Roman"/>
                <a:cs typeface="Times New Roman"/>
              </a:rPr>
              <a:t>SCP</a:t>
            </a:r>
            <a:r>
              <a:rPr sz="1400" b="1" spc="-20" dirty="0">
                <a:latin typeface="Times New Roman"/>
                <a:cs typeface="Times New Roman"/>
              </a:rPr>
              <a:t> </a:t>
            </a:r>
            <a:r>
              <a:rPr sz="1400" b="1" dirty="0">
                <a:latin typeface="Times New Roman"/>
                <a:cs typeface="Times New Roman"/>
              </a:rPr>
              <a:t>Board</a:t>
            </a:r>
            <a:r>
              <a:rPr sz="1400" b="1" spc="-15" dirty="0">
                <a:latin typeface="Times New Roman"/>
                <a:cs typeface="Times New Roman"/>
              </a:rPr>
              <a:t> </a:t>
            </a:r>
            <a:r>
              <a:rPr sz="1400" b="1" dirty="0">
                <a:latin typeface="Times New Roman"/>
                <a:cs typeface="Times New Roman"/>
              </a:rPr>
              <a:t>Level</a:t>
            </a:r>
            <a:r>
              <a:rPr sz="1400" b="1" spc="-20" dirty="0">
                <a:latin typeface="Times New Roman"/>
                <a:cs typeface="Times New Roman"/>
              </a:rPr>
              <a:t> </a:t>
            </a:r>
            <a:r>
              <a:rPr sz="1400" b="1" dirty="0">
                <a:latin typeface="Times New Roman"/>
                <a:cs typeface="Times New Roman"/>
              </a:rPr>
              <a:t>Diagnostics:</a:t>
            </a:r>
            <a:r>
              <a:rPr sz="1400" b="1" spc="-20" dirty="0">
                <a:latin typeface="Times New Roman"/>
                <a:cs typeface="Times New Roman"/>
              </a:rPr>
              <a:t> </a:t>
            </a:r>
            <a:r>
              <a:rPr sz="1400" spc="-25" dirty="0">
                <a:latin typeface="Times New Roman"/>
                <a:cs typeface="Times New Roman"/>
              </a:rPr>
              <a:t>APS</a:t>
            </a:r>
            <a:endParaRPr sz="1400">
              <a:latin typeface="Times New Roman"/>
              <a:cs typeface="Times New Roman"/>
            </a:endParaRPr>
          </a:p>
          <a:p>
            <a:pPr marL="158115" indent="-69850">
              <a:lnSpc>
                <a:spcPct val="100000"/>
              </a:lnSpc>
              <a:spcBef>
                <a:spcPts val="830"/>
              </a:spcBef>
              <a:buSzPct val="92857"/>
              <a:buFont typeface="Times New Roman"/>
              <a:buChar char="•"/>
              <a:tabLst>
                <a:tab pos="158115" algn="l"/>
              </a:tabLst>
            </a:pPr>
            <a:r>
              <a:rPr sz="1400" b="1" dirty="0">
                <a:latin typeface="Times New Roman"/>
                <a:cs typeface="Times New Roman"/>
              </a:rPr>
              <a:t>Host</a:t>
            </a:r>
            <a:r>
              <a:rPr sz="1400" b="1" spc="-35" dirty="0">
                <a:latin typeface="Times New Roman"/>
                <a:cs typeface="Times New Roman"/>
              </a:rPr>
              <a:t> </a:t>
            </a:r>
            <a:r>
              <a:rPr sz="1400" b="1" dirty="0">
                <a:latin typeface="Times New Roman"/>
                <a:cs typeface="Times New Roman"/>
              </a:rPr>
              <a:t>Datapath</a:t>
            </a:r>
            <a:r>
              <a:rPr sz="1400" b="1" spc="-30" dirty="0">
                <a:latin typeface="Times New Roman"/>
                <a:cs typeface="Times New Roman"/>
              </a:rPr>
              <a:t> </a:t>
            </a:r>
            <a:r>
              <a:rPr sz="1400" b="1" dirty="0">
                <a:latin typeface="Times New Roman"/>
                <a:cs typeface="Times New Roman"/>
              </a:rPr>
              <a:t>Diagnostics:</a:t>
            </a:r>
            <a:r>
              <a:rPr sz="1400" b="1" spc="-25" dirty="0">
                <a:latin typeface="Times New Roman"/>
                <a:cs typeface="Times New Roman"/>
              </a:rPr>
              <a:t> </a:t>
            </a:r>
            <a:r>
              <a:rPr sz="1400" dirty="0">
                <a:latin typeface="Times New Roman"/>
                <a:cs typeface="Times New Roman"/>
              </a:rPr>
              <a:t>Host</a:t>
            </a:r>
            <a:r>
              <a:rPr sz="1400" spc="-30" dirty="0">
                <a:latin typeface="Times New Roman"/>
                <a:cs typeface="Times New Roman"/>
              </a:rPr>
              <a:t> </a:t>
            </a:r>
            <a:r>
              <a:rPr sz="1400" dirty="0">
                <a:latin typeface="Times New Roman"/>
                <a:cs typeface="Times New Roman"/>
              </a:rPr>
              <a:t>Ping</a:t>
            </a:r>
            <a:r>
              <a:rPr sz="1400" spc="-3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30" dirty="0">
                <a:latin typeface="Times New Roman"/>
                <a:cs typeface="Times New Roman"/>
              </a:rPr>
              <a:t> </a:t>
            </a:r>
            <a:r>
              <a:rPr sz="1400" spc="-25" dirty="0">
                <a:latin typeface="Times New Roman"/>
                <a:cs typeface="Times New Roman"/>
              </a:rPr>
              <a:t>APS</a:t>
            </a:r>
            <a:endParaRPr sz="1400">
              <a:latin typeface="Times New Roman"/>
              <a:cs typeface="Times New Roman"/>
            </a:endParaRPr>
          </a:p>
        </p:txBody>
      </p:sp>
      <p:sp>
        <p:nvSpPr>
          <p:cNvPr id="12" name="object 12"/>
          <p:cNvSpPr/>
          <p:nvPr/>
        </p:nvSpPr>
        <p:spPr>
          <a:xfrm>
            <a:off x="185420" y="655573"/>
            <a:ext cx="5751830" cy="376555"/>
          </a:xfrm>
          <a:custGeom>
            <a:avLst/>
            <a:gdLst/>
            <a:ahLst/>
            <a:cxnLst/>
            <a:rect l="l" t="t" r="r" b="b"/>
            <a:pathLst>
              <a:path w="5751830" h="376555">
                <a:moveTo>
                  <a:pt x="5751576" y="376427"/>
                </a:moveTo>
                <a:lnTo>
                  <a:pt x="5751576" y="0"/>
                </a:lnTo>
                <a:lnTo>
                  <a:pt x="0" y="0"/>
                </a:lnTo>
                <a:lnTo>
                  <a:pt x="0" y="376428"/>
                </a:lnTo>
                <a:lnTo>
                  <a:pt x="5751576" y="376427"/>
                </a:lnTo>
                <a:close/>
              </a:path>
            </a:pathLst>
          </a:custGeom>
          <a:solidFill>
            <a:srgbClr val="FFFFFF"/>
          </a:solidFill>
        </p:spPr>
        <p:txBody>
          <a:bodyPr wrap="square" lIns="0" tIns="0" rIns="0" bIns="0" rtlCol="0"/>
          <a:lstStyle/>
          <a:p>
            <a:endParaRPr/>
          </a:p>
        </p:txBody>
      </p:sp>
      <p:sp>
        <p:nvSpPr>
          <p:cNvPr id="13" name="object 13"/>
          <p:cNvSpPr txBox="1"/>
          <p:nvPr/>
        </p:nvSpPr>
        <p:spPr>
          <a:xfrm>
            <a:off x="185420" y="655573"/>
            <a:ext cx="5751830" cy="376555"/>
          </a:xfrm>
          <a:prstGeom prst="rect">
            <a:avLst/>
          </a:prstGeom>
          <a:ln w="9144">
            <a:solidFill>
              <a:srgbClr val="000000"/>
            </a:solidFill>
          </a:ln>
        </p:spPr>
        <p:txBody>
          <a:bodyPr vert="horz" wrap="square" lIns="0" tIns="42545" rIns="0" bIns="0" rtlCol="0">
            <a:spAutoFit/>
          </a:bodyPr>
          <a:lstStyle/>
          <a:p>
            <a:pPr marL="167005">
              <a:lnSpc>
                <a:spcPct val="100000"/>
              </a:lnSpc>
              <a:spcBef>
                <a:spcPts val="335"/>
              </a:spcBef>
            </a:pPr>
            <a:r>
              <a:rPr sz="1800" b="1" dirty="0">
                <a:latin typeface="Times New Roman"/>
                <a:cs typeface="Times New Roman"/>
              </a:rPr>
              <a:t>A</a:t>
            </a:r>
            <a:r>
              <a:rPr sz="1800" dirty="0">
                <a:latin typeface="Times New Roman"/>
                <a:cs typeface="Times New Roman"/>
              </a:rPr>
              <a:t>cquisition</a:t>
            </a:r>
            <a:r>
              <a:rPr sz="1800" spc="-35" dirty="0">
                <a:latin typeface="Times New Roman"/>
                <a:cs typeface="Times New Roman"/>
              </a:rPr>
              <a:t> </a:t>
            </a:r>
            <a:r>
              <a:rPr sz="1800" b="1" dirty="0">
                <a:latin typeface="Times New Roman"/>
                <a:cs typeface="Times New Roman"/>
              </a:rPr>
              <a:t>P</a:t>
            </a:r>
            <a:r>
              <a:rPr sz="1800" dirty="0">
                <a:latin typeface="Times New Roman"/>
                <a:cs typeface="Times New Roman"/>
              </a:rPr>
              <a:t>rocessing</a:t>
            </a:r>
            <a:r>
              <a:rPr sz="1800" spc="-25" dirty="0">
                <a:latin typeface="Times New Roman"/>
                <a:cs typeface="Times New Roman"/>
              </a:rPr>
              <a:t> </a:t>
            </a:r>
            <a:r>
              <a:rPr sz="1800" b="1" dirty="0">
                <a:latin typeface="Times New Roman"/>
                <a:cs typeface="Times New Roman"/>
              </a:rPr>
              <a:t>S</a:t>
            </a:r>
            <a:r>
              <a:rPr sz="1800" dirty="0">
                <a:latin typeface="Times New Roman"/>
                <a:cs typeface="Times New Roman"/>
              </a:rPr>
              <a:t>ubsystem</a:t>
            </a:r>
            <a:r>
              <a:rPr sz="1800" spc="-30" dirty="0">
                <a:latin typeface="Times New Roman"/>
                <a:cs typeface="Times New Roman"/>
              </a:rPr>
              <a:t> </a:t>
            </a:r>
            <a:r>
              <a:rPr sz="1800" dirty="0">
                <a:latin typeface="Times New Roman"/>
                <a:cs typeface="Times New Roman"/>
              </a:rPr>
              <a:t>(</a:t>
            </a:r>
            <a:r>
              <a:rPr sz="1800" b="1" dirty="0">
                <a:latin typeface="Times New Roman"/>
                <a:cs typeface="Times New Roman"/>
              </a:rPr>
              <a:t>APS</a:t>
            </a:r>
            <a:r>
              <a:rPr sz="1800" dirty="0">
                <a:latin typeface="Times New Roman"/>
                <a:cs typeface="Times New Roman"/>
              </a:rPr>
              <a:t>)</a:t>
            </a:r>
            <a:r>
              <a:rPr sz="1800" spc="-35" dirty="0">
                <a:latin typeface="Times New Roman"/>
                <a:cs typeface="Times New Roman"/>
              </a:rPr>
              <a:t> </a:t>
            </a:r>
            <a:r>
              <a:rPr sz="1800" b="1" dirty="0">
                <a:latin typeface="Times New Roman"/>
                <a:cs typeface="Times New Roman"/>
              </a:rPr>
              <a:t>Board</a:t>
            </a:r>
            <a:r>
              <a:rPr sz="1800" b="1" spc="-30" dirty="0">
                <a:latin typeface="Times New Roman"/>
                <a:cs typeface="Times New Roman"/>
              </a:rPr>
              <a:t> </a:t>
            </a:r>
            <a:r>
              <a:rPr sz="1800" dirty="0">
                <a:latin typeface="Times New Roman"/>
                <a:cs typeface="Times New Roman"/>
              </a:rPr>
              <a:t>(Slot</a:t>
            </a:r>
            <a:r>
              <a:rPr sz="1800" spc="-30" dirty="0">
                <a:latin typeface="Times New Roman"/>
                <a:cs typeface="Times New Roman"/>
              </a:rPr>
              <a:t> </a:t>
            </a:r>
            <a:r>
              <a:rPr sz="1800" dirty="0">
                <a:latin typeface="Times New Roman"/>
                <a:cs typeface="Times New Roman"/>
              </a:rPr>
              <a:t>1</a:t>
            </a:r>
            <a:r>
              <a:rPr sz="1800" spc="-30" dirty="0">
                <a:latin typeface="Times New Roman"/>
                <a:cs typeface="Times New Roman"/>
              </a:rPr>
              <a:t> </a:t>
            </a:r>
            <a:r>
              <a:rPr sz="1800" spc="-25" dirty="0">
                <a:latin typeface="Times New Roman"/>
                <a:cs typeface="Times New Roman"/>
              </a:rPr>
              <a:t>F)</a:t>
            </a:r>
            <a:endParaRPr sz="1800">
              <a:latin typeface="Times New Roman"/>
              <a:cs typeface="Times New Roman"/>
            </a:endParaRPr>
          </a:p>
        </p:txBody>
      </p:sp>
      <p:sp>
        <p:nvSpPr>
          <p:cNvPr id="14" name="object 14"/>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sp>
        <p:nvSpPr>
          <p:cNvPr id="15" name="object 15"/>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5" dirty="0">
                <a:latin typeface="Times New Roman"/>
                <a:cs typeface="Times New Roman"/>
              </a:rPr>
              <a:t> </a:t>
            </a:r>
            <a:r>
              <a:rPr sz="2000" b="1" dirty="0">
                <a:latin typeface="Times New Roman"/>
                <a:cs typeface="Times New Roman"/>
              </a:rPr>
              <a:t>Chassis</a:t>
            </a:r>
            <a:r>
              <a:rPr sz="2000" b="1" spc="-2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6" name="object 16"/>
          <p:cNvGrpSpPr/>
          <p:nvPr/>
        </p:nvGrpSpPr>
        <p:grpSpPr>
          <a:xfrm>
            <a:off x="7620254" y="-4572"/>
            <a:ext cx="1503045" cy="280670"/>
            <a:chOff x="7620254" y="-4572"/>
            <a:chExt cx="1503045" cy="280670"/>
          </a:xfrm>
        </p:grpSpPr>
        <p:sp>
          <p:nvSpPr>
            <p:cNvPr id="17" name="object 17"/>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19" name="object 19"/>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68300" y="250952"/>
            <a:ext cx="8533130" cy="6215380"/>
            <a:chOff x="368300" y="250952"/>
            <a:chExt cx="8533130" cy="6215380"/>
          </a:xfrm>
        </p:grpSpPr>
        <p:pic>
          <p:nvPicPr>
            <p:cNvPr id="3" name="object 3"/>
            <p:cNvPicPr/>
            <p:nvPr/>
          </p:nvPicPr>
          <p:blipFill>
            <a:blip r:embed="rId2" cstate="print"/>
            <a:stretch>
              <a:fillRect/>
            </a:stretch>
          </p:blipFill>
          <p:spPr>
            <a:xfrm>
              <a:off x="368300" y="250952"/>
              <a:ext cx="8289543" cy="6214871"/>
            </a:xfrm>
            <a:prstGeom prst="rect">
              <a:avLst/>
            </a:prstGeom>
          </p:spPr>
        </p:pic>
        <p:sp>
          <p:nvSpPr>
            <p:cNvPr id="4" name="object 4"/>
            <p:cNvSpPr/>
            <p:nvPr/>
          </p:nvSpPr>
          <p:spPr>
            <a:xfrm>
              <a:off x="1836674" y="1193546"/>
              <a:ext cx="1192530" cy="375920"/>
            </a:xfrm>
            <a:custGeom>
              <a:avLst/>
              <a:gdLst/>
              <a:ahLst/>
              <a:cxnLst/>
              <a:rect l="l" t="t" r="r" b="b"/>
              <a:pathLst>
                <a:path w="1192530" h="375919">
                  <a:moveTo>
                    <a:pt x="1192529" y="0"/>
                  </a:moveTo>
                  <a:lnTo>
                    <a:pt x="0" y="375666"/>
                  </a:lnTo>
                </a:path>
              </a:pathLst>
            </a:custGeom>
            <a:ln w="114299">
              <a:solidFill>
                <a:srgbClr val="FFFFFF"/>
              </a:solidFill>
            </a:ln>
          </p:spPr>
          <p:txBody>
            <a:bodyPr wrap="square" lIns="0" tIns="0" rIns="0" bIns="0" rtlCol="0"/>
            <a:lstStyle/>
            <a:p>
              <a:endParaRPr/>
            </a:p>
          </p:txBody>
        </p:sp>
        <p:sp>
          <p:nvSpPr>
            <p:cNvPr id="5" name="object 5"/>
            <p:cNvSpPr/>
            <p:nvPr/>
          </p:nvSpPr>
          <p:spPr>
            <a:xfrm>
              <a:off x="1494536" y="1396999"/>
              <a:ext cx="399415" cy="345440"/>
            </a:xfrm>
            <a:custGeom>
              <a:avLst/>
              <a:gdLst/>
              <a:ahLst/>
              <a:cxnLst/>
              <a:rect l="l" t="t" r="r" b="b"/>
              <a:pathLst>
                <a:path w="399414" h="345439">
                  <a:moveTo>
                    <a:pt x="399288" y="345186"/>
                  </a:moveTo>
                  <a:lnTo>
                    <a:pt x="290321" y="0"/>
                  </a:lnTo>
                  <a:lnTo>
                    <a:pt x="0" y="281939"/>
                  </a:lnTo>
                  <a:lnTo>
                    <a:pt x="399288" y="345186"/>
                  </a:lnTo>
                  <a:close/>
                </a:path>
              </a:pathLst>
            </a:custGeom>
            <a:solidFill>
              <a:srgbClr val="FFFFFF"/>
            </a:solidFill>
          </p:spPr>
          <p:txBody>
            <a:bodyPr wrap="square" lIns="0" tIns="0" rIns="0" bIns="0" rtlCol="0"/>
            <a:lstStyle/>
            <a:p>
              <a:endParaRPr/>
            </a:p>
          </p:txBody>
        </p:sp>
        <p:sp>
          <p:nvSpPr>
            <p:cNvPr id="6" name="object 6"/>
            <p:cNvSpPr/>
            <p:nvPr/>
          </p:nvSpPr>
          <p:spPr>
            <a:xfrm>
              <a:off x="1766569" y="1209548"/>
              <a:ext cx="1186815" cy="374650"/>
            </a:xfrm>
            <a:custGeom>
              <a:avLst/>
              <a:gdLst/>
              <a:ahLst/>
              <a:cxnLst/>
              <a:rect l="l" t="t" r="r" b="b"/>
              <a:pathLst>
                <a:path w="1186814" h="374650">
                  <a:moveTo>
                    <a:pt x="1186433" y="0"/>
                  </a:moveTo>
                  <a:lnTo>
                    <a:pt x="0" y="374141"/>
                  </a:lnTo>
                </a:path>
              </a:pathLst>
            </a:custGeom>
            <a:ln w="60198">
              <a:solidFill>
                <a:srgbClr val="000000"/>
              </a:solidFill>
            </a:ln>
          </p:spPr>
          <p:txBody>
            <a:bodyPr wrap="square" lIns="0" tIns="0" rIns="0" bIns="0" rtlCol="0"/>
            <a:lstStyle/>
            <a:p>
              <a:endParaRPr/>
            </a:p>
          </p:txBody>
        </p:sp>
        <p:sp>
          <p:nvSpPr>
            <p:cNvPr id="7" name="object 7"/>
            <p:cNvSpPr/>
            <p:nvPr/>
          </p:nvSpPr>
          <p:spPr>
            <a:xfrm>
              <a:off x="1552447" y="1475485"/>
              <a:ext cx="251460" cy="216535"/>
            </a:xfrm>
            <a:custGeom>
              <a:avLst/>
              <a:gdLst/>
              <a:ahLst/>
              <a:cxnLst/>
              <a:rect l="l" t="t" r="r" b="b"/>
              <a:pathLst>
                <a:path w="251460" h="216535">
                  <a:moveTo>
                    <a:pt x="251459" y="216407"/>
                  </a:moveTo>
                  <a:lnTo>
                    <a:pt x="182118" y="0"/>
                  </a:lnTo>
                  <a:lnTo>
                    <a:pt x="0" y="177545"/>
                  </a:lnTo>
                  <a:lnTo>
                    <a:pt x="251459" y="216407"/>
                  </a:lnTo>
                  <a:close/>
                </a:path>
              </a:pathLst>
            </a:custGeom>
            <a:solidFill>
              <a:srgbClr val="000000"/>
            </a:solidFill>
          </p:spPr>
          <p:txBody>
            <a:bodyPr wrap="square" lIns="0" tIns="0" rIns="0" bIns="0" rtlCol="0"/>
            <a:lstStyle/>
            <a:p>
              <a:endParaRPr/>
            </a:p>
          </p:txBody>
        </p:sp>
        <p:sp>
          <p:nvSpPr>
            <p:cNvPr id="8" name="object 8"/>
            <p:cNvSpPr/>
            <p:nvPr/>
          </p:nvSpPr>
          <p:spPr>
            <a:xfrm>
              <a:off x="2746501" y="1098296"/>
              <a:ext cx="6155055" cy="952500"/>
            </a:xfrm>
            <a:custGeom>
              <a:avLst/>
              <a:gdLst/>
              <a:ahLst/>
              <a:cxnLst/>
              <a:rect l="l" t="t" r="r" b="b"/>
              <a:pathLst>
                <a:path w="6155055" h="952500">
                  <a:moveTo>
                    <a:pt x="6154674" y="952499"/>
                  </a:moveTo>
                  <a:lnTo>
                    <a:pt x="6154674" y="0"/>
                  </a:lnTo>
                  <a:lnTo>
                    <a:pt x="0" y="0"/>
                  </a:lnTo>
                  <a:lnTo>
                    <a:pt x="0" y="952500"/>
                  </a:lnTo>
                  <a:lnTo>
                    <a:pt x="6154674" y="952499"/>
                  </a:lnTo>
                  <a:close/>
                </a:path>
              </a:pathLst>
            </a:custGeom>
            <a:solidFill>
              <a:srgbClr val="FFFFFF"/>
            </a:solidFill>
          </p:spPr>
          <p:txBody>
            <a:bodyPr wrap="square" lIns="0" tIns="0" rIns="0" bIns="0" rtlCol="0"/>
            <a:lstStyle/>
            <a:p>
              <a:endParaRPr/>
            </a:p>
          </p:txBody>
        </p:sp>
      </p:grpSp>
      <p:sp>
        <p:nvSpPr>
          <p:cNvPr id="9" name="object 9"/>
          <p:cNvSpPr txBox="1"/>
          <p:nvPr/>
        </p:nvSpPr>
        <p:spPr>
          <a:xfrm>
            <a:off x="2746501" y="1098296"/>
            <a:ext cx="6155055" cy="952500"/>
          </a:xfrm>
          <a:prstGeom prst="rect">
            <a:avLst/>
          </a:prstGeom>
          <a:ln w="9144">
            <a:solidFill>
              <a:srgbClr val="000000"/>
            </a:solidFill>
          </a:ln>
        </p:spPr>
        <p:txBody>
          <a:bodyPr vert="horz" wrap="square" lIns="0" tIns="44450" rIns="0" bIns="0" rtlCol="0">
            <a:spAutoFit/>
          </a:bodyPr>
          <a:lstStyle/>
          <a:p>
            <a:pPr marL="96520" marR="308610">
              <a:lnSpc>
                <a:spcPct val="100000"/>
              </a:lnSpc>
              <a:spcBef>
                <a:spcPts val="350"/>
              </a:spcBef>
            </a:pP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Infiniband</a:t>
            </a:r>
            <a:r>
              <a:rPr sz="1400" spc="-15"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high</a:t>
            </a:r>
            <a:r>
              <a:rPr sz="1400" spc="-25" dirty="0">
                <a:latin typeface="Times New Roman"/>
                <a:cs typeface="Times New Roman"/>
              </a:rPr>
              <a:t> </a:t>
            </a:r>
            <a:r>
              <a:rPr sz="1400" dirty="0">
                <a:latin typeface="Times New Roman"/>
                <a:cs typeface="Times New Roman"/>
              </a:rPr>
              <a:t>speed</a:t>
            </a:r>
            <a:r>
              <a:rPr sz="1400" spc="-10" dirty="0">
                <a:latin typeface="Times New Roman"/>
                <a:cs typeface="Times New Roman"/>
              </a:rPr>
              <a:t> </a:t>
            </a:r>
            <a:r>
              <a:rPr sz="1400" dirty="0">
                <a:latin typeface="Times New Roman"/>
                <a:cs typeface="Times New Roman"/>
              </a:rPr>
              <a:t>communication</a:t>
            </a:r>
            <a:r>
              <a:rPr sz="1400" spc="-30" dirty="0">
                <a:latin typeface="Times New Roman"/>
                <a:cs typeface="Times New Roman"/>
              </a:rPr>
              <a:t> </a:t>
            </a:r>
            <a:r>
              <a:rPr sz="1400" dirty="0">
                <a:latin typeface="Times New Roman"/>
                <a:cs typeface="Times New Roman"/>
              </a:rPr>
              <a:t>link</a:t>
            </a:r>
            <a:r>
              <a:rPr sz="1400" spc="-20" dirty="0">
                <a:latin typeface="Times New Roman"/>
                <a:cs typeface="Times New Roman"/>
              </a:rPr>
              <a:t> </a:t>
            </a:r>
            <a:r>
              <a:rPr sz="1400" dirty="0">
                <a:latin typeface="Times New Roman"/>
                <a:cs typeface="Times New Roman"/>
              </a:rPr>
              <a:t>between</a:t>
            </a:r>
            <a:r>
              <a:rPr sz="1400" spc="-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25" dirty="0">
                <a:latin typeface="Times New Roman"/>
                <a:cs typeface="Times New Roman"/>
              </a:rPr>
              <a:t>MGD </a:t>
            </a:r>
            <a:r>
              <a:rPr sz="1400" dirty="0">
                <a:latin typeface="Times New Roman"/>
                <a:cs typeface="Times New Roman"/>
              </a:rPr>
              <a:t>chassis</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VRE</a:t>
            </a:r>
            <a:r>
              <a:rPr sz="1400" spc="-20" dirty="0">
                <a:latin typeface="Times New Roman"/>
                <a:cs typeface="Times New Roman"/>
              </a:rPr>
              <a:t> </a:t>
            </a:r>
            <a:r>
              <a:rPr sz="1400" dirty="0">
                <a:latin typeface="Times New Roman"/>
                <a:cs typeface="Times New Roman"/>
              </a:rPr>
              <a:t>(Volume</a:t>
            </a:r>
            <a:r>
              <a:rPr sz="1400" spc="-20" dirty="0">
                <a:latin typeface="Times New Roman"/>
                <a:cs typeface="Times New Roman"/>
              </a:rPr>
              <a:t> </a:t>
            </a:r>
            <a:r>
              <a:rPr sz="1400" dirty="0">
                <a:latin typeface="Times New Roman"/>
                <a:cs typeface="Times New Roman"/>
              </a:rPr>
              <a:t>Reconstruction</a:t>
            </a:r>
            <a:r>
              <a:rPr sz="1400" spc="-25" dirty="0">
                <a:latin typeface="Times New Roman"/>
                <a:cs typeface="Times New Roman"/>
              </a:rPr>
              <a:t> </a:t>
            </a:r>
            <a:r>
              <a:rPr sz="1400" dirty="0">
                <a:latin typeface="Times New Roman"/>
                <a:cs typeface="Times New Roman"/>
              </a:rPr>
              <a:t>Engine).</a:t>
            </a:r>
            <a:r>
              <a:rPr sz="1400" spc="30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Infiniband</a:t>
            </a:r>
            <a:r>
              <a:rPr sz="1400" spc="-20" dirty="0">
                <a:latin typeface="Times New Roman"/>
                <a:cs typeface="Times New Roman"/>
              </a:rPr>
              <a:t> </a:t>
            </a:r>
            <a:r>
              <a:rPr sz="1400" spc="-10" dirty="0">
                <a:latin typeface="Times New Roman"/>
                <a:cs typeface="Times New Roman"/>
              </a:rPr>
              <a:t>board </a:t>
            </a:r>
            <a:r>
              <a:rPr sz="1400" dirty="0">
                <a:latin typeface="Times New Roman"/>
                <a:cs typeface="Times New Roman"/>
              </a:rPr>
              <a:t>transports</a:t>
            </a:r>
            <a:r>
              <a:rPr sz="1400" spc="-30" dirty="0">
                <a:latin typeface="Times New Roman"/>
                <a:cs typeface="Times New Roman"/>
              </a:rPr>
              <a:t> </a:t>
            </a:r>
            <a:r>
              <a:rPr sz="1400" dirty="0">
                <a:latin typeface="Times New Roman"/>
                <a:cs typeface="Times New Roman"/>
              </a:rPr>
              <a:t>acquired</a:t>
            </a:r>
            <a:r>
              <a:rPr sz="1400" spc="-30" dirty="0">
                <a:latin typeface="Times New Roman"/>
                <a:cs typeface="Times New Roman"/>
              </a:rPr>
              <a:t> </a:t>
            </a:r>
            <a:r>
              <a:rPr sz="1400" dirty="0">
                <a:latin typeface="Times New Roman"/>
                <a:cs typeface="Times New Roman"/>
              </a:rPr>
              <a:t>data</a:t>
            </a:r>
            <a:r>
              <a:rPr sz="1400" spc="-25" dirty="0">
                <a:latin typeface="Times New Roman"/>
                <a:cs typeface="Times New Roman"/>
              </a:rPr>
              <a:t> </a:t>
            </a:r>
            <a:r>
              <a:rPr sz="1400" dirty="0">
                <a:latin typeface="Times New Roman"/>
                <a:cs typeface="Times New Roman"/>
              </a:rPr>
              <a:t>frames</a:t>
            </a:r>
            <a:r>
              <a:rPr sz="1400" spc="-30" dirty="0">
                <a:latin typeface="Times New Roman"/>
                <a:cs typeface="Times New Roman"/>
              </a:rPr>
              <a:t> </a:t>
            </a:r>
            <a:r>
              <a:rPr sz="1400" dirty="0">
                <a:latin typeface="Times New Roman"/>
                <a:cs typeface="Times New Roman"/>
              </a:rPr>
              <a:t>output</a:t>
            </a:r>
            <a:r>
              <a:rPr sz="1400" spc="-30" dirty="0">
                <a:latin typeface="Times New Roman"/>
                <a:cs typeface="Times New Roman"/>
              </a:rPr>
              <a:t> </a:t>
            </a:r>
            <a:r>
              <a:rPr sz="1400" dirty="0">
                <a:latin typeface="Times New Roman"/>
                <a:cs typeface="Times New Roman"/>
              </a:rPr>
              <a:t>from</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DRF2</a:t>
            </a:r>
            <a:r>
              <a:rPr sz="1400" spc="-2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input</a:t>
            </a:r>
            <a:r>
              <a:rPr sz="1400" spc="-25" dirty="0">
                <a:latin typeface="Times New Roman"/>
                <a:cs typeface="Times New Roman"/>
              </a:rPr>
              <a:t> </a:t>
            </a:r>
            <a:r>
              <a:rPr sz="1400" dirty="0">
                <a:latin typeface="Times New Roman"/>
                <a:cs typeface="Times New Roman"/>
              </a:rPr>
              <a:t>buffers</a:t>
            </a:r>
            <a:r>
              <a:rPr sz="1400" spc="-30" dirty="0">
                <a:latin typeface="Times New Roman"/>
                <a:cs typeface="Times New Roman"/>
              </a:rPr>
              <a:t> </a:t>
            </a:r>
            <a:r>
              <a:rPr sz="1400" dirty="0">
                <a:latin typeface="Times New Roman"/>
                <a:cs typeface="Times New Roman"/>
              </a:rPr>
              <a:t>on</a:t>
            </a:r>
            <a:r>
              <a:rPr sz="1400" spc="-25" dirty="0">
                <a:latin typeface="Times New Roman"/>
                <a:cs typeface="Times New Roman"/>
              </a:rPr>
              <a:t> the </a:t>
            </a:r>
            <a:r>
              <a:rPr sz="1400" dirty="0">
                <a:latin typeface="Times New Roman"/>
                <a:cs typeface="Times New Roman"/>
              </a:rPr>
              <a:t>VRE.</a:t>
            </a:r>
            <a:r>
              <a:rPr sz="1400" spc="32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VRE</a:t>
            </a:r>
            <a:r>
              <a:rPr sz="1400" spc="-15" dirty="0">
                <a:latin typeface="Times New Roman"/>
                <a:cs typeface="Times New Roman"/>
              </a:rPr>
              <a:t> </a:t>
            </a:r>
            <a:r>
              <a:rPr sz="1400" dirty="0">
                <a:latin typeface="Times New Roman"/>
                <a:cs typeface="Times New Roman"/>
              </a:rPr>
              <a:t>does</a:t>
            </a:r>
            <a:r>
              <a:rPr sz="1400" spc="-10" dirty="0">
                <a:latin typeface="Times New Roman"/>
                <a:cs typeface="Times New Roman"/>
              </a:rPr>
              <a:t> </a:t>
            </a:r>
            <a:r>
              <a:rPr sz="1400" dirty="0">
                <a:latin typeface="Times New Roman"/>
                <a:cs typeface="Times New Roman"/>
              </a:rPr>
              <a:t>image</a:t>
            </a:r>
            <a:r>
              <a:rPr sz="1400" spc="-15" dirty="0">
                <a:latin typeface="Times New Roman"/>
                <a:cs typeface="Times New Roman"/>
              </a:rPr>
              <a:t> </a:t>
            </a:r>
            <a:r>
              <a:rPr sz="1400" spc="-10" dirty="0">
                <a:latin typeface="Times New Roman"/>
                <a:cs typeface="Times New Roman"/>
              </a:rPr>
              <a:t>reconstruction.</a:t>
            </a:r>
            <a:endParaRPr sz="1400">
              <a:latin typeface="Times New Roman"/>
              <a:cs typeface="Times New Roman"/>
            </a:endParaRPr>
          </a:p>
        </p:txBody>
      </p:sp>
      <p:sp>
        <p:nvSpPr>
          <p:cNvPr id="10" name="object 10"/>
          <p:cNvSpPr/>
          <p:nvPr/>
        </p:nvSpPr>
        <p:spPr>
          <a:xfrm>
            <a:off x="3551173" y="4880102"/>
            <a:ext cx="5351780" cy="952500"/>
          </a:xfrm>
          <a:custGeom>
            <a:avLst/>
            <a:gdLst/>
            <a:ahLst/>
            <a:cxnLst/>
            <a:rect l="l" t="t" r="r" b="b"/>
            <a:pathLst>
              <a:path w="5351780" h="952500">
                <a:moveTo>
                  <a:pt x="5351526" y="952500"/>
                </a:moveTo>
                <a:lnTo>
                  <a:pt x="5351526" y="0"/>
                </a:lnTo>
                <a:lnTo>
                  <a:pt x="0" y="0"/>
                </a:lnTo>
                <a:lnTo>
                  <a:pt x="0" y="952500"/>
                </a:lnTo>
                <a:lnTo>
                  <a:pt x="5351526" y="952500"/>
                </a:lnTo>
                <a:close/>
              </a:path>
            </a:pathLst>
          </a:custGeom>
          <a:solidFill>
            <a:srgbClr val="FFFFFF"/>
          </a:solidFill>
        </p:spPr>
        <p:txBody>
          <a:bodyPr wrap="square" lIns="0" tIns="0" rIns="0" bIns="0" rtlCol="0"/>
          <a:lstStyle/>
          <a:p>
            <a:endParaRPr/>
          </a:p>
        </p:txBody>
      </p:sp>
      <p:sp>
        <p:nvSpPr>
          <p:cNvPr id="11" name="object 11"/>
          <p:cNvSpPr txBox="1"/>
          <p:nvPr/>
        </p:nvSpPr>
        <p:spPr>
          <a:xfrm>
            <a:off x="3551173" y="4880102"/>
            <a:ext cx="5351780" cy="952500"/>
          </a:xfrm>
          <a:prstGeom prst="rect">
            <a:avLst/>
          </a:prstGeom>
          <a:ln w="9144">
            <a:solidFill>
              <a:srgbClr val="000000"/>
            </a:solidFill>
          </a:ln>
        </p:spPr>
        <p:txBody>
          <a:bodyPr vert="horz" wrap="square" lIns="0" tIns="44450" rIns="0" bIns="0" rtlCol="0">
            <a:spAutoFit/>
          </a:bodyPr>
          <a:lstStyle/>
          <a:p>
            <a:pPr marL="96520">
              <a:lnSpc>
                <a:spcPct val="100000"/>
              </a:lnSpc>
              <a:spcBef>
                <a:spcPts val="350"/>
              </a:spcBef>
            </a:pPr>
            <a:r>
              <a:rPr sz="1400" b="1" u="sng" dirty="0">
                <a:uFill>
                  <a:solidFill>
                    <a:srgbClr val="000000"/>
                  </a:solidFill>
                </a:uFill>
                <a:latin typeface="Times New Roman"/>
                <a:cs typeface="Times New Roman"/>
              </a:rPr>
              <a:t>Available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Infiniband</a:t>
            </a:r>
            <a:r>
              <a:rPr sz="1400" b="1" u="sng" spc="-4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marL="201930" indent="-105410">
              <a:lnSpc>
                <a:spcPct val="100000"/>
              </a:lnSpc>
              <a:spcBef>
                <a:spcPts val="830"/>
              </a:spcBef>
              <a:buFont typeface="Times New Roman"/>
              <a:buChar char="•"/>
              <a:tabLst>
                <a:tab pos="201930" algn="l"/>
              </a:tabLst>
            </a:pPr>
            <a:r>
              <a:rPr sz="1400" b="1" dirty="0">
                <a:latin typeface="Times New Roman"/>
                <a:cs typeface="Times New Roman"/>
              </a:rPr>
              <a:t>Infiniband</a:t>
            </a:r>
            <a:r>
              <a:rPr sz="1400" b="1" spc="-70" dirty="0">
                <a:latin typeface="Times New Roman"/>
                <a:cs typeface="Times New Roman"/>
              </a:rPr>
              <a:t> </a:t>
            </a:r>
            <a:r>
              <a:rPr sz="1400" b="1" dirty="0">
                <a:latin typeface="Times New Roman"/>
                <a:cs typeface="Times New Roman"/>
              </a:rPr>
              <a:t>Communications</a:t>
            </a:r>
            <a:r>
              <a:rPr sz="1400" b="1" spc="-65" dirty="0">
                <a:latin typeface="Times New Roman"/>
                <a:cs typeface="Times New Roman"/>
              </a:rPr>
              <a:t> </a:t>
            </a:r>
            <a:r>
              <a:rPr sz="1400" b="1" spc="-10" dirty="0">
                <a:latin typeface="Times New Roman"/>
                <a:cs typeface="Times New Roman"/>
              </a:rPr>
              <a:t>Diagnostic</a:t>
            </a:r>
            <a:endParaRPr sz="1400">
              <a:latin typeface="Times New Roman"/>
              <a:cs typeface="Times New Roman"/>
            </a:endParaRPr>
          </a:p>
          <a:p>
            <a:pPr marL="201930" indent="-105410">
              <a:lnSpc>
                <a:spcPct val="100000"/>
              </a:lnSpc>
              <a:spcBef>
                <a:spcPts val="835"/>
              </a:spcBef>
              <a:buFont typeface="Times New Roman"/>
              <a:buChar char="•"/>
              <a:tabLst>
                <a:tab pos="201930" algn="l"/>
              </a:tabLst>
            </a:pPr>
            <a:r>
              <a:rPr sz="1400" b="1" dirty="0">
                <a:latin typeface="Times New Roman"/>
                <a:cs typeface="Times New Roman"/>
              </a:rPr>
              <a:t>Infiniband</a:t>
            </a:r>
            <a:r>
              <a:rPr sz="1400" b="1" spc="-45" dirty="0">
                <a:latin typeface="Times New Roman"/>
                <a:cs typeface="Times New Roman"/>
              </a:rPr>
              <a:t> </a:t>
            </a:r>
            <a:r>
              <a:rPr sz="1400" b="1" dirty="0">
                <a:latin typeface="Times New Roman"/>
                <a:cs typeface="Times New Roman"/>
              </a:rPr>
              <a:t>Board</a:t>
            </a:r>
            <a:r>
              <a:rPr sz="1400" b="1" spc="-35" dirty="0">
                <a:latin typeface="Times New Roman"/>
                <a:cs typeface="Times New Roman"/>
              </a:rPr>
              <a:t> </a:t>
            </a:r>
            <a:r>
              <a:rPr sz="1400" b="1" dirty="0">
                <a:latin typeface="Times New Roman"/>
                <a:cs typeface="Times New Roman"/>
              </a:rPr>
              <a:t>Loopback</a:t>
            </a:r>
            <a:r>
              <a:rPr sz="1400" b="1" spc="-35" dirty="0">
                <a:latin typeface="Times New Roman"/>
                <a:cs typeface="Times New Roman"/>
              </a:rPr>
              <a:t> </a:t>
            </a:r>
            <a:r>
              <a:rPr sz="1400" b="1" spc="-20" dirty="0">
                <a:latin typeface="Times New Roman"/>
                <a:cs typeface="Times New Roman"/>
              </a:rPr>
              <a:t>Test</a:t>
            </a:r>
            <a:endParaRPr sz="1400">
              <a:latin typeface="Times New Roman"/>
              <a:cs typeface="Times New Roman"/>
            </a:endParaRPr>
          </a:p>
        </p:txBody>
      </p:sp>
      <p:sp>
        <p:nvSpPr>
          <p:cNvPr id="12" name="object 12"/>
          <p:cNvSpPr txBox="1"/>
          <p:nvPr/>
        </p:nvSpPr>
        <p:spPr>
          <a:xfrm>
            <a:off x="728726" y="670051"/>
            <a:ext cx="4579620" cy="376555"/>
          </a:xfrm>
          <a:prstGeom prst="rect">
            <a:avLst/>
          </a:prstGeom>
          <a:solidFill>
            <a:srgbClr val="FFFFFF"/>
          </a:solidFill>
          <a:ln w="9144">
            <a:solidFill>
              <a:srgbClr val="000000"/>
            </a:solidFill>
          </a:ln>
        </p:spPr>
        <p:txBody>
          <a:bodyPr vert="horz" wrap="square" lIns="0" tIns="42545" rIns="0" bIns="0" rtlCol="0">
            <a:spAutoFit/>
          </a:bodyPr>
          <a:lstStyle/>
          <a:p>
            <a:pPr algn="ctr">
              <a:lnSpc>
                <a:spcPct val="100000"/>
              </a:lnSpc>
              <a:spcBef>
                <a:spcPts val="335"/>
              </a:spcBef>
            </a:pPr>
            <a:r>
              <a:rPr sz="1800" b="1" dirty="0">
                <a:latin typeface="Times New Roman"/>
                <a:cs typeface="Times New Roman"/>
              </a:rPr>
              <a:t>Infiniband</a:t>
            </a:r>
            <a:r>
              <a:rPr sz="1800" b="1" spc="395" dirty="0">
                <a:latin typeface="Times New Roman"/>
                <a:cs typeface="Times New Roman"/>
              </a:rPr>
              <a:t> </a:t>
            </a:r>
            <a:r>
              <a:rPr sz="1800" b="1" dirty="0">
                <a:latin typeface="Times New Roman"/>
                <a:cs typeface="Times New Roman"/>
              </a:rPr>
              <a:t>Board</a:t>
            </a:r>
            <a:r>
              <a:rPr sz="1800" b="1" spc="-25" dirty="0">
                <a:latin typeface="Times New Roman"/>
                <a:cs typeface="Times New Roman"/>
              </a:rPr>
              <a:t> </a:t>
            </a:r>
            <a:r>
              <a:rPr sz="1800" dirty="0">
                <a:latin typeface="Times New Roman"/>
                <a:cs typeface="Times New Roman"/>
              </a:rPr>
              <a:t>(Slot)</a:t>
            </a:r>
            <a:r>
              <a:rPr sz="1800" spc="-25" dirty="0">
                <a:latin typeface="Times New Roman"/>
                <a:cs typeface="Times New Roman"/>
              </a:rPr>
              <a:t> 2F</a:t>
            </a:r>
            <a:endParaRPr sz="1800">
              <a:latin typeface="Times New Roman"/>
              <a:cs typeface="Times New Roman"/>
            </a:endParaRPr>
          </a:p>
        </p:txBody>
      </p:sp>
      <p:sp>
        <p:nvSpPr>
          <p:cNvPr id="13" name="object 13"/>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sp>
        <p:nvSpPr>
          <p:cNvPr id="14" name="object 14"/>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5" dirty="0">
                <a:latin typeface="Times New Roman"/>
                <a:cs typeface="Times New Roman"/>
              </a:rPr>
              <a:t> </a:t>
            </a:r>
            <a:r>
              <a:rPr sz="2000" b="1" dirty="0">
                <a:latin typeface="Times New Roman"/>
                <a:cs typeface="Times New Roman"/>
              </a:rPr>
              <a:t>Chassis</a:t>
            </a:r>
            <a:r>
              <a:rPr sz="2000" b="1" spc="-2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5" name="object 15"/>
          <p:cNvGrpSpPr/>
          <p:nvPr/>
        </p:nvGrpSpPr>
        <p:grpSpPr>
          <a:xfrm>
            <a:off x="7620254" y="-4572"/>
            <a:ext cx="1503045" cy="280670"/>
            <a:chOff x="7620254" y="-4572"/>
            <a:chExt cx="1503045" cy="280670"/>
          </a:xfrm>
        </p:grpSpPr>
        <p:sp>
          <p:nvSpPr>
            <p:cNvPr id="16" name="object 16"/>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18" name="object 18"/>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68300" y="250952"/>
            <a:ext cx="8289925" cy="6215380"/>
            <a:chOff x="368300" y="250952"/>
            <a:chExt cx="8289925" cy="6215380"/>
          </a:xfrm>
        </p:grpSpPr>
        <p:pic>
          <p:nvPicPr>
            <p:cNvPr id="3" name="object 3"/>
            <p:cNvPicPr/>
            <p:nvPr/>
          </p:nvPicPr>
          <p:blipFill>
            <a:blip r:embed="rId2" cstate="print"/>
            <a:stretch>
              <a:fillRect/>
            </a:stretch>
          </p:blipFill>
          <p:spPr>
            <a:xfrm>
              <a:off x="368300" y="250952"/>
              <a:ext cx="8289543" cy="6214871"/>
            </a:xfrm>
            <a:prstGeom prst="rect">
              <a:avLst/>
            </a:prstGeom>
          </p:spPr>
        </p:pic>
        <p:sp>
          <p:nvSpPr>
            <p:cNvPr id="4" name="object 4"/>
            <p:cNvSpPr/>
            <p:nvPr/>
          </p:nvSpPr>
          <p:spPr>
            <a:xfrm>
              <a:off x="3753103" y="438404"/>
              <a:ext cx="4411345" cy="457200"/>
            </a:xfrm>
            <a:custGeom>
              <a:avLst/>
              <a:gdLst/>
              <a:ahLst/>
              <a:cxnLst/>
              <a:rect l="l" t="t" r="r" b="b"/>
              <a:pathLst>
                <a:path w="4411345" h="457200">
                  <a:moveTo>
                    <a:pt x="4411217" y="457199"/>
                  </a:moveTo>
                  <a:lnTo>
                    <a:pt x="4411217" y="0"/>
                  </a:lnTo>
                  <a:lnTo>
                    <a:pt x="0" y="0"/>
                  </a:lnTo>
                  <a:lnTo>
                    <a:pt x="0" y="457200"/>
                  </a:lnTo>
                  <a:lnTo>
                    <a:pt x="4411217" y="457199"/>
                  </a:lnTo>
                  <a:close/>
                </a:path>
              </a:pathLst>
            </a:custGeom>
            <a:solidFill>
              <a:srgbClr val="FFFFFF"/>
            </a:solidFill>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Digital</a:t>
            </a:r>
            <a:r>
              <a:rPr spc="-30" dirty="0"/>
              <a:t> </a:t>
            </a:r>
            <a:r>
              <a:rPr dirty="0"/>
              <a:t>Receive</a:t>
            </a:r>
            <a:r>
              <a:rPr spc="-30" dirty="0"/>
              <a:t> </a:t>
            </a:r>
            <a:r>
              <a:rPr dirty="0"/>
              <a:t>Filter</a:t>
            </a:r>
            <a:r>
              <a:rPr spc="-30" dirty="0"/>
              <a:t> </a:t>
            </a:r>
            <a:r>
              <a:rPr dirty="0"/>
              <a:t>DRF2</a:t>
            </a:r>
            <a:r>
              <a:rPr spc="-30" dirty="0"/>
              <a:t> </a:t>
            </a:r>
            <a:r>
              <a:rPr spc="-10" dirty="0"/>
              <a:t>board</a:t>
            </a:r>
          </a:p>
        </p:txBody>
      </p:sp>
      <p:sp>
        <p:nvSpPr>
          <p:cNvPr id="6" name="object 6"/>
          <p:cNvSpPr/>
          <p:nvPr/>
        </p:nvSpPr>
        <p:spPr>
          <a:xfrm>
            <a:off x="3716528" y="1147825"/>
            <a:ext cx="5139055" cy="1581150"/>
          </a:xfrm>
          <a:custGeom>
            <a:avLst/>
            <a:gdLst/>
            <a:ahLst/>
            <a:cxnLst/>
            <a:rect l="l" t="t" r="r" b="b"/>
            <a:pathLst>
              <a:path w="5139055" h="1581150">
                <a:moveTo>
                  <a:pt x="5138928" y="1581150"/>
                </a:moveTo>
                <a:lnTo>
                  <a:pt x="5138928" y="0"/>
                </a:lnTo>
                <a:lnTo>
                  <a:pt x="0" y="0"/>
                </a:lnTo>
                <a:lnTo>
                  <a:pt x="0" y="1581150"/>
                </a:lnTo>
                <a:lnTo>
                  <a:pt x="5138928" y="1581150"/>
                </a:lnTo>
                <a:close/>
              </a:path>
            </a:pathLst>
          </a:custGeom>
          <a:solidFill>
            <a:srgbClr val="FFFFFF"/>
          </a:solidFill>
        </p:spPr>
        <p:txBody>
          <a:bodyPr wrap="square" lIns="0" tIns="0" rIns="0" bIns="0" rtlCol="0"/>
          <a:lstStyle/>
          <a:p>
            <a:endParaRPr/>
          </a:p>
        </p:txBody>
      </p:sp>
      <p:sp>
        <p:nvSpPr>
          <p:cNvPr id="7" name="object 7"/>
          <p:cNvSpPr txBox="1">
            <a:spLocks noGrp="1"/>
          </p:cNvSpPr>
          <p:nvPr>
            <p:ph type="body" idx="1"/>
          </p:nvPr>
        </p:nvSpPr>
        <p:spPr>
          <a:prstGeom prst="rect">
            <a:avLst/>
          </a:prstGeom>
        </p:spPr>
        <p:txBody>
          <a:bodyPr vert="horz" wrap="square" lIns="0" tIns="12065" rIns="0" bIns="0" rtlCol="0">
            <a:spAutoFit/>
          </a:bodyPr>
          <a:lstStyle/>
          <a:p>
            <a:pPr marL="12700" marR="5080">
              <a:lnSpc>
                <a:spcPct val="100000"/>
              </a:lnSpc>
              <a:spcBef>
                <a:spcPts val="95"/>
              </a:spcBef>
            </a:pPr>
            <a:r>
              <a:rPr dirty="0"/>
              <a:t>The</a:t>
            </a:r>
            <a:r>
              <a:rPr spc="-25" dirty="0"/>
              <a:t> </a:t>
            </a:r>
            <a:r>
              <a:rPr dirty="0"/>
              <a:t>DRF2</a:t>
            </a:r>
            <a:r>
              <a:rPr spc="-20" dirty="0"/>
              <a:t> </a:t>
            </a:r>
            <a:r>
              <a:rPr dirty="0"/>
              <a:t>Board</a:t>
            </a:r>
            <a:r>
              <a:rPr spc="-25" dirty="0"/>
              <a:t> </a:t>
            </a:r>
            <a:r>
              <a:rPr dirty="0"/>
              <a:t>supports</a:t>
            </a:r>
            <a:r>
              <a:rPr spc="-25" dirty="0"/>
              <a:t> </a:t>
            </a:r>
            <a:r>
              <a:rPr dirty="0"/>
              <a:t>16</a:t>
            </a:r>
            <a:r>
              <a:rPr spc="-20" dirty="0"/>
              <a:t> </a:t>
            </a:r>
            <a:r>
              <a:rPr dirty="0"/>
              <a:t>receive</a:t>
            </a:r>
            <a:r>
              <a:rPr spc="-20" dirty="0"/>
              <a:t> </a:t>
            </a:r>
            <a:r>
              <a:rPr dirty="0"/>
              <a:t>channels,</a:t>
            </a:r>
            <a:r>
              <a:rPr spc="-15" dirty="0"/>
              <a:t> </a:t>
            </a:r>
            <a:r>
              <a:rPr dirty="0"/>
              <a:t>each</a:t>
            </a:r>
            <a:r>
              <a:rPr spc="-25" dirty="0"/>
              <a:t> </a:t>
            </a:r>
            <a:r>
              <a:rPr dirty="0"/>
              <a:t>at</a:t>
            </a:r>
            <a:r>
              <a:rPr spc="-20" dirty="0"/>
              <a:t> </a:t>
            </a:r>
            <a:r>
              <a:rPr dirty="0"/>
              <a:t>+/-</a:t>
            </a:r>
            <a:r>
              <a:rPr spc="-20" dirty="0"/>
              <a:t> </a:t>
            </a:r>
            <a:r>
              <a:rPr spc="-10" dirty="0"/>
              <a:t>250KHz </a:t>
            </a:r>
            <a:r>
              <a:rPr dirty="0"/>
              <a:t>bandwidth.</a:t>
            </a:r>
            <a:r>
              <a:rPr spc="305" dirty="0"/>
              <a:t> </a:t>
            </a:r>
            <a:r>
              <a:rPr dirty="0"/>
              <a:t>Each</a:t>
            </a:r>
            <a:r>
              <a:rPr spc="-20" dirty="0"/>
              <a:t> </a:t>
            </a:r>
            <a:r>
              <a:rPr dirty="0"/>
              <a:t>MGD</a:t>
            </a:r>
            <a:r>
              <a:rPr spc="-25" dirty="0"/>
              <a:t> </a:t>
            </a:r>
            <a:r>
              <a:rPr dirty="0"/>
              <a:t>Chassis</a:t>
            </a:r>
            <a:r>
              <a:rPr spc="-20" dirty="0"/>
              <a:t> </a:t>
            </a:r>
            <a:r>
              <a:rPr dirty="0"/>
              <a:t>contains</a:t>
            </a:r>
            <a:r>
              <a:rPr spc="-10" dirty="0"/>
              <a:t> </a:t>
            </a:r>
            <a:r>
              <a:rPr dirty="0"/>
              <a:t>at</a:t>
            </a:r>
            <a:r>
              <a:rPr spc="-25" dirty="0"/>
              <a:t> </a:t>
            </a:r>
            <a:r>
              <a:rPr dirty="0"/>
              <a:t>least</a:t>
            </a:r>
            <a:r>
              <a:rPr spc="-20" dirty="0"/>
              <a:t> </a:t>
            </a:r>
            <a:r>
              <a:rPr dirty="0"/>
              <a:t>one</a:t>
            </a:r>
            <a:r>
              <a:rPr spc="-20" dirty="0"/>
              <a:t> </a:t>
            </a:r>
            <a:r>
              <a:rPr dirty="0"/>
              <a:t>of</a:t>
            </a:r>
            <a:r>
              <a:rPr spc="-20" dirty="0"/>
              <a:t> </a:t>
            </a:r>
            <a:r>
              <a:rPr dirty="0"/>
              <a:t>these</a:t>
            </a:r>
            <a:r>
              <a:rPr spc="-25" dirty="0"/>
              <a:t> </a:t>
            </a:r>
            <a:r>
              <a:rPr spc="-10" dirty="0"/>
              <a:t>boards. </a:t>
            </a:r>
            <a:r>
              <a:rPr dirty="0"/>
              <a:t>The</a:t>
            </a:r>
            <a:r>
              <a:rPr spc="-20" dirty="0"/>
              <a:t> </a:t>
            </a:r>
            <a:r>
              <a:rPr dirty="0"/>
              <a:t>data</a:t>
            </a:r>
            <a:r>
              <a:rPr spc="-20" dirty="0"/>
              <a:t> </a:t>
            </a:r>
            <a:r>
              <a:rPr dirty="0"/>
              <a:t>handled</a:t>
            </a:r>
            <a:r>
              <a:rPr spc="-15" dirty="0"/>
              <a:t> </a:t>
            </a:r>
            <a:r>
              <a:rPr dirty="0"/>
              <a:t>by</a:t>
            </a:r>
            <a:r>
              <a:rPr spc="-20" dirty="0"/>
              <a:t> </a:t>
            </a:r>
            <a:r>
              <a:rPr dirty="0"/>
              <a:t>this</a:t>
            </a:r>
            <a:r>
              <a:rPr spc="-20" dirty="0"/>
              <a:t> </a:t>
            </a:r>
            <a:r>
              <a:rPr dirty="0"/>
              <a:t>board</a:t>
            </a:r>
            <a:r>
              <a:rPr spc="-15" dirty="0"/>
              <a:t> </a:t>
            </a:r>
            <a:r>
              <a:rPr dirty="0"/>
              <a:t>is</a:t>
            </a:r>
            <a:r>
              <a:rPr spc="-20" dirty="0"/>
              <a:t> </a:t>
            </a:r>
            <a:r>
              <a:rPr dirty="0"/>
              <a:t>digital</a:t>
            </a:r>
            <a:r>
              <a:rPr spc="-20" dirty="0"/>
              <a:t> </a:t>
            </a:r>
            <a:r>
              <a:rPr dirty="0"/>
              <a:t>and</a:t>
            </a:r>
            <a:r>
              <a:rPr spc="-15" dirty="0"/>
              <a:t> </a:t>
            </a:r>
            <a:r>
              <a:rPr dirty="0"/>
              <a:t>not</a:t>
            </a:r>
            <a:r>
              <a:rPr spc="-20" dirty="0"/>
              <a:t> </a:t>
            </a:r>
            <a:r>
              <a:rPr dirty="0"/>
              <a:t>analog.</a:t>
            </a:r>
            <a:r>
              <a:rPr spc="-20" dirty="0"/>
              <a:t> </a:t>
            </a:r>
            <a:r>
              <a:rPr dirty="0"/>
              <a:t>This</a:t>
            </a:r>
            <a:r>
              <a:rPr spc="-15" dirty="0"/>
              <a:t> </a:t>
            </a:r>
            <a:r>
              <a:rPr spc="-10" dirty="0"/>
              <a:t>board </a:t>
            </a:r>
            <a:r>
              <a:rPr dirty="0"/>
              <a:t>provides</a:t>
            </a:r>
            <a:r>
              <a:rPr spc="-35" dirty="0"/>
              <a:t> </a:t>
            </a:r>
            <a:r>
              <a:rPr dirty="0"/>
              <a:t>digital</a:t>
            </a:r>
            <a:r>
              <a:rPr spc="-30" dirty="0"/>
              <a:t> </a:t>
            </a:r>
            <a:r>
              <a:rPr dirty="0"/>
              <a:t>filtering</a:t>
            </a:r>
            <a:r>
              <a:rPr spc="-45" dirty="0"/>
              <a:t> </a:t>
            </a:r>
            <a:r>
              <a:rPr dirty="0"/>
              <a:t>for</a:t>
            </a:r>
            <a:r>
              <a:rPr spc="-30" dirty="0"/>
              <a:t> </a:t>
            </a:r>
            <a:r>
              <a:rPr dirty="0"/>
              <a:t>the</a:t>
            </a:r>
            <a:r>
              <a:rPr spc="-30" dirty="0"/>
              <a:t> </a:t>
            </a:r>
            <a:r>
              <a:rPr dirty="0"/>
              <a:t>digitized</a:t>
            </a:r>
            <a:r>
              <a:rPr spc="-35" dirty="0"/>
              <a:t> </a:t>
            </a:r>
            <a:r>
              <a:rPr dirty="0"/>
              <a:t>data</a:t>
            </a:r>
            <a:r>
              <a:rPr spc="-30" dirty="0"/>
              <a:t> </a:t>
            </a:r>
            <a:r>
              <a:rPr dirty="0"/>
              <a:t>received</a:t>
            </a:r>
            <a:r>
              <a:rPr spc="-30" dirty="0"/>
              <a:t> </a:t>
            </a:r>
            <a:r>
              <a:rPr dirty="0"/>
              <a:t>via</a:t>
            </a:r>
            <a:r>
              <a:rPr spc="-30" dirty="0"/>
              <a:t> </a:t>
            </a:r>
            <a:r>
              <a:rPr dirty="0"/>
              <a:t>the</a:t>
            </a:r>
            <a:r>
              <a:rPr spc="-30" dirty="0"/>
              <a:t> </a:t>
            </a:r>
            <a:r>
              <a:rPr spc="-20" dirty="0"/>
              <a:t>IRF2 </a:t>
            </a:r>
            <a:r>
              <a:rPr dirty="0"/>
              <a:t>from</a:t>
            </a:r>
            <a:r>
              <a:rPr spc="-40" dirty="0"/>
              <a:t> </a:t>
            </a:r>
            <a:r>
              <a:rPr dirty="0"/>
              <a:t>the</a:t>
            </a:r>
            <a:r>
              <a:rPr spc="-25" dirty="0"/>
              <a:t> </a:t>
            </a:r>
            <a:r>
              <a:rPr dirty="0"/>
              <a:t>receiver</a:t>
            </a:r>
            <a:r>
              <a:rPr spc="-30" dirty="0"/>
              <a:t> </a:t>
            </a:r>
            <a:r>
              <a:rPr dirty="0"/>
              <a:t>boards</a:t>
            </a:r>
            <a:r>
              <a:rPr spc="-25" dirty="0"/>
              <a:t> </a:t>
            </a:r>
            <a:r>
              <a:rPr dirty="0"/>
              <a:t>in</a:t>
            </a:r>
            <a:r>
              <a:rPr spc="-30" dirty="0"/>
              <a:t> </a:t>
            </a:r>
            <a:r>
              <a:rPr dirty="0"/>
              <a:t>the</a:t>
            </a:r>
            <a:r>
              <a:rPr spc="-15" dirty="0"/>
              <a:t> </a:t>
            </a:r>
            <a:r>
              <a:rPr dirty="0"/>
              <a:t>RRF</a:t>
            </a:r>
            <a:r>
              <a:rPr spc="-20" dirty="0"/>
              <a:t> </a:t>
            </a:r>
            <a:r>
              <a:rPr dirty="0"/>
              <a:t>chassis.</a:t>
            </a:r>
            <a:r>
              <a:rPr spc="-25" dirty="0"/>
              <a:t> </a:t>
            </a:r>
            <a:r>
              <a:rPr dirty="0"/>
              <a:t>After</a:t>
            </a:r>
            <a:r>
              <a:rPr spc="-20" dirty="0"/>
              <a:t> </a:t>
            </a:r>
            <a:r>
              <a:rPr dirty="0"/>
              <a:t>a</a:t>
            </a:r>
            <a:r>
              <a:rPr spc="-25" dirty="0"/>
              <a:t> </a:t>
            </a:r>
            <a:r>
              <a:rPr dirty="0"/>
              <a:t>successful</a:t>
            </a:r>
            <a:r>
              <a:rPr spc="-25" dirty="0"/>
              <a:t> </a:t>
            </a:r>
            <a:r>
              <a:rPr b="1" spc="-25" dirty="0">
                <a:latin typeface="Times New Roman"/>
                <a:cs typeface="Times New Roman"/>
              </a:rPr>
              <a:t>TPS </a:t>
            </a:r>
            <a:r>
              <a:rPr b="1" dirty="0">
                <a:latin typeface="Times New Roman"/>
                <a:cs typeface="Times New Roman"/>
              </a:rPr>
              <a:t>Reset</a:t>
            </a:r>
            <a:r>
              <a:rPr b="1" spc="-30" dirty="0">
                <a:latin typeface="Times New Roman"/>
                <a:cs typeface="Times New Roman"/>
              </a:rPr>
              <a:t> </a:t>
            </a:r>
            <a:r>
              <a:rPr dirty="0"/>
              <a:t>the</a:t>
            </a:r>
            <a:r>
              <a:rPr spc="-20" dirty="0"/>
              <a:t> </a:t>
            </a:r>
            <a:r>
              <a:rPr dirty="0"/>
              <a:t>LEDs</a:t>
            </a:r>
            <a:r>
              <a:rPr spc="-25" dirty="0"/>
              <a:t> </a:t>
            </a:r>
            <a:r>
              <a:rPr dirty="0"/>
              <a:t>on</a:t>
            </a:r>
            <a:r>
              <a:rPr spc="-25" dirty="0"/>
              <a:t> </a:t>
            </a:r>
            <a:r>
              <a:rPr dirty="0"/>
              <a:t>the</a:t>
            </a:r>
            <a:r>
              <a:rPr spc="-30" dirty="0"/>
              <a:t> </a:t>
            </a:r>
            <a:r>
              <a:rPr dirty="0"/>
              <a:t>front</a:t>
            </a:r>
            <a:r>
              <a:rPr spc="-25" dirty="0"/>
              <a:t> </a:t>
            </a:r>
            <a:r>
              <a:rPr dirty="0"/>
              <a:t>of</a:t>
            </a:r>
            <a:r>
              <a:rPr spc="-25" dirty="0"/>
              <a:t> </a:t>
            </a:r>
            <a:r>
              <a:rPr dirty="0"/>
              <a:t>the</a:t>
            </a:r>
            <a:r>
              <a:rPr spc="-25" dirty="0"/>
              <a:t> </a:t>
            </a:r>
            <a:r>
              <a:rPr dirty="0"/>
              <a:t>DRF2</a:t>
            </a:r>
            <a:r>
              <a:rPr spc="-20" dirty="0"/>
              <a:t> </a:t>
            </a:r>
            <a:r>
              <a:rPr dirty="0"/>
              <a:t>Board</a:t>
            </a:r>
            <a:r>
              <a:rPr spc="-25" dirty="0"/>
              <a:t> </a:t>
            </a:r>
            <a:r>
              <a:rPr dirty="0"/>
              <a:t>should</a:t>
            </a:r>
            <a:r>
              <a:rPr spc="-25" dirty="0"/>
              <a:t> </a:t>
            </a:r>
            <a:r>
              <a:rPr dirty="0"/>
              <a:t>flash</a:t>
            </a:r>
            <a:r>
              <a:rPr spc="-25" dirty="0"/>
              <a:t> </a:t>
            </a:r>
            <a:r>
              <a:rPr dirty="0"/>
              <a:t>in</a:t>
            </a:r>
            <a:r>
              <a:rPr spc="-25" dirty="0"/>
              <a:t> </a:t>
            </a:r>
            <a:r>
              <a:rPr spc="-50" dirty="0"/>
              <a:t>a </a:t>
            </a:r>
            <a:r>
              <a:rPr dirty="0"/>
              <a:t>vertical</a:t>
            </a:r>
            <a:r>
              <a:rPr spc="-45" dirty="0"/>
              <a:t> </a:t>
            </a:r>
            <a:r>
              <a:rPr spc="-10" dirty="0"/>
              <a:t>sequence.</a:t>
            </a:r>
          </a:p>
        </p:txBody>
      </p:sp>
      <p:sp>
        <p:nvSpPr>
          <p:cNvPr id="8" name="object 8"/>
          <p:cNvSpPr/>
          <p:nvPr/>
        </p:nvSpPr>
        <p:spPr>
          <a:xfrm>
            <a:off x="3641852" y="3993896"/>
            <a:ext cx="5139055" cy="1400810"/>
          </a:xfrm>
          <a:custGeom>
            <a:avLst/>
            <a:gdLst/>
            <a:ahLst/>
            <a:cxnLst/>
            <a:rect l="l" t="t" r="r" b="b"/>
            <a:pathLst>
              <a:path w="5139055" h="1400810">
                <a:moveTo>
                  <a:pt x="5138928" y="1400555"/>
                </a:moveTo>
                <a:lnTo>
                  <a:pt x="5138928" y="0"/>
                </a:lnTo>
                <a:lnTo>
                  <a:pt x="0" y="0"/>
                </a:lnTo>
                <a:lnTo>
                  <a:pt x="0" y="1400556"/>
                </a:lnTo>
                <a:lnTo>
                  <a:pt x="5138928" y="1400555"/>
                </a:lnTo>
                <a:close/>
              </a:path>
            </a:pathLst>
          </a:custGeom>
          <a:solidFill>
            <a:srgbClr val="FFFFFF"/>
          </a:solidFill>
        </p:spPr>
        <p:txBody>
          <a:bodyPr wrap="square" lIns="0" tIns="0" rIns="0" bIns="0" rtlCol="0"/>
          <a:lstStyle/>
          <a:p>
            <a:endParaRPr/>
          </a:p>
        </p:txBody>
      </p:sp>
      <p:sp>
        <p:nvSpPr>
          <p:cNvPr id="9" name="object 9"/>
          <p:cNvSpPr txBox="1"/>
          <p:nvPr/>
        </p:nvSpPr>
        <p:spPr>
          <a:xfrm>
            <a:off x="3721353" y="4046727"/>
            <a:ext cx="3890645" cy="989965"/>
          </a:xfrm>
          <a:prstGeom prst="rect">
            <a:avLst/>
          </a:prstGeom>
        </p:spPr>
        <p:txBody>
          <a:bodyPr vert="horz" wrap="square" lIns="0" tIns="12065" rIns="0" bIns="0" rtlCol="0">
            <a:spAutoFit/>
          </a:bodyPr>
          <a:lstStyle/>
          <a:p>
            <a:pPr marL="63500">
              <a:lnSpc>
                <a:spcPct val="100000"/>
              </a:lnSpc>
              <a:spcBef>
                <a:spcPts val="95"/>
              </a:spcBef>
            </a:pPr>
            <a:r>
              <a:rPr sz="1400" b="1" u="sng" dirty="0">
                <a:uFill>
                  <a:solidFill>
                    <a:srgbClr val="000000"/>
                  </a:solidFill>
                </a:uFill>
                <a:latin typeface="Times New Roman"/>
                <a:cs typeface="Times New Roman"/>
              </a:rPr>
              <a:t>Available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DRF2</a:t>
            </a:r>
            <a:r>
              <a:rPr sz="1400" b="1" u="sng" spc="-3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a:lnSpc>
                <a:spcPct val="100000"/>
              </a:lnSpc>
              <a:spcBef>
                <a:spcPts val="114"/>
              </a:spcBef>
            </a:pPr>
            <a:endParaRPr sz="1400">
              <a:latin typeface="Times New Roman"/>
              <a:cs typeface="Times New Roman"/>
            </a:endParaRPr>
          </a:p>
          <a:p>
            <a:pPr marL="74295" indent="-69850">
              <a:lnSpc>
                <a:spcPct val="100000"/>
              </a:lnSpc>
              <a:buSzPct val="92857"/>
              <a:buFont typeface="Times New Roman"/>
              <a:buChar char="•"/>
              <a:tabLst>
                <a:tab pos="74295" algn="l"/>
              </a:tabLst>
            </a:pPr>
            <a:r>
              <a:rPr sz="1400" b="1" dirty="0">
                <a:latin typeface="Times New Roman"/>
                <a:cs typeface="Times New Roman"/>
              </a:rPr>
              <a:t>MGD</a:t>
            </a:r>
            <a:r>
              <a:rPr sz="1400" b="1" spc="-30" dirty="0">
                <a:latin typeface="Times New Roman"/>
                <a:cs typeface="Times New Roman"/>
              </a:rPr>
              <a:t> </a:t>
            </a:r>
            <a:r>
              <a:rPr sz="1400" b="1" dirty="0">
                <a:latin typeface="Times New Roman"/>
                <a:cs typeface="Times New Roman"/>
              </a:rPr>
              <a:t>Board</a:t>
            </a:r>
            <a:r>
              <a:rPr sz="1400" b="1" spc="-30" dirty="0">
                <a:latin typeface="Times New Roman"/>
                <a:cs typeface="Times New Roman"/>
              </a:rPr>
              <a:t> </a:t>
            </a:r>
            <a:r>
              <a:rPr sz="1400" b="1" dirty="0">
                <a:latin typeface="Times New Roman"/>
                <a:cs typeface="Times New Roman"/>
              </a:rPr>
              <a:t>Level</a:t>
            </a:r>
            <a:r>
              <a:rPr sz="1400" b="1" spc="-30" dirty="0">
                <a:latin typeface="Times New Roman"/>
                <a:cs typeface="Times New Roman"/>
              </a:rPr>
              <a:t> </a:t>
            </a:r>
            <a:r>
              <a:rPr sz="1400" b="1" dirty="0">
                <a:latin typeface="Times New Roman"/>
                <a:cs typeface="Times New Roman"/>
              </a:rPr>
              <a:t>Diagnostics:</a:t>
            </a:r>
            <a:r>
              <a:rPr sz="1400" b="1" spc="-30" dirty="0">
                <a:latin typeface="Times New Roman"/>
                <a:cs typeface="Times New Roman"/>
              </a:rPr>
              <a:t> </a:t>
            </a:r>
            <a:r>
              <a:rPr sz="1400" dirty="0">
                <a:latin typeface="Times New Roman"/>
                <a:cs typeface="Times New Roman"/>
              </a:rPr>
              <a:t>DRF</a:t>
            </a:r>
            <a:r>
              <a:rPr sz="1400" spc="-30" dirty="0">
                <a:latin typeface="Times New Roman"/>
                <a:cs typeface="Times New Roman"/>
              </a:rPr>
              <a:t> </a:t>
            </a:r>
            <a:r>
              <a:rPr sz="1400" spc="-25" dirty="0">
                <a:latin typeface="Times New Roman"/>
                <a:cs typeface="Times New Roman"/>
              </a:rPr>
              <a:t>BLD</a:t>
            </a:r>
            <a:endParaRPr sz="1400">
              <a:latin typeface="Times New Roman"/>
              <a:cs typeface="Times New Roman"/>
            </a:endParaRPr>
          </a:p>
          <a:p>
            <a:pPr marL="74295" indent="-69850">
              <a:lnSpc>
                <a:spcPct val="100000"/>
              </a:lnSpc>
              <a:spcBef>
                <a:spcPts val="835"/>
              </a:spcBef>
              <a:buSzPct val="92857"/>
              <a:buFont typeface="Times New Roman"/>
              <a:buChar char="•"/>
              <a:tabLst>
                <a:tab pos="74295" algn="l"/>
              </a:tabLst>
            </a:pPr>
            <a:r>
              <a:rPr sz="1400" b="1" dirty="0">
                <a:latin typeface="Times New Roman"/>
                <a:cs typeface="Times New Roman"/>
              </a:rPr>
              <a:t>MGD</a:t>
            </a:r>
            <a:r>
              <a:rPr sz="1400" b="1" spc="-15" dirty="0">
                <a:latin typeface="Times New Roman"/>
                <a:cs typeface="Times New Roman"/>
              </a:rPr>
              <a:t> </a:t>
            </a:r>
            <a:r>
              <a:rPr sz="1400" b="1" dirty="0">
                <a:latin typeface="Times New Roman"/>
                <a:cs typeface="Times New Roman"/>
              </a:rPr>
              <a:t>Datapaths:</a:t>
            </a:r>
            <a:r>
              <a:rPr sz="1400" b="1" spc="-20" dirty="0">
                <a:latin typeface="Times New Roman"/>
                <a:cs typeface="Times New Roman"/>
              </a:rPr>
              <a:t> </a:t>
            </a:r>
            <a:r>
              <a:rPr sz="1400" dirty="0">
                <a:latin typeface="Times New Roman"/>
                <a:cs typeface="Times New Roman"/>
              </a:rPr>
              <a:t>IRF</a:t>
            </a:r>
            <a:r>
              <a:rPr sz="1400" spc="-1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15" dirty="0">
                <a:latin typeface="Times New Roman"/>
                <a:cs typeface="Times New Roman"/>
              </a:rPr>
              <a:t> </a:t>
            </a:r>
            <a:r>
              <a:rPr sz="1400" dirty="0">
                <a:latin typeface="Times New Roman"/>
                <a:cs typeface="Times New Roman"/>
              </a:rPr>
              <a:t>DRF,</a:t>
            </a:r>
            <a:r>
              <a:rPr sz="1400" spc="-15" dirty="0">
                <a:latin typeface="Times New Roman"/>
                <a:cs typeface="Times New Roman"/>
              </a:rPr>
              <a:t> </a:t>
            </a:r>
            <a:r>
              <a:rPr sz="1400" dirty="0">
                <a:latin typeface="Times New Roman"/>
                <a:cs typeface="Times New Roman"/>
              </a:rPr>
              <a:t>SRF</a:t>
            </a:r>
            <a:r>
              <a:rPr sz="1400" spc="-1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15" dirty="0">
                <a:latin typeface="Times New Roman"/>
                <a:cs typeface="Times New Roman"/>
              </a:rPr>
              <a:t> </a:t>
            </a:r>
            <a:r>
              <a:rPr sz="1400" spc="-25" dirty="0">
                <a:latin typeface="Times New Roman"/>
                <a:cs typeface="Times New Roman"/>
              </a:rPr>
              <a:t>DRF</a:t>
            </a:r>
            <a:endParaRPr sz="1400">
              <a:latin typeface="Times New Roman"/>
              <a:cs typeface="Times New Roman"/>
            </a:endParaRPr>
          </a:p>
        </p:txBody>
      </p:sp>
      <p:grpSp>
        <p:nvGrpSpPr>
          <p:cNvPr id="10" name="object 10"/>
          <p:cNvGrpSpPr/>
          <p:nvPr/>
        </p:nvGrpSpPr>
        <p:grpSpPr>
          <a:xfrm>
            <a:off x="7620063" y="-4762"/>
            <a:ext cx="1503680" cy="281305"/>
            <a:chOff x="7620063" y="-4762"/>
            <a:chExt cx="1503680" cy="281305"/>
          </a:xfrm>
        </p:grpSpPr>
        <p:sp>
          <p:nvSpPr>
            <p:cNvPr id="11" name="object 11"/>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13" name="object 13"/>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grpSp>
        <p:nvGrpSpPr>
          <p:cNvPr id="14" name="object 14"/>
          <p:cNvGrpSpPr/>
          <p:nvPr/>
        </p:nvGrpSpPr>
        <p:grpSpPr>
          <a:xfrm>
            <a:off x="2780792" y="808355"/>
            <a:ext cx="1013460" cy="1049020"/>
            <a:chOff x="2780792" y="808355"/>
            <a:chExt cx="1013460" cy="1049020"/>
          </a:xfrm>
        </p:grpSpPr>
        <p:sp>
          <p:nvSpPr>
            <p:cNvPr id="15" name="object 15"/>
            <p:cNvSpPr/>
            <p:nvPr/>
          </p:nvSpPr>
          <p:spPr>
            <a:xfrm>
              <a:off x="3029204" y="866648"/>
              <a:ext cx="708025" cy="732790"/>
            </a:xfrm>
            <a:custGeom>
              <a:avLst/>
              <a:gdLst/>
              <a:ahLst/>
              <a:cxnLst/>
              <a:rect l="l" t="t" r="r" b="b"/>
              <a:pathLst>
                <a:path w="708025" h="732790">
                  <a:moveTo>
                    <a:pt x="707898" y="0"/>
                  </a:moveTo>
                  <a:lnTo>
                    <a:pt x="0" y="732281"/>
                  </a:lnTo>
                </a:path>
              </a:pathLst>
            </a:custGeom>
            <a:ln w="114300">
              <a:solidFill>
                <a:srgbClr val="FFFFFF"/>
              </a:solidFill>
            </a:ln>
          </p:spPr>
          <p:txBody>
            <a:bodyPr wrap="square" lIns="0" tIns="0" rIns="0" bIns="0" rtlCol="0"/>
            <a:lstStyle/>
            <a:p>
              <a:endParaRPr/>
            </a:p>
          </p:txBody>
        </p:sp>
        <p:sp>
          <p:nvSpPr>
            <p:cNvPr id="16" name="object 16"/>
            <p:cNvSpPr/>
            <p:nvPr/>
          </p:nvSpPr>
          <p:spPr>
            <a:xfrm>
              <a:off x="2780792" y="1471676"/>
              <a:ext cx="381000" cy="386080"/>
            </a:xfrm>
            <a:custGeom>
              <a:avLst/>
              <a:gdLst/>
              <a:ahLst/>
              <a:cxnLst/>
              <a:rect l="l" t="t" r="r" b="b"/>
              <a:pathLst>
                <a:path w="381000" h="386080">
                  <a:moveTo>
                    <a:pt x="380999" y="251459"/>
                  </a:moveTo>
                  <a:lnTo>
                    <a:pt x="120395" y="0"/>
                  </a:lnTo>
                  <a:lnTo>
                    <a:pt x="0" y="385571"/>
                  </a:lnTo>
                  <a:lnTo>
                    <a:pt x="380999" y="251459"/>
                  </a:lnTo>
                  <a:close/>
                </a:path>
              </a:pathLst>
            </a:custGeom>
            <a:solidFill>
              <a:srgbClr val="FFFFFF"/>
            </a:solidFill>
          </p:spPr>
          <p:txBody>
            <a:bodyPr wrap="square" lIns="0" tIns="0" rIns="0" bIns="0" rtlCol="0"/>
            <a:lstStyle/>
            <a:p>
              <a:endParaRPr/>
            </a:p>
          </p:txBody>
        </p:sp>
        <p:sp>
          <p:nvSpPr>
            <p:cNvPr id="17" name="object 17"/>
            <p:cNvSpPr/>
            <p:nvPr/>
          </p:nvSpPr>
          <p:spPr>
            <a:xfrm>
              <a:off x="3012440" y="836930"/>
              <a:ext cx="737235" cy="796290"/>
            </a:xfrm>
            <a:custGeom>
              <a:avLst/>
              <a:gdLst/>
              <a:ahLst/>
              <a:cxnLst/>
              <a:rect l="l" t="t" r="r" b="b"/>
              <a:pathLst>
                <a:path w="737235" h="796289">
                  <a:moveTo>
                    <a:pt x="736854" y="0"/>
                  </a:moveTo>
                  <a:lnTo>
                    <a:pt x="0" y="796289"/>
                  </a:lnTo>
                </a:path>
              </a:pathLst>
            </a:custGeom>
            <a:ln w="57150">
              <a:solidFill>
                <a:srgbClr val="000000"/>
              </a:solidFill>
            </a:ln>
          </p:spPr>
          <p:txBody>
            <a:bodyPr wrap="square" lIns="0" tIns="0" rIns="0" bIns="0" rtlCol="0"/>
            <a:lstStyle/>
            <a:p>
              <a:endParaRPr/>
            </a:p>
          </p:txBody>
        </p:sp>
        <p:sp>
          <p:nvSpPr>
            <p:cNvPr id="18" name="object 18"/>
            <p:cNvSpPr/>
            <p:nvPr/>
          </p:nvSpPr>
          <p:spPr>
            <a:xfrm>
              <a:off x="2866136" y="1557781"/>
              <a:ext cx="228600" cy="235585"/>
            </a:xfrm>
            <a:custGeom>
              <a:avLst/>
              <a:gdLst/>
              <a:ahLst/>
              <a:cxnLst/>
              <a:rect l="l" t="t" r="r" b="b"/>
              <a:pathLst>
                <a:path w="228600" h="235585">
                  <a:moveTo>
                    <a:pt x="228600" y="148590"/>
                  </a:moveTo>
                  <a:lnTo>
                    <a:pt x="67817" y="0"/>
                  </a:lnTo>
                  <a:lnTo>
                    <a:pt x="0" y="235457"/>
                  </a:lnTo>
                  <a:lnTo>
                    <a:pt x="228600" y="14859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5806" y="250952"/>
            <a:ext cx="8703945" cy="6215380"/>
            <a:chOff x="225806" y="250952"/>
            <a:chExt cx="8703945" cy="6215380"/>
          </a:xfrm>
        </p:grpSpPr>
        <p:pic>
          <p:nvPicPr>
            <p:cNvPr id="3" name="object 3"/>
            <p:cNvPicPr/>
            <p:nvPr/>
          </p:nvPicPr>
          <p:blipFill>
            <a:blip r:embed="rId2" cstate="print"/>
            <a:stretch>
              <a:fillRect/>
            </a:stretch>
          </p:blipFill>
          <p:spPr>
            <a:xfrm>
              <a:off x="225806" y="250952"/>
              <a:ext cx="8288781" cy="6214871"/>
            </a:xfrm>
            <a:prstGeom prst="rect">
              <a:avLst/>
            </a:prstGeom>
          </p:spPr>
        </p:pic>
        <p:sp>
          <p:nvSpPr>
            <p:cNvPr id="4" name="object 4"/>
            <p:cNvSpPr/>
            <p:nvPr/>
          </p:nvSpPr>
          <p:spPr>
            <a:xfrm>
              <a:off x="4272026" y="982472"/>
              <a:ext cx="6350" cy="1164590"/>
            </a:xfrm>
            <a:custGeom>
              <a:avLst/>
              <a:gdLst/>
              <a:ahLst/>
              <a:cxnLst/>
              <a:rect l="l" t="t" r="r" b="b"/>
              <a:pathLst>
                <a:path w="6350" h="1164589">
                  <a:moveTo>
                    <a:pt x="0" y="0"/>
                  </a:moveTo>
                  <a:lnTo>
                    <a:pt x="6096" y="1164336"/>
                  </a:lnTo>
                </a:path>
              </a:pathLst>
            </a:custGeom>
            <a:ln w="114300">
              <a:solidFill>
                <a:srgbClr val="FFFFFF"/>
              </a:solidFill>
            </a:ln>
          </p:spPr>
          <p:txBody>
            <a:bodyPr wrap="square" lIns="0" tIns="0" rIns="0" bIns="0" rtlCol="0"/>
            <a:lstStyle/>
            <a:p>
              <a:endParaRPr/>
            </a:p>
          </p:txBody>
        </p:sp>
        <p:sp>
          <p:nvSpPr>
            <p:cNvPr id="5" name="object 5"/>
            <p:cNvSpPr/>
            <p:nvPr/>
          </p:nvSpPr>
          <p:spPr>
            <a:xfrm>
              <a:off x="4097527" y="2144522"/>
              <a:ext cx="361950" cy="361950"/>
            </a:xfrm>
            <a:custGeom>
              <a:avLst/>
              <a:gdLst/>
              <a:ahLst/>
              <a:cxnLst/>
              <a:rect l="l" t="t" r="r" b="b"/>
              <a:pathLst>
                <a:path w="361950" h="361950">
                  <a:moveTo>
                    <a:pt x="361950" y="0"/>
                  </a:moveTo>
                  <a:lnTo>
                    <a:pt x="0" y="1523"/>
                  </a:lnTo>
                  <a:lnTo>
                    <a:pt x="182880" y="361949"/>
                  </a:lnTo>
                  <a:lnTo>
                    <a:pt x="361950" y="0"/>
                  </a:lnTo>
                  <a:close/>
                </a:path>
              </a:pathLst>
            </a:custGeom>
            <a:solidFill>
              <a:srgbClr val="FFFFFF"/>
            </a:solidFill>
          </p:spPr>
          <p:txBody>
            <a:bodyPr wrap="square" lIns="0" tIns="0" rIns="0" bIns="0" rtlCol="0"/>
            <a:lstStyle/>
            <a:p>
              <a:endParaRPr/>
            </a:p>
          </p:txBody>
        </p:sp>
        <p:sp>
          <p:nvSpPr>
            <p:cNvPr id="6" name="object 6"/>
            <p:cNvSpPr/>
            <p:nvPr/>
          </p:nvSpPr>
          <p:spPr>
            <a:xfrm>
              <a:off x="4270883" y="1060196"/>
              <a:ext cx="0" cy="1142365"/>
            </a:xfrm>
            <a:custGeom>
              <a:avLst/>
              <a:gdLst/>
              <a:ahLst/>
              <a:cxnLst/>
              <a:rect l="l" t="t" r="r" b="b"/>
              <a:pathLst>
                <a:path h="1142364">
                  <a:moveTo>
                    <a:pt x="0" y="0"/>
                  </a:moveTo>
                  <a:lnTo>
                    <a:pt x="0" y="1141857"/>
                  </a:lnTo>
                </a:path>
              </a:pathLst>
            </a:custGeom>
            <a:ln w="62484">
              <a:solidFill>
                <a:srgbClr val="000000"/>
              </a:solidFill>
            </a:ln>
          </p:spPr>
          <p:txBody>
            <a:bodyPr wrap="square" lIns="0" tIns="0" rIns="0" bIns="0" rtlCol="0"/>
            <a:lstStyle/>
            <a:p>
              <a:endParaRPr/>
            </a:p>
          </p:txBody>
        </p:sp>
        <p:sp>
          <p:nvSpPr>
            <p:cNvPr id="7" name="object 7"/>
            <p:cNvSpPr/>
            <p:nvPr/>
          </p:nvSpPr>
          <p:spPr>
            <a:xfrm>
              <a:off x="4156964" y="2169668"/>
              <a:ext cx="226695" cy="227329"/>
            </a:xfrm>
            <a:custGeom>
              <a:avLst/>
              <a:gdLst/>
              <a:ahLst/>
              <a:cxnLst/>
              <a:rect l="l" t="t" r="r" b="b"/>
              <a:pathLst>
                <a:path w="226695" h="227330">
                  <a:moveTo>
                    <a:pt x="226313" y="762"/>
                  </a:moveTo>
                  <a:lnTo>
                    <a:pt x="0" y="0"/>
                  </a:lnTo>
                  <a:lnTo>
                    <a:pt x="112775" y="227075"/>
                  </a:lnTo>
                  <a:lnTo>
                    <a:pt x="226313" y="762"/>
                  </a:lnTo>
                  <a:close/>
                </a:path>
              </a:pathLst>
            </a:custGeom>
            <a:solidFill>
              <a:srgbClr val="000000"/>
            </a:solidFill>
          </p:spPr>
          <p:txBody>
            <a:bodyPr wrap="square" lIns="0" tIns="0" rIns="0" bIns="0" rtlCol="0"/>
            <a:lstStyle/>
            <a:p>
              <a:endParaRPr/>
            </a:p>
          </p:txBody>
        </p:sp>
        <p:sp>
          <p:nvSpPr>
            <p:cNvPr id="8" name="object 8"/>
            <p:cNvSpPr/>
            <p:nvPr/>
          </p:nvSpPr>
          <p:spPr>
            <a:xfrm>
              <a:off x="4637023" y="1212596"/>
              <a:ext cx="4292600" cy="2867660"/>
            </a:xfrm>
            <a:custGeom>
              <a:avLst/>
              <a:gdLst/>
              <a:ahLst/>
              <a:cxnLst/>
              <a:rect l="l" t="t" r="r" b="b"/>
              <a:pathLst>
                <a:path w="4292600" h="2867660">
                  <a:moveTo>
                    <a:pt x="4292346" y="2867406"/>
                  </a:moveTo>
                  <a:lnTo>
                    <a:pt x="4292346" y="0"/>
                  </a:lnTo>
                  <a:lnTo>
                    <a:pt x="0" y="0"/>
                  </a:lnTo>
                  <a:lnTo>
                    <a:pt x="0" y="2867406"/>
                  </a:lnTo>
                  <a:lnTo>
                    <a:pt x="4292346" y="2867406"/>
                  </a:lnTo>
                  <a:close/>
                </a:path>
              </a:pathLst>
            </a:custGeom>
            <a:solidFill>
              <a:srgbClr val="FFFFFF"/>
            </a:solidFill>
          </p:spPr>
          <p:txBody>
            <a:bodyPr wrap="square" lIns="0" tIns="0" rIns="0" bIns="0" rtlCol="0"/>
            <a:lstStyle/>
            <a:p>
              <a:endParaRPr/>
            </a:p>
          </p:txBody>
        </p:sp>
      </p:grpSp>
      <p:sp>
        <p:nvSpPr>
          <p:cNvPr id="9" name="object 9"/>
          <p:cNvSpPr txBox="1"/>
          <p:nvPr/>
        </p:nvSpPr>
        <p:spPr>
          <a:xfrm>
            <a:off x="4637023" y="1212596"/>
            <a:ext cx="4292600" cy="2867660"/>
          </a:xfrm>
          <a:prstGeom prst="rect">
            <a:avLst/>
          </a:prstGeom>
          <a:ln w="9144">
            <a:solidFill>
              <a:srgbClr val="000000"/>
            </a:solidFill>
          </a:ln>
        </p:spPr>
        <p:txBody>
          <a:bodyPr vert="horz" wrap="square" lIns="0" tIns="44450" rIns="0" bIns="0" rtlCol="0">
            <a:spAutoFit/>
          </a:bodyPr>
          <a:lstStyle/>
          <a:p>
            <a:pPr marL="96520" marR="218440">
              <a:lnSpc>
                <a:spcPct val="100000"/>
              </a:lnSpc>
              <a:spcBef>
                <a:spcPts val="350"/>
              </a:spcBef>
            </a:pP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board</a:t>
            </a:r>
            <a:r>
              <a:rPr sz="1400" spc="-15" dirty="0">
                <a:latin typeface="Times New Roman"/>
                <a:cs typeface="Times New Roman"/>
              </a:rPr>
              <a:t> </a:t>
            </a:r>
            <a:r>
              <a:rPr sz="1400" spc="-10" dirty="0">
                <a:latin typeface="Times New Roman"/>
                <a:cs typeface="Times New Roman"/>
              </a:rPr>
              <a:t>coordinates</a:t>
            </a:r>
            <a:r>
              <a:rPr sz="1400" spc="-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work</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IRF,</a:t>
            </a:r>
            <a:r>
              <a:rPr sz="1400" spc="-20" dirty="0">
                <a:latin typeface="Times New Roman"/>
                <a:cs typeface="Times New Roman"/>
              </a:rPr>
              <a:t> </a:t>
            </a:r>
            <a:r>
              <a:rPr sz="1400" dirty="0">
                <a:latin typeface="Times New Roman"/>
                <a:cs typeface="Times New Roman"/>
              </a:rPr>
              <a:t>IRF</a:t>
            </a:r>
            <a:r>
              <a:rPr sz="1400" spc="-25" dirty="0">
                <a:latin typeface="Times New Roman"/>
                <a:cs typeface="Times New Roman"/>
              </a:rPr>
              <a:t> </a:t>
            </a:r>
            <a:r>
              <a:rPr sz="1400" spc="-20" dirty="0">
                <a:latin typeface="Times New Roman"/>
                <a:cs typeface="Times New Roman"/>
              </a:rPr>
              <a:t>I/O, </a:t>
            </a:r>
            <a:r>
              <a:rPr sz="1400" dirty="0">
                <a:latin typeface="Times New Roman"/>
                <a:cs typeface="Times New Roman"/>
              </a:rPr>
              <a:t>SRF/TRF,</a:t>
            </a:r>
            <a:r>
              <a:rPr sz="1400" spc="-35"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STIF</a:t>
            </a:r>
            <a:r>
              <a:rPr sz="1400" spc="-35" dirty="0">
                <a:latin typeface="Times New Roman"/>
                <a:cs typeface="Times New Roman"/>
              </a:rPr>
              <a:t> </a:t>
            </a:r>
            <a:r>
              <a:rPr sz="1400" dirty="0">
                <a:latin typeface="Times New Roman"/>
                <a:cs typeface="Times New Roman"/>
              </a:rPr>
              <a:t>Boards</a:t>
            </a:r>
            <a:r>
              <a:rPr sz="1400" spc="-3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create</a:t>
            </a:r>
            <a:r>
              <a:rPr sz="1400" spc="-3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digital</a:t>
            </a:r>
            <a:r>
              <a:rPr sz="1400" spc="-30" dirty="0">
                <a:latin typeface="Times New Roman"/>
                <a:cs typeface="Times New Roman"/>
              </a:rPr>
              <a:t> </a:t>
            </a:r>
            <a:r>
              <a:rPr sz="1400" dirty="0">
                <a:latin typeface="Times New Roman"/>
                <a:cs typeface="Times New Roman"/>
              </a:rPr>
              <a:t>RF</a:t>
            </a:r>
            <a:r>
              <a:rPr sz="1400" spc="-30" dirty="0">
                <a:latin typeface="Times New Roman"/>
                <a:cs typeface="Times New Roman"/>
              </a:rPr>
              <a:t> </a:t>
            </a:r>
            <a:r>
              <a:rPr sz="1400" spc="-25" dirty="0">
                <a:latin typeface="Times New Roman"/>
                <a:cs typeface="Times New Roman"/>
              </a:rPr>
              <a:t>and </a:t>
            </a:r>
            <a:r>
              <a:rPr sz="1400" dirty="0">
                <a:latin typeface="Times New Roman"/>
                <a:cs typeface="Times New Roman"/>
              </a:rPr>
              <a:t>gradient</a:t>
            </a:r>
            <a:r>
              <a:rPr sz="1400" spc="-30" dirty="0">
                <a:latin typeface="Times New Roman"/>
                <a:cs typeface="Times New Roman"/>
              </a:rPr>
              <a:t> </a:t>
            </a:r>
            <a:r>
              <a:rPr sz="1400" dirty="0">
                <a:latin typeface="Times New Roman"/>
                <a:cs typeface="Times New Roman"/>
              </a:rPr>
              <a:t>data</a:t>
            </a:r>
            <a:r>
              <a:rPr sz="1400" spc="-25" dirty="0">
                <a:latin typeface="Times New Roman"/>
                <a:cs typeface="Times New Roman"/>
              </a:rPr>
              <a:t> </a:t>
            </a:r>
            <a:r>
              <a:rPr sz="1400" dirty="0">
                <a:latin typeface="Times New Roman"/>
                <a:cs typeface="Times New Roman"/>
              </a:rPr>
              <a:t>needed</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generate</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scan</a:t>
            </a:r>
            <a:r>
              <a:rPr sz="1400" spc="-20" dirty="0">
                <a:latin typeface="Times New Roman"/>
                <a:cs typeface="Times New Roman"/>
              </a:rPr>
              <a:t> </a:t>
            </a:r>
            <a:r>
              <a:rPr sz="1400" spc="-10" dirty="0">
                <a:latin typeface="Times New Roman"/>
                <a:cs typeface="Times New Roman"/>
              </a:rPr>
              <a:t>waveforms.</a:t>
            </a:r>
            <a:endParaRPr sz="1400">
              <a:latin typeface="Times New Roman"/>
              <a:cs typeface="Times New Roman"/>
            </a:endParaRPr>
          </a:p>
          <a:p>
            <a:pPr marL="96520" marR="106680">
              <a:lnSpc>
                <a:spcPts val="1670"/>
              </a:lnSpc>
              <a:spcBef>
                <a:spcPts val="50"/>
              </a:spcBef>
            </a:pP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top</a:t>
            </a:r>
            <a:r>
              <a:rPr sz="1400" spc="-30" dirty="0">
                <a:latin typeface="Times New Roman"/>
                <a:cs typeface="Times New Roman"/>
              </a:rPr>
              <a:t> </a:t>
            </a:r>
            <a:r>
              <a:rPr sz="1400" dirty="0">
                <a:latin typeface="Times New Roman"/>
                <a:cs typeface="Times New Roman"/>
              </a:rPr>
              <a:t>cable,</a:t>
            </a:r>
            <a:r>
              <a:rPr sz="1400" spc="-30" dirty="0">
                <a:latin typeface="Times New Roman"/>
                <a:cs typeface="Times New Roman"/>
              </a:rPr>
              <a:t> </a:t>
            </a:r>
            <a:r>
              <a:rPr sz="1400" dirty="0">
                <a:latin typeface="Times New Roman"/>
                <a:cs typeface="Times New Roman"/>
              </a:rPr>
              <a:t>equipped</a:t>
            </a:r>
            <a:r>
              <a:rPr sz="1400" spc="-25" dirty="0">
                <a:latin typeface="Times New Roman"/>
                <a:cs typeface="Times New Roman"/>
              </a:rPr>
              <a:t> </a:t>
            </a:r>
            <a:r>
              <a:rPr sz="1400" dirty="0">
                <a:latin typeface="Times New Roman"/>
                <a:cs typeface="Times New Roman"/>
              </a:rPr>
              <a:t>with</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male</a:t>
            </a:r>
            <a:r>
              <a:rPr sz="1400" spc="-25" dirty="0">
                <a:latin typeface="Times New Roman"/>
                <a:cs typeface="Times New Roman"/>
              </a:rPr>
              <a:t> </a:t>
            </a:r>
            <a:r>
              <a:rPr sz="1400" spc="-10" dirty="0">
                <a:latin typeface="Times New Roman"/>
                <a:cs typeface="Times New Roman"/>
              </a:rPr>
              <a:t>RJ-</a:t>
            </a:r>
            <a:r>
              <a:rPr sz="1400" dirty="0">
                <a:latin typeface="Times New Roman"/>
                <a:cs typeface="Times New Roman"/>
              </a:rPr>
              <a:t>45</a:t>
            </a:r>
            <a:r>
              <a:rPr sz="1400" spc="-30" dirty="0">
                <a:latin typeface="Times New Roman"/>
                <a:cs typeface="Times New Roman"/>
              </a:rPr>
              <a:t> </a:t>
            </a:r>
            <a:r>
              <a:rPr sz="1400" spc="-10" dirty="0">
                <a:latin typeface="Times New Roman"/>
                <a:cs typeface="Times New Roman"/>
              </a:rPr>
              <a:t>connector, </a:t>
            </a:r>
            <a:r>
              <a:rPr sz="1400" dirty="0">
                <a:latin typeface="Times New Roman"/>
                <a:cs typeface="Times New Roman"/>
              </a:rPr>
              <a:t>provides</a:t>
            </a:r>
            <a:r>
              <a:rPr sz="1400" spc="-30" dirty="0">
                <a:latin typeface="Times New Roman"/>
                <a:cs typeface="Times New Roman"/>
              </a:rPr>
              <a:t> </a:t>
            </a:r>
            <a:r>
              <a:rPr sz="1400" dirty="0">
                <a:latin typeface="Times New Roman"/>
                <a:cs typeface="Times New Roman"/>
              </a:rPr>
              <a:t>an</a:t>
            </a:r>
            <a:r>
              <a:rPr sz="1400" spc="-25" dirty="0">
                <a:latin typeface="Times New Roman"/>
                <a:cs typeface="Times New Roman"/>
              </a:rPr>
              <a:t> </a:t>
            </a:r>
            <a:r>
              <a:rPr sz="1400" dirty="0">
                <a:latin typeface="Times New Roman"/>
                <a:cs typeface="Times New Roman"/>
              </a:rPr>
              <a:t>Ethernet</a:t>
            </a:r>
            <a:r>
              <a:rPr sz="1400" spc="-30" dirty="0">
                <a:latin typeface="Times New Roman"/>
                <a:cs typeface="Times New Roman"/>
              </a:rPr>
              <a:t> </a:t>
            </a:r>
            <a:r>
              <a:rPr sz="1400" dirty="0">
                <a:latin typeface="Times New Roman"/>
                <a:cs typeface="Times New Roman"/>
              </a:rPr>
              <a:t>link</a:t>
            </a:r>
            <a:r>
              <a:rPr sz="1400" spc="-25" dirty="0">
                <a:latin typeface="Times New Roman"/>
                <a:cs typeface="Times New Roman"/>
              </a:rPr>
              <a:t> </a:t>
            </a: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Host</a:t>
            </a:r>
            <a:r>
              <a:rPr sz="1400" spc="-2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AGP. </a:t>
            </a:r>
            <a:r>
              <a:rPr sz="1400" dirty="0">
                <a:latin typeface="Times New Roman"/>
                <a:cs typeface="Times New Roman"/>
              </a:rPr>
              <a:t>During</a:t>
            </a:r>
            <a:r>
              <a:rPr sz="1400" spc="-30" dirty="0">
                <a:latin typeface="Times New Roman"/>
                <a:cs typeface="Times New Roman"/>
              </a:rPr>
              <a:t> </a:t>
            </a:r>
            <a:r>
              <a:rPr sz="1400" dirty="0">
                <a:latin typeface="Times New Roman"/>
                <a:cs typeface="Times New Roman"/>
              </a:rPr>
              <a:t>a</a:t>
            </a:r>
            <a:r>
              <a:rPr sz="1400" spc="-15" dirty="0">
                <a:latin typeface="Times New Roman"/>
                <a:cs typeface="Times New Roman"/>
              </a:rPr>
              <a:t> </a:t>
            </a:r>
            <a:r>
              <a:rPr sz="1400" b="1" dirty="0">
                <a:latin typeface="Times New Roman"/>
                <a:cs typeface="Times New Roman"/>
              </a:rPr>
              <a:t>TPS</a:t>
            </a:r>
            <a:r>
              <a:rPr sz="1400" b="1" spc="-30" dirty="0">
                <a:latin typeface="Times New Roman"/>
                <a:cs typeface="Times New Roman"/>
              </a:rPr>
              <a:t> </a:t>
            </a:r>
            <a:r>
              <a:rPr sz="1400" b="1" dirty="0">
                <a:latin typeface="Times New Roman"/>
                <a:cs typeface="Times New Roman"/>
              </a:rPr>
              <a:t>Reset</a:t>
            </a:r>
            <a:r>
              <a:rPr sz="1400" b="1" spc="-25" dirty="0">
                <a:latin typeface="Times New Roman"/>
                <a:cs typeface="Times New Roman"/>
              </a:rPr>
              <a:t> </a:t>
            </a:r>
            <a:r>
              <a:rPr sz="1400" dirty="0">
                <a:latin typeface="Times New Roman"/>
                <a:cs typeface="Times New Roman"/>
              </a:rPr>
              <a:t>data</a:t>
            </a:r>
            <a:r>
              <a:rPr sz="1400" spc="-25"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transferred</a:t>
            </a:r>
            <a:r>
              <a:rPr sz="1400" spc="-2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AGP</a:t>
            </a:r>
            <a:r>
              <a:rPr sz="1400" spc="-25" dirty="0">
                <a:latin typeface="Times New Roman"/>
                <a:cs typeface="Times New Roman"/>
              </a:rPr>
              <a:t> via </a:t>
            </a:r>
            <a:r>
              <a:rPr sz="1400" dirty="0">
                <a:latin typeface="Times New Roman"/>
                <a:cs typeface="Times New Roman"/>
              </a:rPr>
              <a:t>this</a:t>
            </a:r>
            <a:r>
              <a:rPr sz="1400" spc="-35" dirty="0">
                <a:latin typeface="Times New Roman"/>
                <a:cs typeface="Times New Roman"/>
              </a:rPr>
              <a:t> </a:t>
            </a:r>
            <a:r>
              <a:rPr sz="1400" dirty="0">
                <a:latin typeface="Times New Roman"/>
                <a:cs typeface="Times New Roman"/>
              </a:rPr>
              <a:t>link.</a:t>
            </a:r>
            <a:r>
              <a:rPr sz="1400" spc="28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bottom</a:t>
            </a:r>
            <a:r>
              <a:rPr sz="1400" spc="-35" dirty="0">
                <a:latin typeface="Times New Roman"/>
                <a:cs typeface="Times New Roman"/>
              </a:rPr>
              <a:t> </a:t>
            </a:r>
            <a:r>
              <a:rPr sz="1400" dirty="0">
                <a:latin typeface="Times New Roman"/>
                <a:cs typeface="Times New Roman"/>
              </a:rPr>
              <a:t>cable,</a:t>
            </a:r>
            <a:r>
              <a:rPr sz="1400" spc="-20" dirty="0">
                <a:latin typeface="Times New Roman"/>
                <a:cs typeface="Times New Roman"/>
              </a:rPr>
              <a:t> </a:t>
            </a:r>
            <a:r>
              <a:rPr sz="1400" dirty="0">
                <a:latin typeface="Times New Roman"/>
                <a:cs typeface="Times New Roman"/>
              </a:rPr>
              <a:t>equipped</a:t>
            </a:r>
            <a:r>
              <a:rPr sz="1400" spc="-30" dirty="0">
                <a:latin typeface="Times New Roman"/>
                <a:cs typeface="Times New Roman"/>
              </a:rPr>
              <a:t> </a:t>
            </a:r>
            <a:r>
              <a:rPr sz="1400" dirty="0">
                <a:latin typeface="Times New Roman"/>
                <a:cs typeface="Times New Roman"/>
              </a:rPr>
              <a:t>with</a:t>
            </a:r>
            <a:r>
              <a:rPr sz="1400" spc="-3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male</a:t>
            </a:r>
            <a:r>
              <a:rPr sz="1400" spc="-30" dirty="0">
                <a:latin typeface="Times New Roman"/>
                <a:cs typeface="Times New Roman"/>
              </a:rPr>
              <a:t> </a:t>
            </a:r>
            <a:r>
              <a:rPr sz="1400" spc="-25" dirty="0">
                <a:latin typeface="Times New Roman"/>
                <a:cs typeface="Times New Roman"/>
              </a:rPr>
              <a:t>RJ- </a:t>
            </a:r>
            <a:r>
              <a:rPr sz="1400" dirty="0">
                <a:latin typeface="Times New Roman"/>
                <a:cs typeface="Times New Roman"/>
              </a:rPr>
              <a:t>45</a:t>
            </a:r>
            <a:r>
              <a:rPr sz="1400" spc="-30" dirty="0">
                <a:latin typeface="Times New Roman"/>
                <a:cs typeface="Times New Roman"/>
              </a:rPr>
              <a:t> </a:t>
            </a:r>
            <a:r>
              <a:rPr sz="1400" dirty="0">
                <a:latin typeface="Times New Roman"/>
                <a:cs typeface="Times New Roman"/>
              </a:rPr>
              <a:t>connector,</a:t>
            </a:r>
            <a:r>
              <a:rPr sz="1400" spc="-30" dirty="0">
                <a:latin typeface="Times New Roman"/>
                <a:cs typeface="Times New Roman"/>
              </a:rPr>
              <a:t> </a:t>
            </a:r>
            <a:r>
              <a:rPr sz="1400" dirty="0">
                <a:latin typeface="Times New Roman"/>
                <a:cs typeface="Times New Roman"/>
              </a:rPr>
              <a:t>provides</a:t>
            </a:r>
            <a:r>
              <a:rPr sz="1400" spc="-25"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service</a:t>
            </a:r>
            <a:r>
              <a:rPr sz="1400" spc="-30" dirty="0">
                <a:latin typeface="Times New Roman"/>
                <a:cs typeface="Times New Roman"/>
              </a:rPr>
              <a:t> </a:t>
            </a:r>
            <a:r>
              <a:rPr sz="1400" dirty="0">
                <a:latin typeface="Times New Roman"/>
                <a:cs typeface="Times New Roman"/>
              </a:rPr>
              <a:t>RS-232</a:t>
            </a:r>
            <a:r>
              <a:rPr sz="1400" spc="-25" dirty="0">
                <a:latin typeface="Times New Roman"/>
                <a:cs typeface="Times New Roman"/>
              </a:rPr>
              <a:t> </a:t>
            </a:r>
            <a:r>
              <a:rPr sz="1400" dirty="0">
                <a:latin typeface="Times New Roman"/>
                <a:cs typeface="Times New Roman"/>
              </a:rPr>
              <a:t>serial</a:t>
            </a:r>
            <a:r>
              <a:rPr sz="1400" spc="-30" dirty="0">
                <a:latin typeface="Times New Roman"/>
                <a:cs typeface="Times New Roman"/>
              </a:rPr>
              <a:t> </a:t>
            </a:r>
            <a:r>
              <a:rPr sz="1400" spc="-20" dirty="0">
                <a:latin typeface="Times New Roman"/>
                <a:cs typeface="Times New Roman"/>
              </a:rPr>
              <a:t>link</a:t>
            </a:r>
            <a:endParaRPr sz="1400">
              <a:latin typeface="Times New Roman"/>
              <a:cs typeface="Times New Roman"/>
            </a:endParaRPr>
          </a:p>
          <a:p>
            <a:pPr marL="96520" marR="118110">
              <a:lnSpc>
                <a:spcPts val="1670"/>
              </a:lnSpc>
              <a:spcBef>
                <a:spcPts val="30"/>
              </a:spcBef>
            </a:pP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AGP</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Host</a:t>
            </a:r>
            <a:r>
              <a:rPr sz="1400" spc="-25" dirty="0">
                <a:latin typeface="Times New Roman"/>
                <a:cs typeface="Times New Roman"/>
              </a:rPr>
              <a:t> </a:t>
            </a:r>
            <a:r>
              <a:rPr sz="1400" dirty="0">
                <a:latin typeface="Times New Roman"/>
                <a:cs typeface="Times New Roman"/>
              </a:rPr>
              <a:t>via</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Term</a:t>
            </a:r>
            <a:r>
              <a:rPr sz="1400" spc="-25" dirty="0">
                <a:latin typeface="Times New Roman"/>
                <a:cs typeface="Times New Roman"/>
              </a:rPr>
              <a:t> </a:t>
            </a:r>
            <a:r>
              <a:rPr sz="1400" dirty="0">
                <a:latin typeface="Times New Roman"/>
                <a:cs typeface="Times New Roman"/>
              </a:rPr>
              <a:t>Server.</a:t>
            </a:r>
            <a:r>
              <a:rPr sz="1400" spc="305" dirty="0">
                <a:latin typeface="Times New Roman"/>
                <a:cs typeface="Times New Roman"/>
              </a:rPr>
              <a:t> </a:t>
            </a:r>
            <a:r>
              <a:rPr sz="1400" spc="-25" dirty="0">
                <a:latin typeface="Times New Roman"/>
                <a:cs typeface="Times New Roman"/>
              </a:rPr>
              <a:t>The </a:t>
            </a:r>
            <a:r>
              <a:rPr sz="1400" dirty="0">
                <a:latin typeface="Times New Roman"/>
                <a:cs typeface="Times New Roman"/>
              </a:rPr>
              <a:t>AGP</a:t>
            </a:r>
            <a:r>
              <a:rPr sz="1400" spc="-10" dirty="0">
                <a:latin typeface="Times New Roman"/>
                <a:cs typeface="Times New Roman"/>
              </a:rPr>
              <a:t> </a:t>
            </a:r>
            <a:r>
              <a:rPr sz="1400" dirty="0">
                <a:latin typeface="Times New Roman"/>
                <a:cs typeface="Times New Roman"/>
              </a:rPr>
              <a:t>Board</a:t>
            </a:r>
            <a:r>
              <a:rPr sz="1400" spc="-5" dirty="0">
                <a:latin typeface="Times New Roman"/>
                <a:cs typeface="Times New Roman"/>
              </a:rPr>
              <a:t> </a:t>
            </a:r>
            <a:r>
              <a:rPr sz="1400" dirty="0">
                <a:latin typeface="Times New Roman"/>
                <a:cs typeface="Times New Roman"/>
              </a:rPr>
              <a:t>is</a:t>
            </a:r>
            <a:r>
              <a:rPr sz="1400" spc="-10" dirty="0">
                <a:latin typeface="Times New Roman"/>
                <a:cs typeface="Times New Roman"/>
              </a:rPr>
              <a:t> </a:t>
            </a:r>
            <a:r>
              <a:rPr sz="1400" dirty="0">
                <a:latin typeface="Times New Roman"/>
                <a:cs typeface="Times New Roman"/>
              </a:rPr>
              <a:t>identical</a:t>
            </a:r>
            <a:r>
              <a:rPr sz="1400" spc="-5"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spc="-10" dirty="0">
                <a:latin typeface="Times New Roman"/>
                <a:cs typeface="Times New Roman"/>
              </a:rPr>
              <a:t>interchangeable </a:t>
            </a:r>
            <a:r>
              <a:rPr sz="1400" dirty="0">
                <a:latin typeface="Times New Roman"/>
                <a:cs typeface="Times New Roman"/>
              </a:rPr>
              <a:t>with</a:t>
            </a:r>
            <a:r>
              <a:rPr sz="1400" spc="-10" dirty="0">
                <a:latin typeface="Times New Roman"/>
                <a:cs typeface="Times New Roman"/>
              </a:rPr>
              <a:t> </a:t>
            </a:r>
            <a:r>
              <a:rPr sz="1400" spc="-25" dirty="0">
                <a:latin typeface="Times New Roman"/>
                <a:cs typeface="Times New Roman"/>
              </a:rPr>
              <a:t>the</a:t>
            </a:r>
            <a:r>
              <a:rPr sz="1400" spc="500" dirty="0">
                <a:latin typeface="Times New Roman"/>
                <a:cs typeface="Times New Roman"/>
              </a:rPr>
              <a:t> </a:t>
            </a:r>
            <a:r>
              <a:rPr sz="1400" dirty="0">
                <a:latin typeface="Times New Roman"/>
                <a:cs typeface="Times New Roman"/>
              </a:rPr>
              <a:t>APS</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There</a:t>
            </a:r>
            <a:r>
              <a:rPr sz="1400" spc="-25" dirty="0">
                <a:latin typeface="Times New Roman"/>
                <a:cs typeface="Times New Roman"/>
              </a:rPr>
              <a:t> </a:t>
            </a:r>
            <a:r>
              <a:rPr sz="1400" dirty="0">
                <a:latin typeface="Times New Roman"/>
                <a:cs typeface="Times New Roman"/>
              </a:rPr>
              <a:t>are</a:t>
            </a:r>
            <a:r>
              <a:rPr sz="1400" spc="-25" dirty="0">
                <a:latin typeface="Times New Roman"/>
                <a:cs typeface="Times New Roman"/>
              </a:rPr>
              <a:t> </a:t>
            </a:r>
            <a:r>
              <a:rPr sz="1400" dirty="0">
                <a:latin typeface="Times New Roman"/>
                <a:cs typeface="Times New Roman"/>
              </a:rPr>
              <a:t>no</a:t>
            </a:r>
            <a:r>
              <a:rPr sz="1400" spc="-25" dirty="0">
                <a:latin typeface="Times New Roman"/>
                <a:cs typeface="Times New Roman"/>
              </a:rPr>
              <a:t> </a:t>
            </a:r>
            <a:r>
              <a:rPr sz="1400" dirty="0">
                <a:latin typeface="Times New Roman"/>
                <a:cs typeface="Times New Roman"/>
              </a:rPr>
              <a:t>other</a:t>
            </a:r>
            <a:r>
              <a:rPr sz="1400" spc="-20" dirty="0">
                <a:latin typeface="Times New Roman"/>
                <a:cs typeface="Times New Roman"/>
              </a:rPr>
              <a:t> </a:t>
            </a:r>
            <a:r>
              <a:rPr sz="1400" dirty="0">
                <a:latin typeface="Times New Roman"/>
                <a:cs typeface="Times New Roman"/>
              </a:rPr>
              <a:t>changes</a:t>
            </a:r>
            <a:r>
              <a:rPr sz="1400" spc="-15" dirty="0">
                <a:latin typeface="Times New Roman"/>
                <a:cs typeface="Times New Roman"/>
              </a:rPr>
              <a:t> </a:t>
            </a:r>
            <a:r>
              <a:rPr sz="1400" dirty="0">
                <a:latin typeface="Times New Roman"/>
                <a:cs typeface="Times New Roman"/>
              </a:rPr>
              <a:t>or</a:t>
            </a:r>
            <a:r>
              <a:rPr sz="1400" spc="-25" dirty="0">
                <a:latin typeface="Times New Roman"/>
                <a:cs typeface="Times New Roman"/>
              </a:rPr>
              <a:t> </a:t>
            </a:r>
            <a:r>
              <a:rPr sz="1400" spc="-10" dirty="0">
                <a:latin typeface="Times New Roman"/>
                <a:cs typeface="Times New Roman"/>
              </a:rPr>
              <a:t>jumper </a:t>
            </a:r>
            <a:r>
              <a:rPr sz="1400" dirty="0">
                <a:latin typeface="Times New Roman"/>
                <a:cs typeface="Times New Roman"/>
              </a:rPr>
              <a:t>settings</a:t>
            </a:r>
            <a:r>
              <a:rPr sz="1400" spc="-25" dirty="0">
                <a:latin typeface="Times New Roman"/>
                <a:cs typeface="Times New Roman"/>
              </a:rPr>
              <a:t> </a:t>
            </a:r>
            <a:r>
              <a:rPr sz="1400" dirty="0">
                <a:latin typeface="Times New Roman"/>
                <a:cs typeface="Times New Roman"/>
              </a:rPr>
              <a:t>that</a:t>
            </a:r>
            <a:r>
              <a:rPr sz="1400" spc="-20" dirty="0">
                <a:latin typeface="Times New Roman"/>
                <a:cs typeface="Times New Roman"/>
              </a:rPr>
              <a:t> </a:t>
            </a:r>
            <a:r>
              <a:rPr sz="1400" dirty="0">
                <a:latin typeface="Times New Roman"/>
                <a:cs typeface="Times New Roman"/>
              </a:rPr>
              <a:t>must</a:t>
            </a:r>
            <a:r>
              <a:rPr sz="1400" spc="-25" dirty="0">
                <a:latin typeface="Times New Roman"/>
                <a:cs typeface="Times New Roman"/>
              </a:rPr>
              <a:t> </a:t>
            </a:r>
            <a:r>
              <a:rPr sz="1400" dirty="0">
                <a:latin typeface="Times New Roman"/>
                <a:cs typeface="Times New Roman"/>
              </a:rPr>
              <a:t>be</a:t>
            </a:r>
            <a:r>
              <a:rPr sz="1400" spc="-20" dirty="0">
                <a:latin typeface="Times New Roman"/>
                <a:cs typeface="Times New Roman"/>
              </a:rPr>
              <a:t> </a:t>
            </a:r>
            <a:r>
              <a:rPr sz="1400" dirty="0">
                <a:latin typeface="Times New Roman"/>
                <a:cs typeface="Times New Roman"/>
              </a:rPr>
              <a:t>made</a:t>
            </a:r>
            <a:r>
              <a:rPr sz="1400" spc="-30" dirty="0">
                <a:latin typeface="Times New Roman"/>
                <a:cs typeface="Times New Roman"/>
              </a:rPr>
              <a:t> </a:t>
            </a:r>
            <a:r>
              <a:rPr sz="1400" dirty="0">
                <a:latin typeface="Times New Roman"/>
                <a:cs typeface="Times New Roman"/>
              </a:rPr>
              <a:t>when</a:t>
            </a:r>
            <a:r>
              <a:rPr sz="1400" spc="-20" dirty="0">
                <a:latin typeface="Times New Roman"/>
                <a:cs typeface="Times New Roman"/>
              </a:rPr>
              <a:t> </a:t>
            </a:r>
            <a:r>
              <a:rPr sz="1400" dirty="0">
                <a:latin typeface="Times New Roman"/>
                <a:cs typeface="Times New Roman"/>
              </a:rPr>
              <a:t>swapping</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AGP</a:t>
            </a:r>
            <a:r>
              <a:rPr sz="1400" spc="-25" dirty="0">
                <a:latin typeface="Times New Roman"/>
                <a:cs typeface="Times New Roman"/>
              </a:rPr>
              <a:t> and </a:t>
            </a:r>
            <a:r>
              <a:rPr sz="1400" dirty="0">
                <a:latin typeface="Times New Roman"/>
                <a:cs typeface="Times New Roman"/>
              </a:rPr>
              <a:t>APS</a:t>
            </a:r>
            <a:r>
              <a:rPr sz="1400" spc="-5" dirty="0">
                <a:latin typeface="Times New Roman"/>
                <a:cs typeface="Times New Roman"/>
              </a:rPr>
              <a:t> </a:t>
            </a:r>
            <a:r>
              <a:rPr sz="1400" spc="-10" dirty="0">
                <a:latin typeface="Times New Roman"/>
                <a:cs typeface="Times New Roman"/>
              </a:rPr>
              <a:t>Boards.</a:t>
            </a:r>
            <a:endParaRPr sz="1400">
              <a:latin typeface="Times New Roman"/>
              <a:cs typeface="Times New Roman"/>
            </a:endParaRPr>
          </a:p>
        </p:txBody>
      </p:sp>
      <p:sp>
        <p:nvSpPr>
          <p:cNvPr id="10" name="object 10"/>
          <p:cNvSpPr/>
          <p:nvPr/>
        </p:nvSpPr>
        <p:spPr>
          <a:xfrm>
            <a:off x="4637023" y="5265673"/>
            <a:ext cx="4151629" cy="1271905"/>
          </a:xfrm>
          <a:custGeom>
            <a:avLst/>
            <a:gdLst/>
            <a:ahLst/>
            <a:cxnLst/>
            <a:rect l="l" t="t" r="r" b="b"/>
            <a:pathLst>
              <a:path w="4151629" h="1271904">
                <a:moveTo>
                  <a:pt x="4151376" y="1271778"/>
                </a:moveTo>
                <a:lnTo>
                  <a:pt x="4151376" y="0"/>
                </a:lnTo>
                <a:lnTo>
                  <a:pt x="0" y="0"/>
                </a:lnTo>
                <a:lnTo>
                  <a:pt x="0" y="1271778"/>
                </a:lnTo>
                <a:lnTo>
                  <a:pt x="4151376" y="1271778"/>
                </a:lnTo>
                <a:close/>
              </a:path>
            </a:pathLst>
          </a:custGeom>
          <a:solidFill>
            <a:srgbClr val="FFFFFF"/>
          </a:solidFill>
        </p:spPr>
        <p:txBody>
          <a:bodyPr wrap="square" lIns="0" tIns="0" rIns="0" bIns="0" rtlCol="0"/>
          <a:lstStyle/>
          <a:p>
            <a:endParaRPr/>
          </a:p>
        </p:txBody>
      </p:sp>
      <p:sp>
        <p:nvSpPr>
          <p:cNvPr id="11" name="object 11"/>
          <p:cNvSpPr txBox="1"/>
          <p:nvPr/>
        </p:nvSpPr>
        <p:spPr>
          <a:xfrm>
            <a:off x="4637023" y="5265673"/>
            <a:ext cx="4151629" cy="1271905"/>
          </a:xfrm>
          <a:prstGeom prst="rect">
            <a:avLst/>
          </a:prstGeom>
          <a:ln w="9144">
            <a:solidFill>
              <a:srgbClr val="000000"/>
            </a:solidFill>
          </a:ln>
        </p:spPr>
        <p:txBody>
          <a:bodyPr vert="horz" wrap="square" lIns="0" tIns="44450" rIns="0" bIns="0" rtlCol="0">
            <a:spAutoFit/>
          </a:bodyPr>
          <a:lstStyle/>
          <a:p>
            <a:pPr marL="96520">
              <a:lnSpc>
                <a:spcPct val="100000"/>
              </a:lnSpc>
              <a:spcBef>
                <a:spcPts val="350"/>
              </a:spcBef>
            </a:pPr>
            <a:r>
              <a:rPr sz="1400" b="1" u="sng" dirty="0">
                <a:uFill>
                  <a:solidFill>
                    <a:srgbClr val="000000"/>
                  </a:solidFill>
                </a:uFill>
                <a:latin typeface="Times New Roman"/>
                <a:cs typeface="Times New Roman"/>
              </a:rPr>
              <a:t>Available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AGP</a:t>
            </a:r>
            <a:r>
              <a:rPr sz="1400" b="1" u="sng" spc="-3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MGD</a:t>
            </a:r>
            <a:r>
              <a:rPr sz="1400" b="1" spc="-25" dirty="0">
                <a:latin typeface="Times New Roman"/>
                <a:cs typeface="Times New Roman"/>
              </a:rPr>
              <a:t> </a:t>
            </a:r>
            <a:r>
              <a:rPr sz="1400" b="1" dirty="0">
                <a:latin typeface="Times New Roman"/>
                <a:cs typeface="Times New Roman"/>
              </a:rPr>
              <a:t>Datapaths:</a:t>
            </a:r>
            <a:r>
              <a:rPr sz="1400" b="1" spc="-25" dirty="0">
                <a:latin typeface="Times New Roman"/>
                <a:cs typeface="Times New Roman"/>
              </a:rPr>
              <a:t> </a:t>
            </a:r>
            <a:r>
              <a:rPr sz="1400" dirty="0">
                <a:latin typeface="Times New Roman"/>
                <a:cs typeface="Times New Roman"/>
              </a:rPr>
              <a:t>AGP</a:t>
            </a:r>
            <a:r>
              <a:rPr sz="1400" spc="-3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5" dirty="0">
                <a:latin typeface="Times New Roman"/>
                <a:cs typeface="Times New Roman"/>
              </a:rPr>
              <a:t> </a:t>
            </a:r>
            <a:r>
              <a:rPr sz="1400" spc="-10" dirty="0">
                <a:latin typeface="Times New Roman"/>
                <a:cs typeface="Times New Roman"/>
              </a:rPr>
              <a:t>Bridge</a:t>
            </a:r>
            <a:endParaRPr sz="1400">
              <a:latin typeface="Times New Roman"/>
              <a:cs typeface="Times New Roman"/>
            </a:endParaRPr>
          </a:p>
          <a:p>
            <a:pPr marL="158115" indent="-69850">
              <a:lnSpc>
                <a:spcPct val="100000"/>
              </a:lnSpc>
              <a:spcBef>
                <a:spcPts val="830"/>
              </a:spcBef>
              <a:buSzPct val="92857"/>
              <a:buFont typeface="Times New Roman"/>
              <a:buChar char="•"/>
              <a:tabLst>
                <a:tab pos="158115" algn="l"/>
              </a:tabLst>
            </a:pPr>
            <a:r>
              <a:rPr sz="1400" b="1" dirty="0">
                <a:latin typeface="Times New Roman"/>
                <a:cs typeface="Times New Roman"/>
              </a:rPr>
              <a:t>APS,</a:t>
            </a:r>
            <a:r>
              <a:rPr sz="1400" b="1" spc="-35" dirty="0">
                <a:latin typeface="Times New Roman"/>
                <a:cs typeface="Times New Roman"/>
              </a:rPr>
              <a:t> </a:t>
            </a:r>
            <a:r>
              <a:rPr sz="1400" b="1" dirty="0">
                <a:latin typeface="Times New Roman"/>
                <a:cs typeface="Times New Roman"/>
              </a:rPr>
              <a:t>AGP</a:t>
            </a:r>
            <a:r>
              <a:rPr sz="1400" b="1" spc="-30" dirty="0">
                <a:latin typeface="Times New Roman"/>
                <a:cs typeface="Times New Roman"/>
              </a:rPr>
              <a:t> </a:t>
            </a:r>
            <a:r>
              <a:rPr sz="1400" b="1" dirty="0">
                <a:latin typeface="Times New Roman"/>
                <a:cs typeface="Times New Roman"/>
              </a:rPr>
              <a:t>and</a:t>
            </a:r>
            <a:r>
              <a:rPr sz="1400" b="1" spc="-30" dirty="0">
                <a:latin typeface="Times New Roman"/>
                <a:cs typeface="Times New Roman"/>
              </a:rPr>
              <a:t> </a:t>
            </a:r>
            <a:r>
              <a:rPr sz="1400" b="1" dirty="0">
                <a:latin typeface="Times New Roman"/>
                <a:cs typeface="Times New Roman"/>
              </a:rPr>
              <a:t>SCP</a:t>
            </a:r>
            <a:r>
              <a:rPr sz="1400" b="1" spc="-30" dirty="0">
                <a:latin typeface="Times New Roman"/>
                <a:cs typeface="Times New Roman"/>
              </a:rPr>
              <a:t> </a:t>
            </a:r>
            <a:r>
              <a:rPr sz="1400" b="1" dirty="0">
                <a:latin typeface="Times New Roman"/>
                <a:cs typeface="Times New Roman"/>
              </a:rPr>
              <a:t>Board</a:t>
            </a:r>
            <a:r>
              <a:rPr sz="1400" b="1" spc="-30" dirty="0">
                <a:latin typeface="Times New Roman"/>
                <a:cs typeface="Times New Roman"/>
              </a:rPr>
              <a:t> </a:t>
            </a:r>
            <a:r>
              <a:rPr sz="1400" b="1" dirty="0">
                <a:latin typeface="Times New Roman"/>
                <a:cs typeface="Times New Roman"/>
              </a:rPr>
              <a:t>Level</a:t>
            </a:r>
            <a:r>
              <a:rPr sz="1400" b="1" spc="-30" dirty="0">
                <a:latin typeface="Times New Roman"/>
                <a:cs typeface="Times New Roman"/>
              </a:rPr>
              <a:t> </a:t>
            </a:r>
            <a:r>
              <a:rPr sz="1400" b="1" dirty="0">
                <a:latin typeface="Times New Roman"/>
                <a:cs typeface="Times New Roman"/>
              </a:rPr>
              <a:t>Diagnostics:</a:t>
            </a:r>
            <a:r>
              <a:rPr sz="1400" b="1" spc="-30" dirty="0">
                <a:latin typeface="Times New Roman"/>
                <a:cs typeface="Times New Roman"/>
              </a:rPr>
              <a:t> </a:t>
            </a:r>
            <a:r>
              <a:rPr sz="1400" spc="-25" dirty="0">
                <a:latin typeface="Times New Roman"/>
                <a:cs typeface="Times New Roman"/>
              </a:rPr>
              <a:t>AGP</a:t>
            </a:r>
            <a:endParaRPr sz="1400">
              <a:latin typeface="Times New Roman"/>
              <a:cs typeface="Times New Roman"/>
            </a:endParaRPr>
          </a:p>
          <a:p>
            <a:pPr marL="158115" indent="-69850">
              <a:lnSpc>
                <a:spcPct val="100000"/>
              </a:lnSpc>
              <a:spcBef>
                <a:spcPts val="830"/>
              </a:spcBef>
              <a:buSzPct val="92857"/>
              <a:buFont typeface="Times New Roman"/>
              <a:buChar char="•"/>
              <a:tabLst>
                <a:tab pos="158115" algn="l"/>
              </a:tabLst>
            </a:pPr>
            <a:r>
              <a:rPr sz="1400" b="1" dirty="0">
                <a:latin typeface="Times New Roman"/>
                <a:cs typeface="Times New Roman"/>
              </a:rPr>
              <a:t>Host</a:t>
            </a:r>
            <a:r>
              <a:rPr sz="1400" b="1" spc="-35" dirty="0">
                <a:latin typeface="Times New Roman"/>
                <a:cs typeface="Times New Roman"/>
              </a:rPr>
              <a:t> </a:t>
            </a:r>
            <a:r>
              <a:rPr sz="1400" b="1" dirty="0">
                <a:latin typeface="Times New Roman"/>
                <a:cs typeface="Times New Roman"/>
              </a:rPr>
              <a:t>Datapaths:</a:t>
            </a:r>
            <a:r>
              <a:rPr sz="1400" b="1" spc="-25" dirty="0">
                <a:latin typeface="Times New Roman"/>
                <a:cs typeface="Times New Roman"/>
              </a:rPr>
              <a:t> </a:t>
            </a:r>
            <a:r>
              <a:rPr sz="1400" dirty="0">
                <a:latin typeface="Times New Roman"/>
                <a:cs typeface="Times New Roman"/>
              </a:rPr>
              <a:t>Ping</a:t>
            </a:r>
            <a:r>
              <a:rPr sz="1400" spc="-2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spc="-25" dirty="0">
                <a:latin typeface="Times New Roman"/>
                <a:cs typeface="Times New Roman"/>
              </a:rPr>
              <a:t>AGP</a:t>
            </a:r>
            <a:endParaRPr sz="1400">
              <a:latin typeface="Times New Roman"/>
              <a:cs typeface="Times New Roman"/>
            </a:endParaRPr>
          </a:p>
        </p:txBody>
      </p:sp>
      <p:grpSp>
        <p:nvGrpSpPr>
          <p:cNvPr id="12" name="object 12"/>
          <p:cNvGrpSpPr/>
          <p:nvPr/>
        </p:nvGrpSpPr>
        <p:grpSpPr>
          <a:xfrm>
            <a:off x="723963" y="679767"/>
            <a:ext cx="5589905" cy="385445"/>
            <a:chOff x="723963" y="679767"/>
            <a:chExt cx="5589905" cy="385445"/>
          </a:xfrm>
        </p:grpSpPr>
        <p:sp>
          <p:nvSpPr>
            <p:cNvPr id="13" name="object 13"/>
            <p:cNvSpPr/>
            <p:nvPr/>
          </p:nvSpPr>
          <p:spPr>
            <a:xfrm>
              <a:off x="728726" y="684530"/>
              <a:ext cx="5580380" cy="375920"/>
            </a:xfrm>
            <a:custGeom>
              <a:avLst/>
              <a:gdLst/>
              <a:ahLst/>
              <a:cxnLst/>
              <a:rect l="l" t="t" r="r" b="b"/>
              <a:pathLst>
                <a:path w="5580380" h="375919">
                  <a:moveTo>
                    <a:pt x="5580126" y="375666"/>
                  </a:moveTo>
                  <a:lnTo>
                    <a:pt x="5580126" y="0"/>
                  </a:lnTo>
                  <a:lnTo>
                    <a:pt x="0" y="0"/>
                  </a:lnTo>
                  <a:lnTo>
                    <a:pt x="0" y="375666"/>
                  </a:lnTo>
                  <a:lnTo>
                    <a:pt x="5580126" y="375666"/>
                  </a:lnTo>
                  <a:close/>
                </a:path>
              </a:pathLst>
            </a:custGeom>
            <a:solidFill>
              <a:srgbClr val="FFFFFF"/>
            </a:solidFill>
          </p:spPr>
          <p:txBody>
            <a:bodyPr wrap="square" lIns="0" tIns="0" rIns="0" bIns="0" rtlCol="0"/>
            <a:lstStyle/>
            <a:p>
              <a:endParaRPr/>
            </a:p>
          </p:txBody>
        </p:sp>
        <p:sp>
          <p:nvSpPr>
            <p:cNvPr id="14" name="object 14"/>
            <p:cNvSpPr/>
            <p:nvPr/>
          </p:nvSpPr>
          <p:spPr>
            <a:xfrm>
              <a:off x="728726" y="684530"/>
              <a:ext cx="5580380" cy="375920"/>
            </a:xfrm>
            <a:custGeom>
              <a:avLst/>
              <a:gdLst/>
              <a:ahLst/>
              <a:cxnLst/>
              <a:rect l="l" t="t" r="r" b="b"/>
              <a:pathLst>
                <a:path w="5580380" h="375919">
                  <a:moveTo>
                    <a:pt x="5580126" y="375666"/>
                  </a:moveTo>
                  <a:lnTo>
                    <a:pt x="5580126" y="0"/>
                  </a:lnTo>
                  <a:lnTo>
                    <a:pt x="0" y="0"/>
                  </a:lnTo>
                  <a:lnTo>
                    <a:pt x="0" y="375666"/>
                  </a:lnTo>
                  <a:lnTo>
                    <a:pt x="5580126" y="375666"/>
                  </a:lnTo>
                  <a:close/>
                </a:path>
              </a:pathLst>
            </a:custGeom>
            <a:ln w="9143">
              <a:solidFill>
                <a:srgbClr val="000000"/>
              </a:solidFill>
            </a:ln>
          </p:spPr>
          <p:txBody>
            <a:bodyPr wrap="square" lIns="0" tIns="0" rIns="0" bIns="0" rtlCol="0"/>
            <a:lstStyle/>
            <a:p>
              <a:endParaRPr/>
            </a:p>
          </p:txBody>
        </p:sp>
      </p:grpSp>
      <p:sp>
        <p:nvSpPr>
          <p:cNvPr id="15" name="object 15"/>
          <p:cNvSpPr txBox="1"/>
          <p:nvPr/>
        </p:nvSpPr>
        <p:spPr>
          <a:xfrm>
            <a:off x="733298" y="689101"/>
            <a:ext cx="5571490" cy="236220"/>
          </a:xfrm>
          <a:prstGeom prst="rect">
            <a:avLst/>
          </a:prstGeom>
          <a:solidFill>
            <a:srgbClr val="FFFFFF"/>
          </a:solidFill>
        </p:spPr>
        <p:txBody>
          <a:bodyPr vert="horz" wrap="square" lIns="0" tIns="38100" rIns="0" bIns="0" rtlCol="0">
            <a:spAutoFit/>
          </a:bodyPr>
          <a:lstStyle/>
          <a:p>
            <a:pPr marL="92075">
              <a:lnSpc>
                <a:spcPts val="1560"/>
              </a:lnSpc>
              <a:spcBef>
                <a:spcPts val="300"/>
              </a:spcBef>
            </a:pPr>
            <a:r>
              <a:rPr sz="1800" b="1" dirty="0">
                <a:latin typeface="Times New Roman"/>
                <a:cs typeface="Times New Roman"/>
              </a:rPr>
              <a:t>A</a:t>
            </a:r>
            <a:r>
              <a:rPr sz="1800" dirty="0">
                <a:latin typeface="Times New Roman"/>
                <a:cs typeface="Times New Roman"/>
              </a:rPr>
              <a:t>pplication</a:t>
            </a:r>
            <a:r>
              <a:rPr sz="1800" spc="-30" dirty="0">
                <a:latin typeface="Times New Roman"/>
                <a:cs typeface="Times New Roman"/>
              </a:rPr>
              <a:t> </a:t>
            </a:r>
            <a:r>
              <a:rPr sz="1800" b="1" dirty="0">
                <a:latin typeface="Times New Roman"/>
                <a:cs typeface="Times New Roman"/>
              </a:rPr>
              <a:t>G</a:t>
            </a:r>
            <a:r>
              <a:rPr sz="1800" dirty="0">
                <a:latin typeface="Times New Roman"/>
                <a:cs typeface="Times New Roman"/>
              </a:rPr>
              <a:t>ateway</a:t>
            </a:r>
            <a:r>
              <a:rPr sz="1800" spc="-30" dirty="0">
                <a:latin typeface="Times New Roman"/>
                <a:cs typeface="Times New Roman"/>
              </a:rPr>
              <a:t> </a:t>
            </a:r>
            <a:r>
              <a:rPr sz="1800" b="1" dirty="0">
                <a:latin typeface="Times New Roman"/>
                <a:cs typeface="Times New Roman"/>
              </a:rPr>
              <a:t>P</a:t>
            </a:r>
            <a:r>
              <a:rPr sz="1800" dirty="0">
                <a:latin typeface="Times New Roman"/>
                <a:cs typeface="Times New Roman"/>
              </a:rPr>
              <a:t>rocessor</a:t>
            </a:r>
            <a:r>
              <a:rPr sz="1800" spc="-25" dirty="0">
                <a:latin typeface="Times New Roman"/>
                <a:cs typeface="Times New Roman"/>
              </a:rPr>
              <a:t> </a:t>
            </a:r>
            <a:r>
              <a:rPr sz="1800" dirty="0">
                <a:latin typeface="Times New Roman"/>
                <a:cs typeface="Times New Roman"/>
              </a:rPr>
              <a:t>(</a:t>
            </a:r>
            <a:r>
              <a:rPr sz="1800" b="1" dirty="0">
                <a:latin typeface="Times New Roman"/>
                <a:cs typeface="Times New Roman"/>
              </a:rPr>
              <a:t>AGP</a:t>
            </a:r>
            <a:r>
              <a:rPr sz="1800" dirty="0">
                <a:latin typeface="Times New Roman"/>
                <a:cs typeface="Times New Roman"/>
              </a:rPr>
              <a:t>)</a:t>
            </a:r>
            <a:r>
              <a:rPr sz="1800" spc="-30" dirty="0">
                <a:latin typeface="Times New Roman"/>
                <a:cs typeface="Times New Roman"/>
              </a:rPr>
              <a:t> </a:t>
            </a:r>
            <a:r>
              <a:rPr sz="1800" b="1" dirty="0">
                <a:latin typeface="Times New Roman"/>
                <a:cs typeface="Times New Roman"/>
              </a:rPr>
              <a:t>Board</a:t>
            </a:r>
            <a:r>
              <a:rPr sz="1800" b="1" spc="-25" dirty="0">
                <a:latin typeface="Times New Roman"/>
                <a:cs typeface="Times New Roman"/>
              </a:rPr>
              <a:t> </a:t>
            </a:r>
            <a:r>
              <a:rPr sz="1800" dirty="0">
                <a:latin typeface="Times New Roman"/>
                <a:cs typeface="Times New Roman"/>
              </a:rPr>
              <a:t>(Slot</a:t>
            </a:r>
            <a:r>
              <a:rPr sz="1800" spc="-30" dirty="0">
                <a:latin typeface="Times New Roman"/>
                <a:cs typeface="Times New Roman"/>
              </a:rPr>
              <a:t> </a:t>
            </a:r>
            <a:r>
              <a:rPr sz="1800" dirty="0">
                <a:latin typeface="Times New Roman"/>
                <a:cs typeface="Times New Roman"/>
              </a:rPr>
              <a:t>10</a:t>
            </a:r>
            <a:r>
              <a:rPr sz="1800" spc="-25" dirty="0">
                <a:latin typeface="Times New Roman"/>
                <a:cs typeface="Times New Roman"/>
              </a:rPr>
              <a:t> F)</a:t>
            </a:r>
            <a:endParaRPr sz="1800">
              <a:latin typeface="Times New Roman"/>
              <a:cs typeface="Times New Roman"/>
            </a:endParaRPr>
          </a:p>
        </p:txBody>
      </p:sp>
      <p:sp>
        <p:nvSpPr>
          <p:cNvPr id="16" name="object 16"/>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sp>
        <p:nvSpPr>
          <p:cNvPr id="17" name="object 17"/>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5" dirty="0">
                <a:latin typeface="Times New Roman"/>
                <a:cs typeface="Times New Roman"/>
              </a:rPr>
              <a:t> </a:t>
            </a:r>
            <a:r>
              <a:rPr sz="2000" b="1" dirty="0">
                <a:latin typeface="Times New Roman"/>
                <a:cs typeface="Times New Roman"/>
              </a:rPr>
              <a:t>Chassis</a:t>
            </a:r>
            <a:r>
              <a:rPr sz="2000" b="1" spc="-2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8" name="object 18"/>
          <p:cNvGrpSpPr/>
          <p:nvPr/>
        </p:nvGrpSpPr>
        <p:grpSpPr>
          <a:xfrm>
            <a:off x="7620254" y="-4572"/>
            <a:ext cx="1503045" cy="280670"/>
            <a:chOff x="7620254" y="-4572"/>
            <a:chExt cx="1503045" cy="280670"/>
          </a:xfrm>
        </p:grpSpPr>
        <p:sp>
          <p:nvSpPr>
            <p:cNvPr id="19" name="object 19"/>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21" name="object 21"/>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62" y="250952"/>
            <a:ext cx="8519795" cy="6465570"/>
            <a:chOff x="-4762" y="250952"/>
            <a:chExt cx="8519795" cy="6465570"/>
          </a:xfrm>
        </p:grpSpPr>
        <p:pic>
          <p:nvPicPr>
            <p:cNvPr id="3" name="object 3"/>
            <p:cNvPicPr/>
            <p:nvPr/>
          </p:nvPicPr>
          <p:blipFill>
            <a:blip r:embed="rId2" cstate="print"/>
            <a:stretch>
              <a:fillRect/>
            </a:stretch>
          </p:blipFill>
          <p:spPr>
            <a:xfrm>
              <a:off x="225806" y="250952"/>
              <a:ext cx="8288781" cy="6214871"/>
            </a:xfrm>
            <a:prstGeom prst="rect">
              <a:avLst/>
            </a:prstGeom>
          </p:spPr>
        </p:pic>
        <p:sp>
          <p:nvSpPr>
            <p:cNvPr id="4" name="object 4"/>
            <p:cNvSpPr/>
            <p:nvPr/>
          </p:nvSpPr>
          <p:spPr>
            <a:xfrm>
              <a:off x="4582921" y="1079246"/>
              <a:ext cx="72390" cy="669925"/>
            </a:xfrm>
            <a:custGeom>
              <a:avLst/>
              <a:gdLst/>
              <a:ahLst/>
              <a:cxnLst/>
              <a:rect l="l" t="t" r="r" b="b"/>
              <a:pathLst>
                <a:path w="72389" h="669925">
                  <a:moveTo>
                    <a:pt x="0" y="0"/>
                  </a:moveTo>
                  <a:lnTo>
                    <a:pt x="72389" y="669798"/>
                  </a:lnTo>
                </a:path>
              </a:pathLst>
            </a:custGeom>
            <a:ln w="114300">
              <a:solidFill>
                <a:srgbClr val="FFFFFF"/>
              </a:solidFill>
            </a:ln>
          </p:spPr>
          <p:txBody>
            <a:bodyPr wrap="square" lIns="0" tIns="0" rIns="0" bIns="0" rtlCol="0"/>
            <a:lstStyle/>
            <a:p>
              <a:endParaRPr/>
            </a:p>
          </p:txBody>
        </p:sp>
        <p:sp>
          <p:nvSpPr>
            <p:cNvPr id="5" name="object 5"/>
            <p:cNvSpPr/>
            <p:nvPr/>
          </p:nvSpPr>
          <p:spPr>
            <a:xfrm>
              <a:off x="4475479" y="1727707"/>
              <a:ext cx="360045" cy="379730"/>
            </a:xfrm>
            <a:custGeom>
              <a:avLst/>
              <a:gdLst/>
              <a:ahLst/>
              <a:cxnLst/>
              <a:rect l="l" t="t" r="r" b="b"/>
              <a:pathLst>
                <a:path w="360045" h="379730">
                  <a:moveTo>
                    <a:pt x="359664" y="0"/>
                  </a:moveTo>
                  <a:lnTo>
                    <a:pt x="0" y="38862"/>
                  </a:lnTo>
                  <a:lnTo>
                    <a:pt x="219456" y="379475"/>
                  </a:lnTo>
                  <a:lnTo>
                    <a:pt x="359664" y="0"/>
                  </a:lnTo>
                  <a:close/>
                </a:path>
              </a:pathLst>
            </a:custGeom>
            <a:solidFill>
              <a:srgbClr val="FFFFFF"/>
            </a:solidFill>
          </p:spPr>
          <p:txBody>
            <a:bodyPr wrap="square" lIns="0" tIns="0" rIns="0" bIns="0" rtlCol="0"/>
            <a:lstStyle/>
            <a:p>
              <a:endParaRPr/>
            </a:p>
          </p:txBody>
        </p:sp>
        <p:sp>
          <p:nvSpPr>
            <p:cNvPr id="6" name="object 6"/>
            <p:cNvSpPr/>
            <p:nvPr/>
          </p:nvSpPr>
          <p:spPr>
            <a:xfrm>
              <a:off x="4595876" y="1017524"/>
              <a:ext cx="67945" cy="784225"/>
            </a:xfrm>
            <a:custGeom>
              <a:avLst/>
              <a:gdLst/>
              <a:ahLst/>
              <a:cxnLst/>
              <a:rect l="l" t="t" r="r" b="b"/>
              <a:pathLst>
                <a:path w="67945" h="784225">
                  <a:moveTo>
                    <a:pt x="0" y="0"/>
                  </a:moveTo>
                  <a:lnTo>
                    <a:pt x="67818" y="784097"/>
                  </a:lnTo>
                </a:path>
              </a:pathLst>
            </a:custGeom>
            <a:ln w="60198">
              <a:solidFill>
                <a:srgbClr val="000000"/>
              </a:solidFill>
            </a:ln>
          </p:spPr>
          <p:txBody>
            <a:bodyPr wrap="square" lIns="0" tIns="0" rIns="0" bIns="0" rtlCol="0"/>
            <a:lstStyle/>
            <a:p>
              <a:endParaRPr/>
            </a:p>
          </p:txBody>
        </p:sp>
        <p:sp>
          <p:nvSpPr>
            <p:cNvPr id="7" name="object 7"/>
            <p:cNvSpPr/>
            <p:nvPr/>
          </p:nvSpPr>
          <p:spPr>
            <a:xfrm>
              <a:off x="4550917" y="1790191"/>
              <a:ext cx="226695" cy="236220"/>
            </a:xfrm>
            <a:custGeom>
              <a:avLst/>
              <a:gdLst/>
              <a:ahLst/>
              <a:cxnLst/>
              <a:rect l="l" t="t" r="r" b="b"/>
              <a:pathLst>
                <a:path w="226695" h="236219">
                  <a:moveTo>
                    <a:pt x="226314" y="0"/>
                  </a:moveTo>
                  <a:lnTo>
                    <a:pt x="0" y="19050"/>
                  </a:lnTo>
                  <a:lnTo>
                    <a:pt x="131826" y="236219"/>
                  </a:lnTo>
                  <a:lnTo>
                    <a:pt x="226314" y="0"/>
                  </a:lnTo>
                  <a:close/>
                </a:path>
              </a:pathLst>
            </a:custGeom>
            <a:solidFill>
              <a:srgbClr val="000000"/>
            </a:solidFill>
          </p:spPr>
          <p:txBody>
            <a:bodyPr wrap="square" lIns="0" tIns="0" rIns="0" bIns="0" rtlCol="0"/>
            <a:lstStyle/>
            <a:p>
              <a:endParaRPr/>
            </a:p>
          </p:txBody>
        </p:sp>
        <p:sp>
          <p:nvSpPr>
            <p:cNvPr id="8" name="object 8"/>
            <p:cNvSpPr/>
            <p:nvPr/>
          </p:nvSpPr>
          <p:spPr>
            <a:xfrm>
              <a:off x="0" y="1090676"/>
              <a:ext cx="4405630" cy="4250055"/>
            </a:xfrm>
            <a:custGeom>
              <a:avLst/>
              <a:gdLst/>
              <a:ahLst/>
              <a:cxnLst/>
              <a:rect l="l" t="t" r="r" b="b"/>
              <a:pathLst>
                <a:path w="4405630" h="4250055">
                  <a:moveTo>
                    <a:pt x="4405375" y="4249674"/>
                  </a:moveTo>
                  <a:lnTo>
                    <a:pt x="4405375" y="0"/>
                  </a:lnTo>
                  <a:lnTo>
                    <a:pt x="0" y="0"/>
                  </a:lnTo>
                  <a:lnTo>
                    <a:pt x="0" y="4249674"/>
                  </a:lnTo>
                  <a:lnTo>
                    <a:pt x="4405375" y="4249674"/>
                  </a:lnTo>
                  <a:close/>
                </a:path>
              </a:pathLst>
            </a:custGeom>
            <a:solidFill>
              <a:srgbClr val="FFFFFF"/>
            </a:solidFill>
          </p:spPr>
          <p:txBody>
            <a:bodyPr wrap="square" lIns="0" tIns="0" rIns="0" bIns="0" rtlCol="0"/>
            <a:lstStyle/>
            <a:p>
              <a:endParaRPr/>
            </a:p>
          </p:txBody>
        </p:sp>
        <p:sp>
          <p:nvSpPr>
            <p:cNvPr id="9" name="object 9"/>
            <p:cNvSpPr/>
            <p:nvPr/>
          </p:nvSpPr>
          <p:spPr>
            <a:xfrm>
              <a:off x="0" y="1090676"/>
              <a:ext cx="4405630" cy="4250055"/>
            </a:xfrm>
            <a:custGeom>
              <a:avLst/>
              <a:gdLst/>
              <a:ahLst/>
              <a:cxnLst/>
              <a:rect l="l" t="t" r="r" b="b"/>
              <a:pathLst>
                <a:path w="4405630" h="4250055">
                  <a:moveTo>
                    <a:pt x="4405375" y="4249674"/>
                  </a:moveTo>
                  <a:lnTo>
                    <a:pt x="4405375" y="0"/>
                  </a:lnTo>
                  <a:lnTo>
                    <a:pt x="0" y="0"/>
                  </a:lnTo>
                </a:path>
                <a:path w="4405630" h="4250055">
                  <a:moveTo>
                    <a:pt x="0" y="4249674"/>
                  </a:moveTo>
                  <a:lnTo>
                    <a:pt x="4405375" y="4249674"/>
                  </a:lnTo>
                </a:path>
              </a:pathLst>
            </a:custGeom>
            <a:ln w="9144">
              <a:solidFill>
                <a:srgbClr val="000000"/>
              </a:solidFill>
            </a:ln>
          </p:spPr>
          <p:txBody>
            <a:bodyPr wrap="square" lIns="0" tIns="0" rIns="0" bIns="0" rtlCol="0"/>
            <a:lstStyle/>
            <a:p>
              <a:endParaRPr/>
            </a:p>
          </p:txBody>
        </p:sp>
        <p:sp>
          <p:nvSpPr>
            <p:cNvPr id="10" name="object 10"/>
            <p:cNvSpPr/>
            <p:nvPr/>
          </p:nvSpPr>
          <p:spPr>
            <a:xfrm>
              <a:off x="57403" y="5551424"/>
              <a:ext cx="3937000" cy="1165225"/>
            </a:xfrm>
            <a:custGeom>
              <a:avLst/>
              <a:gdLst/>
              <a:ahLst/>
              <a:cxnLst/>
              <a:rect l="l" t="t" r="r" b="b"/>
              <a:pathLst>
                <a:path w="3937000" h="1165225">
                  <a:moveTo>
                    <a:pt x="3936492" y="1165098"/>
                  </a:moveTo>
                  <a:lnTo>
                    <a:pt x="3936492" y="0"/>
                  </a:lnTo>
                  <a:lnTo>
                    <a:pt x="0" y="0"/>
                  </a:lnTo>
                  <a:lnTo>
                    <a:pt x="0" y="1165098"/>
                  </a:lnTo>
                  <a:lnTo>
                    <a:pt x="3936492" y="1165098"/>
                  </a:lnTo>
                  <a:close/>
                </a:path>
              </a:pathLst>
            </a:custGeom>
            <a:solidFill>
              <a:srgbClr val="FFFFFF"/>
            </a:solidFill>
          </p:spPr>
          <p:txBody>
            <a:bodyPr wrap="square" lIns="0" tIns="0" rIns="0" bIns="0" rtlCol="0"/>
            <a:lstStyle/>
            <a:p>
              <a:endParaRPr/>
            </a:p>
          </p:txBody>
        </p:sp>
      </p:grpSp>
      <p:sp>
        <p:nvSpPr>
          <p:cNvPr id="11" name="object 11"/>
          <p:cNvSpPr txBox="1"/>
          <p:nvPr/>
        </p:nvSpPr>
        <p:spPr>
          <a:xfrm>
            <a:off x="57403" y="5551423"/>
            <a:ext cx="3937000" cy="1165225"/>
          </a:xfrm>
          <a:prstGeom prst="rect">
            <a:avLst/>
          </a:prstGeom>
          <a:ln w="9144">
            <a:solidFill>
              <a:srgbClr val="000000"/>
            </a:solidFill>
          </a:ln>
        </p:spPr>
        <p:txBody>
          <a:bodyPr vert="horz" wrap="square" lIns="0" tIns="44450" rIns="0" bIns="0" rtlCol="0">
            <a:spAutoFit/>
          </a:bodyPr>
          <a:lstStyle/>
          <a:p>
            <a:pPr marL="96520">
              <a:lnSpc>
                <a:spcPct val="100000"/>
              </a:lnSpc>
              <a:spcBef>
                <a:spcPts val="350"/>
              </a:spcBef>
            </a:pPr>
            <a:r>
              <a:rPr sz="1400" b="1" u="sng" dirty="0">
                <a:uFill>
                  <a:solidFill>
                    <a:srgbClr val="000000"/>
                  </a:solidFill>
                </a:uFill>
                <a:latin typeface="Times New Roman"/>
                <a:cs typeface="Times New Roman"/>
              </a:rPr>
              <a:t>Available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IRF</a:t>
            </a:r>
            <a:r>
              <a:rPr sz="1400" b="1" u="sng" spc="-3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MGD</a:t>
            </a:r>
            <a:r>
              <a:rPr sz="1400" b="1" spc="-25" dirty="0">
                <a:latin typeface="Times New Roman"/>
                <a:cs typeface="Times New Roman"/>
              </a:rPr>
              <a:t> </a:t>
            </a:r>
            <a:r>
              <a:rPr sz="1400" b="1" dirty="0">
                <a:latin typeface="Times New Roman"/>
                <a:cs typeface="Times New Roman"/>
              </a:rPr>
              <a:t>Board</a:t>
            </a:r>
            <a:r>
              <a:rPr sz="1400" b="1" spc="-25" dirty="0">
                <a:latin typeface="Times New Roman"/>
                <a:cs typeface="Times New Roman"/>
              </a:rPr>
              <a:t> </a:t>
            </a:r>
            <a:r>
              <a:rPr sz="1400" b="1" dirty="0">
                <a:latin typeface="Times New Roman"/>
                <a:cs typeface="Times New Roman"/>
              </a:rPr>
              <a:t>Level</a:t>
            </a:r>
            <a:r>
              <a:rPr sz="1400" b="1" spc="-20" dirty="0">
                <a:latin typeface="Times New Roman"/>
                <a:cs typeface="Times New Roman"/>
              </a:rPr>
              <a:t> </a:t>
            </a:r>
            <a:r>
              <a:rPr sz="1400" b="1" dirty="0">
                <a:latin typeface="Times New Roman"/>
                <a:cs typeface="Times New Roman"/>
              </a:rPr>
              <a:t>Diagnostics:</a:t>
            </a:r>
            <a:r>
              <a:rPr sz="1400" b="1" spc="-30" dirty="0">
                <a:latin typeface="Times New Roman"/>
                <a:cs typeface="Times New Roman"/>
              </a:rPr>
              <a:t> </a:t>
            </a:r>
            <a:r>
              <a:rPr sz="1400" dirty="0">
                <a:latin typeface="Times New Roman"/>
                <a:cs typeface="Times New Roman"/>
              </a:rPr>
              <a:t>IRF</a:t>
            </a:r>
            <a:r>
              <a:rPr sz="1400" spc="-25" dirty="0">
                <a:latin typeface="Times New Roman"/>
                <a:cs typeface="Times New Roman"/>
              </a:rPr>
              <a:t> BLD</a:t>
            </a:r>
            <a:endParaRPr sz="1400">
              <a:latin typeface="Times New Roman"/>
              <a:cs typeface="Times New Roman"/>
            </a:endParaRPr>
          </a:p>
          <a:p>
            <a:pPr marL="96520" marR="323850" indent="-8255">
              <a:lnSpc>
                <a:spcPct val="100000"/>
              </a:lnSpc>
              <a:spcBef>
                <a:spcPts val="830"/>
              </a:spcBef>
              <a:buSzPct val="92857"/>
              <a:buFont typeface="Times New Roman"/>
              <a:buChar char="•"/>
              <a:tabLst>
                <a:tab pos="158115" algn="l"/>
              </a:tabLst>
            </a:pPr>
            <a:r>
              <a:rPr sz="1400" b="1" dirty="0">
                <a:latin typeface="Times New Roman"/>
                <a:cs typeface="Times New Roman"/>
              </a:rPr>
              <a:t>	MGD</a:t>
            </a:r>
            <a:r>
              <a:rPr sz="1400" b="1" spc="-20" dirty="0">
                <a:latin typeface="Times New Roman"/>
                <a:cs typeface="Times New Roman"/>
              </a:rPr>
              <a:t> </a:t>
            </a:r>
            <a:r>
              <a:rPr sz="1400" b="1" dirty="0">
                <a:latin typeface="Times New Roman"/>
                <a:cs typeface="Times New Roman"/>
              </a:rPr>
              <a:t>Datapaths:</a:t>
            </a:r>
            <a:r>
              <a:rPr sz="1400" b="1" spc="-25" dirty="0">
                <a:latin typeface="Times New Roman"/>
                <a:cs typeface="Times New Roman"/>
              </a:rPr>
              <a:t> </a:t>
            </a:r>
            <a:r>
              <a:rPr sz="1400" dirty="0">
                <a:latin typeface="Times New Roman"/>
                <a:cs typeface="Times New Roman"/>
              </a:rPr>
              <a:t>IRF</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dirty="0">
                <a:latin typeface="Times New Roman"/>
                <a:cs typeface="Times New Roman"/>
              </a:rPr>
              <a:t>DRF,</a:t>
            </a:r>
            <a:r>
              <a:rPr sz="1400" spc="-20" dirty="0">
                <a:latin typeface="Times New Roman"/>
                <a:cs typeface="Times New Roman"/>
              </a:rPr>
              <a:t> </a:t>
            </a:r>
            <a:r>
              <a:rPr sz="1400" dirty="0">
                <a:latin typeface="Times New Roman"/>
                <a:cs typeface="Times New Roman"/>
              </a:rPr>
              <a:t>IRF</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dirty="0">
                <a:latin typeface="Times New Roman"/>
                <a:cs typeface="Times New Roman"/>
              </a:rPr>
              <a:t>IRF</a:t>
            </a:r>
            <a:r>
              <a:rPr sz="1400" spc="-20" dirty="0">
                <a:latin typeface="Times New Roman"/>
                <a:cs typeface="Times New Roman"/>
              </a:rPr>
              <a:t> I/O, </a:t>
            </a:r>
            <a:r>
              <a:rPr sz="1400" dirty="0">
                <a:latin typeface="Times New Roman"/>
                <a:cs typeface="Times New Roman"/>
              </a:rPr>
              <a:t>IRF</a:t>
            </a:r>
            <a:r>
              <a:rPr sz="1400" spc="-10" dirty="0">
                <a:latin typeface="Times New Roman"/>
                <a:cs typeface="Times New Roman"/>
              </a:rPr>
              <a:t> -</a:t>
            </a:r>
            <a:r>
              <a:rPr sz="1400" dirty="0">
                <a:latin typeface="Times New Roman"/>
                <a:cs typeface="Times New Roman"/>
              </a:rPr>
              <a:t>&gt;</a:t>
            </a:r>
            <a:r>
              <a:rPr sz="1400" spc="-10" dirty="0">
                <a:latin typeface="Times New Roman"/>
                <a:cs typeface="Times New Roman"/>
              </a:rPr>
              <a:t> </a:t>
            </a:r>
            <a:r>
              <a:rPr sz="1400" dirty="0">
                <a:latin typeface="Times New Roman"/>
                <a:cs typeface="Times New Roman"/>
              </a:rPr>
              <a:t>APS,</a:t>
            </a:r>
            <a:r>
              <a:rPr sz="1400" spc="-10" dirty="0">
                <a:latin typeface="Times New Roman"/>
                <a:cs typeface="Times New Roman"/>
              </a:rPr>
              <a:t> </a:t>
            </a:r>
            <a:r>
              <a:rPr sz="1400" dirty="0">
                <a:latin typeface="Times New Roman"/>
                <a:cs typeface="Times New Roman"/>
              </a:rPr>
              <a:t>SRF</a:t>
            </a:r>
            <a:r>
              <a:rPr sz="1400" spc="-10" dirty="0">
                <a:latin typeface="Times New Roman"/>
                <a:cs typeface="Times New Roman"/>
              </a:rPr>
              <a:t> -</a:t>
            </a:r>
            <a:r>
              <a:rPr sz="1400" dirty="0">
                <a:latin typeface="Times New Roman"/>
                <a:cs typeface="Times New Roman"/>
              </a:rPr>
              <a:t>&gt;</a:t>
            </a:r>
            <a:r>
              <a:rPr sz="1400" spc="-10" dirty="0">
                <a:latin typeface="Times New Roman"/>
                <a:cs typeface="Times New Roman"/>
              </a:rPr>
              <a:t> </a:t>
            </a:r>
            <a:r>
              <a:rPr sz="1400" spc="-25" dirty="0">
                <a:latin typeface="Times New Roman"/>
                <a:cs typeface="Times New Roman"/>
              </a:rPr>
              <a:t>IRF</a:t>
            </a:r>
            <a:endParaRPr sz="1400">
              <a:latin typeface="Times New Roman"/>
              <a:cs typeface="Times New Roman"/>
            </a:endParaRPr>
          </a:p>
        </p:txBody>
      </p:sp>
      <p:grpSp>
        <p:nvGrpSpPr>
          <p:cNvPr id="12" name="object 12"/>
          <p:cNvGrpSpPr/>
          <p:nvPr/>
        </p:nvGrpSpPr>
        <p:grpSpPr>
          <a:xfrm>
            <a:off x="993711" y="681291"/>
            <a:ext cx="5525135" cy="385445"/>
            <a:chOff x="993711" y="681291"/>
            <a:chExt cx="5525135" cy="385445"/>
          </a:xfrm>
        </p:grpSpPr>
        <p:sp>
          <p:nvSpPr>
            <p:cNvPr id="13" name="object 13"/>
            <p:cNvSpPr/>
            <p:nvPr/>
          </p:nvSpPr>
          <p:spPr>
            <a:xfrm>
              <a:off x="998474" y="686054"/>
              <a:ext cx="5515610" cy="375920"/>
            </a:xfrm>
            <a:custGeom>
              <a:avLst/>
              <a:gdLst/>
              <a:ahLst/>
              <a:cxnLst/>
              <a:rect l="l" t="t" r="r" b="b"/>
              <a:pathLst>
                <a:path w="5515609" h="375919">
                  <a:moveTo>
                    <a:pt x="5515356" y="375665"/>
                  </a:moveTo>
                  <a:lnTo>
                    <a:pt x="5515356" y="0"/>
                  </a:lnTo>
                  <a:lnTo>
                    <a:pt x="0" y="0"/>
                  </a:lnTo>
                  <a:lnTo>
                    <a:pt x="0" y="375666"/>
                  </a:lnTo>
                  <a:lnTo>
                    <a:pt x="5515356" y="375665"/>
                  </a:lnTo>
                  <a:close/>
                </a:path>
              </a:pathLst>
            </a:custGeom>
            <a:solidFill>
              <a:srgbClr val="FFFFFF"/>
            </a:solidFill>
          </p:spPr>
          <p:txBody>
            <a:bodyPr wrap="square" lIns="0" tIns="0" rIns="0" bIns="0" rtlCol="0"/>
            <a:lstStyle/>
            <a:p>
              <a:endParaRPr/>
            </a:p>
          </p:txBody>
        </p:sp>
        <p:sp>
          <p:nvSpPr>
            <p:cNvPr id="14" name="object 14"/>
            <p:cNvSpPr/>
            <p:nvPr/>
          </p:nvSpPr>
          <p:spPr>
            <a:xfrm>
              <a:off x="998474" y="686054"/>
              <a:ext cx="5515610" cy="375920"/>
            </a:xfrm>
            <a:custGeom>
              <a:avLst/>
              <a:gdLst/>
              <a:ahLst/>
              <a:cxnLst/>
              <a:rect l="l" t="t" r="r" b="b"/>
              <a:pathLst>
                <a:path w="5515609" h="375919">
                  <a:moveTo>
                    <a:pt x="5515356" y="375665"/>
                  </a:moveTo>
                  <a:lnTo>
                    <a:pt x="5515356" y="0"/>
                  </a:lnTo>
                  <a:lnTo>
                    <a:pt x="0" y="0"/>
                  </a:lnTo>
                  <a:lnTo>
                    <a:pt x="0" y="375666"/>
                  </a:lnTo>
                  <a:lnTo>
                    <a:pt x="5515356" y="375665"/>
                  </a:lnTo>
                  <a:close/>
                </a:path>
              </a:pathLst>
            </a:custGeom>
            <a:ln w="9143">
              <a:solidFill>
                <a:srgbClr val="000000"/>
              </a:solidFill>
            </a:ln>
          </p:spPr>
          <p:txBody>
            <a:bodyPr wrap="square" lIns="0" tIns="0" rIns="0" bIns="0" rtlCol="0"/>
            <a:lstStyle/>
            <a:p>
              <a:endParaRPr/>
            </a:p>
          </p:txBody>
        </p:sp>
      </p:grpSp>
      <p:sp>
        <p:nvSpPr>
          <p:cNvPr id="15" name="object 15"/>
          <p:cNvSpPr txBox="1"/>
          <p:nvPr/>
        </p:nvSpPr>
        <p:spPr>
          <a:xfrm>
            <a:off x="71344" y="716026"/>
            <a:ext cx="6320155" cy="4580890"/>
          </a:xfrm>
          <a:prstGeom prst="rect">
            <a:avLst/>
          </a:prstGeom>
        </p:spPr>
        <p:txBody>
          <a:bodyPr vert="horz" wrap="square" lIns="0" tIns="12700" rIns="0" bIns="0" rtlCol="0">
            <a:spAutoFit/>
          </a:bodyPr>
          <a:lstStyle/>
          <a:p>
            <a:pPr marL="1023619">
              <a:lnSpc>
                <a:spcPct val="100000"/>
              </a:lnSpc>
              <a:spcBef>
                <a:spcPts val="100"/>
              </a:spcBef>
            </a:pPr>
            <a:r>
              <a:rPr sz="1800" b="1" dirty="0">
                <a:latin typeface="Times New Roman"/>
                <a:cs typeface="Times New Roman"/>
              </a:rPr>
              <a:t>I</a:t>
            </a:r>
            <a:r>
              <a:rPr sz="1800" dirty="0">
                <a:latin typeface="Times New Roman"/>
                <a:cs typeface="Times New Roman"/>
              </a:rPr>
              <a:t>nterface</a:t>
            </a:r>
            <a:r>
              <a:rPr sz="1800" spc="-35" dirty="0">
                <a:latin typeface="Times New Roman"/>
                <a:cs typeface="Times New Roman"/>
              </a:rPr>
              <a:t> </a:t>
            </a:r>
            <a:r>
              <a:rPr sz="1800" dirty="0">
                <a:latin typeface="Times New Roman"/>
                <a:cs typeface="Times New Roman"/>
              </a:rPr>
              <a:t>&amp;</a:t>
            </a:r>
            <a:r>
              <a:rPr sz="1800" spc="-15" dirty="0">
                <a:latin typeface="Times New Roman"/>
                <a:cs typeface="Times New Roman"/>
              </a:rPr>
              <a:t> </a:t>
            </a:r>
            <a:r>
              <a:rPr sz="1800" b="1" dirty="0">
                <a:latin typeface="Times New Roman"/>
                <a:cs typeface="Times New Roman"/>
              </a:rPr>
              <a:t>R</a:t>
            </a:r>
            <a:r>
              <a:rPr sz="1800" dirty="0">
                <a:latin typeface="Times New Roman"/>
                <a:cs typeface="Times New Roman"/>
              </a:rPr>
              <a:t>emote</a:t>
            </a:r>
            <a:r>
              <a:rPr sz="1800" spc="-20" dirty="0">
                <a:latin typeface="Times New Roman"/>
                <a:cs typeface="Times New Roman"/>
              </a:rPr>
              <a:t> </a:t>
            </a:r>
            <a:r>
              <a:rPr sz="1800" b="1" dirty="0">
                <a:latin typeface="Times New Roman"/>
                <a:cs typeface="Times New Roman"/>
              </a:rPr>
              <a:t>F</a:t>
            </a:r>
            <a:r>
              <a:rPr sz="1800" dirty="0">
                <a:latin typeface="Times New Roman"/>
                <a:cs typeface="Times New Roman"/>
              </a:rPr>
              <a:t>unctions</a:t>
            </a:r>
            <a:r>
              <a:rPr sz="1800" spc="-10" dirty="0">
                <a:latin typeface="Times New Roman"/>
                <a:cs typeface="Times New Roman"/>
              </a:rPr>
              <a:t> (IRF-</a:t>
            </a:r>
            <a:r>
              <a:rPr sz="1800" dirty="0">
                <a:latin typeface="Times New Roman"/>
                <a:cs typeface="Times New Roman"/>
              </a:rPr>
              <a:t>2)</a:t>
            </a:r>
            <a:r>
              <a:rPr sz="1800" spc="-25" dirty="0">
                <a:latin typeface="Times New Roman"/>
                <a:cs typeface="Times New Roman"/>
              </a:rPr>
              <a:t> </a:t>
            </a:r>
            <a:r>
              <a:rPr sz="1800" b="1" dirty="0">
                <a:latin typeface="Times New Roman"/>
                <a:cs typeface="Times New Roman"/>
              </a:rPr>
              <a:t>Board</a:t>
            </a:r>
            <a:r>
              <a:rPr sz="1800" b="1" spc="-20" dirty="0">
                <a:latin typeface="Times New Roman"/>
                <a:cs typeface="Times New Roman"/>
              </a:rPr>
              <a:t> </a:t>
            </a:r>
            <a:r>
              <a:rPr sz="1800" dirty="0">
                <a:latin typeface="Times New Roman"/>
                <a:cs typeface="Times New Roman"/>
              </a:rPr>
              <a:t>(Slot</a:t>
            </a:r>
            <a:r>
              <a:rPr sz="1800" spc="-20" dirty="0">
                <a:latin typeface="Times New Roman"/>
                <a:cs typeface="Times New Roman"/>
              </a:rPr>
              <a:t> </a:t>
            </a:r>
            <a:r>
              <a:rPr sz="1800" dirty="0">
                <a:latin typeface="Times New Roman"/>
                <a:cs typeface="Times New Roman"/>
              </a:rPr>
              <a:t>11</a:t>
            </a:r>
            <a:r>
              <a:rPr sz="1800" spc="-20" dirty="0">
                <a:latin typeface="Times New Roman"/>
                <a:cs typeface="Times New Roman"/>
              </a:rPr>
              <a:t> </a:t>
            </a:r>
            <a:r>
              <a:rPr sz="1800" spc="-25" dirty="0">
                <a:latin typeface="Times New Roman"/>
                <a:cs typeface="Times New Roman"/>
              </a:rPr>
              <a:t>F)</a:t>
            </a:r>
            <a:endParaRPr sz="1800">
              <a:latin typeface="Times New Roman"/>
              <a:cs typeface="Times New Roman"/>
            </a:endParaRPr>
          </a:p>
          <a:p>
            <a:pPr marL="12700" marR="2077085">
              <a:lnSpc>
                <a:spcPct val="100000"/>
              </a:lnSpc>
              <a:spcBef>
                <a:spcPts val="1040"/>
              </a:spcBef>
            </a:pP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IRF2</a:t>
            </a:r>
            <a:r>
              <a:rPr sz="1400" spc="-35" dirty="0">
                <a:latin typeface="Times New Roman"/>
                <a:cs typeface="Times New Roman"/>
              </a:rPr>
              <a:t> </a:t>
            </a:r>
            <a:r>
              <a:rPr sz="1400" dirty="0">
                <a:latin typeface="Times New Roman"/>
                <a:cs typeface="Times New Roman"/>
              </a:rPr>
              <a:t>provides</a:t>
            </a:r>
            <a:r>
              <a:rPr sz="1400" spc="-35" dirty="0">
                <a:latin typeface="Times New Roman"/>
                <a:cs typeface="Times New Roman"/>
              </a:rPr>
              <a:t> </a:t>
            </a:r>
            <a:r>
              <a:rPr sz="1400" dirty="0">
                <a:latin typeface="Times New Roman"/>
                <a:cs typeface="Times New Roman"/>
              </a:rPr>
              <a:t>a</a:t>
            </a:r>
            <a:r>
              <a:rPr sz="1400" spc="-40" dirty="0">
                <a:latin typeface="Times New Roman"/>
                <a:cs typeface="Times New Roman"/>
              </a:rPr>
              <a:t> </a:t>
            </a:r>
            <a:r>
              <a:rPr sz="1400" dirty="0">
                <a:latin typeface="Times New Roman"/>
                <a:cs typeface="Times New Roman"/>
              </a:rPr>
              <a:t>master</a:t>
            </a:r>
            <a:r>
              <a:rPr sz="1400" spc="-40" dirty="0">
                <a:latin typeface="Times New Roman"/>
                <a:cs typeface="Times New Roman"/>
              </a:rPr>
              <a:t> </a:t>
            </a:r>
            <a:r>
              <a:rPr sz="1400" dirty="0">
                <a:latin typeface="Times New Roman"/>
                <a:cs typeface="Times New Roman"/>
              </a:rPr>
              <a:t>data</a:t>
            </a:r>
            <a:r>
              <a:rPr sz="1400" spc="-35" dirty="0">
                <a:latin typeface="Times New Roman"/>
                <a:cs typeface="Times New Roman"/>
              </a:rPr>
              <a:t> </a:t>
            </a:r>
            <a:r>
              <a:rPr sz="1400" dirty="0">
                <a:latin typeface="Times New Roman"/>
                <a:cs typeface="Times New Roman"/>
              </a:rPr>
              <a:t>acquisition</a:t>
            </a:r>
            <a:r>
              <a:rPr sz="1400" spc="-40" dirty="0">
                <a:latin typeface="Times New Roman"/>
                <a:cs typeface="Times New Roman"/>
              </a:rPr>
              <a:t> </a:t>
            </a:r>
            <a:r>
              <a:rPr sz="1400" dirty="0">
                <a:latin typeface="Times New Roman"/>
                <a:cs typeface="Times New Roman"/>
              </a:rPr>
              <a:t>clock</a:t>
            </a:r>
            <a:r>
              <a:rPr sz="1400" spc="-35" dirty="0">
                <a:latin typeface="Times New Roman"/>
                <a:cs typeface="Times New Roman"/>
              </a:rPr>
              <a:t> </a:t>
            </a:r>
            <a:r>
              <a:rPr sz="1400" spc="-10" dirty="0">
                <a:latin typeface="Times New Roman"/>
                <a:cs typeface="Times New Roman"/>
              </a:rPr>
              <a:t>signal</a:t>
            </a:r>
            <a:r>
              <a:rPr sz="1400" spc="50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rest</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MGD</a:t>
            </a:r>
            <a:r>
              <a:rPr sz="1400" spc="-20" dirty="0">
                <a:latin typeface="Times New Roman"/>
                <a:cs typeface="Times New Roman"/>
              </a:rPr>
              <a:t> </a:t>
            </a:r>
            <a:r>
              <a:rPr sz="1400" dirty="0">
                <a:latin typeface="Times New Roman"/>
                <a:cs typeface="Times New Roman"/>
              </a:rPr>
              <a:t>components.</a:t>
            </a:r>
            <a:r>
              <a:rPr sz="1400" spc="-20"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signal</a:t>
            </a:r>
            <a:r>
              <a:rPr sz="1400" spc="-25"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spc="-10" dirty="0">
                <a:latin typeface="Times New Roman"/>
                <a:cs typeface="Times New Roman"/>
              </a:rPr>
              <a:t>obtained </a:t>
            </a:r>
            <a:r>
              <a:rPr sz="1400" dirty="0">
                <a:latin typeface="Times New Roman"/>
                <a:cs typeface="Times New Roman"/>
              </a:rPr>
              <a:t>from</a:t>
            </a:r>
            <a:r>
              <a:rPr sz="1400" spc="-35"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dirty="0">
                <a:latin typeface="Times New Roman"/>
                <a:cs typeface="Times New Roman"/>
              </a:rPr>
              <a:t>20MHz</a:t>
            </a:r>
            <a:r>
              <a:rPr sz="1400" spc="-20" dirty="0">
                <a:latin typeface="Times New Roman"/>
                <a:cs typeface="Times New Roman"/>
              </a:rPr>
              <a:t> </a:t>
            </a:r>
            <a:r>
              <a:rPr sz="1400" dirty="0">
                <a:latin typeface="Times New Roman"/>
                <a:cs typeface="Times New Roman"/>
              </a:rPr>
              <a:t>reference</a:t>
            </a:r>
            <a:r>
              <a:rPr sz="1400" spc="-25" dirty="0">
                <a:latin typeface="Times New Roman"/>
                <a:cs typeface="Times New Roman"/>
              </a:rPr>
              <a:t> </a:t>
            </a:r>
            <a:r>
              <a:rPr sz="1400" dirty="0">
                <a:latin typeface="Times New Roman"/>
                <a:cs typeface="Times New Roman"/>
              </a:rPr>
              <a:t>provided</a:t>
            </a:r>
            <a:r>
              <a:rPr sz="1400" spc="-20" dirty="0">
                <a:latin typeface="Times New Roman"/>
                <a:cs typeface="Times New Roman"/>
              </a:rPr>
              <a:t> </a:t>
            </a:r>
            <a:r>
              <a:rPr sz="1400" dirty="0">
                <a:latin typeface="Times New Roman"/>
                <a:cs typeface="Times New Roman"/>
              </a:rPr>
              <a:t>by</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RRF</a:t>
            </a:r>
            <a:r>
              <a:rPr sz="1400" spc="-25" dirty="0">
                <a:latin typeface="Times New Roman"/>
                <a:cs typeface="Times New Roman"/>
              </a:rPr>
              <a:t> </a:t>
            </a:r>
            <a:r>
              <a:rPr sz="1400" spc="-10" dirty="0">
                <a:latin typeface="Times New Roman"/>
                <a:cs typeface="Times New Roman"/>
              </a:rPr>
              <a:t>Master </a:t>
            </a:r>
            <a:r>
              <a:rPr sz="1400" dirty="0">
                <a:latin typeface="Times New Roman"/>
                <a:cs typeface="Times New Roman"/>
              </a:rPr>
              <a:t>Exciter.</a:t>
            </a:r>
            <a:r>
              <a:rPr sz="1400" spc="29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IRF</a:t>
            </a:r>
            <a:r>
              <a:rPr sz="1400" spc="-30" dirty="0">
                <a:latin typeface="Times New Roman"/>
                <a:cs typeface="Times New Roman"/>
              </a:rPr>
              <a:t> </a:t>
            </a:r>
            <a:r>
              <a:rPr sz="1400" dirty="0">
                <a:latin typeface="Times New Roman"/>
                <a:cs typeface="Times New Roman"/>
              </a:rPr>
              <a:t>Board</a:t>
            </a:r>
            <a:r>
              <a:rPr sz="1400" spc="-30" dirty="0">
                <a:latin typeface="Times New Roman"/>
                <a:cs typeface="Times New Roman"/>
              </a:rPr>
              <a:t> </a:t>
            </a:r>
            <a:r>
              <a:rPr sz="1400" dirty="0">
                <a:latin typeface="Times New Roman"/>
                <a:cs typeface="Times New Roman"/>
              </a:rPr>
              <a:t>transfers</a:t>
            </a:r>
            <a:r>
              <a:rPr sz="1400" spc="-30" dirty="0">
                <a:latin typeface="Times New Roman"/>
                <a:cs typeface="Times New Roman"/>
              </a:rPr>
              <a:t> </a:t>
            </a:r>
            <a:r>
              <a:rPr sz="1400" dirty="0">
                <a:latin typeface="Times New Roman"/>
                <a:cs typeface="Times New Roman"/>
              </a:rPr>
              <a:t>digitized</a:t>
            </a:r>
            <a:r>
              <a:rPr sz="1400" spc="-30" dirty="0">
                <a:latin typeface="Times New Roman"/>
                <a:cs typeface="Times New Roman"/>
              </a:rPr>
              <a:t> </a:t>
            </a:r>
            <a:r>
              <a:rPr sz="1400" dirty="0">
                <a:latin typeface="Times New Roman"/>
                <a:cs typeface="Times New Roman"/>
              </a:rPr>
              <a:t>data</a:t>
            </a:r>
            <a:r>
              <a:rPr sz="1400" spc="-30" dirty="0">
                <a:latin typeface="Times New Roman"/>
                <a:cs typeface="Times New Roman"/>
              </a:rPr>
              <a:t> </a:t>
            </a:r>
            <a:r>
              <a:rPr sz="1400" dirty="0">
                <a:latin typeface="Times New Roman"/>
                <a:cs typeface="Times New Roman"/>
              </a:rPr>
              <a:t>from</a:t>
            </a:r>
            <a:r>
              <a:rPr sz="1400" spc="-35" dirty="0">
                <a:latin typeface="Times New Roman"/>
                <a:cs typeface="Times New Roman"/>
              </a:rPr>
              <a:t> </a:t>
            </a:r>
            <a:r>
              <a:rPr sz="1400" spc="-25" dirty="0">
                <a:latin typeface="Times New Roman"/>
                <a:cs typeface="Times New Roman"/>
              </a:rPr>
              <a:t>the </a:t>
            </a:r>
            <a:r>
              <a:rPr sz="1400" dirty="0">
                <a:latin typeface="Times New Roman"/>
                <a:cs typeface="Times New Roman"/>
              </a:rPr>
              <a:t>SRF/TRF</a:t>
            </a:r>
            <a:r>
              <a:rPr sz="1400" spc="-30" dirty="0">
                <a:latin typeface="Times New Roman"/>
                <a:cs typeface="Times New Roman"/>
              </a:rPr>
              <a:t> </a:t>
            </a:r>
            <a:r>
              <a:rPr sz="1400" dirty="0">
                <a:latin typeface="Times New Roman"/>
                <a:cs typeface="Times New Roman"/>
              </a:rPr>
              <a:t>Board</a:t>
            </a:r>
            <a:r>
              <a:rPr sz="1400" spc="-3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Exciter(s)</a:t>
            </a:r>
            <a:r>
              <a:rPr sz="1400" spc="-25" dirty="0">
                <a:latin typeface="Times New Roman"/>
                <a:cs typeface="Times New Roman"/>
              </a:rPr>
              <a:t> </a:t>
            </a:r>
            <a:r>
              <a:rPr sz="1400" dirty="0">
                <a:latin typeface="Times New Roman"/>
                <a:cs typeface="Times New Roman"/>
              </a:rPr>
              <a:t>in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RRF</a:t>
            </a:r>
            <a:r>
              <a:rPr sz="1400" spc="-25" dirty="0">
                <a:latin typeface="Times New Roman"/>
                <a:cs typeface="Times New Roman"/>
              </a:rPr>
              <a:t> </a:t>
            </a:r>
            <a:r>
              <a:rPr sz="1400" dirty="0">
                <a:latin typeface="Times New Roman"/>
                <a:cs typeface="Times New Roman"/>
              </a:rPr>
              <a:t>so</a:t>
            </a:r>
            <a:r>
              <a:rPr sz="1400" spc="-25" dirty="0">
                <a:latin typeface="Times New Roman"/>
                <a:cs typeface="Times New Roman"/>
              </a:rPr>
              <a:t> </a:t>
            </a:r>
            <a:r>
              <a:rPr sz="1400" dirty="0">
                <a:latin typeface="Times New Roman"/>
                <a:cs typeface="Times New Roman"/>
              </a:rPr>
              <a:t>that</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RF </a:t>
            </a:r>
            <a:r>
              <a:rPr sz="1400" dirty="0">
                <a:latin typeface="Times New Roman"/>
                <a:cs typeface="Times New Roman"/>
              </a:rPr>
              <a:t>waveforms</a:t>
            </a:r>
            <a:r>
              <a:rPr sz="1400" spc="-20" dirty="0">
                <a:latin typeface="Times New Roman"/>
                <a:cs typeface="Times New Roman"/>
              </a:rPr>
              <a:t> </a:t>
            </a:r>
            <a:r>
              <a:rPr sz="1400" dirty="0">
                <a:latin typeface="Times New Roman"/>
                <a:cs typeface="Times New Roman"/>
              </a:rPr>
              <a:t>can</a:t>
            </a:r>
            <a:r>
              <a:rPr sz="1400" spc="-20" dirty="0">
                <a:latin typeface="Times New Roman"/>
                <a:cs typeface="Times New Roman"/>
              </a:rPr>
              <a:t> </a:t>
            </a:r>
            <a:r>
              <a:rPr sz="1400" dirty="0">
                <a:latin typeface="Times New Roman"/>
                <a:cs typeface="Times New Roman"/>
              </a:rPr>
              <a:t>be</a:t>
            </a:r>
            <a:r>
              <a:rPr sz="1400" spc="-20" dirty="0">
                <a:latin typeface="Times New Roman"/>
                <a:cs typeface="Times New Roman"/>
              </a:rPr>
              <a:t> </a:t>
            </a:r>
            <a:r>
              <a:rPr sz="1400" dirty="0">
                <a:latin typeface="Times New Roman"/>
                <a:cs typeface="Times New Roman"/>
              </a:rPr>
              <a:t>generated.</a:t>
            </a:r>
            <a:r>
              <a:rPr sz="1400" spc="31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IRF2</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spc="-10" dirty="0">
                <a:latin typeface="Times New Roman"/>
                <a:cs typeface="Times New Roman"/>
              </a:rPr>
              <a:t>receives </a:t>
            </a:r>
            <a:r>
              <a:rPr sz="1400" dirty="0">
                <a:latin typeface="Times New Roman"/>
                <a:cs typeface="Times New Roman"/>
              </a:rPr>
              <a:t>view</a:t>
            </a:r>
            <a:r>
              <a:rPr sz="1400" spc="-25" dirty="0">
                <a:latin typeface="Times New Roman"/>
                <a:cs typeface="Times New Roman"/>
              </a:rPr>
              <a:t> </a:t>
            </a:r>
            <a:r>
              <a:rPr sz="1400" dirty="0">
                <a:latin typeface="Times New Roman"/>
                <a:cs typeface="Times New Roman"/>
              </a:rPr>
              <a:t>data</a:t>
            </a:r>
            <a:r>
              <a:rPr sz="1400" spc="-20" dirty="0">
                <a:latin typeface="Times New Roman"/>
                <a:cs typeface="Times New Roman"/>
              </a:rPr>
              <a:t> </a:t>
            </a:r>
            <a:r>
              <a:rPr sz="1400" dirty="0">
                <a:latin typeface="Times New Roman"/>
                <a:cs typeface="Times New Roman"/>
              </a:rPr>
              <a:t>from</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receivers</a:t>
            </a:r>
            <a:r>
              <a:rPr sz="1400" spc="-15" dirty="0">
                <a:latin typeface="Times New Roman"/>
                <a:cs typeface="Times New Roman"/>
              </a:rPr>
              <a:t> </a:t>
            </a:r>
            <a:r>
              <a:rPr sz="1400" dirty="0">
                <a:latin typeface="Times New Roman"/>
                <a:cs typeface="Times New Roman"/>
              </a:rPr>
              <a:t>that</a:t>
            </a:r>
            <a:r>
              <a:rPr sz="1400" spc="-25" dirty="0">
                <a:latin typeface="Times New Roman"/>
                <a:cs typeface="Times New Roman"/>
              </a:rPr>
              <a:t> </a:t>
            </a:r>
            <a:r>
              <a:rPr sz="1400" dirty="0">
                <a:latin typeface="Times New Roman"/>
                <a:cs typeface="Times New Roman"/>
              </a:rPr>
              <a:t>it</a:t>
            </a:r>
            <a:r>
              <a:rPr sz="1400" spc="-20" dirty="0">
                <a:latin typeface="Times New Roman"/>
                <a:cs typeface="Times New Roman"/>
              </a:rPr>
              <a:t> </a:t>
            </a:r>
            <a:r>
              <a:rPr sz="1400" dirty="0">
                <a:latin typeface="Times New Roman"/>
                <a:cs typeface="Times New Roman"/>
              </a:rPr>
              <a:t>sends</a:t>
            </a:r>
            <a:r>
              <a:rPr sz="1400" spc="-2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10" dirty="0">
                <a:latin typeface="Times New Roman"/>
                <a:cs typeface="Times New Roman"/>
              </a:rPr>
              <a:t>DRF2(s).</a:t>
            </a:r>
            <a:endParaRPr sz="1400">
              <a:latin typeface="Times New Roman"/>
              <a:cs typeface="Times New Roman"/>
            </a:endParaRPr>
          </a:p>
          <a:p>
            <a:pPr marL="12700" marR="2096135">
              <a:lnSpc>
                <a:spcPts val="1670"/>
              </a:lnSpc>
              <a:spcBef>
                <a:spcPts val="30"/>
              </a:spcBef>
            </a:pP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IRF</a:t>
            </a:r>
            <a:r>
              <a:rPr sz="1400" spc="-20"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also</a:t>
            </a:r>
            <a:r>
              <a:rPr sz="1400" spc="-20" dirty="0">
                <a:latin typeface="Times New Roman"/>
                <a:cs typeface="Times New Roman"/>
              </a:rPr>
              <a:t> </a:t>
            </a:r>
            <a:r>
              <a:rPr sz="1400" dirty="0">
                <a:latin typeface="Times New Roman"/>
                <a:cs typeface="Times New Roman"/>
              </a:rPr>
              <a:t>provides</a:t>
            </a:r>
            <a:r>
              <a:rPr sz="1400" spc="-30" dirty="0">
                <a:latin typeface="Times New Roman"/>
                <a:cs typeface="Times New Roman"/>
              </a:rPr>
              <a:t> </a:t>
            </a:r>
            <a:r>
              <a:rPr sz="1400" dirty="0">
                <a:latin typeface="Times New Roman"/>
                <a:cs typeface="Times New Roman"/>
              </a:rPr>
              <a:t>for</a:t>
            </a:r>
            <a:r>
              <a:rPr sz="1400" spc="-25" dirty="0">
                <a:latin typeface="Times New Roman"/>
                <a:cs typeface="Times New Roman"/>
              </a:rPr>
              <a:t> </a:t>
            </a:r>
            <a:r>
              <a:rPr sz="1400" dirty="0">
                <a:latin typeface="Times New Roman"/>
                <a:cs typeface="Times New Roman"/>
              </a:rPr>
              <a:t>control</a:t>
            </a:r>
            <a:r>
              <a:rPr sz="1400" spc="-3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spc="-10" dirty="0">
                <a:latin typeface="Times New Roman"/>
                <a:cs typeface="Times New Roman"/>
              </a:rPr>
              <a:t>status </a:t>
            </a:r>
            <a:r>
              <a:rPr sz="1400" dirty="0">
                <a:latin typeface="Times New Roman"/>
                <a:cs typeface="Times New Roman"/>
              </a:rPr>
              <a:t>monitoring</a:t>
            </a:r>
            <a:r>
              <a:rPr sz="1400" spc="-3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dirty="0">
                <a:latin typeface="Times New Roman"/>
                <a:cs typeface="Times New Roman"/>
              </a:rPr>
              <a:t>coil</a:t>
            </a:r>
            <a:r>
              <a:rPr sz="1400" spc="-30" dirty="0">
                <a:latin typeface="Times New Roman"/>
                <a:cs typeface="Times New Roman"/>
              </a:rPr>
              <a:t> </a:t>
            </a:r>
            <a:r>
              <a:rPr sz="1400" dirty="0">
                <a:latin typeface="Times New Roman"/>
                <a:cs typeface="Times New Roman"/>
              </a:rPr>
              <a:t>temperature,</a:t>
            </a:r>
            <a:r>
              <a:rPr sz="1400" spc="-20" dirty="0">
                <a:latin typeface="Times New Roman"/>
                <a:cs typeface="Times New Roman"/>
              </a:rPr>
              <a:t> </a:t>
            </a:r>
            <a:r>
              <a:rPr sz="1400" dirty="0">
                <a:latin typeface="Times New Roman"/>
                <a:cs typeface="Times New Roman"/>
              </a:rPr>
              <a:t>PDU</a:t>
            </a:r>
            <a:r>
              <a:rPr sz="1400" spc="-35" dirty="0">
                <a:latin typeface="Times New Roman"/>
                <a:cs typeface="Times New Roman"/>
              </a:rPr>
              <a:t> </a:t>
            </a:r>
            <a:r>
              <a:rPr sz="1400" dirty="0">
                <a:latin typeface="Times New Roman"/>
                <a:cs typeface="Times New Roman"/>
              </a:rPr>
              <a:t>mode,</a:t>
            </a:r>
            <a:r>
              <a:rPr sz="1400" spc="-30" dirty="0">
                <a:latin typeface="Times New Roman"/>
                <a:cs typeface="Times New Roman"/>
              </a:rPr>
              <a:t> </a:t>
            </a:r>
            <a:r>
              <a:rPr sz="1400" dirty="0">
                <a:latin typeface="Times New Roman"/>
                <a:cs typeface="Times New Roman"/>
              </a:rPr>
              <a:t>scan</a:t>
            </a:r>
            <a:r>
              <a:rPr sz="1400" spc="-30" dirty="0">
                <a:latin typeface="Times New Roman"/>
                <a:cs typeface="Times New Roman"/>
              </a:rPr>
              <a:t> </a:t>
            </a:r>
            <a:r>
              <a:rPr sz="1400" spc="-20" dirty="0">
                <a:latin typeface="Times New Roman"/>
                <a:cs typeface="Times New Roman"/>
              </a:rPr>
              <a:t>room</a:t>
            </a:r>
            <a:r>
              <a:rPr sz="1400" spc="500" dirty="0">
                <a:latin typeface="Times New Roman"/>
                <a:cs typeface="Times New Roman"/>
              </a:rPr>
              <a:t> </a:t>
            </a:r>
            <a:r>
              <a:rPr sz="1400" dirty="0">
                <a:latin typeface="Times New Roman"/>
                <a:cs typeface="Times New Roman"/>
              </a:rPr>
              <a:t>door</a:t>
            </a:r>
            <a:r>
              <a:rPr sz="1400" spc="-25" dirty="0">
                <a:latin typeface="Times New Roman"/>
                <a:cs typeface="Times New Roman"/>
              </a:rPr>
              <a:t> </a:t>
            </a:r>
            <a:r>
              <a:rPr sz="1400" dirty="0">
                <a:latin typeface="Times New Roman"/>
                <a:cs typeface="Times New Roman"/>
              </a:rPr>
              <a:t>status,</a:t>
            </a:r>
            <a:r>
              <a:rPr sz="1400" spc="-20" dirty="0">
                <a:latin typeface="Times New Roman"/>
                <a:cs typeface="Times New Roman"/>
              </a:rPr>
              <a:t> </a:t>
            </a:r>
            <a:r>
              <a:rPr sz="1400" dirty="0">
                <a:latin typeface="Times New Roman"/>
                <a:cs typeface="Times New Roman"/>
              </a:rPr>
              <a:t>bore</a:t>
            </a:r>
            <a:r>
              <a:rPr sz="1400" spc="-20" dirty="0">
                <a:latin typeface="Times New Roman"/>
                <a:cs typeface="Times New Roman"/>
              </a:rPr>
              <a:t> </a:t>
            </a:r>
            <a:r>
              <a:rPr sz="1400" dirty="0">
                <a:latin typeface="Times New Roman"/>
                <a:cs typeface="Times New Roman"/>
              </a:rPr>
              <a:t>fan,</a:t>
            </a:r>
            <a:r>
              <a:rPr sz="1400" spc="-25" dirty="0">
                <a:latin typeface="Times New Roman"/>
                <a:cs typeface="Times New Roman"/>
              </a:rPr>
              <a:t> </a:t>
            </a:r>
            <a:r>
              <a:rPr sz="1400" dirty="0">
                <a:latin typeface="Times New Roman"/>
                <a:cs typeface="Times New Roman"/>
              </a:rPr>
              <a:t>bore</a:t>
            </a:r>
            <a:r>
              <a:rPr sz="1400" spc="-20" dirty="0">
                <a:latin typeface="Times New Roman"/>
                <a:cs typeface="Times New Roman"/>
              </a:rPr>
              <a:t> </a:t>
            </a:r>
            <a:r>
              <a:rPr sz="1400" dirty="0">
                <a:latin typeface="Times New Roman"/>
                <a:cs typeface="Times New Roman"/>
              </a:rPr>
              <a:t>lights,</a:t>
            </a:r>
            <a:r>
              <a:rPr sz="1400" spc="-15"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alignment</a:t>
            </a:r>
            <a:r>
              <a:rPr sz="1400" spc="-15" dirty="0">
                <a:latin typeface="Times New Roman"/>
                <a:cs typeface="Times New Roman"/>
              </a:rPr>
              <a:t> </a:t>
            </a:r>
            <a:r>
              <a:rPr sz="1400" dirty="0">
                <a:latin typeface="Times New Roman"/>
                <a:cs typeface="Times New Roman"/>
              </a:rPr>
              <a:t>lights.</a:t>
            </a:r>
            <a:r>
              <a:rPr sz="1400" spc="-15" dirty="0">
                <a:latin typeface="Times New Roman"/>
                <a:cs typeface="Times New Roman"/>
              </a:rPr>
              <a:t> </a:t>
            </a:r>
            <a:r>
              <a:rPr sz="1400" spc="-25" dirty="0">
                <a:latin typeface="Times New Roman"/>
                <a:cs typeface="Times New Roman"/>
              </a:rPr>
              <a:t>The </a:t>
            </a:r>
            <a:r>
              <a:rPr sz="1400" dirty="0">
                <a:latin typeface="Times New Roman"/>
                <a:cs typeface="Times New Roman"/>
              </a:rPr>
              <a:t>RESET</a:t>
            </a:r>
            <a:r>
              <a:rPr sz="1400" spc="-25" dirty="0">
                <a:latin typeface="Times New Roman"/>
                <a:cs typeface="Times New Roman"/>
              </a:rPr>
              <a:t> </a:t>
            </a:r>
            <a:r>
              <a:rPr sz="1400" dirty="0">
                <a:latin typeface="Times New Roman"/>
                <a:cs typeface="Times New Roman"/>
              </a:rPr>
              <a:t>button</a:t>
            </a:r>
            <a:r>
              <a:rPr sz="1400" spc="-20"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front</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can</a:t>
            </a:r>
            <a:r>
              <a:rPr sz="1400" spc="-20" dirty="0">
                <a:latin typeface="Times New Roman"/>
                <a:cs typeface="Times New Roman"/>
              </a:rPr>
              <a:t> </a:t>
            </a:r>
            <a:r>
              <a:rPr sz="1400" dirty="0">
                <a:latin typeface="Times New Roman"/>
                <a:cs typeface="Times New Roman"/>
              </a:rPr>
              <a:t>be</a:t>
            </a:r>
            <a:r>
              <a:rPr sz="1400" spc="-20" dirty="0">
                <a:latin typeface="Times New Roman"/>
                <a:cs typeface="Times New Roman"/>
              </a:rPr>
              <a:t> </a:t>
            </a:r>
            <a:r>
              <a:rPr sz="1400" dirty="0">
                <a:latin typeface="Times New Roman"/>
                <a:cs typeface="Times New Roman"/>
              </a:rPr>
              <a:t>used</a:t>
            </a:r>
            <a:r>
              <a:rPr sz="1400" spc="-25" dirty="0">
                <a:latin typeface="Times New Roman"/>
                <a:cs typeface="Times New Roman"/>
              </a:rPr>
              <a:t> to</a:t>
            </a:r>
            <a:endParaRPr sz="1400">
              <a:latin typeface="Times New Roman"/>
              <a:cs typeface="Times New Roman"/>
            </a:endParaRPr>
          </a:p>
          <a:p>
            <a:pPr marL="12700" marR="2085975">
              <a:lnSpc>
                <a:spcPts val="1670"/>
              </a:lnSpc>
              <a:spcBef>
                <a:spcPts val="20"/>
              </a:spcBef>
            </a:pPr>
            <a:r>
              <a:rPr sz="1400" dirty="0">
                <a:latin typeface="Times New Roman"/>
                <a:cs typeface="Times New Roman"/>
              </a:rPr>
              <a:t>initiate</a:t>
            </a:r>
            <a:r>
              <a:rPr sz="1400" spc="-20" dirty="0">
                <a:latin typeface="Times New Roman"/>
                <a:cs typeface="Times New Roman"/>
              </a:rPr>
              <a:t> </a:t>
            </a:r>
            <a:r>
              <a:rPr sz="1400" dirty="0">
                <a:latin typeface="Times New Roman"/>
                <a:cs typeface="Times New Roman"/>
              </a:rPr>
              <a:t>a</a:t>
            </a:r>
            <a:r>
              <a:rPr sz="1400" spc="-15" dirty="0">
                <a:latin typeface="Times New Roman"/>
                <a:cs typeface="Times New Roman"/>
              </a:rPr>
              <a:t> </a:t>
            </a:r>
            <a:r>
              <a:rPr sz="1400" dirty="0">
                <a:latin typeface="Times New Roman"/>
                <a:cs typeface="Times New Roman"/>
              </a:rPr>
              <a:t>manual</a:t>
            </a:r>
            <a:r>
              <a:rPr sz="1400" spc="-15" dirty="0">
                <a:latin typeface="Times New Roman"/>
                <a:cs typeface="Times New Roman"/>
              </a:rPr>
              <a:t> </a:t>
            </a:r>
            <a:r>
              <a:rPr sz="1400" dirty="0">
                <a:latin typeface="Times New Roman"/>
                <a:cs typeface="Times New Roman"/>
              </a:rPr>
              <a:t>reset</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the</a:t>
            </a:r>
            <a:r>
              <a:rPr sz="1400" spc="-10" dirty="0">
                <a:latin typeface="Times New Roman"/>
                <a:cs typeface="Times New Roman"/>
              </a:rPr>
              <a:t> </a:t>
            </a:r>
            <a:r>
              <a:rPr sz="1400" dirty="0">
                <a:latin typeface="Times New Roman"/>
                <a:cs typeface="Times New Roman"/>
              </a:rPr>
              <a:t>MGD</a:t>
            </a:r>
            <a:r>
              <a:rPr sz="1400" spc="-25" dirty="0">
                <a:latin typeface="Times New Roman"/>
                <a:cs typeface="Times New Roman"/>
              </a:rPr>
              <a:t> </a:t>
            </a:r>
            <a:r>
              <a:rPr sz="1400" dirty="0">
                <a:latin typeface="Times New Roman"/>
                <a:cs typeface="Times New Roman"/>
              </a:rPr>
              <a:t>if</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serial</a:t>
            </a:r>
            <a:r>
              <a:rPr sz="1400" spc="-25" dirty="0">
                <a:latin typeface="Times New Roman"/>
                <a:cs typeface="Times New Roman"/>
              </a:rPr>
              <a:t> </a:t>
            </a:r>
            <a:r>
              <a:rPr sz="1400" dirty="0">
                <a:latin typeface="Times New Roman"/>
                <a:cs typeface="Times New Roman"/>
              </a:rPr>
              <a:t>reset</a:t>
            </a:r>
            <a:r>
              <a:rPr sz="1400" spc="-20" dirty="0">
                <a:latin typeface="Times New Roman"/>
                <a:cs typeface="Times New Roman"/>
              </a:rPr>
              <a:t> </a:t>
            </a:r>
            <a:r>
              <a:rPr sz="1400" dirty="0">
                <a:latin typeface="Times New Roman"/>
                <a:cs typeface="Times New Roman"/>
              </a:rPr>
              <a:t>line</a:t>
            </a:r>
            <a:r>
              <a:rPr sz="1400" spc="-20" dirty="0">
                <a:latin typeface="Times New Roman"/>
                <a:cs typeface="Times New Roman"/>
              </a:rPr>
              <a:t> </a:t>
            </a:r>
            <a:r>
              <a:rPr sz="1400" spc="-25" dirty="0">
                <a:latin typeface="Times New Roman"/>
                <a:cs typeface="Times New Roman"/>
              </a:rPr>
              <a:t>is </a:t>
            </a:r>
            <a:r>
              <a:rPr sz="1400" dirty="0">
                <a:latin typeface="Times New Roman"/>
                <a:cs typeface="Times New Roman"/>
              </a:rPr>
              <a:t>not</a:t>
            </a:r>
            <a:r>
              <a:rPr sz="1400" spc="-20" dirty="0">
                <a:latin typeface="Times New Roman"/>
                <a:cs typeface="Times New Roman"/>
              </a:rPr>
              <a:t> </a:t>
            </a:r>
            <a:r>
              <a:rPr sz="1400" dirty="0">
                <a:latin typeface="Times New Roman"/>
                <a:cs typeface="Times New Roman"/>
              </a:rPr>
              <a:t>working.</a:t>
            </a:r>
            <a:r>
              <a:rPr sz="1400" spc="-20" dirty="0">
                <a:latin typeface="Times New Roman"/>
                <a:cs typeface="Times New Roman"/>
              </a:rPr>
              <a:t> </a:t>
            </a:r>
            <a:r>
              <a:rPr sz="1400" dirty="0">
                <a:latin typeface="Times New Roman"/>
                <a:cs typeface="Times New Roman"/>
              </a:rPr>
              <a:t>Press</a:t>
            </a:r>
            <a:r>
              <a:rPr sz="1400" spc="-15"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button</a:t>
            </a:r>
            <a:r>
              <a:rPr sz="1400" spc="-1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then</a:t>
            </a:r>
            <a:r>
              <a:rPr sz="1400" spc="-15" dirty="0">
                <a:latin typeface="Times New Roman"/>
                <a:cs typeface="Times New Roman"/>
              </a:rPr>
              <a:t> </a:t>
            </a:r>
            <a:r>
              <a:rPr sz="1400" dirty="0">
                <a:latin typeface="Times New Roman"/>
                <a:cs typeface="Times New Roman"/>
              </a:rPr>
              <a:t>either</a:t>
            </a:r>
            <a:r>
              <a:rPr sz="1400" spc="-20" dirty="0">
                <a:latin typeface="Times New Roman"/>
                <a:cs typeface="Times New Roman"/>
              </a:rPr>
              <a:t> </a:t>
            </a:r>
            <a:r>
              <a:rPr sz="1400" dirty="0">
                <a:latin typeface="Times New Roman"/>
                <a:cs typeface="Times New Roman"/>
              </a:rPr>
              <a:t>TPS</a:t>
            </a:r>
            <a:r>
              <a:rPr sz="1400" spc="-15" dirty="0">
                <a:latin typeface="Times New Roman"/>
                <a:cs typeface="Times New Roman"/>
              </a:rPr>
              <a:t> </a:t>
            </a:r>
            <a:r>
              <a:rPr sz="1400" dirty="0">
                <a:latin typeface="Times New Roman"/>
                <a:cs typeface="Times New Roman"/>
              </a:rPr>
              <a:t>Reset</a:t>
            </a:r>
            <a:r>
              <a:rPr sz="1400" spc="-20" dirty="0">
                <a:latin typeface="Times New Roman"/>
                <a:cs typeface="Times New Roman"/>
              </a:rPr>
              <a:t> </a:t>
            </a:r>
            <a:r>
              <a:rPr sz="1400" spc="-25" dirty="0">
                <a:latin typeface="Times New Roman"/>
                <a:cs typeface="Times New Roman"/>
              </a:rPr>
              <a:t>or </a:t>
            </a:r>
            <a:r>
              <a:rPr sz="1400" dirty="0">
                <a:latin typeface="Times New Roman"/>
                <a:cs typeface="Times New Roman"/>
              </a:rPr>
              <a:t>boot</a:t>
            </a:r>
            <a:r>
              <a:rPr sz="1400" spc="-20" dirty="0">
                <a:latin typeface="Times New Roman"/>
                <a:cs typeface="Times New Roman"/>
              </a:rPr>
              <a:t> </a:t>
            </a:r>
            <a:r>
              <a:rPr sz="1400" dirty="0">
                <a:latin typeface="Times New Roman"/>
                <a:cs typeface="Times New Roman"/>
              </a:rPr>
              <a:t>applications.</a:t>
            </a:r>
            <a:r>
              <a:rPr sz="1400" spc="-20" dirty="0">
                <a:latin typeface="Times New Roman"/>
                <a:cs typeface="Times New Roman"/>
              </a:rPr>
              <a:t> </a:t>
            </a:r>
            <a:r>
              <a:rPr sz="1400" dirty="0">
                <a:latin typeface="Times New Roman"/>
                <a:cs typeface="Times New Roman"/>
              </a:rPr>
              <a:t>Timing</a:t>
            </a:r>
            <a:r>
              <a:rPr sz="1400" spc="-15"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critical</a:t>
            </a:r>
            <a:r>
              <a:rPr sz="1400" spc="-15" dirty="0">
                <a:latin typeface="Times New Roman"/>
                <a:cs typeface="Times New Roman"/>
              </a:rPr>
              <a:t> </a:t>
            </a:r>
            <a:r>
              <a:rPr sz="1400" dirty="0">
                <a:latin typeface="Times New Roman"/>
                <a:cs typeface="Times New Roman"/>
              </a:rPr>
              <a:t>so</a:t>
            </a:r>
            <a:r>
              <a:rPr sz="1400" spc="-20" dirty="0">
                <a:latin typeface="Times New Roman"/>
                <a:cs typeface="Times New Roman"/>
              </a:rPr>
              <a:t> </a:t>
            </a:r>
            <a:r>
              <a:rPr sz="1400" dirty="0">
                <a:latin typeface="Times New Roman"/>
                <a:cs typeface="Times New Roman"/>
              </a:rPr>
              <a:t>if</a:t>
            </a:r>
            <a:r>
              <a:rPr sz="1400" spc="-20" dirty="0">
                <a:latin typeface="Times New Roman"/>
                <a:cs typeface="Times New Roman"/>
              </a:rPr>
              <a:t> </a:t>
            </a:r>
            <a:r>
              <a:rPr sz="1400" dirty="0">
                <a:latin typeface="Times New Roman"/>
                <a:cs typeface="Times New Roman"/>
              </a:rPr>
              <a:t>it</a:t>
            </a:r>
            <a:r>
              <a:rPr sz="1400" spc="-15" dirty="0">
                <a:latin typeface="Times New Roman"/>
                <a:cs typeface="Times New Roman"/>
              </a:rPr>
              <a:t> </a:t>
            </a:r>
            <a:r>
              <a:rPr sz="1400" dirty="0">
                <a:latin typeface="Times New Roman"/>
                <a:cs typeface="Times New Roman"/>
              </a:rPr>
              <a:t>does</a:t>
            </a:r>
            <a:r>
              <a:rPr sz="1400" spc="-20" dirty="0">
                <a:latin typeface="Times New Roman"/>
                <a:cs typeface="Times New Roman"/>
              </a:rPr>
              <a:t> </a:t>
            </a: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work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first</a:t>
            </a:r>
            <a:r>
              <a:rPr sz="1400" spc="-25" dirty="0">
                <a:latin typeface="Times New Roman"/>
                <a:cs typeface="Times New Roman"/>
              </a:rPr>
              <a:t> </a:t>
            </a:r>
            <a:r>
              <a:rPr sz="1400" dirty="0">
                <a:latin typeface="Times New Roman"/>
                <a:cs typeface="Times New Roman"/>
              </a:rPr>
              <a:t>time,</a:t>
            </a:r>
            <a:r>
              <a:rPr sz="1400" spc="-25" dirty="0">
                <a:latin typeface="Times New Roman"/>
                <a:cs typeface="Times New Roman"/>
              </a:rPr>
              <a:t> </a:t>
            </a:r>
            <a:r>
              <a:rPr sz="1400" dirty="0">
                <a:latin typeface="Times New Roman"/>
                <a:cs typeface="Times New Roman"/>
              </a:rPr>
              <a:t>try</a:t>
            </a:r>
            <a:r>
              <a:rPr sz="1400" spc="-25" dirty="0">
                <a:latin typeface="Times New Roman"/>
                <a:cs typeface="Times New Roman"/>
              </a:rPr>
              <a:t> </a:t>
            </a:r>
            <a:r>
              <a:rPr sz="1400" spc="-10" dirty="0">
                <a:latin typeface="Times New Roman"/>
                <a:cs typeface="Times New Roman"/>
              </a:rPr>
              <a:t>again.</a:t>
            </a:r>
            <a:endParaRPr sz="1400">
              <a:latin typeface="Times New Roman"/>
              <a:cs typeface="Times New Roman"/>
            </a:endParaRPr>
          </a:p>
          <a:p>
            <a:pPr marL="12700" marR="2123440">
              <a:lnSpc>
                <a:spcPct val="100000"/>
              </a:lnSpc>
              <a:spcBef>
                <a:spcPts val="790"/>
              </a:spcBef>
            </a:pP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IRF-2</a:t>
            </a:r>
            <a:r>
              <a:rPr sz="1400" spc="-20"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needed</a:t>
            </a:r>
            <a:r>
              <a:rPr sz="1400" spc="-20"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dirty="0">
                <a:latin typeface="Times New Roman"/>
                <a:cs typeface="Times New Roman"/>
              </a:rPr>
              <a:t>HDx</a:t>
            </a:r>
            <a:r>
              <a:rPr sz="1400" spc="-10" dirty="0">
                <a:latin typeface="Times New Roman"/>
                <a:cs typeface="Times New Roman"/>
              </a:rPr>
              <a:t> </a:t>
            </a:r>
            <a:r>
              <a:rPr sz="1400" dirty="0">
                <a:latin typeface="Times New Roman"/>
                <a:cs typeface="Times New Roman"/>
              </a:rPr>
              <a:t>as</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interface</a:t>
            </a:r>
            <a:r>
              <a:rPr sz="1400" spc="-15"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spc="-25" dirty="0">
                <a:latin typeface="Times New Roman"/>
                <a:cs typeface="Times New Roman"/>
              </a:rPr>
              <a:t>the </a:t>
            </a:r>
            <a:r>
              <a:rPr sz="1400" dirty="0">
                <a:latin typeface="Times New Roman"/>
                <a:cs typeface="Times New Roman"/>
              </a:rPr>
              <a:t>single</a:t>
            </a:r>
            <a:r>
              <a:rPr sz="1400" spc="-25" dirty="0">
                <a:latin typeface="Times New Roman"/>
                <a:cs typeface="Times New Roman"/>
              </a:rPr>
              <a:t> </a:t>
            </a:r>
            <a:r>
              <a:rPr sz="1400" dirty="0">
                <a:latin typeface="Times New Roman"/>
                <a:cs typeface="Times New Roman"/>
              </a:rPr>
              <a:t>DRF-2</a:t>
            </a:r>
            <a:r>
              <a:rPr sz="1400" spc="-20"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as</a:t>
            </a:r>
            <a:r>
              <a:rPr sz="1400" spc="-20" dirty="0">
                <a:latin typeface="Times New Roman"/>
                <a:cs typeface="Times New Roman"/>
              </a:rPr>
              <a:t> </a:t>
            </a:r>
            <a:r>
              <a:rPr sz="1400" dirty="0">
                <a:latin typeface="Times New Roman"/>
                <a:cs typeface="Times New Roman"/>
              </a:rPr>
              <a:t>it</a:t>
            </a:r>
            <a:r>
              <a:rPr sz="1400" spc="-20" dirty="0">
                <a:latin typeface="Times New Roman"/>
                <a:cs typeface="Times New Roman"/>
              </a:rPr>
              <a:t> </a:t>
            </a:r>
            <a:r>
              <a:rPr sz="1400" dirty="0">
                <a:latin typeface="Times New Roman"/>
                <a:cs typeface="Times New Roman"/>
              </a:rPr>
              <a:t>enables</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interface</a:t>
            </a:r>
            <a:r>
              <a:rPr sz="1400" spc="-20"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spc="-25" dirty="0">
                <a:latin typeface="Times New Roman"/>
                <a:cs typeface="Times New Roman"/>
              </a:rPr>
              <a:t>16 </a:t>
            </a:r>
            <a:r>
              <a:rPr sz="1400" dirty="0">
                <a:latin typeface="Times New Roman"/>
                <a:cs typeface="Times New Roman"/>
              </a:rPr>
              <a:t>channel</a:t>
            </a:r>
            <a:r>
              <a:rPr sz="1400" spc="-30" dirty="0">
                <a:latin typeface="Times New Roman"/>
                <a:cs typeface="Times New Roman"/>
              </a:rPr>
              <a:t> </a:t>
            </a:r>
            <a:r>
              <a:rPr sz="1400" dirty="0">
                <a:latin typeface="Times New Roman"/>
                <a:cs typeface="Times New Roman"/>
              </a:rPr>
              <a:t>option.</a:t>
            </a:r>
            <a:r>
              <a:rPr sz="1400" spc="300" dirty="0">
                <a:latin typeface="Times New Roman"/>
                <a:cs typeface="Times New Roman"/>
              </a:rPr>
              <a:t> </a:t>
            </a:r>
            <a:r>
              <a:rPr sz="1400" dirty="0">
                <a:latin typeface="Times New Roman"/>
                <a:cs typeface="Times New Roman"/>
              </a:rPr>
              <a:t>Software</a:t>
            </a:r>
            <a:r>
              <a:rPr sz="1400" spc="-25" dirty="0">
                <a:latin typeface="Times New Roman"/>
                <a:cs typeface="Times New Roman"/>
              </a:rPr>
              <a:t> </a:t>
            </a:r>
            <a:r>
              <a:rPr sz="1400" dirty="0">
                <a:latin typeface="Times New Roman"/>
                <a:cs typeface="Times New Roman"/>
              </a:rPr>
              <a:t>will</a:t>
            </a:r>
            <a:r>
              <a:rPr sz="1400" spc="-30" dirty="0">
                <a:latin typeface="Times New Roman"/>
                <a:cs typeface="Times New Roman"/>
              </a:rPr>
              <a:t> </a:t>
            </a:r>
            <a:r>
              <a:rPr sz="1400" dirty="0">
                <a:latin typeface="Times New Roman"/>
                <a:cs typeface="Times New Roman"/>
              </a:rPr>
              <a:t>not</a:t>
            </a:r>
            <a:r>
              <a:rPr sz="1400" spc="-25" dirty="0">
                <a:latin typeface="Times New Roman"/>
                <a:cs typeface="Times New Roman"/>
              </a:rPr>
              <a:t> </a:t>
            </a:r>
            <a:r>
              <a:rPr sz="1400" dirty="0">
                <a:latin typeface="Times New Roman"/>
                <a:cs typeface="Times New Roman"/>
              </a:rPr>
              <a:t>support</a:t>
            </a:r>
            <a:r>
              <a:rPr sz="1400" spc="-3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spc="-10" dirty="0">
                <a:latin typeface="Times New Roman"/>
                <a:cs typeface="Times New Roman"/>
              </a:rPr>
              <a:t>IRF-</a:t>
            </a:r>
            <a:r>
              <a:rPr sz="1400" dirty="0">
                <a:latin typeface="Times New Roman"/>
                <a:cs typeface="Times New Roman"/>
              </a:rPr>
              <a:t>1</a:t>
            </a:r>
            <a:r>
              <a:rPr sz="1400" spc="-30" dirty="0">
                <a:latin typeface="Times New Roman"/>
                <a:cs typeface="Times New Roman"/>
              </a:rPr>
              <a:t> </a:t>
            </a:r>
            <a:r>
              <a:rPr sz="1400" spc="-10" dirty="0">
                <a:latin typeface="Times New Roman"/>
                <a:cs typeface="Times New Roman"/>
              </a:rPr>
              <a:t>board </a:t>
            </a:r>
            <a:r>
              <a:rPr sz="1400" dirty="0">
                <a:latin typeface="Times New Roman"/>
                <a:cs typeface="Times New Roman"/>
              </a:rPr>
              <a:t>in</a:t>
            </a:r>
            <a:r>
              <a:rPr sz="1400" spc="-5" dirty="0">
                <a:latin typeface="Times New Roman"/>
                <a:cs typeface="Times New Roman"/>
              </a:rPr>
              <a:t> </a:t>
            </a:r>
            <a:r>
              <a:rPr sz="1400" spc="-20" dirty="0">
                <a:latin typeface="Times New Roman"/>
                <a:cs typeface="Times New Roman"/>
              </a:rPr>
              <a:t>14x.</a:t>
            </a:r>
            <a:endParaRPr sz="1400">
              <a:latin typeface="Times New Roman"/>
              <a:cs typeface="Times New Roman"/>
            </a:endParaRPr>
          </a:p>
        </p:txBody>
      </p:sp>
      <p:sp>
        <p:nvSpPr>
          <p:cNvPr id="16" name="object 16"/>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sp>
        <p:nvSpPr>
          <p:cNvPr id="17" name="object 17"/>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5" dirty="0">
                <a:latin typeface="Times New Roman"/>
                <a:cs typeface="Times New Roman"/>
              </a:rPr>
              <a:t> </a:t>
            </a:r>
            <a:r>
              <a:rPr sz="2000" b="1" dirty="0">
                <a:latin typeface="Times New Roman"/>
                <a:cs typeface="Times New Roman"/>
              </a:rPr>
              <a:t>Chassis</a:t>
            </a:r>
            <a:r>
              <a:rPr sz="2000" b="1" spc="-2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8" name="object 18"/>
          <p:cNvGrpSpPr/>
          <p:nvPr/>
        </p:nvGrpSpPr>
        <p:grpSpPr>
          <a:xfrm>
            <a:off x="7620254" y="-4572"/>
            <a:ext cx="1503045" cy="280670"/>
            <a:chOff x="7620254" y="-4572"/>
            <a:chExt cx="1503045" cy="280670"/>
          </a:xfrm>
        </p:grpSpPr>
        <p:sp>
          <p:nvSpPr>
            <p:cNvPr id="19" name="object 19"/>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21" name="object 21"/>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5806" y="250952"/>
            <a:ext cx="8289290" cy="6215380"/>
            <a:chOff x="225806" y="250952"/>
            <a:chExt cx="8289290" cy="6215380"/>
          </a:xfrm>
        </p:grpSpPr>
        <p:pic>
          <p:nvPicPr>
            <p:cNvPr id="3" name="object 3"/>
            <p:cNvPicPr/>
            <p:nvPr/>
          </p:nvPicPr>
          <p:blipFill>
            <a:blip r:embed="rId2" cstate="print"/>
            <a:stretch>
              <a:fillRect/>
            </a:stretch>
          </p:blipFill>
          <p:spPr>
            <a:xfrm>
              <a:off x="225806" y="250952"/>
              <a:ext cx="8288781" cy="6214871"/>
            </a:xfrm>
            <a:prstGeom prst="rect">
              <a:avLst/>
            </a:prstGeom>
          </p:spPr>
        </p:pic>
        <p:sp>
          <p:nvSpPr>
            <p:cNvPr id="4" name="object 4"/>
            <p:cNvSpPr/>
            <p:nvPr/>
          </p:nvSpPr>
          <p:spPr>
            <a:xfrm>
              <a:off x="5107177" y="1058672"/>
              <a:ext cx="133350" cy="680720"/>
            </a:xfrm>
            <a:custGeom>
              <a:avLst/>
              <a:gdLst/>
              <a:ahLst/>
              <a:cxnLst/>
              <a:rect l="l" t="t" r="r" b="b"/>
              <a:pathLst>
                <a:path w="133350" h="680719">
                  <a:moveTo>
                    <a:pt x="133350" y="0"/>
                  </a:moveTo>
                  <a:lnTo>
                    <a:pt x="0" y="680466"/>
                  </a:lnTo>
                </a:path>
              </a:pathLst>
            </a:custGeom>
            <a:ln w="114300">
              <a:solidFill>
                <a:srgbClr val="FFFFFF"/>
              </a:solidFill>
            </a:ln>
          </p:spPr>
          <p:txBody>
            <a:bodyPr wrap="square" lIns="0" tIns="0" rIns="0" bIns="0" rtlCol="0"/>
            <a:lstStyle/>
            <a:p>
              <a:endParaRPr/>
            </a:p>
          </p:txBody>
        </p:sp>
        <p:sp>
          <p:nvSpPr>
            <p:cNvPr id="5" name="object 5"/>
            <p:cNvSpPr/>
            <p:nvPr/>
          </p:nvSpPr>
          <p:spPr>
            <a:xfrm>
              <a:off x="4930394" y="1701799"/>
              <a:ext cx="355600" cy="390525"/>
            </a:xfrm>
            <a:custGeom>
              <a:avLst/>
              <a:gdLst/>
              <a:ahLst/>
              <a:cxnLst/>
              <a:rect l="l" t="t" r="r" b="b"/>
              <a:pathLst>
                <a:path w="355600" h="390525">
                  <a:moveTo>
                    <a:pt x="355091" y="70865"/>
                  </a:moveTo>
                  <a:lnTo>
                    <a:pt x="0" y="0"/>
                  </a:lnTo>
                  <a:lnTo>
                    <a:pt x="107441" y="390143"/>
                  </a:lnTo>
                  <a:lnTo>
                    <a:pt x="355091" y="70865"/>
                  </a:lnTo>
                  <a:close/>
                </a:path>
              </a:pathLst>
            </a:custGeom>
            <a:solidFill>
              <a:srgbClr val="FFFFFF"/>
            </a:solidFill>
          </p:spPr>
          <p:txBody>
            <a:bodyPr wrap="square" lIns="0" tIns="0" rIns="0" bIns="0" rtlCol="0"/>
            <a:lstStyle/>
            <a:p>
              <a:endParaRPr/>
            </a:p>
          </p:txBody>
        </p:sp>
        <p:sp>
          <p:nvSpPr>
            <p:cNvPr id="6" name="object 6"/>
            <p:cNvSpPr/>
            <p:nvPr/>
          </p:nvSpPr>
          <p:spPr>
            <a:xfrm>
              <a:off x="5096509" y="1074674"/>
              <a:ext cx="129539" cy="687705"/>
            </a:xfrm>
            <a:custGeom>
              <a:avLst/>
              <a:gdLst/>
              <a:ahLst/>
              <a:cxnLst/>
              <a:rect l="l" t="t" r="r" b="b"/>
              <a:pathLst>
                <a:path w="129539" h="687705">
                  <a:moveTo>
                    <a:pt x="129539" y="0"/>
                  </a:moveTo>
                  <a:lnTo>
                    <a:pt x="0" y="687323"/>
                  </a:lnTo>
                </a:path>
              </a:pathLst>
            </a:custGeom>
            <a:ln w="60198">
              <a:solidFill>
                <a:srgbClr val="000000"/>
              </a:solidFill>
            </a:ln>
          </p:spPr>
          <p:txBody>
            <a:bodyPr wrap="square" lIns="0" tIns="0" rIns="0" bIns="0" rtlCol="0"/>
            <a:lstStyle/>
            <a:p>
              <a:endParaRPr/>
            </a:p>
          </p:txBody>
        </p:sp>
        <p:sp>
          <p:nvSpPr>
            <p:cNvPr id="7" name="object 7"/>
            <p:cNvSpPr/>
            <p:nvPr/>
          </p:nvSpPr>
          <p:spPr>
            <a:xfrm>
              <a:off x="4985258" y="1739138"/>
              <a:ext cx="223520" cy="245110"/>
            </a:xfrm>
            <a:custGeom>
              <a:avLst/>
              <a:gdLst/>
              <a:ahLst/>
              <a:cxnLst/>
              <a:rect l="l" t="t" r="r" b="b"/>
              <a:pathLst>
                <a:path w="223520" h="245110">
                  <a:moveTo>
                    <a:pt x="223265" y="41910"/>
                  </a:moveTo>
                  <a:lnTo>
                    <a:pt x="0" y="0"/>
                  </a:lnTo>
                  <a:lnTo>
                    <a:pt x="69341" y="244602"/>
                  </a:lnTo>
                  <a:lnTo>
                    <a:pt x="223265" y="41910"/>
                  </a:lnTo>
                  <a:close/>
                </a:path>
              </a:pathLst>
            </a:custGeom>
            <a:solidFill>
              <a:srgbClr val="000000"/>
            </a:solidFill>
          </p:spPr>
          <p:txBody>
            <a:bodyPr wrap="square" lIns="0" tIns="0" rIns="0" bIns="0" rtlCol="0"/>
            <a:lstStyle/>
            <a:p>
              <a:endParaRPr/>
            </a:p>
          </p:txBody>
        </p:sp>
      </p:grpSp>
      <p:sp>
        <p:nvSpPr>
          <p:cNvPr id="8" name="object 8"/>
          <p:cNvSpPr txBox="1"/>
          <p:nvPr/>
        </p:nvSpPr>
        <p:spPr>
          <a:xfrm>
            <a:off x="265429" y="1036574"/>
            <a:ext cx="4292600" cy="3293110"/>
          </a:xfrm>
          <a:prstGeom prst="rect">
            <a:avLst/>
          </a:prstGeom>
          <a:solidFill>
            <a:srgbClr val="FFFFFF"/>
          </a:solidFill>
          <a:ln w="9144">
            <a:solidFill>
              <a:srgbClr val="000000"/>
            </a:solidFill>
          </a:ln>
        </p:spPr>
        <p:txBody>
          <a:bodyPr vert="horz" wrap="square" lIns="0" tIns="44450" rIns="0" bIns="0" rtlCol="0">
            <a:spAutoFit/>
          </a:bodyPr>
          <a:lstStyle/>
          <a:p>
            <a:pPr marL="96520" marR="95885">
              <a:lnSpc>
                <a:spcPct val="100000"/>
              </a:lnSpc>
              <a:spcBef>
                <a:spcPts val="350"/>
              </a:spcBef>
            </a:pP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responsible</a:t>
            </a:r>
            <a:r>
              <a:rPr sz="1400" spc="-15" dirty="0">
                <a:latin typeface="Times New Roman"/>
                <a:cs typeface="Times New Roman"/>
              </a:rPr>
              <a:t> </a:t>
            </a:r>
            <a:r>
              <a:rPr sz="1400" dirty="0">
                <a:latin typeface="Times New Roman"/>
                <a:cs typeface="Times New Roman"/>
              </a:rPr>
              <a:t>for</a:t>
            </a:r>
            <a:r>
              <a:rPr sz="1400" spc="-10" dirty="0">
                <a:latin typeface="Times New Roman"/>
                <a:cs typeface="Times New Roman"/>
              </a:rPr>
              <a:t> </a:t>
            </a:r>
            <a:r>
              <a:rPr sz="1400" dirty="0">
                <a:latin typeface="Times New Roman"/>
                <a:cs typeface="Times New Roman"/>
              </a:rPr>
              <a:t>providing</a:t>
            </a:r>
            <a:r>
              <a:rPr sz="1400" spc="-15" dirty="0">
                <a:latin typeface="Times New Roman"/>
                <a:cs typeface="Times New Roman"/>
              </a:rPr>
              <a:t> </a:t>
            </a:r>
            <a:r>
              <a:rPr sz="1400" dirty="0">
                <a:latin typeface="Times New Roman"/>
                <a:cs typeface="Times New Roman"/>
              </a:rPr>
              <a:t>scan</a:t>
            </a:r>
            <a:r>
              <a:rPr sz="1400" spc="-15" dirty="0">
                <a:latin typeface="Times New Roman"/>
                <a:cs typeface="Times New Roman"/>
              </a:rPr>
              <a:t> </a:t>
            </a:r>
            <a:r>
              <a:rPr sz="1400" spc="-10" dirty="0">
                <a:latin typeface="Times New Roman"/>
                <a:cs typeface="Times New Roman"/>
              </a:rPr>
              <a:t>state </a:t>
            </a:r>
            <a:r>
              <a:rPr sz="1400" dirty="0">
                <a:latin typeface="Times New Roman"/>
                <a:cs typeface="Times New Roman"/>
              </a:rPr>
              <a:t>information</a:t>
            </a:r>
            <a:r>
              <a:rPr sz="1400" spc="-3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APS</a:t>
            </a:r>
            <a:r>
              <a:rPr sz="1400" spc="-2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AGP.</a:t>
            </a:r>
            <a:r>
              <a:rPr sz="1400" spc="300" dirty="0">
                <a:latin typeface="Times New Roman"/>
                <a:cs typeface="Times New Roman"/>
              </a:rPr>
              <a:t> </a:t>
            </a:r>
            <a:r>
              <a:rPr sz="1400" dirty="0">
                <a:latin typeface="Times New Roman"/>
                <a:cs typeface="Times New Roman"/>
              </a:rPr>
              <a:t>It</a:t>
            </a:r>
            <a:r>
              <a:rPr sz="1400" spc="-25" dirty="0">
                <a:latin typeface="Times New Roman"/>
                <a:cs typeface="Times New Roman"/>
              </a:rPr>
              <a:t> </a:t>
            </a:r>
            <a:r>
              <a:rPr sz="1400" dirty="0">
                <a:latin typeface="Times New Roman"/>
                <a:cs typeface="Times New Roman"/>
              </a:rPr>
              <a:t>also</a:t>
            </a:r>
            <a:r>
              <a:rPr sz="1400" spc="-30" dirty="0">
                <a:latin typeface="Times New Roman"/>
                <a:cs typeface="Times New Roman"/>
              </a:rPr>
              <a:t> </a:t>
            </a:r>
            <a:r>
              <a:rPr sz="1400" dirty="0">
                <a:latin typeface="Times New Roman"/>
                <a:cs typeface="Times New Roman"/>
              </a:rPr>
              <a:t>controls</a:t>
            </a:r>
            <a:r>
              <a:rPr sz="1400" spc="-25" dirty="0">
                <a:latin typeface="Times New Roman"/>
                <a:cs typeface="Times New Roman"/>
              </a:rPr>
              <a:t> the </a:t>
            </a:r>
            <a:r>
              <a:rPr sz="1400" dirty="0">
                <a:latin typeface="Times New Roman"/>
                <a:cs typeface="Times New Roman"/>
              </a:rPr>
              <a:t>peripheral</a:t>
            </a:r>
            <a:r>
              <a:rPr sz="1400" spc="-25" dirty="0">
                <a:latin typeface="Times New Roman"/>
                <a:cs typeface="Times New Roman"/>
              </a:rPr>
              <a:t> </a:t>
            </a:r>
            <a:r>
              <a:rPr sz="1400" dirty="0">
                <a:latin typeface="Times New Roman"/>
                <a:cs typeface="Times New Roman"/>
              </a:rPr>
              <a:t>hardware,</a:t>
            </a:r>
            <a:r>
              <a:rPr sz="1400" spc="-25" dirty="0">
                <a:latin typeface="Times New Roman"/>
                <a:cs typeface="Times New Roman"/>
              </a:rPr>
              <a:t> </a:t>
            </a:r>
            <a:r>
              <a:rPr sz="1400" dirty="0">
                <a:latin typeface="Times New Roman"/>
                <a:cs typeface="Times New Roman"/>
              </a:rPr>
              <a:t>scan</a:t>
            </a:r>
            <a:r>
              <a:rPr sz="1400" spc="-25" dirty="0">
                <a:latin typeface="Times New Roman"/>
                <a:cs typeface="Times New Roman"/>
              </a:rPr>
              <a:t> </a:t>
            </a:r>
            <a:r>
              <a:rPr sz="1400" dirty="0">
                <a:latin typeface="Times New Roman"/>
                <a:cs typeface="Times New Roman"/>
              </a:rPr>
              <a:t>time</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display,</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spc="-10" dirty="0">
                <a:latin typeface="Times New Roman"/>
                <a:cs typeface="Times New Roman"/>
              </a:rPr>
              <a:t>control</a:t>
            </a:r>
            <a:r>
              <a:rPr sz="1400" spc="50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spc="-10" dirty="0">
                <a:latin typeface="Times New Roman"/>
                <a:cs typeface="Times New Roman"/>
              </a:rPr>
              <a:t>physiological</a:t>
            </a:r>
            <a:r>
              <a:rPr sz="1400" spc="-30" dirty="0">
                <a:latin typeface="Times New Roman"/>
                <a:cs typeface="Times New Roman"/>
              </a:rPr>
              <a:t> </a:t>
            </a:r>
            <a:r>
              <a:rPr sz="1400" dirty="0">
                <a:latin typeface="Times New Roman"/>
                <a:cs typeface="Times New Roman"/>
              </a:rPr>
              <a:t>interface.</a:t>
            </a:r>
            <a:r>
              <a:rPr sz="1400" spc="295"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b="1" dirty="0">
                <a:latin typeface="Times New Roman"/>
                <a:cs typeface="Times New Roman"/>
              </a:rPr>
              <a:t>C</a:t>
            </a:r>
            <a:r>
              <a:rPr sz="1400" dirty="0">
                <a:latin typeface="Times New Roman"/>
                <a:cs typeface="Times New Roman"/>
              </a:rPr>
              <a:t>ontroller</a:t>
            </a:r>
            <a:r>
              <a:rPr sz="1400" spc="-30" dirty="0">
                <a:latin typeface="Times New Roman"/>
                <a:cs typeface="Times New Roman"/>
              </a:rPr>
              <a:t> </a:t>
            </a:r>
            <a:r>
              <a:rPr sz="1400" b="1" spc="-20" dirty="0">
                <a:latin typeface="Times New Roman"/>
                <a:cs typeface="Times New Roman"/>
              </a:rPr>
              <a:t>A</a:t>
            </a:r>
            <a:r>
              <a:rPr sz="1400" spc="-20" dirty="0">
                <a:latin typeface="Times New Roman"/>
                <a:cs typeface="Times New Roman"/>
              </a:rPr>
              <a:t>rea </a:t>
            </a:r>
            <a:r>
              <a:rPr sz="1400" b="1" dirty="0">
                <a:latin typeface="Times New Roman"/>
                <a:cs typeface="Times New Roman"/>
              </a:rPr>
              <a:t>N</a:t>
            </a:r>
            <a:r>
              <a:rPr sz="1400" dirty="0">
                <a:latin typeface="Times New Roman"/>
                <a:cs typeface="Times New Roman"/>
              </a:rPr>
              <a:t>etwork</a:t>
            </a:r>
            <a:r>
              <a:rPr sz="1400" spc="-20" dirty="0">
                <a:latin typeface="Times New Roman"/>
                <a:cs typeface="Times New Roman"/>
              </a:rPr>
              <a:t> </a:t>
            </a:r>
            <a:r>
              <a:rPr sz="1400" b="1" dirty="0">
                <a:latin typeface="Times New Roman"/>
                <a:cs typeface="Times New Roman"/>
              </a:rPr>
              <a:t>(CAN)</a:t>
            </a:r>
            <a:r>
              <a:rPr sz="1400" b="1" spc="-20" dirty="0">
                <a:latin typeface="Times New Roman"/>
                <a:cs typeface="Times New Roman"/>
              </a:rPr>
              <a:t> </a:t>
            </a:r>
            <a:r>
              <a:rPr sz="1400" b="1" spc="-10" dirty="0">
                <a:latin typeface="Times New Roman"/>
                <a:cs typeface="Times New Roman"/>
              </a:rPr>
              <a:t>Daughter-</a:t>
            </a:r>
            <a:r>
              <a:rPr sz="1400" b="1" dirty="0">
                <a:latin typeface="Times New Roman"/>
                <a:cs typeface="Times New Roman"/>
              </a:rPr>
              <a:t>Board</a:t>
            </a:r>
            <a:r>
              <a:rPr sz="1400" b="1" spc="-20" dirty="0">
                <a:latin typeface="Times New Roman"/>
                <a:cs typeface="Times New Roman"/>
              </a:rPr>
              <a:t> </a:t>
            </a: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12A</a:t>
            </a:r>
            <a:r>
              <a:rPr sz="1400" spc="-20" dirty="0">
                <a:latin typeface="Times New Roman"/>
                <a:cs typeface="Times New Roman"/>
              </a:rPr>
              <a:t> </a:t>
            </a:r>
            <a:r>
              <a:rPr sz="1400" dirty="0">
                <a:latin typeface="Times New Roman"/>
                <a:cs typeface="Times New Roman"/>
              </a:rPr>
              <a:t>F)</a:t>
            </a:r>
            <a:r>
              <a:rPr sz="1400" spc="-20" dirty="0">
                <a:latin typeface="Times New Roman"/>
                <a:cs typeface="Times New Roman"/>
              </a:rPr>
              <a:t> </a:t>
            </a:r>
            <a:r>
              <a:rPr sz="1400" spc="-25" dirty="0">
                <a:latin typeface="Times New Roman"/>
                <a:cs typeface="Times New Roman"/>
              </a:rPr>
              <a:t>is </a:t>
            </a:r>
            <a:r>
              <a:rPr sz="1400" dirty="0">
                <a:latin typeface="Times New Roman"/>
                <a:cs typeface="Times New Roman"/>
              </a:rPr>
              <a:t>mounted</a:t>
            </a:r>
            <a:r>
              <a:rPr sz="1400" spc="-20" dirty="0">
                <a:latin typeface="Times New Roman"/>
                <a:cs typeface="Times New Roman"/>
              </a:rPr>
              <a:t> </a:t>
            </a:r>
            <a:r>
              <a:rPr sz="1400" dirty="0">
                <a:latin typeface="Times New Roman"/>
                <a:cs typeface="Times New Roman"/>
              </a:rPr>
              <a:t>in</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top</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SCP</a:t>
            </a:r>
            <a:r>
              <a:rPr sz="1400" spc="-20" dirty="0">
                <a:latin typeface="Times New Roman"/>
                <a:cs typeface="Times New Roman"/>
              </a:rPr>
              <a:t> </a:t>
            </a:r>
            <a:r>
              <a:rPr sz="1400" dirty="0">
                <a:latin typeface="Times New Roman"/>
                <a:cs typeface="Times New Roman"/>
              </a:rPr>
              <a:t>Board</a:t>
            </a:r>
            <a:r>
              <a:rPr sz="1400" spc="-15" dirty="0">
                <a:latin typeface="Times New Roman"/>
                <a:cs typeface="Times New Roman"/>
              </a:rPr>
              <a:t> </a:t>
            </a:r>
            <a:r>
              <a:rPr sz="1400" dirty="0">
                <a:latin typeface="Times New Roman"/>
                <a:cs typeface="Times New Roman"/>
              </a:rPr>
              <a:t>through</a:t>
            </a:r>
            <a:r>
              <a:rPr sz="1400" spc="-20" dirty="0">
                <a:latin typeface="Times New Roman"/>
                <a:cs typeface="Times New Roman"/>
              </a:rPr>
              <a:t> </a:t>
            </a:r>
            <a:r>
              <a:rPr sz="1400" spc="-10" dirty="0">
                <a:latin typeface="Times New Roman"/>
                <a:cs typeface="Times New Roman"/>
              </a:rPr>
              <a:t>which </a:t>
            </a:r>
            <a:r>
              <a:rPr sz="1400" dirty="0">
                <a:latin typeface="Times New Roman"/>
                <a:cs typeface="Times New Roman"/>
              </a:rPr>
              <a:t>communication</a:t>
            </a:r>
            <a:r>
              <a:rPr sz="1400" spc="-35"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managed</a:t>
            </a:r>
            <a:r>
              <a:rPr sz="1400" spc="-35" dirty="0">
                <a:latin typeface="Times New Roman"/>
                <a:cs typeface="Times New Roman"/>
              </a:rPr>
              <a:t> </a:t>
            </a:r>
            <a:r>
              <a:rPr sz="1400" dirty="0">
                <a:latin typeface="Times New Roman"/>
                <a:cs typeface="Times New Roman"/>
              </a:rPr>
              <a:t>between</a:t>
            </a:r>
            <a:r>
              <a:rPr sz="1400" spc="-3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SCP</a:t>
            </a:r>
            <a:r>
              <a:rPr sz="1400" spc="-3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spc="-25" dirty="0">
                <a:latin typeface="Times New Roman"/>
                <a:cs typeface="Times New Roman"/>
              </a:rPr>
              <a:t>the </a:t>
            </a:r>
            <a:r>
              <a:rPr sz="1400" dirty="0">
                <a:latin typeface="Times New Roman"/>
                <a:cs typeface="Times New Roman"/>
              </a:rPr>
              <a:t>gradient</a:t>
            </a:r>
            <a:r>
              <a:rPr sz="1400" spc="-35" dirty="0">
                <a:latin typeface="Times New Roman"/>
                <a:cs typeface="Times New Roman"/>
              </a:rPr>
              <a:t> </a:t>
            </a:r>
            <a:r>
              <a:rPr sz="1400" dirty="0">
                <a:latin typeface="Times New Roman"/>
                <a:cs typeface="Times New Roman"/>
              </a:rPr>
              <a:t>controller,</a:t>
            </a:r>
            <a:r>
              <a:rPr sz="1400" spc="-35" dirty="0">
                <a:latin typeface="Times New Roman"/>
                <a:cs typeface="Times New Roman"/>
              </a:rPr>
              <a:t> </a:t>
            </a:r>
            <a:r>
              <a:rPr sz="1400" dirty="0">
                <a:latin typeface="Times New Roman"/>
                <a:cs typeface="Times New Roman"/>
              </a:rPr>
              <a:t>power</a:t>
            </a:r>
            <a:r>
              <a:rPr sz="1400" spc="-35" dirty="0">
                <a:latin typeface="Times New Roman"/>
                <a:cs typeface="Times New Roman"/>
              </a:rPr>
              <a:t> </a:t>
            </a:r>
            <a:r>
              <a:rPr sz="1400" dirty="0">
                <a:latin typeface="Times New Roman"/>
                <a:cs typeface="Times New Roman"/>
              </a:rPr>
              <a:t>monitor,</a:t>
            </a:r>
            <a:r>
              <a:rPr sz="1400" spc="-30" dirty="0">
                <a:latin typeface="Times New Roman"/>
                <a:cs typeface="Times New Roman"/>
              </a:rPr>
              <a:t> </a:t>
            </a:r>
            <a:r>
              <a:rPr sz="1400" dirty="0">
                <a:latin typeface="Times New Roman"/>
                <a:cs typeface="Times New Roman"/>
              </a:rPr>
              <a:t>PHPS,</a:t>
            </a:r>
            <a:r>
              <a:rPr sz="1400" spc="-35" dirty="0">
                <a:latin typeface="Times New Roman"/>
                <a:cs typeface="Times New Roman"/>
              </a:rPr>
              <a:t> </a:t>
            </a:r>
            <a:r>
              <a:rPr sz="1400" dirty="0">
                <a:latin typeface="Times New Roman"/>
                <a:cs typeface="Times New Roman"/>
              </a:rPr>
              <a:t>Shim</a:t>
            </a:r>
            <a:r>
              <a:rPr sz="1400" spc="-40" dirty="0">
                <a:latin typeface="Times New Roman"/>
                <a:cs typeface="Times New Roman"/>
              </a:rPr>
              <a:t> </a:t>
            </a:r>
            <a:r>
              <a:rPr sz="1400" spc="-10" dirty="0">
                <a:latin typeface="Times New Roman"/>
                <a:cs typeface="Times New Roman"/>
              </a:rPr>
              <a:t>Supply, </a:t>
            </a:r>
            <a:r>
              <a:rPr sz="1400" dirty="0">
                <a:latin typeface="Times New Roman"/>
                <a:cs typeface="Times New Roman"/>
              </a:rPr>
              <a:t>RRF</a:t>
            </a:r>
            <a:r>
              <a:rPr sz="1400" spc="-35"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Driver</a:t>
            </a:r>
            <a:r>
              <a:rPr sz="1400" spc="-35" dirty="0">
                <a:latin typeface="Times New Roman"/>
                <a:cs typeface="Times New Roman"/>
              </a:rPr>
              <a:t> </a:t>
            </a:r>
            <a:r>
              <a:rPr sz="1400" dirty="0">
                <a:latin typeface="Times New Roman"/>
                <a:cs typeface="Times New Roman"/>
              </a:rPr>
              <a:t>Module.</a:t>
            </a:r>
            <a:r>
              <a:rPr sz="1400" spc="-3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middle</a:t>
            </a:r>
            <a:r>
              <a:rPr sz="1400" spc="-35" dirty="0">
                <a:latin typeface="Times New Roman"/>
                <a:cs typeface="Times New Roman"/>
              </a:rPr>
              <a:t> </a:t>
            </a:r>
            <a:r>
              <a:rPr sz="1400" dirty="0">
                <a:latin typeface="Times New Roman"/>
                <a:cs typeface="Times New Roman"/>
              </a:rPr>
              <a:t>cable,</a:t>
            </a:r>
            <a:r>
              <a:rPr sz="1400" spc="-35" dirty="0">
                <a:latin typeface="Times New Roman"/>
                <a:cs typeface="Times New Roman"/>
              </a:rPr>
              <a:t> </a:t>
            </a:r>
            <a:r>
              <a:rPr sz="1400" spc="-10" dirty="0">
                <a:latin typeface="Times New Roman"/>
                <a:cs typeface="Times New Roman"/>
              </a:rPr>
              <a:t>equipped </a:t>
            </a:r>
            <a:r>
              <a:rPr sz="1400" dirty="0">
                <a:latin typeface="Times New Roman"/>
                <a:cs typeface="Times New Roman"/>
              </a:rPr>
              <a:t>with</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male</a:t>
            </a:r>
            <a:r>
              <a:rPr sz="1400" spc="-20" dirty="0">
                <a:latin typeface="Times New Roman"/>
                <a:cs typeface="Times New Roman"/>
              </a:rPr>
              <a:t> </a:t>
            </a:r>
            <a:r>
              <a:rPr sz="1400" spc="-10" dirty="0">
                <a:latin typeface="Times New Roman"/>
                <a:cs typeface="Times New Roman"/>
              </a:rPr>
              <a:t>RJ-</a:t>
            </a:r>
            <a:r>
              <a:rPr sz="1400" dirty="0">
                <a:latin typeface="Times New Roman"/>
                <a:cs typeface="Times New Roman"/>
              </a:rPr>
              <a:t>45</a:t>
            </a:r>
            <a:r>
              <a:rPr sz="1400" spc="-20" dirty="0">
                <a:latin typeface="Times New Roman"/>
                <a:cs typeface="Times New Roman"/>
              </a:rPr>
              <a:t> </a:t>
            </a:r>
            <a:r>
              <a:rPr sz="1400" dirty="0">
                <a:latin typeface="Times New Roman"/>
                <a:cs typeface="Times New Roman"/>
              </a:rPr>
              <a:t>connector,</a:t>
            </a:r>
            <a:r>
              <a:rPr sz="1400" spc="-25" dirty="0">
                <a:latin typeface="Times New Roman"/>
                <a:cs typeface="Times New Roman"/>
              </a:rPr>
              <a:t> </a:t>
            </a:r>
            <a:r>
              <a:rPr sz="1400" spc="-10" dirty="0">
                <a:latin typeface="Times New Roman"/>
                <a:cs typeface="Times New Roman"/>
              </a:rPr>
              <a:t>provides</a:t>
            </a:r>
            <a:r>
              <a:rPr sz="1400" spc="-25" dirty="0">
                <a:latin typeface="Times New Roman"/>
                <a:cs typeface="Times New Roman"/>
              </a:rPr>
              <a:t> </a:t>
            </a:r>
            <a:r>
              <a:rPr sz="1400" dirty="0">
                <a:latin typeface="Times New Roman"/>
                <a:cs typeface="Times New Roman"/>
              </a:rPr>
              <a:t>an</a:t>
            </a:r>
            <a:r>
              <a:rPr sz="1400" spc="-25" dirty="0">
                <a:latin typeface="Times New Roman"/>
                <a:cs typeface="Times New Roman"/>
              </a:rPr>
              <a:t> </a:t>
            </a:r>
            <a:r>
              <a:rPr sz="1400" dirty="0">
                <a:latin typeface="Times New Roman"/>
                <a:cs typeface="Times New Roman"/>
              </a:rPr>
              <a:t>Ethernet</a:t>
            </a:r>
            <a:r>
              <a:rPr sz="1400" spc="-25" dirty="0">
                <a:latin typeface="Times New Roman"/>
                <a:cs typeface="Times New Roman"/>
              </a:rPr>
              <a:t> </a:t>
            </a:r>
            <a:r>
              <a:rPr sz="1400" spc="-20" dirty="0">
                <a:latin typeface="Times New Roman"/>
                <a:cs typeface="Times New Roman"/>
              </a:rPr>
              <a:t>link </a:t>
            </a: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Host</a:t>
            </a:r>
            <a:r>
              <a:rPr sz="1400" spc="-20"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SCP.</a:t>
            </a:r>
            <a:r>
              <a:rPr sz="1400" spc="305" dirty="0">
                <a:latin typeface="Times New Roman"/>
                <a:cs typeface="Times New Roman"/>
              </a:rPr>
              <a:t> </a:t>
            </a:r>
            <a:r>
              <a:rPr sz="1400" dirty="0">
                <a:latin typeface="Times New Roman"/>
                <a:cs typeface="Times New Roman"/>
              </a:rPr>
              <a:t>During</a:t>
            </a:r>
            <a:r>
              <a:rPr sz="1400" spc="-25"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b="1" dirty="0">
                <a:latin typeface="Times New Roman"/>
                <a:cs typeface="Times New Roman"/>
              </a:rPr>
              <a:t>TPS</a:t>
            </a:r>
            <a:r>
              <a:rPr sz="1400" b="1" spc="-25" dirty="0">
                <a:latin typeface="Times New Roman"/>
                <a:cs typeface="Times New Roman"/>
              </a:rPr>
              <a:t> </a:t>
            </a:r>
            <a:r>
              <a:rPr sz="1400" b="1" dirty="0">
                <a:latin typeface="Times New Roman"/>
                <a:cs typeface="Times New Roman"/>
              </a:rPr>
              <a:t>Reset</a:t>
            </a:r>
            <a:r>
              <a:rPr sz="1400" b="1" spc="-25" dirty="0">
                <a:latin typeface="Times New Roman"/>
                <a:cs typeface="Times New Roman"/>
              </a:rPr>
              <a:t> </a:t>
            </a:r>
            <a:r>
              <a:rPr sz="1400" spc="-20" dirty="0">
                <a:latin typeface="Times New Roman"/>
                <a:cs typeface="Times New Roman"/>
              </a:rPr>
              <a:t>data </a:t>
            </a:r>
            <a:r>
              <a:rPr sz="1400" dirty="0">
                <a:latin typeface="Times New Roman"/>
                <a:cs typeface="Times New Roman"/>
              </a:rPr>
              <a:t>is</a:t>
            </a:r>
            <a:r>
              <a:rPr sz="1400" spc="-15" dirty="0">
                <a:latin typeface="Times New Roman"/>
                <a:cs typeface="Times New Roman"/>
              </a:rPr>
              <a:t> </a:t>
            </a:r>
            <a:r>
              <a:rPr sz="1400" dirty="0">
                <a:latin typeface="Times New Roman"/>
                <a:cs typeface="Times New Roman"/>
              </a:rPr>
              <a:t>transferred</a:t>
            </a:r>
            <a:r>
              <a:rPr sz="1400" spc="-10" dirty="0">
                <a:latin typeface="Times New Roman"/>
                <a:cs typeface="Times New Roman"/>
              </a:rPr>
              <a:t> </a:t>
            </a:r>
            <a:r>
              <a:rPr sz="1400" dirty="0">
                <a:latin typeface="Times New Roman"/>
                <a:cs typeface="Times New Roman"/>
              </a:rPr>
              <a:t>to</a:t>
            </a:r>
            <a:r>
              <a:rPr sz="1400" spc="-1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SCP</a:t>
            </a:r>
            <a:r>
              <a:rPr sz="1400" spc="-10" dirty="0">
                <a:latin typeface="Times New Roman"/>
                <a:cs typeface="Times New Roman"/>
              </a:rPr>
              <a:t> </a:t>
            </a:r>
            <a:r>
              <a:rPr sz="1400" dirty="0">
                <a:latin typeface="Times New Roman"/>
                <a:cs typeface="Times New Roman"/>
              </a:rPr>
              <a:t>via</a:t>
            </a:r>
            <a:r>
              <a:rPr sz="1400" spc="-10" dirty="0">
                <a:latin typeface="Times New Roman"/>
                <a:cs typeface="Times New Roman"/>
              </a:rPr>
              <a:t> </a:t>
            </a:r>
            <a:r>
              <a:rPr sz="1400" dirty="0">
                <a:latin typeface="Times New Roman"/>
                <a:cs typeface="Times New Roman"/>
              </a:rPr>
              <a:t>this</a:t>
            </a:r>
            <a:r>
              <a:rPr sz="1400" spc="-10" dirty="0">
                <a:latin typeface="Times New Roman"/>
                <a:cs typeface="Times New Roman"/>
              </a:rPr>
              <a:t> </a:t>
            </a:r>
            <a:r>
              <a:rPr sz="1400" dirty="0">
                <a:latin typeface="Times New Roman"/>
                <a:cs typeface="Times New Roman"/>
              </a:rPr>
              <a:t>link.</a:t>
            </a:r>
            <a:r>
              <a:rPr sz="1400" spc="-15" dirty="0">
                <a:latin typeface="Times New Roman"/>
                <a:cs typeface="Times New Roman"/>
              </a:rPr>
              <a:t> </a:t>
            </a:r>
            <a:r>
              <a:rPr sz="1400" dirty="0">
                <a:latin typeface="Times New Roman"/>
                <a:cs typeface="Times New Roman"/>
              </a:rPr>
              <a:t>The</a:t>
            </a:r>
            <a:r>
              <a:rPr sz="1400" spc="-10" dirty="0">
                <a:latin typeface="Times New Roman"/>
                <a:cs typeface="Times New Roman"/>
              </a:rPr>
              <a:t> </a:t>
            </a:r>
            <a:r>
              <a:rPr sz="1400" dirty="0">
                <a:latin typeface="Times New Roman"/>
                <a:cs typeface="Times New Roman"/>
              </a:rPr>
              <a:t>bottom</a:t>
            </a:r>
            <a:r>
              <a:rPr sz="1400" spc="-15" dirty="0">
                <a:latin typeface="Times New Roman"/>
                <a:cs typeface="Times New Roman"/>
              </a:rPr>
              <a:t> </a:t>
            </a:r>
            <a:r>
              <a:rPr sz="1400" spc="-10" dirty="0">
                <a:latin typeface="Times New Roman"/>
                <a:cs typeface="Times New Roman"/>
              </a:rPr>
              <a:t>cable, </a:t>
            </a:r>
            <a:r>
              <a:rPr sz="1400" dirty="0">
                <a:latin typeface="Times New Roman"/>
                <a:cs typeface="Times New Roman"/>
              </a:rPr>
              <a:t>equipped</a:t>
            </a:r>
            <a:r>
              <a:rPr sz="1400" spc="-25" dirty="0">
                <a:latin typeface="Times New Roman"/>
                <a:cs typeface="Times New Roman"/>
              </a:rPr>
              <a:t> </a:t>
            </a:r>
            <a:r>
              <a:rPr sz="1400" dirty="0">
                <a:latin typeface="Times New Roman"/>
                <a:cs typeface="Times New Roman"/>
              </a:rPr>
              <a:t>with</a:t>
            </a:r>
            <a:r>
              <a:rPr sz="1400" spc="-25" dirty="0">
                <a:latin typeface="Times New Roman"/>
                <a:cs typeface="Times New Roman"/>
              </a:rPr>
              <a:t> </a:t>
            </a:r>
            <a:r>
              <a:rPr sz="1400" dirty="0">
                <a:latin typeface="Times New Roman"/>
                <a:cs typeface="Times New Roman"/>
              </a:rPr>
              <a:t>an</a:t>
            </a:r>
            <a:r>
              <a:rPr sz="1400" spc="-20" dirty="0">
                <a:latin typeface="Times New Roman"/>
                <a:cs typeface="Times New Roman"/>
              </a:rPr>
              <a:t> </a:t>
            </a:r>
            <a:r>
              <a:rPr sz="1400" spc="-10" dirty="0">
                <a:latin typeface="Times New Roman"/>
                <a:cs typeface="Times New Roman"/>
              </a:rPr>
              <a:t>RJ-</a:t>
            </a:r>
            <a:r>
              <a:rPr sz="1400" dirty="0">
                <a:latin typeface="Times New Roman"/>
                <a:cs typeface="Times New Roman"/>
              </a:rPr>
              <a:t>45</a:t>
            </a:r>
            <a:r>
              <a:rPr sz="1400" spc="-25" dirty="0">
                <a:latin typeface="Times New Roman"/>
                <a:cs typeface="Times New Roman"/>
              </a:rPr>
              <a:t> </a:t>
            </a:r>
            <a:r>
              <a:rPr sz="1400" dirty="0">
                <a:latin typeface="Times New Roman"/>
                <a:cs typeface="Times New Roman"/>
              </a:rPr>
              <a:t>connector,</a:t>
            </a:r>
            <a:r>
              <a:rPr sz="1400" spc="-25" dirty="0">
                <a:latin typeface="Times New Roman"/>
                <a:cs typeface="Times New Roman"/>
              </a:rPr>
              <a:t> </a:t>
            </a:r>
            <a:r>
              <a:rPr sz="1400" dirty="0">
                <a:latin typeface="Times New Roman"/>
                <a:cs typeface="Times New Roman"/>
              </a:rPr>
              <a:t>provides</a:t>
            </a:r>
            <a:r>
              <a:rPr sz="1400" spc="-20"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spc="-10" dirty="0">
                <a:latin typeface="Times New Roman"/>
                <a:cs typeface="Times New Roman"/>
              </a:rPr>
              <a:t>service</a:t>
            </a:r>
            <a:endParaRPr sz="1400">
              <a:latin typeface="Times New Roman"/>
              <a:cs typeface="Times New Roman"/>
            </a:endParaRPr>
          </a:p>
          <a:p>
            <a:pPr marL="96520">
              <a:lnSpc>
                <a:spcPts val="1610"/>
              </a:lnSpc>
            </a:pPr>
            <a:r>
              <a:rPr sz="1400" dirty="0">
                <a:latin typeface="Times New Roman"/>
                <a:cs typeface="Times New Roman"/>
              </a:rPr>
              <a:t>RS-232</a:t>
            </a:r>
            <a:r>
              <a:rPr sz="1400" spc="-30" dirty="0">
                <a:latin typeface="Times New Roman"/>
                <a:cs typeface="Times New Roman"/>
              </a:rPr>
              <a:t> </a:t>
            </a:r>
            <a:r>
              <a:rPr sz="1400" dirty="0">
                <a:latin typeface="Times New Roman"/>
                <a:cs typeface="Times New Roman"/>
              </a:rPr>
              <a:t>serial</a:t>
            </a:r>
            <a:r>
              <a:rPr sz="1400" spc="-25" dirty="0">
                <a:latin typeface="Times New Roman"/>
                <a:cs typeface="Times New Roman"/>
              </a:rPr>
              <a:t> </a:t>
            </a:r>
            <a:r>
              <a:rPr sz="1400" dirty="0">
                <a:latin typeface="Times New Roman"/>
                <a:cs typeface="Times New Roman"/>
              </a:rPr>
              <a:t>link</a:t>
            </a:r>
            <a:r>
              <a:rPr sz="1400" spc="-30" dirty="0">
                <a:latin typeface="Times New Roman"/>
                <a:cs typeface="Times New Roman"/>
              </a:rPr>
              <a:t> </a:t>
            </a: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SCP</a:t>
            </a:r>
            <a:r>
              <a:rPr sz="1400" spc="-2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Host</a:t>
            </a:r>
            <a:r>
              <a:rPr sz="1400" spc="-30" dirty="0">
                <a:latin typeface="Times New Roman"/>
                <a:cs typeface="Times New Roman"/>
              </a:rPr>
              <a:t> </a:t>
            </a:r>
            <a:r>
              <a:rPr sz="1400" dirty="0">
                <a:latin typeface="Times New Roman"/>
                <a:cs typeface="Times New Roman"/>
              </a:rPr>
              <a:t>via</a:t>
            </a:r>
            <a:r>
              <a:rPr sz="1400" spc="-25" dirty="0">
                <a:latin typeface="Times New Roman"/>
                <a:cs typeface="Times New Roman"/>
              </a:rPr>
              <a:t> the</a:t>
            </a:r>
            <a:endParaRPr sz="1400">
              <a:latin typeface="Times New Roman"/>
              <a:cs typeface="Times New Roman"/>
            </a:endParaRPr>
          </a:p>
          <a:p>
            <a:pPr marL="96520">
              <a:lnSpc>
                <a:spcPts val="1675"/>
              </a:lnSpc>
            </a:pPr>
            <a:r>
              <a:rPr sz="1400" dirty="0">
                <a:latin typeface="Times New Roman"/>
                <a:cs typeface="Times New Roman"/>
              </a:rPr>
              <a:t>Term</a:t>
            </a:r>
            <a:r>
              <a:rPr sz="1400" spc="-20" dirty="0">
                <a:latin typeface="Times New Roman"/>
                <a:cs typeface="Times New Roman"/>
              </a:rPr>
              <a:t> </a:t>
            </a:r>
            <a:r>
              <a:rPr sz="1400" spc="-10" dirty="0">
                <a:latin typeface="Times New Roman"/>
                <a:cs typeface="Times New Roman"/>
              </a:rPr>
              <a:t>Server.</a:t>
            </a:r>
            <a:endParaRPr sz="1400">
              <a:latin typeface="Times New Roman"/>
              <a:cs typeface="Times New Roman"/>
            </a:endParaRPr>
          </a:p>
        </p:txBody>
      </p:sp>
      <p:sp>
        <p:nvSpPr>
          <p:cNvPr id="9" name="object 9"/>
          <p:cNvSpPr/>
          <p:nvPr/>
        </p:nvSpPr>
        <p:spPr>
          <a:xfrm>
            <a:off x="265429" y="5010403"/>
            <a:ext cx="4483100" cy="1590675"/>
          </a:xfrm>
          <a:custGeom>
            <a:avLst/>
            <a:gdLst/>
            <a:ahLst/>
            <a:cxnLst/>
            <a:rect l="l" t="t" r="r" b="b"/>
            <a:pathLst>
              <a:path w="4483100" h="1590675">
                <a:moveTo>
                  <a:pt x="4482846" y="1590294"/>
                </a:moveTo>
                <a:lnTo>
                  <a:pt x="4482846" y="0"/>
                </a:lnTo>
                <a:lnTo>
                  <a:pt x="0" y="0"/>
                </a:lnTo>
                <a:lnTo>
                  <a:pt x="0" y="1590294"/>
                </a:lnTo>
                <a:lnTo>
                  <a:pt x="4482846" y="1590294"/>
                </a:lnTo>
                <a:close/>
              </a:path>
            </a:pathLst>
          </a:custGeom>
          <a:solidFill>
            <a:srgbClr val="FFFFFF"/>
          </a:solidFill>
        </p:spPr>
        <p:txBody>
          <a:bodyPr wrap="square" lIns="0" tIns="0" rIns="0" bIns="0" rtlCol="0"/>
          <a:lstStyle/>
          <a:p>
            <a:endParaRPr/>
          </a:p>
        </p:txBody>
      </p:sp>
      <p:sp>
        <p:nvSpPr>
          <p:cNvPr id="10" name="object 10"/>
          <p:cNvSpPr txBox="1"/>
          <p:nvPr/>
        </p:nvSpPr>
        <p:spPr>
          <a:xfrm>
            <a:off x="265429" y="5010403"/>
            <a:ext cx="4483100" cy="1590675"/>
          </a:xfrm>
          <a:prstGeom prst="rect">
            <a:avLst/>
          </a:prstGeom>
          <a:ln w="9144">
            <a:solidFill>
              <a:srgbClr val="000000"/>
            </a:solidFill>
          </a:ln>
        </p:spPr>
        <p:txBody>
          <a:bodyPr vert="horz" wrap="square" lIns="0" tIns="44450" rIns="0" bIns="0" rtlCol="0">
            <a:spAutoFit/>
          </a:bodyPr>
          <a:lstStyle/>
          <a:p>
            <a:pPr marL="96520">
              <a:lnSpc>
                <a:spcPct val="100000"/>
              </a:lnSpc>
              <a:spcBef>
                <a:spcPts val="350"/>
              </a:spcBef>
            </a:pPr>
            <a:r>
              <a:rPr sz="1400" b="1" u="sng" dirty="0">
                <a:uFill>
                  <a:solidFill>
                    <a:srgbClr val="000000"/>
                  </a:solidFill>
                </a:uFill>
                <a:latin typeface="Times New Roman"/>
                <a:cs typeface="Times New Roman"/>
              </a:rPr>
              <a:t>Available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40" dirty="0">
                <a:uFill>
                  <a:solidFill>
                    <a:srgbClr val="000000"/>
                  </a:solidFill>
                </a:uFill>
                <a:latin typeface="Times New Roman"/>
                <a:cs typeface="Times New Roman"/>
              </a:rPr>
              <a:t> </a:t>
            </a:r>
            <a:r>
              <a:rPr sz="1400" b="1" u="sng" spc="-25" dirty="0">
                <a:uFill>
                  <a:solidFill>
                    <a:srgbClr val="000000"/>
                  </a:solidFill>
                </a:uFill>
                <a:latin typeface="Times New Roman"/>
                <a:cs typeface="Times New Roman"/>
              </a:rPr>
              <a:t>SCP</a:t>
            </a:r>
            <a:endParaRPr sz="1400">
              <a:latin typeface="Times New Roman"/>
              <a:cs typeface="Times New Roman"/>
            </a:endParaRPr>
          </a:p>
          <a:p>
            <a:pPr marL="158115" indent="-69850">
              <a:lnSpc>
                <a:spcPct val="100000"/>
              </a:lnSpc>
              <a:spcBef>
                <a:spcPts val="830"/>
              </a:spcBef>
              <a:buSzPct val="92857"/>
              <a:buFont typeface="Times New Roman"/>
              <a:buChar char="•"/>
              <a:tabLst>
                <a:tab pos="158115" algn="l"/>
              </a:tabLst>
            </a:pPr>
            <a:r>
              <a:rPr sz="1400" b="1" dirty="0">
                <a:latin typeface="Times New Roman"/>
                <a:cs typeface="Times New Roman"/>
              </a:rPr>
              <a:t>APS,</a:t>
            </a:r>
            <a:r>
              <a:rPr sz="1400" b="1" spc="-35" dirty="0">
                <a:latin typeface="Times New Roman"/>
                <a:cs typeface="Times New Roman"/>
              </a:rPr>
              <a:t> </a:t>
            </a:r>
            <a:r>
              <a:rPr sz="1400" b="1" dirty="0">
                <a:latin typeface="Times New Roman"/>
                <a:cs typeface="Times New Roman"/>
              </a:rPr>
              <a:t>AGP</a:t>
            </a:r>
            <a:r>
              <a:rPr sz="1400" b="1" spc="-30" dirty="0">
                <a:latin typeface="Times New Roman"/>
                <a:cs typeface="Times New Roman"/>
              </a:rPr>
              <a:t> </a:t>
            </a:r>
            <a:r>
              <a:rPr sz="1400" b="1" dirty="0">
                <a:latin typeface="Times New Roman"/>
                <a:cs typeface="Times New Roman"/>
              </a:rPr>
              <a:t>and</a:t>
            </a:r>
            <a:r>
              <a:rPr sz="1400" b="1" spc="-30" dirty="0">
                <a:latin typeface="Times New Roman"/>
                <a:cs typeface="Times New Roman"/>
              </a:rPr>
              <a:t> </a:t>
            </a:r>
            <a:r>
              <a:rPr sz="1400" b="1" dirty="0">
                <a:latin typeface="Times New Roman"/>
                <a:cs typeface="Times New Roman"/>
              </a:rPr>
              <a:t>SCP</a:t>
            </a:r>
            <a:r>
              <a:rPr sz="1400" b="1" spc="-30" dirty="0">
                <a:latin typeface="Times New Roman"/>
                <a:cs typeface="Times New Roman"/>
              </a:rPr>
              <a:t> </a:t>
            </a:r>
            <a:r>
              <a:rPr sz="1400" b="1" dirty="0">
                <a:latin typeface="Times New Roman"/>
                <a:cs typeface="Times New Roman"/>
              </a:rPr>
              <a:t>Board</a:t>
            </a:r>
            <a:r>
              <a:rPr sz="1400" b="1" spc="-30" dirty="0">
                <a:latin typeface="Times New Roman"/>
                <a:cs typeface="Times New Roman"/>
              </a:rPr>
              <a:t> </a:t>
            </a:r>
            <a:r>
              <a:rPr sz="1400" b="1" dirty="0">
                <a:latin typeface="Times New Roman"/>
                <a:cs typeface="Times New Roman"/>
              </a:rPr>
              <a:t>Level</a:t>
            </a:r>
            <a:r>
              <a:rPr sz="1400" b="1" spc="-30" dirty="0">
                <a:latin typeface="Times New Roman"/>
                <a:cs typeface="Times New Roman"/>
              </a:rPr>
              <a:t> </a:t>
            </a:r>
            <a:r>
              <a:rPr sz="1400" b="1" dirty="0">
                <a:latin typeface="Times New Roman"/>
                <a:cs typeface="Times New Roman"/>
              </a:rPr>
              <a:t>Diagnostics:</a:t>
            </a:r>
            <a:r>
              <a:rPr sz="1400" b="1" spc="-30" dirty="0">
                <a:latin typeface="Times New Roman"/>
                <a:cs typeface="Times New Roman"/>
              </a:rPr>
              <a:t> </a:t>
            </a:r>
            <a:r>
              <a:rPr sz="1400" spc="-25" dirty="0">
                <a:latin typeface="Times New Roman"/>
                <a:cs typeface="Times New Roman"/>
              </a:rPr>
              <a:t>SCP</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SRI</a:t>
            </a:r>
            <a:r>
              <a:rPr sz="1400" b="1" spc="-25" dirty="0">
                <a:latin typeface="Times New Roman"/>
                <a:cs typeface="Times New Roman"/>
              </a:rPr>
              <a:t> </a:t>
            </a:r>
            <a:r>
              <a:rPr sz="1400" b="1" dirty="0">
                <a:latin typeface="Times New Roman"/>
                <a:cs typeface="Times New Roman"/>
              </a:rPr>
              <a:t>Datapaths:</a:t>
            </a:r>
            <a:r>
              <a:rPr sz="1400" b="1" spc="-35" dirty="0">
                <a:latin typeface="Times New Roman"/>
                <a:cs typeface="Times New Roman"/>
              </a:rPr>
              <a:t> </a:t>
            </a:r>
            <a:r>
              <a:rPr sz="1400" dirty="0">
                <a:latin typeface="Times New Roman"/>
                <a:cs typeface="Times New Roman"/>
              </a:rPr>
              <a:t>SRI</a:t>
            </a:r>
            <a:r>
              <a:rPr sz="1400" spc="-30" dirty="0">
                <a:latin typeface="Times New Roman"/>
                <a:cs typeface="Times New Roman"/>
              </a:rPr>
              <a:t> </a:t>
            </a:r>
            <a:r>
              <a:rPr sz="1400" dirty="0">
                <a:latin typeface="Times New Roman"/>
                <a:cs typeface="Times New Roman"/>
              </a:rPr>
              <a:t>SCP</a:t>
            </a:r>
            <a:r>
              <a:rPr sz="1400" spc="-25" dirty="0">
                <a:latin typeface="Times New Roman"/>
                <a:cs typeface="Times New Roman"/>
              </a:rPr>
              <a:t> </a:t>
            </a:r>
            <a:r>
              <a:rPr sz="1400" dirty="0">
                <a:latin typeface="Times New Roman"/>
                <a:cs typeface="Times New Roman"/>
              </a:rPr>
              <a:t>Loop</a:t>
            </a:r>
            <a:r>
              <a:rPr sz="1400" spc="-30" dirty="0">
                <a:latin typeface="Times New Roman"/>
                <a:cs typeface="Times New Roman"/>
              </a:rPr>
              <a:t> </a:t>
            </a:r>
            <a:r>
              <a:rPr sz="1400" dirty="0">
                <a:latin typeface="Times New Roman"/>
                <a:cs typeface="Times New Roman"/>
              </a:rPr>
              <a:t>Test,</a:t>
            </a:r>
            <a:r>
              <a:rPr sz="1400" spc="-30" dirty="0">
                <a:latin typeface="Times New Roman"/>
                <a:cs typeface="Times New Roman"/>
              </a:rPr>
              <a:t> </a:t>
            </a:r>
            <a:r>
              <a:rPr sz="1400" dirty="0">
                <a:latin typeface="Times New Roman"/>
                <a:cs typeface="Times New Roman"/>
              </a:rPr>
              <a:t>SRI</a:t>
            </a:r>
            <a:r>
              <a:rPr sz="1400" spc="-25" dirty="0">
                <a:latin typeface="Times New Roman"/>
                <a:cs typeface="Times New Roman"/>
              </a:rPr>
              <a:t> </a:t>
            </a:r>
            <a:r>
              <a:rPr sz="1400" dirty="0">
                <a:latin typeface="Times New Roman"/>
                <a:cs typeface="Times New Roman"/>
              </a:rPr>
              <a:t>STIF</a:t>
            </a:r>
            <a:r>
              <a:rPr sz="1400" spc="-30" dirty="0">
                <a:latin typeface="Times New Roman"/>
                <a:cs typeface="Times New Roman"/>
              </a:rPr>
              <a:t> </a:t>
            </a:r>
            <a:r>
              <a:rPr sz="1400" dirty="0">
                <a:latin typeface="Times New Roman"/>
                <a:cs typeface="Times New Roman"/>
              </a:rPr>
              <a:t>Loop</a:t>
            </a:r>
            <a:r>
              <a:rPr sz="1400" spc="-30" dirty="0">
                <a:latin typeface="Times New Roman"/>
                <a:cs typeface="Times New Roman"/>
              </a:rPr>
              <a:t> </a:t>
            </a:r>
            <a:r>
              <a:rPr sz="1400" spc="-20" dirty="0">
                <a:latin typeface="Times New Roman"/>
                <a:cs typeface="Times New Roman"/>
              </a:rPr>
              <a:t>Test</a:t>
            </a:r>
            <a:endParaRPr sz="1400">
              <a:latin typeface="Times New Roman"/>
              <a:cs typeface="Times New Roman"/>
            </a:endParaRPr>
          </a:p>
          <a:p>
            <a:pPr marL="158115" indent="-69850">
              <a:lnSpc>
                <a:spcPct val="100000"/>
              </a:lnSpc>
              <a:spcBef>
                <a:spcPts val="830"/>
              </a:spcBef>
              <a:buSzPct val="92857"/>
              <a:buFont typeface="Times New Roman"/>
              <a:buChar char="•"/>
              <a:tabLst>
                <a:tab pos="158115" algn="l"/>
              </a:tabLst>
            </a:pPr>
            <a:r>
              <a:rPr sz="1400" b="1" dirty="0">
                <a:latin typeface="Times New Roman"/>
                <a:cs typeface="Times New Roman"/>
              </a:rPr>
              <a:t>MGD</a:t>
            </a:r>
            <a:r>
              <a:rPr sz="1400" b="1" spc="-15" dirty="0">
                <a:latin typeface="Times New Roman"/>
                <a:cs typeface="Times New Roman"/>
              </a:rPr>
              <a:t> </a:t>
            </a:r>
            <a:r>
              <a:rPr sz="1400" b="1" dirty="0">
                <a:latin typeface="Times New Roman"/>
                <a:cs typeface="Times New Roman"/>
              </a:rPr>
              <a:t>Datapaths:</a:t>
            </a:r>
            <a:r>
              <a:rPr sz="1400" b="1" spc="-25" dirty="0">
                <a:latin typeface="Times New Roman"/>
                <a:cs typeface="Times New Roman"/>
              </a:rPr>
              <a:t> </a:t>
            </a:r>
            <a:r>
              <a:rPr sz="1400" dirty="0">
                <a:latin typeface="Times New Roman"/>
                <a:cs typeface="Times New Roman"/>
              </a:rPr>
              <a:t>SCP</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15" dirty="0">
                <a:latin typeface="Times New Roman"/>
                <a:cs typeface="Times New Roman"/>
              </a:rPr>
              <a:t> </a:t>
            </a:r>
            <a:r>
              <a:rPr sz="1400" spc="-25" dirty="0">
                <a:latin typeface="Times New Roman"/>
                <a:cs typeface="Times New Roman"/>
              </a:rPr>
              <a:t>CAN</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Host</a:t>
            </a:r>
            <a:r>
              <a:rPr sz="1400" b="1" spc="-40" dirty="0">
                <a:latin typeface="Times New Roman"/>
                <a:cs typeface="Times New Roman"/>
              </a:rPr>
              <a:t> </a:t>
            </a:r>
            <a:r>
              <a:rPr sz="1400" b="1" dirty="0">
                <a:latin typeface="Times New Roman"/>
                <a:cs typeface="Times New Roman"/>
              </a:rPr>
              <a:t>Datapath</a:t>
            </a:r>
            <a:r>
              <a:rPr sz="1400" b="1" spc="-30" dirty="0">
                <a:latin typeface="Times New Roman"/>
                <a:cs typeface="Times New Roman"/>
              </a:rPr>
              <a:t> </a:t>
            </a:r>
            <a:r>
              <a:rPr sz="1400" b="1" dirty="0">
                <a:latin typeface="Times New Roman"/>
                <a:cs typeface="Times New Roman"/>
              </a:rPr>
              <a:t>Diagnostics:</a:t>
            </a:r>
            <a:r>
              <a:rPr sz="1400" b="1" spc="-20" dirty="0">
                <a:latin typeface="Times New Roman"/>
                <a:cs typeface="Times New Roman"/>
              </a:rPr>
              <a:t> </a:t>
            </a:r>
            <a:r>
              <a:rPr sz="1400" dirty="0">
                <a:latin typeface="Times New Roman"/>
                <a:cs typeface="Times New Roman"/>
              </a:rPr>
              <a:t>Ping</a:t>
            </a:r>
            <a:r>
              <a:rPr sz="1400" spc="-3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5" dirty="0">
                <a:latin typeface="Times New Roman"/>
                <a:cs typeface="Times New Roman"/>
              </a:rPr>
              <a:t> SCP</a:t>
            </a:r>
            <a:endParaRPr sz="1400">
              <a:latin typeface="Times New Roman"/>
              <a:cs typeface="Times New Roman"/>
            </a:endParaRPr>
          </a:p>
        </p:txBody>
      </p:sp>
      <p:sp>
        <p:nvSpPr>
          <p:cNvPr id="11" name="object 11"/>
          <p:cNvSpPr txBox="1"/>
          <p:nvPr/>
        </p:nvSpPr>
        <p:spPr>
          <a:xfrm>
            <a:off x="1936495" y="609854"/>
            <a:ext cx="5124450" cy="375920"/>
          </a:xfrm>
          <a:prstGeom prst="rect">
            <a:avLst/>
          </a:prstGeom>
          <a:solidFill>
            <a:srgbClr val="FFFFFF"/>
          </a:solidFill>
          <a:ln w="9144">
            <a:solidFill>
              <a:srgbClr val="000000"/>
            </a:solidFill>
          </a:ln>
        </p:spPr>
        <p:txBody>
          <a:bodyPr vert="horz" wrap="square" lIns="0" tIns="42545" rIns="0" bIns="0" rtlCol="0">
            <a:spAutoFit/>
          </a:bodyPr>
          <a:lstStyle/>
          <a:p>
            <a:pPr marL="96520">
              <a:lnSpc>
                <a:spcPct val="100000"/>
              </a:lnSpc>
              <a:spcBef>
                <a:spcPts val="335"/>
              </a:spcBef>
            </a:pPr>
            <a:r>
              <a:rPr sz="1800" b="1" dirty="0">
                <a:latin typeface="Times New Roman"/>
                <a:cs typeface="Times New Roman"/>
              </a:rPr>
              <a:t>S</a:t>
            </a:r>
            <a:r>
              <a:rPr sz="1800" dirty="0">
                <a:latin typeface="Times New Roman"/>
                <a:cs typeface="Times New Roman"/>
              </a:rPr>
              <a:t>can</a:t>
            </a:r>
            <a:r>
              <a:rPr sz="1800" spc="-35" dirty="0">
                <a:latin typeface="Times New Roman"/>
                <a:cs typeface="Times New Roman"/>
              </a:rPr>
              <a:t> </a:t>
            </a:r>
            <a:r>
              <a:rPr sz="1800" b="1" dirty="0">
                <a:latin typeface="Times New Roman"/>
                <a:cs typeface="Times New Roman"/>
              </a:rPr>
              <a:t>C</a:t>
            </a:r>
            <a:r>
              <a:rPr sz="1800" dirty="0">
                <a:latin typeface="Times New Roman"/>
                <a:cs typeface="Times New Roman"/>
              </a:rPr>
              <a:t>ontrol</a:t>
            </a:r>
            <a:r>
              <a:rPr sz="1800" spc="-25" dirty="0">
                <a:latin typeface="Times New Roman"/>
                <a:cs typeface="Times New Roman"/>
              </a:rPr>
              <a:t> </a:t>
            </a:r>
            <a:r>
              <a:rPr sz="1800" b="1" dirty="0">
                <a:latin typeface="Times New Roman"/>
                <a:cs typeface="Times New Roman"/>
              </a:rPr>
              <a:t>P</a:t>
            </a:r>
            <a:r>
              <a:rPr sz="1800" dirty="0">
                <a:latin typeface="Times New Roman"/>
                <a:cs typeface="Times New Roman"/>
              </a:rPr>
              <a:t>rocessor</a:t>
            </a:r>
            <a:r>
              <a:rPr sz="1800" spc="-25" dirty="0">
                <a:latin typeface="Times New Roman"/>
                <a:cs typeface="Times New Roman"/>
              </a:rPr>
              <a:t> </a:t>
            </a:r>
            <a:r>
              <a:rPr sz="1800" dirty="0">
                <a:latin typeface="Times New Roman"/>
                <a:cs typeface="Times New Roman"/>
              </a:rPr>
              <a:t>(</a:t>
            </a:r>
            <a:r>
              <a:rPr sz="1800" b="1" dirty="0">
                <a:latin typeface="Times New Roman"/>
                <a:cs typeface="Times New Roman"/>
              </a:rPr>
              <a:t>SCP</a:t>
            </a:r>
            <a:r>
              <a:rPr sz="1800" dirty="0">
                <a:latin typeface="Times New Roman"/>
                <a:cs typeface="Times New Roman"/>
              </a:rPr>
              <a:t>)</a:t>
            </a:r>
            <a:r>
              <a:rPr sz="1800" spc="-25" dirty="0">
                <a:latin typeface="Times New Roman"/>
                <a:cs typeface="Times New Roman"/>
              </a:rPr>
              <a:t> </a:t>
            </a:r>
            <a:r>
              <a:rPr sz="1800" b="1" dirty="0">
                <a:latin typeface="Times New Roman"/>
                <a:cs typeface="Times New Roman"/>
              </a:rPr>
              <a:t>Board</a:t>
            </a:r>
            <a:r>
              <a:rPr sz="1800" b="1" spc="-25" dirty="0">
                <a:latin typeface="Times New Roman"/>
                <a:cs typeface="Times New Roman"/>
              </a:rPr>
              <a:t> </a:t>
            </a:r>
            <a:r>
              <a:rPr sz="1800" dirty="0">
                <a:latin typeface="Times New Roman"/>
                <a:cs typeface="Times New Roman"/>
              </a:rPr>
              <a:t>(Slot</a:t>
            </a:r>
            <a:r>
              <a:rPr sz="1800" spc="-25" dirty="0">
                <a:latin typeface="Times New Roman"/>
                <a:cs typeface="Times New Roman"/>
              </a:rPr>
              <a:t> </a:t>
            </a:r>
            <a:r>
              <a:rPr sz="1800" dirty="0">
                <a:latin typeface="Times New Roman"/>
                <a:cs typeface="Times New Roman"/>
              </a:rPr>
              <a:t>12</a:t>
            </a:r>
            <a:r>
              <a:rPr sz="1800" spc="-25" dirty="0">
                <a:latin typeface="Times New Roman"/>
                <a:cs typeface="Times New Roman"/>
              </a:rPr>
              <a:t> F)</a:t>
            </a:r>
            <a:endParaRPr sz="1800">
              <a:latin typeface="Times New Roman"/>
              <a:cs typeface="Times New Roman"/>
            </a:endParaRPr>
          </a:p>
        </p:txBody>
      </p:sp>
      <p:sp>
        <p:nvSpPr>
          <p:cNvPr id="12" name="object 12"/>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sp>
        <p:nvSpPr>
          <p:cNvPr id="13" name="object 13"/>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5" dirty="0">
                <a:latin typeface="Times New Roman"/>
                <a:cs typeface="Times New Roman"/>
              </a:rPr>
              <a:t> </a:t>
            </a:r>
            <a:r>
              <a:rPr sz="2000" b="1" dirty="0">
                <a:latin typeface="Times New Roman"/>
                <a:cs typeface="Times New Roman"/>
              </a:rPr>
              <a:t>Chassis</a:t>
            </a:r>
            <a:r>
              <a:rPr sz="2000" b="1" spc="-2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4" name="object 14"/>
          <p:cNvGrpSpPr/>
          <p:nvPr/>
        </p:nvGrpSpPr>
        <p:grpSpPr>
          <a:xfrm>
            <a:off x="7620254" y="-4572"/>
            <a:ext cx="1503045" cy="280670"/>
            <a:chOff x="7620254" y="-4572"/>
            <a:chExt cx="1503045" cy="280670"/>
          </a:xfrm>
        </p:grpSpPr>
        <p:sp>
          <p:nvSpPr>
            <p:cNvPr id="15" name="object 15"/>
            <p:cNvSpPr/>
            <p:nvPr/>
          </p:nvSpPr>
          <p:spPr>
            <a:xfrm>
              <a:off x="7624826" y="0"/>
              <a:ext cx="1494155" cy="271780"/>
            </a:xfrm>
            <a:custGeom>
              <a:avLst/>
              <a:gdLst/>
              <a:ahLst/>
              <a:cxnLst/>
              <a:rect l="l" t="t" r="r" b="b"/>
              <a:pathLst>
                <a:path w="1494154" h="271780">
                  <a:moveTo>
                    <a:pt x="0" y="0"/>
                  </a:moveTo>
                  <a:lnTo>
                    <a:pt x="0" y="271525"/>
                  </a:lnTo>
                  <a:lnTo>
                    <a:pt x="1493774" y="271525"/>
                  </a:lnTo>
                  <a:lnTo>
                    <a:pt x="1493774" y="0"/>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7624826" y="0"/>
              <a:ext cx="1494155" cy="271780"/>
            </a:xfrm>
            <a:custGeom>
              <a:avLst/>
              <a:gdLst/>
              <a:ahLst/>
              <a:cxnLst/>
              <a:rect l="l" t="t" r="r" b="b"/>
              <a:pathLst>
                <a:path w="1494154" h="271780">
                  <a:moveTo>
                    <a:pt x="0" y="0"/>
                  </a:moveTo>
                  <a:lnTo>
                    <a:pt x="0" y="271525"/>
                  </a:lnTo>
                  <a:lnTo>
                    <a:pt x="1493774" y="271525"/>
                  </a:lnTo>
                </a:path>
              </a:pathLst>
            </a:custGeom>
            <a:ln w="9144">
              <a:solidFill>
                <a:srgbClr val="000000"/>
              </a:solidFill>
            </a:ln>
          </p:spPr>
          <p:txBody>
            <a:bodyPr wrap="square" lIns="0" tIns="0" rIns="0" bIns="0" rtlCol="0"/>
            <a:lstStyle/>
            <a:p>
              <a:endParaRPr/>
            </a:p>
          </p:txBody>
        </p:sp>
      </p:grpSp>
      <p:sp>
        <p:nvSpPr>
          <p:cNvPr id="17" name="object 17"/>
          <p:cNvSpPr txBox="1"/>
          <p:nvPr/>
        </p:nvSpPr>
        <p:spPr>
          <a:xfrm>
            <a:off x="816610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62" y="250952"/>
            <a:ext cx="9128125" cy="6334125"/>
            <a:chOff x="-4762" y="250952"/>
            <a:chExt cx="9128125" cy="6334125"/>
          </a:xfrm>
        </p:grpSpPr>
        <p:pic>
          <p:nvPicPr>
            <p:cNvPr id="3" name="object 3"/>
            <p:cNvPicPr/>
            <p:nvPr/>
          </p:nvPicPr>
          <p:blipFill>
            <a:blip r:embed="rId2" cstate="print"/>
            <a:stretch>
              <a:fillRect/>
            </a:stretch>
          </p:blipFill>
          <p:spPr>
            <a:xfrm>
              <a:off x="225806" y="250952"/>
              <a:ext cx="8288781" cy="6214871"/>
            </a:xfrm>
            <a:prstGeom prst="rect">
              <a:avLst/>
            </a:prstGeom>
          </p:spPr>
        </p:pic>
        <p:sp>
          <p:nvSpPr>
            <p:cNvPr id="4" name="object 4"/>
            <p:cNvSpPr/>
            <p:nvPr/>
          </p:nvSpPr>
          <p:spPr>
            <a:xfrm>
              <a:off x="4629403" y="989329"/>
              <a:ext cx="722630" cy="1323340"/>
            </a:xfrm>
            <a:custGeom>
              <a:avLst/>
              <a:gdLst/>
              <a:ahLst/>
              <a:cxnLst/>
              <a:rect l="l" t="t" r="r" b="b"/>
              <a:pathLst>
                <a:path w="722629" h="1323339">
                  <a:moveTo>
                    <a:pt x="0" y="0"/>
                  </a:moveTo>
                  <a:lnTo>
                    <a:pt x="722376" y="1322832"/>
                  </a:lnTo>
                </a:path>
              </a:pathLst>
            </a:custGeom>
            <a:ln w="114299">
              <a:solidFill>
                <a:srgbClr val="FFFFFF"/>
              </a:solidFill>
            </a:ln>
          </p:spPr>
          <p:txBody>
            <a:bodyPr wrap="square" lIns="0" tIns="0" rIns="0" bIns="0" rtlCol="0"/>
            <a:lstStyle/>
            <a:p>
              <a:endParaRPr/>
            </a:p>
          </p:txBody>
        </p:sp>
        <p:sp>
          <p:nvSpPr>
            <p:cNvPr id="5" name="object 5"/>
            <p:cNvSpPr/>
            <p:nvPr/>
          </p:nvSpPr>
          <p:spPr>
            <a:xfrm>
              <a:off x="5190997" y="2223769"/>
              <a:ext cx="333375" cy="405130"/>
            </a:xfrm>
            <a:custGeom>
              <a:avLst/>
              <a:gdLst/>
              <a:ahLst/>
              <a:cxnLst/>
              <a:rect l="l" t="t" r="r" b="b"/>
              <a:pathLst>
                <a:path w="333375" h="405130">
                  <a:moveTo>
                    <a:pt x="332993" y="404622"/>
                  </a:moveTo>
                  <a:lnTo>
                    <a:pt x="317753" y="0"/>
                  </a:lnTo>
                  <a:lnTo>
                    <a:pt x="0" y="172974"/>
                  </a:lnTo>
                  <a:lnTo>
                    <a:pt x="332993" y="404622"/>
                  </a:lnTo>
                  <a:close/>
                </a:path>
              </a:pathLst>
            </a:custGeom>
            <a:solidFill>
              <a:srgbClr val="FFFFFF"/>
            </a:solidFill>
          </p:spPr>
          <p:txBody>
            <a:bodyPr wrap="square" lIns="0" tIns="0" rIns="0" bIns="0" rtlCol="0"/>
            <a:lstStyle/>
            <a:p>
              <a:endParaRPr/>
            </a:p>
          </p:txBody>
        </p:sp>
        <p:sp>
          <p:nvSpPr>
            <p:cNvPr id="6" name="object 6"/>
            <p:cNvSpPr/>
            <p:nvPr/>
          </p:nvSpPr>
          <p:spPr>
            <a:xfrm>
              <a:off x="4614926" y="992378"/>
              <a:ext cx="748030" cy="1370965"/>
            </a:xfrm>
            <a:custGeom>
              <a:avLst/>
              <a:gdLst/>
              <a:ahLst/>
              <a:cxnLst/>
              <a:rect l="l" t="t" r="r" b="b"/>
              <a:pathLst>
                <a:path w="748029" h="1370964">
                  <a:moveTo>
                    <a:pt x="0" y="0"/>
                  </a:moveTo>
                  <a:lnTo>
                    <a:pt x="747522" y="1370838"/>
                  </a:lnTo>
                </a:path>
              </a:pathLst>
            </a:custGeom>
            <a:ln w="60198">
              <a:solidFill>
                <a:srgbClr val="000000"/>
              </a:solidFill>
            </a:ln>
          </p:spPr>
          <p:txBody>
            <a:bodyPr wrap="square" lIns="0" tIns="0" rIns="0" bIns="0" rtlCol="0"/>
            <a:lstStyle/>
            <a:p>
              <a:endParaRPr/>
            </a:p>
          </p:txBody>
        </p:sp>
        <p:sp>
          <p:nvSpPr>
            <p:cNvPr id="7" name="object 7"/>
            <p:cNvSpPr/>
            <p:nvPr/>
          </p:nvSpPr>
          <p:spPr>
            <a:xfrm>
              <a:off x="5261102" y="2307590"/>
              <a:ext cx="208279" cy="254000"/>
            </a:xfrm>
            <a:custGeom>
              <a:avLst/>
              <a:gdLst/>
              <a:ahLst/>
              <a:cxnLst/>
              <a:rect l="l" t="t" r="r" b="b"/>
              <a:pathLst>
                <a:path w="208279" h="254000">
                  <a:moveTo>
                    <a:pt x="208025" y="253746"/>
                  </a:moveTo>
                  <a:lnTo>
                    <a:pt x="199644" y="0"/>
                  </a:lnTo>
                  <a:lnTo>
                    <a:pt x="0" y="108204"/>
                  </a:lnTo>
                  <a:lnTo>
                    <a:pt x="208025" y="253746"/>
                  </a:lnTo>
                  <a:close/>
                </a:path>
              </a:pathLst>
            </a:custGeom>
            <a:solidFill>
              <a:srgbClr val="000000"/>
            </a:solidFill>
          </p:spPr>
          <p:txBody>
            <a:bodyPr wrap="square" lIns="0" tIns="0" rIns="0" bIns="0" rtlCol="0"/>
            <a:lstStyle/>
            <a:p>
              <a:endParaRPr/>
            </a:p>
          </p:txBody>
        </p:sp>
        <p:sp>
          <p:nvSpPr>
            <p:cNvPr id="8" name="object 8"/>
            <p:cNvSpPr/>
            <p:nvPr/>
          </p:nvSpPr>
          <p:spPr>
            <a:xfrm>
              <a:off x="0" y="1162304"/>
              <a:ext cx="4494530" cy="3719829"/>
            </a:xfrm>
            <a:custGeom>
              <a:avLst/>
              <a:gdLst/>
              <a:ahLst/>
              <a:cxnLst/>
              <a:rect l="l" t="t" r="r" b="b"/>
              <a:pathLst>
                <a:path w="4494530" h="3719829">
                  <a:moveTo>
                    <a:pt x="4494529" y="3719322"/>
                  </a:moveTo>
                  <a:lnTo>
                    <a:pt x="4494529" y="0"/>
                  </a:lnTo>
                  <a:lnTo>
                    <a:pt x="0" y="0"/>
                  </a:lnTo>
                  <a:lnTo>
                    <a:pt x="0" y="3719322"/>
                  </a:lnTo>
                  <a:lnTo>
                    <a:pt x="4494529" y="3719322"/>
                  </a:lnTo>
                  <a:close/>
                </a:path>
              </a:pathLst>
            </a:custGeom>
            <a:solidFill>
              <a:srgbClr val="FFFFFF"/>
            </a:solidFill>
          </p:spPr>
          <p:txBody>
            <a:bodyPr wrap="square" lIns="0" tIns="0" rIns="0" bIns="0" rtlCol="0"/>
            <a:lstStyle/>
            <a:p>
              <a:endParaRPr/>
            </a:p>
          </p:txBody>
        </p:sp>
        <p:sp>
          <p:nvSpPr>
            <p:cNvPr id="9" name="object 9"/>
            <p:cNvSpPr/>
            <p:nvPr/>
          </p:nvSpPr>
          <p:spPr>
            <a:xfrm>
              <a:off x="0" y="1162304"/>
              <a:ext cx="4494530" cy="3719829"/>
            </a:xfrm>
            <a:custGeom>
              <a:avLst/>
              <a:gdLst/>
              <a:ahLst/>
              <a:cxnLst/>
              <a:rect l="l" t="t" r="r" b="b"/>
              <a:pathLst>
                <a:path w="4494530" h="3719829">
                  <a:moveTo>
                    <a:pt x="4494530" y="3719322"/>
                  </a:moveTo>
                  <a:lnTo>
                    <a:pt x="4494530" y="0"/>
                  </a:lnTo>
                  <a:lnTo>
                    <a:pt x="0" y="0"/>
                  </a:lnTo>
                </a:path>
                <a:path w="4494530" h="3719829">
                  <a:moveTo>
                    <a:pt x="0" y="3719322"/>
                  </a:moveTo>
                  <a:lnTo>
                    <a:pt x="4494530" y="3719322"/>
                  </a:lnTo>
                </a:path>
              </a:pathLst>
            </a:custGeom>
            <a:ln w="9144">
              <a:solidFill>
                <a:srgbClr val="000000"/>
              </a:solidFill>
            </a:ln>
          </p:spPr>
          <p:txBody>
            <a:bodyPr wrap="square" lIns="0" tIns="0" rIns="0" bIns="0" rtlCol="0"/>
            <a:lstStyle/>
            <a:p>
              <a:endParaRPr/>
            </a:p>
          </p:txBody>
        </p:sp>
        <p:sp>
          <p:nvSpPr>
            <p:cNvPr id="10" name="object 10"/>
            <p:cNvSpPr/>
            <p:nvPr/>
          </p:nvSpPr>
          <p:spPr>
            <a:xfrm>
              <a:off x="0" y="5415026"/>
              <a:ext cx="4288155" cy="1165225"/>
            </a:xfrm>
            <a:custGeom>
              <a:avLst/>
              <a:gdLst/>
              <a:ahLst/>
              <a:cxnLst/>
              <a:rect l="l" t="t" r="r" b="b"/>
              <a:pathLst>
                <a:path w="4288155" h="1165225">
                  <a:moveTo>
                    <a:pt x="4288028" y="1165098"/>
                  </a:moveTo>
                  <a:lnTo>
                    <a:pt x="4288028" y="0"/>
                  </a:lnTo>
                  <a:lnTo>
                    <a:pt x="0" y="0"/>
                  </a:lnTo>
                  <a:lnTo>
                    <a:pt x="0" y="1165098"/>
                  </a:lnTo>
                  <a:lnTo>
                    <a:pt x="4288028" y="1165098"/>
                  </a:lnTo>
                  <a:close/>
                </a:path>
              </a:pathLst>
            </a:custGeom>
            <a:solidFill>
              <a:srgbClr val="FFFFFF"/>
            </a:solidFill>
          </p:spPr>
          <p:txBody>
            <a:bodyPr wrap="square" lIns="0" tIns="0" rIns="0" bIns="0" rtlCol="0"/>
            <a:lstStyle/>
            <a:p>
              <a:endParaRPr/>
            </a:p>
          </p:txBody>
        </p:sp>
        <p:sp>
          <p:nvSpPr>
            <p:cNvPr id="11" name="object 11"/>
            <p:cNvSpPr/>
            <p:nvPr/>
          </p:nvSpPr>
          <p:spPr>
            <a:xfrm>
              <a:off x="0" y="5415026"/>
              <a:ext cx="4288155" cy="1165225"/>
            </a:xfrm>
            <a:custGeom>
              <a:avLst/>
              <a:gdLst/>
              <a:ahLst/>
              <a:cxnLst/>
              <a:rect l="l" t="t" r="r" b="b"/>
              <a:pathLst>
                <a:path w="4288155" h="1165225">
                  <a:moveTo>
                    <a:pt x="4288028" y="1165098"/>
                  </a:moveTo>
                  <a:lnTo>
                    <a:pt x="4288027" y="0"/>
                  </a:lnTo>
                  <a:lnTo>
                    <a:pt x="0" y="0"/>
                  </a:lnTo>
                </a:path>
                <a:path w="4288155" h="1165225">
                  <a:moveTo>
                    <a:pt x="0" y="1165098"/>
                  </a:moveTo>
                  <a:lnTo>
                    <a:pt x="4288028" y="1165098"/>
                  </a:lnTo>
                </a:path>
              </a:pathLst>
            </a:custGeom>
            <a:ln w="9144">
              <a:solidFill>
                <a:srgbClr val="000000"/>
              </a:solidFill>
            </a:ln>
          </p:spPr>
          <p:txBody>
            <a:bodyPr wrap="square" lIns="0" tIns="0" rIns="0" bIns="0" rtlCol="0"/>
            <a:lstStyle/>
            <a:p>
              <a:endParaRPr/>
            </a:p>
          </p:txBody>
        </p:sp>
        <p:sp>
          <p:nvSpPr>
            <p:cNvPr id="12" name="object 12"/>
            <p:cNvSpPr/>
            <p:nvPr/>
          </p:nvSpPr>
          <p:spPr>
            <a:xfrm>
              <a:off x="0" y="615950"/>
              <a:ext cx="9118600" cy="376555"/>
            </a:xfrm>
            <a:custGeom>
              <a:avLst/>
              <a:gdLst/>
              <a:ahLst/>
              <a:cxnLst/>
              <a:rect l="l" t="t" r="r" b="b"/>
              <a:pathLst>
                <a:path w="9118600" h="376555">
                  <a:moveTo>
                    <a:pt x="0" y="0"/>
                  </a:moveTo>
                  <a:lnTo>
                    <a:pt x="0" y="376428"/>
                  </a:lnTo>
                  <a:lnTo>
                    <a:pt x="9118600" y="376428"/>
                  </a:lnTo>
                  <a:lnTo>
                    <a:pt x="9118600" y="0"/>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0" y="615950"/>
              <a:ext cx="9118600" cy="376555"/>
            </a:xfrm>
            <a:custGeom>
              <a:avLst/>
              <a:gdLst/>
              <a:ahLst/>
              <a:cxnLst/>
              <a:rect l="l" t="t" r="r" b="b"/>
              <a:pathLst>
                <a:path w="9118600" h="376555">
                  <a:moveTo>
                    <a:pt x="9118600" y="0"/>
                  </a:moveTo>
                  <a:lnTo>
                    <a:pt x="0" y="0"/>
                  </a:lnTo>
                </a:path>
                <a:path w="9118600" h="376555">
                  <a:moveTo>
                    <a:pt x="0" y="376428"/>
                  </a:moveTo>
                  <a:lnTo>
                    <a:pt x="9118600" y="376428"/>
                  </a:lnTo>
                </a:path>
              </a:pathLst>
            </a:custGeom>
            <a:ln w="9144">
              <a:solidFill>
                <a:srgbClr val="000000"/>
              </a:solidFill>
            </a:ln>
          </p:spPr>
          <p:txBody>
            <a:bodyPr wrap="square" lIns="0" tIns="0" rIns="0" bIns="0" rtlCol="0"/>
            <a:lstStyle/>
            <a:p>
              <a:endParaRPr/>
            </a:p>
          </p:txBody>
        </p:sp>
      </p:grpSp>
      <p:sp>
        <p:nvSpPr>
          <p:cNvPr id="14" name="object 14"/>
          <p:cNvSpPr txBox="1"/>
          <p:nvPr/>
        </p:nvSpPr>
        <p:spPr>
          <a:xfrm>
            <a:off x="71372" y="645921"/>
            <a:ext cx="8918575" cy="5890260"/>
          </a:xfrm>
          <a:prstGeom prst="rect">
            <a:avLst/>
          </a:prstGeom>
        </p:spPr>
        <p:txBody>
          <a:bodyPr vert="horz" wrap="square" lIns="0" tIns="12700" rIns="0" bIns="0" rtlCol="0">
            <a:spAutoFit/>
          </a:bodyPr>
          <a:lstStyle/>
          <a:p>
            <a:pPr marL="68580">
              <a:lnSpc>
                <a:spcPct val="100000"/>
              </a:lnSpc>
              <a:spcBef>
                <a:spcPts val="100"/>
              </a:spcBef>
            </a:pPr>
            <a:r>
              <a:rPr sz="1800" b="1" dirty="0">
                <a:latin typeface="Times New Roman"/>
                <a:cs typeface="Times New Roman"/>
              </a:rPr>
              <a:t>S</a:t>
            </a:r>
            <a:r>
              <a:rPr sz="1800" dirty="0">
                <a:latin typeface="Times New Roman"/>
                <a:cs typeface="Times New Roman"/>
              </a:rPr>
              <a:t>equence</a:t>
            </a:r>
            <a:r>
              <a:rPr sz="1800" spc="-40" dirty="0">
                <a:latin typeface="Times New Roman"/>
                <a:cs typeface="Times New Roman"/>
              </a:rPr>
              <a:t> </a:t>
            </a:r>
            <a:r>
              <a:rPr sz="1800" b="1" dirty="0">
                <a:latin typeface="Times New Roman"/>
                <a:cs typeface="Times New Roman"/>
              </a:rPr>
              <a:t>R</a:t>
            </a:r>
            <a:r>
              <a:rPr sz="1800" dirty="0">
                <a:latin typeface="Times New Roman"/>
                <a:cs typeface="Times New Roman"/>
              </a:rPr>
              <a:t>elated</a:t>
            </a:r>
            <a:r>
              <a:rPr sz="1800" spc="-35" dirty="0">
                <a:latin typeface="Times New Roman"/>
                <a:cs typeface="Times New Roman"/>
              </a:rPr>
              <a:t> </a:t>
            </a:r>
            <a:r>
              <a:rPr sz="1800" b="1" dirty="0">
                <a:latin typeface="Times New Roman"/>
                <a:cs typeface="Times New Roman"/>
              </a:rPr>
              <a:t>F</a:t>
            </a:r>
            <a:r>
              <a:rPr sz="1800" dirty="0">
                <a:latin typeface="Times New Roman"/>
                <a:cs typeface="Times New Roman"/>
              </a:rPr>
              <a:t>unctions</a:t>
            </a:r>
            <a:r>
              <a:rPr sz="1800" spc="-35" dirty="0">
                <a:latin typeface="Times New Roman"/>
                <a:cs typeface="Times New Roman"/>
              </a:rPr>
              <a:t> </a:t>
            </a:r>
            <a:r>
              <a:rPr sz="1800" b="1" dirty="0">
                <a:latin typeface="Times New Roman"/>
                <a:cs typeface="Times New Roman"/>
              </a:rPr>
              <a:t>/</a:t>
            </a:r>
            <a:r>
              <a:rPr sz="1800" b="1" spc="-35" dirty="0">
                <a:latin typeface="Times New Roman"/>
                <a:cs typeface="Times New Roman"/>
              </a:rPr>
              <a:t> </a:t>
            </a:r>
            <a:r>
              <a:rPr sz="1800" b="1" dirty="0">
                <a:latin typeface="Times New Roman"/>
                <a:cs typeface="Times New Roman"/>
              </a:rPr>
              <a:t>T</a:t>
            </a:r>
            <a:r>
              <a:rPr sz="1800" dirty="0">
                <a:latin typeface="Times New Roman"/>
                <a:cs typeface="Times New Roman"/>
              </a:rPr>
              <a:t>rigger</a:t>
            </a:r>
            <a:r>
              <a:rPr sz="1800" spc="-35" dirty="0">
                <a:latin typeface="Times New Roman"/>
                <a:cs typeface="Times New Roman"/>
              </a:rPr>
              <a:t> </a:t>
            </a:r>
            <a:r>
              <a:rPr sz="1800" b="1" dirty="0">
                <a:latin typeface="Times New Roman"/>
                <a:cs typeface="Times New Roman"/>
              </a:rPr>
              <a:t>&amp;</a:t>
            </a:r>
            <a:r>
              <a:rPr sz="1800" b="1" spc="-30" dirty="0">
                <a:latin typeface="Times New Roman"/>
                <a:cs typeface="Times New Roman"/>
              </a:rPr>
              <a:t> </a:t>
            </a:r>
            <a:r>
              <a:rPr sz="1800" b="1" dirty="0">
                <a:latin typeface="Times New Roman"/>
                <a:cs typeface="Times New Roman"/>
              </a:rPr>
              <a:t>R</a:t>
            </a:r>
            <a:r>
              <a:rPr sz="1800" dirty="0">
                <a:latin typeface="Times New Roman"/>
                <a:cs typeface="Times New Roman"/>
              </a:rPr>
              <a:t>otational</a:t>
            </a:r>
            <a:r>
              <a:rPr sz="1800" spc="-35" dirty="0">
                <a:latin typeface="Times New Roman"/>
                <a:cs typeface="Times New Roman"/>
              </a:rPr>
              <a:t> </a:t>
            </a:r>
            <a:r>
              <a:rPr sz="1800" b="1" dirty="0">
                <a:latin typeface="Times New Roman"/>
                <a:cs typeface="Times New Roman"/>
              </a:rPr>
              <a:t>F</a:t>
            </a:r>
            <a:r>
              <a:rPr sz="1800" dirty="0">
                <a:latin typeface="Times New Roman"/>
                <a:cs typeface="Times New Roman"/>
              </a:rPr>
              <a:t>unctions</a:t>
            </a:r>
            <a:r>
              <a:rPr sz="1800" spc="-30" dirty="0">
                <a:latin typeface="Times New Roman"/>
                <a:cs typeface="Times New Roman"/>
              </a:rPr>
              <a:t> </a:t>
            </a:r>
            <a:r>
              <a:rPr sz="1800" dirty="0">
                <a:latin typeface="Times New Roman"/>
                <a:cs typeface="Times New Roman"/>
              </a:rPr>
              <a:t>(</a:t>
            </a:r>
            <a:r>
              <a:rPr sz="1800" b="1" dirty="0">
                <a:latin typeface="Times New Roman"/>
                <a:cs typeface="Times New Roman"/>
              </a:rPr>
              <a:t>SRF/TRF</a:t>
            </a:r>
            <a:r>
              <a:rPr sz="1800" dirty="0">
                <a:latin typeface="Times New Roman"/>
                <a:cs typeface="Times New Roman"/>
              </a:rPr>
              <a:t>)</a:t>
            </a:r>
            <a:r>
              <a:rPr sz="1800" spc="-35" dirty="0">
                <a:latin typeface="Times New Roman"/>
                <a:cs typeface="Times New Roman"/>
              </a:rPr>
              <a:t> </a:t>
            </a:r>
            <a:r>
              <a:rPr sz="1800" b="1" dirty="0">
                <a:latin typeface="Times New Roman"/>
                <a:cs typeface="Times New Roman"/>
              </a:rPr>
              <a:t>Board</a:t>
            </a:r>
            <a:r>
              <a:rPr sz="1800" b="1" spc="-35" dirty="0">
                <a:latin typeface="Times New Roman"/>
                <a:cs typeface="Times New Roman"/>
              </a:rPr>
              <a:t> </a:t>
            </a:r>
            <a:r>
              <a:rPr sz="1600" dirty="0">
                <a:latin typeface="Times New Roman"/>
                <a:cs typeface="Times New Roman"/>
              </a:rPr>
              <a:t>(Slots</a:t>
            </a:r>
            <a:r>
              <a:rPr sz="1600" spc="-35" dirty="0">
                <a:latin typeface="Times New Roman"/>
                <a:cs typeface="Times New Roman"/>
              </a:rPr>
              <a:t> </a:t>
            </a:r>
            <a:r>
              <a:rPr sz="1600" dirty="0">
                <a:latin typeface="Times New Roman"/>
                <a:cs typeface="Times New Roman"/>
              </a:rPr>
              <a:t>13,14</a:t>
            </a:r>
            <a:r>
              <a:rPr sz="1600" spc="-30" dirty="0">
                <a:latin typeface="Times New Roman"/>
                <a:cs typeface="Times New Roman"/>
              </a:rPr>
              <a:t> </a:t>
            </a:r>
            <a:r>
              <a:rPr sz="1600" spc="-25" dirty="0">
                <a:latin typeface="Times New Roman"/>
                <a:cs typeface="Times New Roman"/>
              </a:rPr>
              <a:t>F)</a:t>
            </a:r>
            <a:endParaRPr sz="1600">
              <a:latin typeface="Times New Roman"/>
              <a:cs typeface="Times New Roman"/>
            </a:endParaRPr>
          </a:p>
          <a:p>
            <a:pPr>
              <a:lnSpc>
                <a:spcPct val="100000"/>
              </a:lnSpc>
              <a:spcBef>
                <a:spcPts val="85"/>
              </a:spcBef>
            </a:pPr>
            <a:endParaRPr sz="1800">
              <a:latin typeface="Times New Roman"/>
              <a:cs typeface="Times New Roman"/>
            </a:endParaRPr>
          </a:p>
          <a:p>
            <a:pPr marL="12700" marR="4648835">
              <a:lnSpc>
                <a:spcPct val="100000"/>
              </a:lnSpc>
            </a:pPr>
            <a:r>
              <a:rPr sz="1400" dirty="0">
                <a:latin typeface="Times New Roman"/>
                <a:cs typeface="Times New Roman"/>
              </a:rPr>
              <a:t>This</a:t>
            </a:r>
            <a:r>
              <a:rPr sz="1400" spc="-25" dirty="0">
                <a:latin typeface="Times New Roman"/>
                <a:cs typeface="Times New Roman"/>
              </a:rPr>
              <a:t> </a:t>
            </a:r>
            <a:r>
              <a:rPr sz="1400" dirty="0">
                <a:latin typeface="Times New Roman"/>
                <a:cs typeface="Times New Roman"/>
              </a:rPr>
              <a:t>two-board</a:t>
            </a:r>
            <a:r>
              <a:rPr sz="1400" spc="-25" dirty="0">
                <a:latin typeface="Times New Roman"/>
                <a:cs typeface="Times New Roman"/>
              </a:rPr>
              <a:t> </a:t>
            </a:r>
            <a:r>
              <a:rPr sz="1400" dirty="0">
                <a:latin typeface="Times New Roman"/>
                <a:cs typeface="Times New Roman"/>
              </a:rPr>
              <a:t>assembly</a:t>
            </a:r>
            <a:r>
              <a:rPr sz="1400" spc="-25" dirty="0">
                <a:latin typeface="Times New Roman"/>
                <a:cs typeface="Times New Roman"/>
              </a:rPr>
              <a:t> </a:t>
            </a:r>
            <a:r>
              <a:rPr sz="1400" dirty="0">
                <a:latin typeface="Times New Roman"/>
                <a:cs typeface="Times New Roman"/>
              </a:rPr>
              <a:t>generates</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digital</a:t>
            </a:r>
            <a:r>
              <a:rPr sz="1400" spc="-20" dirty="0">
                <a:latin typeface="Times New Roman"/>
                <a:cs typeface="Times New Roman"/>
              </a:rPr>
              <a:t> </a:t>
            </a:r>
            <a:r>
              <a:rPr sz="1400" dirty="0">
                <a:latin typeface="Times New Roman"/>
                <a:cs typeface="Times New Roman"/>
              </a:rPr>
              <a:t>data</a:t>
            </a:r>
            <a:r>
              <a:rPr sz="1400" spc="-20" dirty="0">
                <a:latin typeface="Times New Roman"/>
                <a:cs typeface="Times New Roman"/>
              </a:rPr>
              <a:t> </a:t>
            </a:r>
            <a:r>
              <a:rPr sz="1400" spc="-10" dirty="0">
                <a:latin typeface="Times New Roman"/>
                <a:cs typeface="Times New Roman"/>
              </a:rPr>
              <a:t>needed </a:t>
            </a:r>
            <a:r>
              <a:rPr sz="1400" dirty="0">
                <a:latin typeface="Times New Roman"/>
                <a:cs typeface="Times New Roman"/>
              </a:rPr>
              <a:t>for</a:t>
            </a:r>
            <a:r>
              <a:rPr sz="1400" spc="-35" dirty="0">
                <a:latin typeface="Times New Roman"/>
                <a:cs typeface="Times New Roman"/>
              </a:rPr>
              <a:t> </a:t>
            </a:r>
            <a:r>
              <a:rPr sz="1400" dirty="0">
                <a:latin typeface="Times New Roman"/>
                <a:cs typeface="Times New Roman"/>
              </a:rPr>
              <a:t>producing</a:t>
            </a:r>
            <a:r>
              <a:rPr sz="1400" spc="-3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RF</a:t>
            </a:r>
            <a:r>
              <a:rPr sz="1400" spc="-30"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gradient</a:t>
            </a:r>
            <a:r>
              <a:rPr sz="1400" spc="-25" dirty="0">
                <a:latin typeface="Times New Roman"/>
                <a:cs typeface="Times New Roman"/>
              </a:rPr>
              <a:t> </a:t>
            </a:r>
            <a:r>
              <a:rPr sz="1400" dirty="0">
                <a:latin typeface="Times New Roman"/>
                <a:cs typeface="Times New Roman"/>
              </a:rPr>
              <a:t>waveforms</a:t>
            </a:r>
            <a:r>
              <a:rPr sz="1400" spc="-30" dirty="0">
                <a:latin typeface="Times New Roman"/>
                <a:cs typeface="Times New Roman"/>
              </a:rPr>
              <a:t> </a:t>
            </a:r>
            <a:r>
              <a:rPr sz="1400" dirty="0">
                <a:latin typeface="Times New Roman"/>
                <a:cs typeface="Times New Roman"/>
              </a:rPr>
              <a:t>necessary</a:t>
            </a:r>
            <a:r>
              <a:rPr sz="1400" spc="-25" dirty="0">
                <a:latin typeface="Times New Roman"/>
                <a:cs typeface="Times New Roman"/>
              </a:rPr>
              <a:t> for </a:t>
            </a:r>
            <a:r>
              <a:rPr sz="1400" dirty="0">
                <a:latin typeface="Times New Roman"/>
                <a:cs typeface="Times New Roman"/>
              </a:rPr>
              <a:t>scanning.</a:t>
            </a:r>
            <a:r>
              <a:rPr sz="1400" spc="290" dirty="0">
                <a:latin typeface="Times New Roman"/>
                <a:cs typeface="Times New Roman"/>
              </a:rPr>
              <a:t> </a:t>
            </a:r>
            <a:r>
              <a:rPr sz="1400" dirty="0">
                <a:latin typeface="Times New Roman"/>
                <a:cs typeface="Times New Roman"/>
              </a:rPr>
              <a:t>It</a:t>
            </a:r>
            <a:r>
              <a:rPr sz="1400" spc="-30" dirty="0">
                <a:latin typeface="Times New Roman"/>
                <a:cs typeface="Times New Roman"/>
              </a:rPr>
              <a:t> </a:t>
            </a:r>
            <a:r>
              <a:rPr sz="1400" dirty="0">
                <a:latin typeface="Times New Roman"/>
                <a:cs typeface="Times New Roman"/>
              </a:rPr>
              <a:t>also</a:t>
            </a:r>
            <a:r>
              <a:rPr sz="1400" spc="-30" dirty="0">
                <a:latin typeface="Times New Roman"/>
                <a:cs typeface="Times New Roman"/>
              </a:rPr>
              <a:t> </a:t>
            </a:r>
            <a:r>
              <a:rPr sz="1400" dirty="0">
                <a:latin typeface="Times New Roman"/>
                <a:cs typeface="Times New Roman"/>
              </a:rPr>
              <a:t>provides</a:t>
            </a:r>
            <a:r>
              <a:rPr sz="1400" spc="-30" dirty="0">
                <a:latin typeface="Times New Roman"/>
                <a:cs typeface="Times New Roman"/>
              </a:rPr>
              <a:t> </a:t>
            </a:r>
            <a:r>
              <a:rPr sz="1400" dirty="0">
                <a:latin typeface="Times New Roman"/>
                <a:cs typeface="Times New Roman"/>
              </a:rPr>
              <a:t>these</a:t>
            </a:r>
            <a:r>
              <a:rPr sz="1400" spc="-30" dirty="0">
                <a:latin typeface="Times New Roman"/>
                <a:cs typeface="Times New Roman"/>
              </a:rPr>
              <a:t> </a:t>
            </a:r>
            <a:r>
              <a:rPr sz="1400" spc="-10" dirty="0">
                <a:latin typeface="Times New Roman"/>
                <a:cs typeface="Times New Roman"/>
              </a:rPr>
              <a:t>functions:</a:t>
            </a:r>
            <a:endParaRPr sz="1400">
              <a:latin typeface="Times New Roman"/>
              <a:cs typeface="Times New Roman"/>
            </a:endParaRPr>
          </a:p>
          <a:p>
            <a:pPr marL="12700">
              <a:lnSpc>
                <a:spcPct val="100000"/>
              </a:lnSpc>
              <a:spcBef>
                <a:spcPts val="415"/>
              </a:spcBef>
            </a:pPr>
            <a:r>
              <a:rPr sz="1400" dirty="0">
                <a:latin typeface="Times New Roman"/>
                <a:cs typeface="Times New Roman"/>
              </a:rPr>
              <a:t>•Oblique</a:t>
            </a:r>
            <a:r>
              <a:rPr sz="1400" spc="-45" dirty="0">
                <a:latin typeface="Times New Roman"/>
                <a:cs typeface="Times New Roman"/>
              </a:rPr>
              <a:t> </a:t>
            </a:r>
            <a:r>
              <a:rPr sz="1400" dirty="0">
                <a:latin typeface="Times New Roman"/>
                <a:cs typeface="Times New Roman"/>
              </a:rPr>
              <a:t>Plane</a:t>
            </a:r>
            <a:r>
              <a:rPr sz="1400" spc="-40" dirty="0">
                <a:latin typeface="Times New Roman"/>
                <a:cs typeface="Times New Roman"/>
              </a:rPr>
              <a:t> </a:t>
            </a:r>
            <a:r>
              <a:rPr sz="1400" dirty="0">
                <a:latin typeface="Times New Roman"/>
                <a:cs typeface="Times New Roman"/>
              </a:rPr>
              <a:t>Imaging</a:t>
            </a:r>
            <a:r>
              <a:rPr sz="1400" spc="-40" dirty="0">
                <a:latin typeface="Times New Roman"/>
                <a:cs typeface="Times New Roman"/>
              </a:rPr>
              <a:t> </a:t>
            </a:r>
            <a:r>
              <a:rPr sz="1400" dirty="0">
                <a:latin typeface="Times New Roman"/>
                <a:cs typeface="Times New Roman"/>
              </a:rPr>
              <a:t>rotation</a:t>
            </a:r>
            <a:r>
              <a:rPr sz="1400" spc="-35" dirty="0">
                <a:latin typeface="Times New Roman"/>
                <a:cs typeface="Times New Roman"/>
              </a:rPr>
              <a:t> </a:t>
            </a:r>
            <a:r>
              <a:rPr sz="1400" dirty="0">
                <a:latin typeface="Times New Roman"/>
                <a:cs typeface="Times New Roman"/>
              </a:rPr>
              <a:t>algorithm</a:t>
            </a:r>
            <a:r>
              <a:rPr sz="1400" spc="-45" dirty="0">
                <a:latin typeface="Times New Roman"/>
                <a:cs typeface="Times New Roman"/>
              </a:rPr>
              <a:t> </a:t>
            </a:r>
            <a:r>
              <a:rPr sz="1400" spc="-10" dirty="0">
                <a:latin typeface="Times New Roman"/>
                <a:cs typeface="Times New Roman"/>
              </a:rPr>
              <a:t>(WARP/TRF)</a:t>
            </a:r>
            <a:endParaRPr sz="1400">
              <a:latin typeface="Times New Roman"/>
              <a:cs typeface="Times New Roman"/>
            </a:endParaRPr>
          </a:p>
          <a:p>
            <a:pPr marL="12700">
              <a:lnSpc>
                <a:spcPct val="100000"/>
              </a:lnSpc>
              <a:spcBef>
                <a:spcPts val="335"/>
              </a:spcBef>
            </a:pPr>
            <a:r>
              <a:rPr sz="1400" spc="-10" dirty="0">
                <a:latin typeface="Times New Roman"/>
                <a:cs typeface="Times New Roman"/>
              </a:rPr>
              <a:t>•Real-</a:t>
            </a:r>
            <a:r>
              <a:rPr sz="1400" dirty="0">
                <a:latin typeface="Times New Roman"/>
                <a:cs typeface="Times New Roman"/>
              </a:rPr>
              <a:t>time</a:t>
            </a:r>
            <a:r>
              <a:rPr sz="1400" spc="-35" dirty="0">
                <a:latin typeface="Times New Roman"/>
                <a:cs typeface="Times New Roman"/>
              </a:rPr>
              <a:t> </a:t>
            </a:r>
            <a:r>
              <a:rPr sz="1400" dirty="0">
                <a:latin typeface="Times New Roman"/>
                <a:cs typeface="Times New Roman"/>
              </a:rPr>
              <a:t>B0</a:t>
            </a:r>
            <a:r>
              <a:rPr sz="1400" spc="-30" dirty="0">
                <a:latin typeface="Times New Roman"/>
                <a:cs typeface="Times New Roman"/>
              </a:rPr>
              <a:t> </a:t>
            </a:r>
            <a:r>
              <a:rPr sz="1400" dirty="0">
                <a:latin typeface="Times New Roman"/>
                <a:cs typeface="Times New Roman"/>
              </a:rPr>
              <a:t>eddy</a:t>
            </a:r>
            <a:r>
              <a:rPr sz="1400" spc="-30" dirty="0">
                <a:latin typeface="Times New Roman"/>
                <a:cs typeface="Times New Roman"/>
              </a:rPr>
              <a:t> </a:t>
            </a:r>
            <a:r>
              <a:rPr sz="1400" dirty="0">
                <a:latin typeface="Times New Roman"/>
                <a:cs typeface="Times New Roman"/>
              </a:rPr>
              <a:t>current</a:t>
            </a:r>
            <a:r>
              <a:rPr sz="1400" spc="-35" dirty="0">
                <a:latin typeface="Times New Roman"/>
                <a:cs typeface="Times New Roman"/>
              </a:rPr>
              <a:t> </a:t>
            </a:r>
            <a:r>
              <a:rPr sz="1400" dirty="0">
                <a:latin typeface="Times New Roman"/>
                <a:cs typeface="Times New Roman"/>
              </a:rPr>
              <a:t>compensation</a:t>
            </a:r>
            <a:r>
              <a:rPr sz="1400" spc="-35" dirty="0">
                <a:latin typeface="Times New Roman"/>
                <a:cs typeface="Times New Roman"/>
              </a:rPr>
              <a:t> </a:t>
            </a:r>
            <a:r>
              <a:rPr sz="1400" spc="-10" dirty="0">
                <a:latin typeface="Times New Roman"/>
                <a:cs typeface="Times New Roman"/>
              </a:rPr>
              <a:t>(WARP/TRF)</a:t>
            </a:r>
            <a:endParaRPr sz="1400">
              <a:latin typeface="Times New Roman"/>
              <a:cs typeface="Times New Roman"/>
            </a:endParaRPr>
          </a:p>
          <a:p>
            <a:pPr marL="12700">
              <a:lnSpc>
                <a:spcPct val="100000"/>
              </a:lnSpc>
              <a:spcBef>
                <a:spcPts val="330"/>
              </a:spcBef>
            </a:pPr>
            <a:r>
              <a:rPr sz="1400" dirty="0">
                <a:latin typeface="Times New Roman"/>
                <a:cs typeface="Times New Roman"/>
              </a:rPr>
              <a:t>•Scan</a:t>
            </a:r>
            <a:r>
              <a:rPr sz="1400" spc="-20" dirty="0">
                <a:latin typeface="Times New Roman"/>
                <a:cs typeface="Times New Roman"/>
              </a:rPr>
              <a:t> </a:t>
            </a:r>
            <a:r>
              <a:rPr sz="1400" dirty="0">
                <a:latin typeface="Times New Roman"/>
                <a:cs typeface="Times New Roman"/>
              </a:rPr>
              <a:t>sequence</a:t>
            </a:r>
            <a:r>
              <a:rPr sz="1400" spc="-15" dirty="0">
                <a:latin typeface="Times New Roman"/>
                <a:cs typeface="Times New Roman"/>
              </a:rPr>
              <a:t> </a:t>
            </a:r>
            <a:r>
              <a:rPr sz="1400" dirty="0">
                <a:latin typeface="Times New Roman"/>
                <a:cs typeface="Times New Roman"/>
              </a:rPr>
              <a:t>control</a:t>
            </a:r>
            <a:r>
              <a:rPr sz="1400" spc="-20" dirty="0">
                <a:latin typeface="Times New Roman"/>
                <a:cs typeface="Times New Roman"/>
              </a:rPr>
              <a:t> </a:t>
            </a:r>
            <a:r>
              <a:rPr sz="1400" spc="-10" dirty="0">
                <a:latin typeface="Times New Roman"/>
                <a:cs typeface="Times New Roman"/>
              </a:rPr>
              <a:t>(SRF)</a:t>
            </a:r>
            <a:endParaRPr sz="1400">
              <a:latin typeface="Times New Roman"/>
              <a:cs typeface="Times New Roman"/>
            </a:endParaRPr>
          </a:p>
          <a:p>
            <a:pPr marL="12700">
              <a:lnSpc>
                <a:spcPct val="100000"/>
              </a:lnSpc>
              <a:spcBef>
                <a:spcPts val="340"/>
              </a:spcBef>
            </a:pPr>
            <a:r>
              <a:rPr sz="1400" dirty="0">
                <a:latin typeface="Times New Roman"/>
                <a:cs typeface="Times New Roman"/>
              </a:rPr>
              <a:t>•Physiological</a:t>
            </a:r>
            <a:r>
              <a:rPr sz="1400" spc="-25" dirty="0">
                <a:latin typeface="Times New Roman"/>
                <a:cs typeface="Times New Roman"/>
              </a:rPr>
              <a:t> </a:t>
            </a:r>
            <a:r>
              <a:rPr sz="1400" dirty="0">
                <a:latin typeface="Times New Roman"/>
                <a:cs typeface="Times New Roman"/>
              </a:rPr>
              <a:t>gating</a:t>
            </a:r>
            <a:r>
              <a:rPr sz="1400" spc="-30" dirty="0">
                <a:latin typeface="Times New Roman"/>
                <a:cs typeface="Times New Roman"/>
              </a:rPr>
              <a:t> </a:t>
            </a:r>
            <a:r>
              <a:rPr sz="1400" dirty="0">
                <a:latin typeface="Times New Roman"/>
                <a:cs typeface="Times New Roman"/>
              </a:rPr>
              <a:t>algorithms</a:t>
            </a:r>
            <a:r>
              <a:rPr sz="1400" spc="-25" dirty="0">
                <a:latin typeface="Times New Roman"/>
                <a:cs typeface="Times New Roman"/>
              </a:rPr>
              <a:t> </a:t>
            </a:r>
            <a:r>
              <a:rPr sz="1400" spc="-10" dirty="0">
                <a:latin typeface="Times New Roman"/>
                <a:cs typeface="Times New Roman"/>
              </a:rPr>
              <a:t>(SPU/TRF)</a:t>
            </a:r>
            <a:endParaRPr sz="1400">
              <a:latin typeface="Times New Roman"/>
              <a:cs typeface="Times New Roman"/>
            </a:endParaRPr>
          </a:p>
          <a:p>
            <a:pPr marL="12700">
              <a:lnSpc>
                <a:spcPct val="100000"/>
              </a:lnSpc>
              <a:spcBef>
                <a:spcPts val="330"/>
              </a:spcBef>
            </a:pPr>
            <a:r>
              <a:rPr sz="1400" dirty="0">
                <a:latin typeface="Times New Roman"/>
                <a:cs typeface="Times New Roman"/>
              </a:rPr>
              <a:t>•Physiological</a:t>
            </a:r>
            <a:r>
              <a:rPr sz="1400" spc="-25" dirty="0">
                <a:latin typeface="Times New Roman"/>
                <a:cs typeface="Times New Roman"/>
              </a:rPr>
              <a:t> </a:t>
            </a:r>
            <a:r>
              <a:rPr sz="1400" dirty="0">
                <a:latin typeface="Times New Roman"/>
                <a:cs typeface="Times New Roman"/>
              </a:rPr>
              <a:t>waveform</a:t>
            </a:r>
            <a:r>
              <a:rPr sz="1400" spc="-35" dirty="0">
                <a:latin typeface="Times New Roman"/>
                <a:cs typeface="Times New Roman"/>
              </a:rPr>
              <a:t> </a:t>
            </a:r>
            <a:r>
              <a:rPr sz="1400" dirty="0">
                <a:latin typeface="Times New Roman"/>
                <a:cs typeface="Times New Roman"/>
              </a:rPr>
              <a:t>display</a:t>
            </a:r>
            <a:r>
              <a:rPr sz="1400" spc="-30" dirty="0">
                <a:latin typeface="Times New Roman"/>
                <a:cs typeface="Times New Roman"/>
              </a:rPr>
              <a:t> </a:t>
            </a:r>
            <a:r>
              <a:rPr sz="1400" dirty="0">
                <a:latin typeface="Times New Roman"/>
                <a:cs typeface="Times New Roman"/>
              </a:rPr>
              <a:t>generation</a:t>
            </a:r>
            <a:r>
              <a:rPr sz="1400" spc="-25" dirty="0">
                <a:latin typeface="Times New Roman"/>
                <a:cs typeface="Times New Roman"/>
              </a:rPr>
              <a:t> </a:t>
            </a:r>
            <a:r>
              <a:rPr sz="1400" spc="-10" dirty="0">
                <a:latin typeface="Times New Roman"/>
                <a:cs typeface="Times New Roman"/>
              </a:rPr>
              <a:t>(SPU/TRF)</a:t>
            </a:r>
            <a:endParaRPr sz="1400">
              <a:latin typeface="Times New Roman"/>
              <a:cs typeface="Times New Roman"/>
            </a:endParaRPr>
          </a:p>
          <a:p>
            <a:pPr marL="12700" marR="4726305" indent="-635">
              <a:lnSpc>
                <a:spcPct val="100000"/>
              </a:lnSpc>
              <a:spcBef>
                <a:spcPts val="735"/>
              </a:spcBef>
            </a:pP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functions</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b="1" dirty="0">
                <a:latin typeface="Times New Roman"/>
                <a:cs typeface="Times New Roman"/>
              </a:rPr>
              <a:t>S</a:t>
            </a:r>
            <a:r>
              <a:rPr sz="1400" dirty="0">
                <a:latin typeface="Times New Roman"/>
                <a:cs typeface="Times New Roman"/>
              </a:rPr>
              <a:t>ignal</a:t>
            </a:r>
            <a:r>
              <a:rPr sz="1400" spc="-20" dirty="0">
                <a:latin typeface="Times New Roman"/>
                <a:cs typeface="Times New Roman"/>
              </a:rPr>
              <a:t> </a:t>
            </a:r>
            <a:r>
              <a:rPr sz="1400" b="1" dirty="0">
                <a:latin typeface="Times New Roman"/>
                <a:cs typeface="Times New Roman"/>
              </a:rPr>
              <a:t>P</a:t>
            </a:r>
            <a:r>
              <a:rPr sz="1400" dirty="0">
                <a:latin typeface="Times New Roman"/>
                <a:cs typeface="Times New Roman"/>
              </a:rPr>
              <a:t>rocessing</a:t>
            </a:r>
            <a:r>
              <a:rPr sz="1400" spc="-20" dirty="0">
                <a:latin typeface="Times New Roman"/>
                <a:cs typeface="Times New Roman"/>
              </a:rPr>
              <a:t> </a:t>
            </a:r>
            <a:r>
              <a:rPr sz="1400" b="1" dirty="0">
                <a:latin typeface="Times New Roman"/>
                <a:cs typeface="Times New Roman"/>
              </a:rPr>
              <a:t>U</a:t>
            </a:r>
            <a:r>
              <a:rPr sz="1400" dirty="0">
                <a:latin typeface="Times New Roman"/>
                <a:cs typeface="Times New Roman"/>
              </a:rPr>
              <a:t>nit</a:t>
            </a:r>
            <a:r>
              <a:rPr sz="1400" spc="-15"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spc="-10" dirty="0">
                <a:latin typeface="Times New Roman"/>
                <a:cs typeface="Times New Roman"/>
              </a:rPr>
              <a:t>physiological </a:t>
            </a:r>
            <a:r>
              <a:rPr sz="1400" dirty="0">
                <a:latin typeface="Times New Roman"/>
                <a:cs typeface="Times New Roman"/>
              </a:rPr>
              <a:t>gating</a:t>
            </a:r>
            <a:r>
              <a:rPr sz="1400" spc="-25" dirty="0">
                <a:latin typeface="Times New Roman"/>
                <a:cs typeface="Times New Roman"/>
              </a:rPr>
              <a:t> </a:t>
            </a:r>
            <a:r>
              <a:rPr sz="1400" dirty="0">
                <a:latin typeface="Times New Roman"/>
                <a:cs typeface="Times New Roman"/>
              </a:rPr>
              <a:t>(</a:t>
            </a:r>
            <a:r>
              <a:rPr sz="1400" b="1" dirty="0">
                <a:latin typeface="Times New Roman"/>
                <a:cs typeface="Times New Roman"/>
              </a:rPr>
              <a:t>SPU</a:t>
            </a:r>
            <a:r>
              <a:rPr sz="1400" dirty="0">
                <a:latin typeface="Times New Roman"/>
                <a:cs typeface="Times New Roman"/>
              </a:rPr>
              <a:t>)</a:t>
            </a:r>
            <a:r>
              <a:rPr sz="1400" spc="-3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b="1" dirty="0">
                <a:latin typeface="Times New Roman"/>
                <a:cs typeface="Times New Roman"/>
              </a:rPr>
              <a:t>WA</a:t>
            </a:r>
            <a:r>
              <a:rPr sz="1400" dirty="0">
                <a:latin typeface="Times New Roman"/>
                <a:cs typeface="Times New Roman"/>
              </a:rPr>
              <a:t>veform</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b="1" dirty="0">
                <a:latin typeface="Times New Roman"/>
                <a:cs typeface="Times New Roman"/>
              </a:rPr>
              <a:t>R</a:t>
            </a:r>
            <a:r>
              <a:rPr sz="1400" dirty="0">
                <a:latin typeface="Times New Roman"/>
                <a:cs typeface="Times New Roman"/>
              </a:rPr>
              <a:t>otation</a:t>
            </a:r>
            <a:r>
              <a:rPr sz="1400" spc="-25" dirty="0">
                <a:latin typeface="Times New Roman"/>
                <a:cs typeface="Times New Roman"/>
              </a:rPr>
              <a:t> </a:t>
            </a:r>
            <a:r>
              <a:rPr sz="1400" b="1" spc="-10" dirty="0">
                <a:latin typeface="Times New Roman"/>
                <a:cs typeface="Times New Roman"/>
              </a:rPr>
              <a:t>P</a:t>
            </a:r>
            <a:r>
              <a:rPr sz="1400" spc="-10" dirty="0">
                <a:latin typeface="Times New Roman"/>
                <a:cs typeface="Times New Roman"/>
              </a:rPr>
              <a:t>rocessor </a:t>
            </a:r>
            <a:r>
              <a:rPr sz="1400" dirty="0">
                <a:latin typeface="Times New Roman"/>
                <a:cs typeface="Times New Roman"/>
              </a:rPr>
              <a:t>(</a:t>
            </a:r>
            <a:r>
              <a:rPr sz="1400" b="1" dirty="0">
                <a:latin typeface="Times New Roman"/>
                <a:cs typeface="Times New Roman"/>
              </a:rPr>
              <a:t>WARP</a:t>
            </a:r>
            <a:r>
              <a:rPr sz="1400" dirty="0">
                <a:latin typeface="Times New Roman"/>
                <a:cs typeface="Times New Roman"/>
              </a:rPr>
              <a:t>),</a:t>
            </a:r>
            <a:r>
              <a:rPr sz="1400" spc="-20" dirty="0">
                <a:latin typeface="Times New Roman"/>
                <a:cs typeface="Times New Roman"/>
              </a:rPr>
              <a:t> </a:t>
            </a:r>
            <a:r>
              <a:rPr sz="1400" dirty="0">
                <a:latin typeface="Times New Roman"/>
                <a:cs typeface="Times New Roman"/>
              </a:rPr>
              <a:t>as</a:t>
            </a:r>
            <a:r>
              <a:rPr sz="1400" spc="-15" dirty="0">
                <a:latin typeface="Times New Roman"/>
                <a:cs typeface="Times New Roman"/>
              </a:rPr>
              <a:t> </a:t>
            </a:r>
            <a:r>
              <a:rPr sz="1400" dirty="0">
                <a:latin typeface="Times New Roman"/>
                <a:cs typeface="Times New Roman"/>
              </a:rPr>
              <a:t>listed</a:t>
            </a:r>
            <a:r>
              <a:rPr sz="1400" spc="-15" dirty="0">
                <a:latin typeface="Times New Roman"/>
                <a:cs typeface="Times New Roman"/>
              </a:rPr>
              <a:t> </a:t>
            </a:r>
            <a:r>
              <a:rPr sz="1400" dirty="0">
                <a:latin typeface="Times New Roman"/>
                <a:cs typeface="Times New Roman"/>
              </a:rPr>
              <a:t>above,</a:t>
            </a:r>
            <a:r>
              <a:rPr sz="1400" spc="-20" dirty="0">
                <a:latin typeface="Times New Roman"/>
                <a:cs typeface="Times New Roman"/>
              </a:rPr>
              <a:t> </a:t>
            </a:r>
            <a:r>
              <a:rPr sz="1400" dirty="0">
                <a:latin typeface="Times New Roman"/>
                <a:cs typeface="Times New Roman"/>
              </a:rPr>
              <a:t>are</a:t>
            </a:r>
            <a:r>
              <a:rPr sz="1400" spc="-15" dirty="0">
                <a:latin typeface="Times New Roman"/>
                <a:cs typeface="Times New Roman"/>
              </a:rPr>
              <a:t> </a:t>
            </a:r>
            <a:r>
              <a:rPr sz="1400" dirty="0">
                <a:latin typeface="Times New Roman"/>
                <a:cs typeface="Times New Roman"/>
              </a:rPr>
              <a:t>done</a:t>
            </a:r>
            <a:r>
              <a:rPr sz="1400" spc="-15"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dirty="0">
                <a:latin typeface="Times New Roman"/>
                <a:cs typeface="Times New Roman"/>
              </a:rPr>
              <a:t>this</a:t>
            </a:r>
            <a:r>
              <a:rPr sz="1400" spc="-25" dirty="0">
                <a:latin typeface="Times New Roman"/>
                <a:cs typeface="Times New Roman"/>
              </a:rPr>
              <a:t> </a:t>
            </a:r>
            <a:r>
              <a:rPr sz="1400" dirty="0">
                <a:latin typeface="Times New Roman"/>
                <a:cs typeface="Times New Roman"/>
              </a:rPr>
              <a:t>board.</a:t>
            </a:r>
            <a:r>
              <a:rPr sz="1400" spc="315" dirty="0">
                <a:latin typeface="Times New Roman"/>
                <a:cs typeface="Times New Roman"/>
              </a:rPr>
              <a:t> </a:t>
            </a:r>
            <a:r>
              <a:rPr sz="1400" spc="-20" dirty="0">
                <a:latin typeface="Times New Roman"/>
                <a:cs typeface="Times New Roman"/>
              </a:rPr>
              <a:t>This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communicates</a:t>
            </a:r>
            <a:r>
              <a:rPr sz="1400" spc="-25" dirty="0">
                <a:latin typeface="Times New Roman"/>
                <a:cs typeface="Times New Roman"/>
              </a:rPr>
              <a:t> </a:t>
            </a:r>
            <a:r>
              <a:rPr sz="1400" dirty="0">
                <a:latin typeface="Times New Roman"/>
                <a:cs typeface="Times New Roman"/>
              </a:rPr>
              <a:t>with</a:t>
            </a:r>
            <a:r>
              <a:rPr sz="1400" spc="-2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PAC</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gradients</a:t>
            </a:r>
            <a:r>
              <a:rPr sz="1400" spc="-25" dirty="0">
                <a:latin typeface="Times New Roman"/>
                <a:cs typeface="Times New Roman"/>
              </a:rPr>
              <a:t> </a:t>
            </a:r>
            <a:r>
              <a:rPr sz="1400" dirty="0">
                <a:latin typeface="Times New Roman"/>
                <a:cs typeface="Times New Roman"/>
              </a:rPr>
              <a:t>via</a:t>
            </a:r>
            <a:r>
              <a:rPr sz="1400" spc="-20" dirty="0">
                <a:latin typeface="Times New Roman"/>
                <a:cs typeface="Times New Roman"/>
              </a:rPr>
              <a:t> </a:t>
            </a:r>
            <a:r>
              <a:rPr sz="1400" spc="-10" dirty="0">
                <a:latin typeface="Times New Roman"/>
                <a:cs typeface="Times New Roman"/>
              </a:rPr>
              <a:t>high- </a:t>
            </a:r>
            <a:r>
              <a:rPr sz="1400" dirty="0">
                <a:latin typeface="Times New Roman"/>
                <a:cs typeface="Times New Roman"/>
              </a:rPr>
              <a:t>speed</a:t>
            </a:r>
            <a:r>
              <a:rPr sz="1400" spc="-40" dirty="0">
                <a:latin typeface="Times New Roman"/>
                <a:cs typeface="Times New Roman"/>
              </a:rPr>
              <a:t> </a:t>
            </a:r>
            <a:r>
              <a:rPr sz="1400" dirty="0">
                <a:latin typeface="Times New Roman"/>
                <a:cs typeface="Times New Roman"/>
              </a:rPr>
              <a:t>serial</a:t>
            </a:r>
            <a:r>
              <a:rPr sz="1400" spc="-35" dirty="0">
                <a:latin typeface="Times New Roman"/>
                <a:cs typeface="Times New Roman"/>
              </a:rPr>
              <a:t> </a:t>
            </a:r>
            <a:r>
              <a:rPr sz="1400" spc="-10" dirty="0">
                <a:latin typeface="Times New Roman"/>
                <a:cs typeface="Times New Roman"/>
              </a:rPr>
              <a:t>interfaces.</a:t>
            </a:r>
            <a:endParaRPr sz="1400">
              <a:latin typeface="Times New Roman"/>
              <a:cs typeface="Times New Roman"/>
            </a:endParaRPr>
          </a:p>
          <a:p>
            <a:pPr marL="12700" marR="4661535">
              <a:lnSpc>
                <a:spcPct val="100000"/>
              </a:lnSpc>
              <a:spcBef>
                <a:spcPts val="810"/>
              </a:spcBef>
            </a:pPr>
            <a:r>
              <a:rPr sz="1400" dirty="0">
                <a:latin typeface="Times New Roman"/>
                <a:cs typeface="Times New Roman"/>
              </a:rPr>
              <a:t>After</a:t>
            </a:r>
            <a:r>
              <a:rPr sz="1400" spc="-30"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dirty="0">
                <a:latin typeface="Times New Roman"/>
                <a:cs typeface="Times New Roman"/>
              </a:rPr>
              <a:t>successful</a:t>
            </a:r>
            <a:r>
              <a:rPr sz="1400" spc="-25" dirty="0">
                <a:latin typeface="Times New Roman"/>
                <a:cs typeface="Times New Roman"/>
              </a:rPr>
              <a:t> </a:t>
            </a:r>
            <a:r>
              <a:rPr sz="1400" b="1" dirty="0">
                <a:latin typeface="Times New Roman"/>
                <a:cs typeface="Times New Roman"/>
              </a:rPr>
              <a:t>TPS</a:t>
            </a:r>
            <a:r>
              <a:rPr sz="1400" b="1" spc="-30" dirty="0">
                <a:latin typeface="Times New Roman"/>
                <a:cs typeface="Times New Roman"/>
              </a:rPr>
              <a:t> </a:t>
            </a:r>
            <a:r>
              <a:rPr sz="1400" b="1" dirty="0">
                <a:latin typeface="Times New Roman"/>
                <a:cs typeface="Times New Roman"/>
              </a:rPr>
              <a:t>Reset</a:t>
            </a:r>
            <a:r>
              <a:rPr sz="1400" b="1"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DSP0,</a:t>
            </a:r>
            <a:r>
              <a:rPr sz="1400" spc="-30" dirty="0">
                <a:latin typeface="Times New Roman"/>
                <a:cs typeface="Times New Roman"/>
              </a:rPr>
              <a:t> </a:t>
            </a:r>
            <a:r>
              <a:rPr sz="1400" dirty="0">
                <a:latin typeface="Times New Roman"/>
                <a:cs typeface="Times New Roman"/>
              </a:rPr>
              <a:t>DSP1,</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spc="-20" dirty="0">
                <a:latin typeface="Times New Roman"/>
                <a:cs typeface="Times New Roman"/>
              </a:rPr>
              <a:t>WARP </a:t>
            </a:r>
            <a:r>
              <a:rPr sz="1400" dirty="0">
                <a:latin typeface="Times New Roman"/>
                <a:cs typeface="Times New Roman"/>
              </a:rPr>
              <a:t>LEDS</a:t>
            </a:r>
            <a:r>
              <a:rPr sz="1400" spc="-40" dirty="0">
                <a:latin typeface="Times New Roman"/>
                <a:cs typeface="Times New Roman"/>
              </a:rPr>
              <a:t> </a:t>
            </a:r>
            <a:r>
              <a:rPr sz="1400" dirty="0">
                <a:latin typeface="Times New Roman"/>
                <a:cs typeface="Times New Roman"/>
              </a:rPr>
              <a:t>should</a:t>
            </a:r>
            <a:r>
              <a:rPr sz="1400" spc="-35" dirty="0">
                <a:latin typeface="Times New Roman"/>
                <a:cs typeface="Times New Roman"/>
              </a:rPr>
              <a:t> </a:t>
            </a:r>
            <a:r>
              <a:rPr sz="1400" dirty="0">
                <a:latin typeface="Times New Roman"/>
                <a:cs typeface="Times New Roman"/>
              </a:rPr>
              <a:t>be</a:t>
            </a:r>
            <a:r>
              <a:rPr sz="1400" spc="-40" dirty="0">
                <a:latin typeface="Times New Roman"/>
                <a:cs typeface="Times New Roman"/>
              </a:rPr>
              <a:t> </a:t>
            </a:r>
            <a:r>
              <a:rPr sz="1400" spc="-10" dirty="0">
                <a:latin typeface="Times New Roman"/>
                <a:cs typeface="Times New Roman"/>
              </a:rPr>
              <a:t>flashing.</a:t>
            </a: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60"/>
              </a:spcBef>
            </a:pPr>
            <a:endParaRPr sz="1400">
              <a:latin typeface="Times New Roman"/>
              <a:cs typeface="Times New Roman"/>
            </a:endParaRPr>
          </a:p>
          <a:p>
            <a:pPr marL="18415">
              <a:lnSpc>
                <a:spcPct val="100000"/>
              </a:lnSpc>
              <a:spcBef>
                <a:spcPts val="5"/>
              </a:spcBef>
            </a:pPr>
            <a:r>
              <a:rPr sz="1400" b="1" u="sng" dirty="0">
                <a:uFill>
                  <a:solidFill>
                    <a:srgbClr val="000000"/>
                  </a:solidFill>
                </a:uFill>
                <a:latin typeface="Times New Roman"/>
                <a:cs typeface="Times New Roman"/>
              </a:rPr>
              <a:t>Available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4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SRF/TRF</a:t>
            </a:r>
            <a:endParaRPr sz="1400">
              <a:latin typeface="Times New Roman"/>
              <a:cs typeface="Times New Roman"/>
            </a:endParaRPr>
          </a:p>
          <a:p>
            <a:pPr marL="80010" indent="-69850">
              <a:lnSpc>
                <a:spcPct val="100000"/>
              </a:lnSpc>
              <a:spcBef>
                <a:spcPts val="830"/>
              </a:spcBef>
              <a:buSzPct val="92857"/>
              <a:buFont typeface="Times New Roman"/>
              <a:buChar char="•"/>
              <a:tabLst>
                <a:tab pos="80010" algn="l"/>
              </a:tabLst>
            </a:pPr>
            <a:r>
              <a:rPr sz="1400" b="1" dirty="0">
                <a:latin typeface="Times New Roman"/>
                <a:cs typeface="Times New Roman"/>
              </a:rPr>
              <a:t>MGD</a:t>
            </a:r>
            <a:r>
              <a:rPr sz="1400" b="1" spc="-25" dirty="0">
                <a:latin typeface="Times New Roman"/>
                <a:cs typeface="Times New Roman"/>
              </a:rPr>
              <a:t> </a:t>
            </a:r>
            <a:r>
              <a:rPr sz="1400" b="1" dirty="0">
                <a:latin typeface="Times New Roman"/>
                <a:cs typeface="Times New Roman"/>
              </a:rPr>
              <a:t>Board</a:t>
            </a:r>
            <a:r>
              <a:rPr sz="1400" b="1" spc="-20" dirty="0">
                <a:latin typeface="Times New Roman"/>
                <a:cs typeface="Times New Roman"/>
              </a:rPr>
              <a:t> </a:t>
            </a:r>
            <a:r>
              <a:rPr sz="1400" b="1" dirty="0">
                <a:latin typeface="Times New Roman"/>
                <a:cs typeface="Times New Roman"/>
              </a:rPr>
              <a:t>Level</a:t>
            </a:r>
            <a:r>
              <a:rPr sz="1400" b="1" spc="-20" dirty="0">
                <a:latin typeface="Times New Roman"/>
                <a:cs typeface="Times New Roman"/>
              </a:rPr>
              <a:t> </a:t>
            </a:r>
            <a:r>
              <a:rPr sz="1400" b="1" dirty="0">
                <a:latin typeface="Times New Roman"/>
                <a:cs typeface="Times New Roman"/>
              </a:rPr>
              <a:t>Diagnostics:</a:t>
            </a:r>
            <a:r>
              <a:rPr sz="1400" b="1" spc="-20" dirty="0">
                <a:latin typeface="Times New Roman"/>
                <a:cs typeface="Times New Roman"/>
              </a:rPr>
              <a:t> </a:t>
            </a:r>
            <a:r>
              <a:rPr sz="1400" dirty="0">
                <a:latin typeface="Times New Roman"/>
                <a:cs typeface="Times New Roman"/>
              </a:rPr>
              <a:t>TRF</a:t>
            </a:r>
            <a:r>
              <a:rPr sz="1400" spc="-25" dirty="0">
                <a:latin typeface="Times New Roman"/>
                <a:cs typeface="Times New Roman"/>
              </a:rPr>
              <a:t> </a:t>
            </a:r>
            <a:r>
              <a:rPr sz="1400" dirty="0">
                <a:latin typeface="Times New Roman"/>
                <a:cs typeface="Times New Roman"/>
              </a:rPr>
              <a:t>BLD,</a:t>
            </a:r>
            <a:r>
              <a:rPr sz="1400" spc="-25" dirty="0">
                <a:latin typeface="Times New Roman"/>
                <a:cs typeface="Times New Roman"/>
              </a:rPr>
              <a:t> </a:t>
            </a:r>
            <a:r>
              <a:rPr sz="1400" dirty="0">
                <a:latin typeface="Times New Roman"/>
                <a:cs typeface="Times New Roman"/>
              </a:rPr>
              <a:t>SRF</a:t>
            </a:r>
            <a:r>
              <a:rPr sz="1400" spc="-25" dirty="0">
                <a:latin typeface="Times New Roman"/>
                <a:cs typeface="Times New Roman"/>
              </a:rPr>
              <a:t> BLD</a:t>
            </a:r>
            <a:endParaRPr sz="1400">
              <a:latin typeface="Times New Roman"/>
              <a:cs typeface="Times New Roman"/>
            </a:endParaRPr>
          </a:p>
          <a:p>
            <a:pPr marL="18415" marR="5020945" indent="-8255">
              <a:lnSpc>
                <a:spcPct val="100000"/>
              </a:lnSpc>
              <a:spcBef>
                <a:spcPts val="830"/>
              </a:spcBef>
              <a:buSzPct val="92857"/>
              <a:buFont typeface="Times New Roman"/>
              <a:buChar char="•"/>
              <a:tabLst>
                <a:tab pos="80010" algn="l"/>
              </a:tabLst>
            </a:pPr>
            <a:r>
              <a:rPr sz="1400" b="1" dirty="0">
                <a:latin typeface="Times New Roman"/>
                <a:cs typeface="Times New Roman"/>
              </a:rPr>
              <a:t>	MGD</a:t>
            </a:r>
            <a:r>
              <a:rPr sz="1400" b="1" spc="-20" dirty="0">
                <a:latin typeface="Times New Roman"/>
                <a:cs typeface="Times New Roman"/>
              </a:rPr>
              <a:t> </a:t>
            </a:r>
            <a:r>
              <a:rPr sz="1400" b="1" dirty="0">
                <a:latin typeface="Times New Roman"/>
                <a:cs typeface="Times New Roman"/>
              </a:rPr>
              <a:t>Datapaths:</a:t>
            </a:r>
            <a:r>
              <a:rPr sz="1400" b="1" spc="-20" dirty="0">
                <a:latin typeface="Times New Roman"/>
                <a:cs typeface="Times New Roman"/>
              </a:rPr>
              <a:t> </a:t>
            </a:r>
            <a:r>
              <a:rPr sz="1400" dirty="0">
                <a:latin typeface="Times New Roman"/>
                <a:cs typeface="Times New Roman"/>
              </a:rPr>
              <a:t>SRF</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dirty="0">
                <a:latin typeface="Times New Roman"/>
                <a:cs typeface="Times New Roman"/>
              </a:rPr>
              <a:t>DRF,</a:t>
            </a:r>
            <a:r>
              <a:rPr sz="1400" spc="-20" dirty="0">
                <a:latin typeface="Times New Roman"/>
                <a:cs typeface="Times New Roman"/>
              </a:rPr>
              <a:t> </a:t>
            </a:r>
            <a:r>
              <a:rPr sz="1400" dirty="0">
                <a:latin typeface="Times New Roman"/>
                <a:cs typeface="Times New Roman"/>
              </a:rPr>
              <a:t>SRF</a:t>
            </a:r>
            <a:r>
              <a:rPr sz="1400" spc="-20"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dirty="0">
                <a:latin typeface="Times New Roman"/>
                <a:cs typeface="Times New Roman"/>
              </a:rPr>
              <a:t>IRF,</a:t>
            </a:r>
            <a:r>
              <a:rPr sz="1400" spc="-20" dirty="0">
                <a:latin typeface="Times New Roman"/>
                <a:cs typeface="Times New Roman"/>
              </a:rPr>
              <a:t> </a:t>
            </a:r>
            <a:r>
              <a:rPr sz="1400" dirty="0">
                <a:latin typeface="Times New Roman"/>
                <a:cs typeface="Times New Roman"/>
              </a:rPr>
              <a:t>SRF</a:t>
            </a:r>
            <a:r>
              <a:rPr sz="1400" spc="-20" dirty="0">
                <a:latin typeface="Times New Roman"/>
                <a:cs typeface="Times New Roman"/>
              </a:rPr>
              <a:t> </a:t>
            </a:r>
            <a:r>
              <a:rPr sz="1400" spc="-10" dirty="0">
                <a:latin typeface="Times New Roman"/>
                <a:cs typeface="Times New Roman"/>
              </a:rPr>
              <a:t>-</a:t>
            </a:r>
            <a:r>
              <a:rPr sz="1400" spc="-50" dirty="0">
                <a:latin typeface="Times New Roman"/>
                <a:cs typeface="Times New Roman"/>
              </a:rPr>
              <a:t>&gt; </a:t>
            </a:r>
            <a:r>
              <a:rPr sz="1400" dirty="0">
                <a:latin typeface="Times New Roman"/>
                <a:cs typeface="Times New Roman"/>
              </a:rPr>
              <a:t>TRF,</a:t>
            </a:r>
            <a:r>
              <a:rPr sz="1400" spc="-25" dirty="0">
                <a:latin typeface="Times New Roman"/>
                <a:cs typeface="Times New Roman"/>
              </a:rPr>
              <a:t> </a:t>
            </a:r>
            <a:r>
              <a:rPr sz="1400" dirty="0">
                <a:latin typeface="Times New Roman"/>
                <a:cs typeface="Times New Roman"/>
              </a:rPr>
              <a:t>SRF</a:t>
            </a:r>
            <a:r>
              <a:rPr sz="1400" spc="-10" dirty="0">
                <a:latin typeface="Times New Roman"/>
                <a:cs typeface="Times New Roman"/>
              </a:rPr>
              <a:t> -</a:t>
            </a:r>
            <a:r>
              <a:rPr sz="1400" dirty="0">
                <a:latin typeface="Times New Roman"/>
                <a:cs typeface="Times New Roman"/>
              </a:rPr>
              <a:t>&gt;</a:t>
            </a:r>
            <a:r>
              <a:rPr sz="1400" spc="-10" dirty="0">
                <a:latin typeface="Times New Roman"/>
                <a:cs typeface="Times New Roman"/>
              </a:rPr>
              <a:t> </a:t>
            </a:r>
            <a:r>
              <a:rPr sz="1400" spc="-25" dirty="0">
                <a:latin typeface="Times New Roman"/>
                <a:cs typeface="Times New Roman"/>
              </a:rPr>
              <a:t>APS</a:t>
            </a:r>
            <a:endParaRPr sz="1400">
              <a:latin typeface="Times New Roman"/>
              <a:cs typeface="Times New Roman"/>
            </a:endParaRPr>
          </a:p>
        </p:txBody>
      </p:sp>
      <p:sp>
        <p:nvSpPr>
          <p:cNvPr id="15" name="object 15"/>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sp>
        <p:nvSpPr>
          <p:cNvPr id="16" name="object 16"/>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0" dirty="0">
                <a:latin typeface="Times New Roman"/>
                <a:cs typeface="Times New Roman"/>
              </a:rPr>
              <a:t> </a:t>
            </a:r>
            <a:r>
              <a:rPr sz="2000" b="1" dirty="0">
                <a:latin typeface="Times New Roman"/>
                <a:cs typeface="Times New Roman"/>
              </a:rPr>
              <a:t>Cabinet</a:t>
            </a:r>
            <a:r>
              <a:rPr sz="2000" b="1" spc="-20"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0" dirty="0">
                <a:latin typeface="Times New Roman"/>
                <a:cs typeface="Times New Roman"/>
              </a:rPr>
              <a:t> </a:t>
            </a:r>
            <a:r>
              <a:rPr sz="2000" b="1" dirty="0">
                <a:latin typeface="Times New Roman"/>
                <a:cs typeface="Times New Roman"/>
              </a:rPr>
              <a:t>Chassis</a:t>
            </a:r>
            <a:r>
              <a:rPr sz="2000" b="1" spc="-1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7" name="object 17"/>
          <p:cNvGrpSpPr/>
          <p:nvPr/>
        </p:nvGrpSpPr>
        <p:grpSpPr>
          <a:xfrm>
            <a:off x="7631683" y="-4572"/>
            <a:ext cx="1491615" cy="280670"/>
            <a:chOff x="7631683" y="-4572"/>
            <a:chExt cx="1491615" cy="280670"/>
          </a:xfrm>
        </p:grpSpPr>
        <p:sp>
          <p:nvSpPr>
            <p:cNvPr id="18" name="object 18"/>
            <p:cNvSpPr/>
            <p:nvPr/>
          </p:nvSpPr>
          <p:spPr>
            <a:xfrm>
              <a:off x="7636255" y="0"/>
              <a:ext cx="1482725" cy="271780"/>
            </a:xfrm>
            <a:custGeom>
              <a:avLst/>
              <a:gdLst/>
              <a:ahLst/>
              <a:cxnLst/>
              <a:rect l="l" t="t" r="r" b="b"/>
              <a:pathLst>
                <a:path w="1482725" h="271780">
                  <a:moveTo>
                    <a:pt x="0" y="0"/>
                  </a:moveTo>
                  <a:lnTo>
                    <a:pt x="0" y="271525"/>
                  </a:lnTo>
                  <a:lnTo>
                    <a:pt x="1482344" y="271525"/>
                  </a:lnTo>
                  <a:lnTo>
                    <a:pt x="1482344" y="0"/>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7636255" y="0"/>
              <a:ext cx="1482725" cy="271780"/>
            </a:xfrm>
            <a:custGeom>
              <a:avLst/>
              <a:gdLst/>
              <a:ahLst/>
              <a:cxnLst/>
              <a:rect l="l" t="t" r="r" b="b"/>
              <a:pathLst>
                <a:path w="1482725" h="271780">
                  <a:moveTo>
                    <a:pt x="0" y="0"/>
                  </a:moveTo>
                  <a:lnTo>
                    <a:pt x="0" y="271525"/>
                  </a:lnTo>
                  <a:lnTo>
                    <a:pt x="1482344" y="271525"/>
                  </a:lnTo>
                </a:path>
              </a:pathLst>
            </a:custGeom>
            <a:ln w="9144">
              <a:solidFill>
                <a:srgbClr val="000000"/>
              </a:solidFill>
            </a:ln>
          </p:spPr>
          <p:txBody>
            <a:bodyPr wrap="square" lIns="0" tIns="0" rIns="0" bIns="0" rtlCol="0"/>
            <a:lstStyle/>
            <a:p>
              <a:endParaRPr/>
            </a:p>
          </p:txBody>
        </p:sp>
      </p:grpSp>
      <p:sp>
        <p:nvSpPr>
          <p:cNvPr id="20" name="object 20"/>
          <p:cNvSpPr txBox="1"/>
          <p:nvPr/>
        </p:nvSpPr>
        <p:spPr>
          <a:xfrm>
            <a:off x="8172195"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5806" y="250952"/>
            <a:ext cx="8289290" cy="6215380"/>
            <a:chOff x="225806" y="250952"/>
            <a:chExt cx="8289290" cy="6215380"/>
          </a:xfrm>
        </p:grpSpPr>
        <p:pic>
          <p:nvPicPr>
            <p:cNvPr id="3" name="object 3"/>
            <p:cNvPicPr/>
            <p:nvPr/>
          </p:nvPicPr>
          <p:blipFill>
            <a:blip r:embed="rId2" cstate="print"/>
            <a:stretch>
              <a:fillRect/>
            </a:stretch>
          </p:blipFill>
          <p:spPr>
            <a:xfrm>
              <a:off x="225806" y="250952"/>
              <a:ext cx="8288781" cy="6214871"/>
            </a:xfrm>
            <a:prstGeom prst="rect">
              <a:avLst/>
            </a:prstGeom>
          </p:spPr>
        </p:pic>
        <p:sp>
          <p:nvSpPr>
            <p:cNvPr id="4" name="object 4"/>
            <p:cNvSpPr/>
            <p:nvPr/>
          </p:nvSpPr>
          <p:spPr>
            <a:xfrm>
              <a:off x="5251196" y="753872"/>
              <a:ext cx="1439545" cy="750570"/>
            </a:xfrm>
            <a:custGeom>
              <a:avLst/>
              <a:gdLst/>
              <a:ahLst/>
              <a:cxnLst/>
              <a:rect l="l" t="t" r="r" b="b"/>
              <a:pathLst>
                <a:path w="1439545" h="750569">
                  <a:moveTo>
                    <a:pt x="0" y="0"/>
                  </a:moveTo>
                  <a:lnTo>
                    <a:pt x="1439418" y="750570"/>
                  </a:lnTo>
                </a:path>
              </a:pathLst>
            </a:custGeom>
            <a:ln w="114300">
              <a:solidFill>
                <a:srgbClr val="FFFFFF"/>
              </a:solidFill>
            </a:ln>
          </p:spPr>
          <p:txBody>
            <a:bodyPr wrap="square" lIns="0" tIns="0" rIns="0" bIns="0" rtlCol="0"/>
            <a:lstStyle/>
            <a:p>
              <a:endParaRPr/>
            </a:p>
          </p:txBody>
        </p:sp>
        <p:sp>
          <p:nvSpPr>
            <p:cNvPr id="5" name="object 5"/>
            <p:cNvSpPr/>
            <p:nvPr/>
          </p:nvSpPr>
          <p:spPr>
            <a:xfrm>
              <a:off x="6605270" y="1342135"/>
              <a:ext cx="405130" cy="327660"/>
            </a:xfrm>
            <a:custGeom>
              <a:avLst/>
              <a:gdLst/>
              <a:ahLst/>
              <a:cxnLst/>
              <a:rect l="l" t="t" r="r" b="b"/>
              <a:pathLst>
                <a:path w="405129" h="327660">
                  <a:moveTo>
                    <a:pt x="404622" y="327660"/>
                  </a:moveTo>
                  <a:lnTo>
                    <a:pt x="166877" y="0"/>
                  </a:lnTo>
                  <a:lnTo>
                    <a:pt x="0" y="320802"/>
                  </a:lnTo>
                  <a:lnTo>
                    <a:pt x="404622" y="327660"/>
                  </a:lnTo>
                  <a:close/>
                </a:path>
              </a:pathLst>
            </a:custGeom>
            <a:solidFill>
              <a:srgbClr val="FFFFFF"/>
            </a:solidFill>
          </p:spPr>
          <p:txBody>
            <a:bodyPr wrap="square" lIns="0" tIns="0" rIns="0" bIns="0" rtlCol="0"/>
            <a:lstStyle/>
            <a:p>
              <a:endParaRPr/>
            </a:p>
          </p:txBody>
        </p:sp>
        <p:sp>
          <p:nvSpPr>
            <p:cNvPr id="6" name="object 6"/>
            <p:cNvSpPr/>
            <p:nvPr/>
          </p:nvSpPr>
          <p:spPr>
            <a:xfrm>
              <a:off x="5526277" y="917702"/>
              <a:ext cx="1198880" cy="599440"/>
            </a:xfrm>
            <a:custGeom>
              <a:avLst/>
              <a:gdLst/>
              <a:ahLst/>
              <a:cxnLst/>
              <a:rect l="l" t="t" r="r" b="b"/>
              <a:pathLst>
                <a:path w="1198879" h="599440">
                  <a:moveTo>
                    <a:pt x="0" y="0"/>
                  </a:moveTo>
                  <a:lnTo>
                    <a:pt x="1198626" y="598931"/>
                  </a:lnTo>
                </a:path>
              </a:pathLst>
            </a:custGeom>
            <a:ln w="60198">
              <a:solidFill>
                <a:srgbClr val="000000"/>
              </a:solidFill>
            </a:ln>
          </p:spPr>
          <p:txBody>
            <a:bodyPr wrap="square" lIns="0" tIns="0" rIns="0" bIns="0" rtlCol="0"/>
            <a:lstStyle/>
            <a:p>
              <a:endParaRPr/>
            </a:p>
          </p:txBody>
        </p:sp>
        <p:sp>
          <p:nvSpPr>
            <p:cNvPr id="7" name="object 7"/>
            <p:cNvSpPr/>
            <p:nvPr/>
          </p:nvSpPr>
          <p:spPr>
            <a:xfrm>
              <a:off x="6672326" y="1415288"/>
              <a:ext cx="254000" cy="203200"/>
            </a:xfrm>
            <a:custGeom>
              <a:avLst/>
              <a:gdLst/>
              <a:ahLst/>
              <a:cxnLst/>
              <a:rect l="l" t="t" r="r" b="b"/>
              <a:pathLst>
                <a:path w="254000" h="203200">
                  <a:moveTo>
                    <a:pt x="253746" y="202692"/>
                  </a:moveTo>
                  <a:lnTo>
                    <a:pt x="102107" y="0"/>
                  </a:lnTo>
                  <a:lnTo>
                    <a:pt x="0" y="202692"/>
                  </a:lnTo>
                  <a:lnTo>
                    <a:pt x="253746" y="202692"/>
                  </a:lnTo>
                  <a:close/>
                </a:path>
              </a:pathLst>
            </a:custGeom>
            <a:solidFill>
              <a:srgbClr val="000000"/>
            </a:solidFill>
          </p:spPr>
          <p:txBody>
            <a:bodyPr wrap="square" lIns="0" tIns="0" rIns="0" bIns="0" rtlCol="0"/>
            <a:lstStyle/>
            <a:p>
              <a:endParaRPr/>
            </a:p>
          </p:txBody>
        </p:sp>
        <p:sp>
          <p:nvSpPr>
            <p:cNvPr id="8" name="object 8"/>
            <p:cNvSpPr/>
            <p:nvPr/>
          </p:nvSpPr>
          <p:spPr>
            <a:xfrm>
              <a:off x="236474" y="1347470"/>
              <a:ext cx="4950460" cy="4781550"/>
            </a:xfrm>
            <a:custGeom>
              <a:avLst/>
              <a:gdLst/>
              <a:ahLst/>
              <a:cxnLst/>
              <a:rect l="l" t="t" r="r" b="b"/>
              <a:pathLst>
                <a:path w="4950460" h="4781550">
                  <a:moveTo>
                    <a:pt x="4949952" y="4781550"/>
                  </a:moveTo>
                  <a:lnTo>
                    <a:pt x="4949952" y="0"/>
                  </a:lnTo>
                  <a:lnTo>
                    <a:pt x="0" y="0"/>
                  </a:lnTo>
                  <a:lnTo>
                    <a:pt x="0" y="4781550"/>
                  </a:lnTo>
                  <a:lnTo>
                    <a:pt x="4949952" y="4781550"/>
                  </a:lnTo>
                  <a:close/>
                </a:path>
              </a:pathLst>
            </a:custGeom>
            <a:solidFill>
              <a:srgbClr val="FFFFFF"/>
            </a:solidFill>
          </p:spPr>
          <p:txBody>
            <a:bodyPr wrap="square" lIns="0" tIns="0" rIns="0" bIns="0" rtlCol="0"/>
            <a:lstStyle/>
            <a:p>
              <a:endParaRPr/>
            </a:p>
          </p:txBody>
        </p:sp>
        <p:sp>
          <p:nvSpPr>
            <p:cNvPr id="9" name="object 9"/>
            <p:cNvSpPr/>
            <p:nvPr/>
          </p:nvSpPr>
          <p:spPr>
            <a:xfrm>
              <a:off x="236474" y="1347470"/>
              <a:ext cx="4950460" cy="4781550"/>
            </a:xfrm>
            <a:custGeom>
              <a:avLst/>
              <a:gdLst/>
              <a:ahLst/>
              <a:cxnLst/>
              <a:rect l="l" t="t" r="r" b="b"/>
              <a:pathLst>
                <a:path w="4950460" h="4781550">
                  <a:moveTo>
                    <a:pt x="4949952" y="4781550"/>
                  </a:moveTo>
                  <a:lnTo>
                    <a:pt x="4949952" y="0"/>
                  </a:lnTo>
                  <a:lnTo>
                    <a:pt x="0" y="0"/>
                  </a:lnTo>
                  <a:lnTo>
                    <a:pt x="0" y="4781550"/>
                  </a:lnTo>
                  <a:lnTo>
                    <a:pt x="4949952" y="4781550"/>
                  </a:lnTo>
                  <a:close/>
                </a:path>
              </a:pathLst>
            </a:custGeom>
            <a:ln w="9144">
              <a:solidFill>
                <a:srgbClr val="000000"/>
              </a:solidFill>
            </a:ln>
          </p:spPr>
          <p:txBody>
            <a:bodyPr wrap="square" lIns="0" tIns="0" rIns="0" bIns="0" rtlCol="0"/>
            <a:lstStyle/>
            <a:p>
              <a:endParaRPr/>
            </a:p>
          </p:txBody>
        </p:sp>
      </p:grpSp>
      <p:sp>
        <p:nvSpPr>
          <p:cNvPr id="10" name="object 10"/>
          <p:cNvSpPr txBox="1"/>
          <p:nvPr/>
        </p:nvSpPr>
        <p:spPr>
          <a:xfrm>
            <a:off x="320522" y="1379727"/>
            <a:ext cx="4779010" cy="4705985"/>
          </a:xfrm>
          <a:prstGeom prst="rect">
            <a:avLst/>
          </a:prstGeom>
        </p:spPr>
        <p:txBody>
          <a:bodyPr vert="horz" wrap="square" lIns="0" tIns="12065" rIns="0" bIns="0" rtlCol="0">
            <a:spAutoFit/>
          </a:bodyPr>
          <a:lstStyle/>
          <a:p>
            <a:pPr marL="12700" marR="5080">
              <a:lnSpc>
                <a:spcPct val="100000"/>
              </a:lnSpc>
              <a:spcBef>
                <a:spcPts val="95"/>
              </a:spcBef>
            </a:pPr>
            <a:r>
              <a:rPr sz="1400" dirty="0">
                <a:latin typeface="Times New Roman"/>
                <a:cs typeface="Times New Roman"/>
              </a:rPr>
              <a:t>Both</a:t>
            </a:r>
            <a:r>
              <a:rPr sz="1400" spc="-20" dirty="0">
                <a:latin typeface="Times New Roman"/>
                <a:cs typeface="Times New Roman"/>
              </a:rPr>
              <a:t> </a:t>
            </a:r>
            <a:r>
              <a:rPr sz="1400" dirty="0">
                <a:latin typeface="Times New Roman"/>
                <a:cs typeface="Times New Roman"/>
              </a:rPr>
              <a:t>modules</a:t>
            </a:r>
            <a:r>
              <a:rPr sz="1400" spc="-15" dirty="0">
                <a:latin typeface="Times New Roman"/>
                <a:cs typeface="Times New Roman"/>
              </a:rPr>
              <a:t> </a:t>
            </a:r>
            <a:r>
              <a:rPr sz="1400" dirty="0">
                <a:latin typeface="Times New Roman"/>
                <a:cs typeface="Times New Roman"/>
              </a:rPr>
              <a:t>work</a:t>
            </a:r>
            <a:r>
              <a:rPr sz="1400" spc="-20" dirty="0">
                <a:latin typeface="Times New Roman"/>
                <a:cs typeface="Times New Roman"/>
              </a:rPr>
              <a:t> </a:t>
            </a:r>
            <a:r>
              <a:rPr sz="1400" dirty="0">
                <a:latin typeface="Times New Roman"/>
                <a:cs typeface="Times New Roman"/>
              </a:rPr>
              <a:t>in</a:t>
            </a:r>
            <a:r>
              <a:rPr sz="1400" spc="-15" dirty="0">
                <a:latin typeface="Times New Roman"/>
                <a:cs typeface="Times New Roman"/>
              </a:rPr>
              <a:t> </a:t>
            </a:r>
            <a:r>
              <a:rPr sz="1400" dirty="0">
                <a:latin typeface="Times New Roman"/>
                <a:cs typeface="Times New Roman"/>
              </a:rPr>
              <a:t>tandem</a:t>
            </a:r>
            <a:r>
              <a:rPr sz="1400" spc="-3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supply</a:t>
            </a:r>
            <a:r>
              <a:rPr sz="1400" spc="-20" dirty="0">
                <a:latin typeface="Times New Roman"/>
                <a:cs typeface="Times New Roman"/>
              </a:rPr>
              <a:t> </a:t>
            </a:r>
            <a:r>
              <a:rPr sz="1400" dirty="0">
                <a:latin typeface="Times New Roman"/>
                <a:cs typeface="Times New Roman"/>
              </a:rPr>
              <a:t>power</a:t>
            </a:r>
            <a:r>
              <a:rPr sz="1400" spc="-25"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25" dirty="0">
                <a:latin typeface="Times New Roman"/>
                <a:cs typeface="Times New Roman"/>
              </a:rPr>
              <a:t>MGD </a:t>
            </a:r>
            <a:r>
              <a:rPr sz="1400" dirty="0">
                <a:latin typeface="Times New Roman"/>
                <a:cs typeface="Times New Roman"/>
              </a:rPr>
              <a:t>Chassis.</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output</a:t>
            </a:r>
            <a:r>
              <a:rPr sz="1400" spc="-25" dirty="0">
                <a:latin typeface="Times New Roman"/>
                <a:cs typeface="Times New Roman"/>
              </a:rPr>
              <a:t> </a:t>
            </a:r>
            <a:r>
              <a:rPr sz="1400" dirty="0">
                <a:latin typeface="Times New Roman"/>
                <a:cs typeface="Times New Roman"/>
              </a:rPr>
              <a:t>voltages</a:t>
            </a:r>
            <a:r>
              <a:rPr sz="1400" spc="-30" dirty="0">
                <a:latin typeface="Times New Roman"/>
                <a:cs typeface="Times New Roman"/>
              </a:rPr>
              <a:t> </a:t>
            </a:r>
            <a:r>
              <a:rPr sz="1400" dirty="0">
                <a:latin typeface="Times New Roman"/>
                <a:cs typeface="Times New Roman"/>
              </a:rPr>
              <a:t>these</a:t>
            </a:r>
            <a:r>
              <a:rPr sz="1400" spc="-30" dirty="0">
                <a:latin typeface="Times New Roman"/>
                <a:cs typeface="Times New Roman"/>
              </a:rPr>
              <a:t> </a:t>
            </a:r>
            <a:r>
              <a:rPr sz="1400" dirty="0">
                <a:latin typeface="Times New Roman"/>
                <a:cs typeface="Times New Roman"/>
              </a:rPr>
              <a:t>boards</a:t>
            </a:r>
            <a:r>
              <a:rPr sz="1400" spc="-25" dirty="0">
                <a:latin typeface="Times New Roman"/>
                <a:cs typeface="Times New Roman"/>
              </a:rPr>
              <a:t> </a:t>
            </a:r>
            <a:r>
              <a:rPr sz="1400" dirty="0">
                <a:latin typeface="Times New Roman"/>
                <a:cs typeface="Times New Roman"/>
              </a:rPr>
              <a:t>provide</a:t>
            </a:r>
            <a:r>
              <a:rPr sz="1400" spc="-30" dirty="0">
                <a:latin typeface="Times New Roman"/>
                <a:cs typeface="Times New Roman"/>
              </a:rPr>
              <a:t> </a:t>
            </a:r>
            <a:r>
              <a:rPr sz="1400" dirty="0">
                <a:latin typeface="Times New Roman"/>
                <a:cs typeface="Times New Roman"/>
              </a:rPr>
              <a:t>cannot</a:t>
            </a:r>
            <a:r>
              <a:rPr sz="1400" spc="-30" dirty="0">
                <a:latin typeface="Times New Roman"/>
                <a:cs typeface="Times New Roman"/>
              </a:rPr>
              <a:t> </a:t>
            </a:r>
            <a:r>
              <a:rPr sz="1400" spc="-25" dirty="0">
                <a:latin typeface="Times New Roman"/>
                <a:cs typeface="Times New Roman"/>
              </a:rPr>
              <a:t>be </a:t>
            </a:r>
            <a:r>
              <a:rPr sz="1400" dirty="0">
                <a:latin typeface="Times New Roman"/>
                <a:cs typeface="Times New Roman"/>
              </a:rPr>
              <a:t>adjusted.</a:t>
            </a:r>
            <a:r>
              <a:rPr sz="1400" spc="270" dirty="0">
                <a:latin typeface="Times New Roman"/>
                <a:cs typeface="Times New Roman"/>
              </a:rPr>
              <a:t> </a:t>
            </a:r>
            <a:r>
              <a:rPr sz="1400" dirty="0">
                <a:latin typeface="Times New Roman"/>
                <a:cs typeface="Times New Roman"/>
              </a:rPr>
              <a:t>During</a:t>
            </a:r>
            <a:r>
              <a:rPr sz="1400" spc="-40" dirty="0">
                <a:latin typeface="Times New Roman"/>
                <a:cs typeface="Times New Roman"/>
              </a:rPr>
              <a:t> </a:t>
            </a:r>
            <a:r>
              <a:rPr sz="1400" dirty="0">
                <a:latin typeface="Times New Roman"/>
                <a:cs typeface="Times New Roman"/>
              </a:rPr>
              <a:t>normal</a:t>
            </a:r>
            <a:r>
              <a:rPr sz="1400" spc="-40" dirty="0">
                <a:latin typeface="Times New Roman"/>
                <a:cs typeface="Times New Roman"/>
              </a:rPr>
              <a:t> </a:t>
            </a:r>
            <a:r>
              <a:rPr sz="1400" dirty="0">
                <a:latin typeface="Times New Roman"/>
                <a:cs typeface="Times New Roman"/>
              </a:rPr>
              <a:t>operation</a:t>
            </a:r>
            <a:r>
              <a:rPr sz="1400" spc="-45" dirty="0">
                <a:latin typeface="Times New Roman"/>
                <a:cs typeface="Times New Roman"/>
              </a:rPr>
              <a:t> </a:t>
            </a: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green</a:t>
            </a:r>
            <a:r>
              <a:rPr sz="1400" spc="-40" dirty="0">
                <a:latin typeface="Times New Roman"/>
                <a:cs typeface="Times New Roman"/>
              </a:rPr>
              <a:t> </a:t>
            </a:r>
            <a:r>
              <a:rPr sz="1400" dirty="0">
                <a:latin typeface="Times New Roman"/>
                <a:cs typeface="Times New Roman"/>
              </a:rPr>
              <a:t>POWER</a:t>
            </a:r>
            <a:r>
              <a:rPr sz="1400" spc="-40" dirty="0">
                <a:latin typeface="Times New Roman"/>
                <a:cs typeface="Times New Roman"/>
              </a:rPr>
              <a:t> </a:t>
            </a:r>
            <a:r>
              <a:rPr sz="1400" spc="-10" dirty="0">
                <a:latin typeface="Times New Roman"/>
                <a:cs typeface="Times New Roman"/>
              </a:rPr>
              <a:t>SUPPLY </a:t>
            </a:r>
            <a:r>
              <a:rPr sz="1400" dirty="0">
                <a:latin typeface="Times New Roman"/>
                <a:cs typeface="Times New Roman"/>
              </a:rPr>
              <a:t>LED</a:t>
            </a:r>
            <a:r>
              <a:rPr sz="1400" spc="-30" dirty="0">
                <a:latin typeface="Times New Roman"/>
                <a:cs typeface="Times New Roman"/>
              </a:rPr>
              <a:t> </a:t>
            </a:r>
            <a:r>
              <a:rPr sz="1400" dirty="0">
                <a:latin typeface="Times New Roman"/>
                <a:cs typeface="Times New Roman"/>
              </a:rPr>
              <a:t>will</a:t>
            </a:r>
            <a:r>
              <a:rPr sz="1400" spc="-30" dirty="0">
                <a:latin typeface="Times New Roman"/>
                <a:cs typeface="Times New Roman"/>
              </a:rPr>
              <a:t> </a:t>
            </a:r>
            <a:r>
              <a:rPr sz="1400" dirty="0">
                <a:latin typeface="Times New Roman"/>
                <a:cs typeface="Times New Roman"/>
              </a:rPr>
              <a:t>be</a:t>
            </a:r>
            <a:r>
              <a:rPr sz="1400" spc="-25" dirty="0">
                <a:latin typeface="Times New Roman"/>
                <a:cs typeface="Times New Roman"/>
              </a:rPr>
              <a:t> </a:t>
            </a:r>
            <a:r>
              <a:rPr sz="1400" dirty="0">
                <a:latin typeface="Times New Roman"/>
                <a:cs typeface="Times New Roman"/>
              </a:rPr>
              <a:t>illuminated.</a:t>
            </a:r>
            <a:r>
              <a:rPr sz="1400" spc="300" dirty="0">
                <a:latin typeface="Times New Roman"/>
                <a:cs typeface="Times New Roman"/>
              </a:rPr>
              <a:t> </a:t>
            </a:r>
            <a:r>
              <a:rPr sz="1400" dirty="0">
                <a:latin typeface="Times New Roman"/>
                <a:cs typeface="Times New Roman"/>
              </a:rPr>
              <a:t>Some</a:t>
            </a:r>
            <a:r>
              <a:rPr sz="1400" spc="-30" dirty="0">
                <a:latin typeface="Times New Roman"/>
                <a:cs typeface="Times New Roman"/>
              </a:rPr>
              <a:t> </a:t>
            </a:r>
            <a:r>
              <a:rPr sz="1400" dirty="0">
                <a:latin typeface="Times New Roman"/>
                <a:cs typeface="Times New Roman"/>
              </a:rPr>
              <a:t>types</a:t>
            </a:r>
            <a:r>
              <a:rPr sz="1400" spc="-2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dirty="0">
                <a:latin typeface="Times New Roman"/>
                <a:cs typeface="Times New Roman"/>
              </a:rPr>
              <a:t>power</a:t>
            </a:r>
            <a:r>
              <a:rPr sz="1400" spc="-25" dirty="0">
                <a:latin typeface="Times New Roman"/>
                <a:cs typeface="Times New Roman"/>
              </a:rPr>
              <a:t> </a:t>
            </a:r>
            <a:r>
              <a:rPr sz="1400" dirty="0">
                <a:latin typeface="Times New Roman"/>
                <a:cs typeface="Times New Roman"/>
              </a:rPr>
              <a:t>supply</a:t>
            </a:r>
            <a:r>
              <a:rPr sz="1400" spc="-30" dirty="0">
                <a:latin typeface="Times New Roman"/>
                <a:cs typeface="Times New Roman"/>
              </a:rPr>
              <a:t> </a:t>
            </a:r>
            <a:r>
              <a:rPr sz="1400" spc="-10" dirty="0">
                <a:latin typeface="Times New Roman"/>
                <a:cs typeface="Times New Roman"/>
              </a:rPr>
              <a:t>failures</a:t>
            </a:r>
            <a:r>
              <a:rPr sz="1400" spc="500" dirty="0">
                <a:latin typeface="Times New Roman"/>
                <a:cs typeface="Times New Roman"/>
              </a:rPr>
              <a:t> </a:t>
            </a:r>
            <a:r>
              <a:rPr sz="1400" dirty="0">
                <a:latin typeface="Times New Roman"/>
                <a:cs typeface="Times New Roman"/>
              </a:rPr>
              <a:t>will</a:t>
            </a:r>
            <a:r>
              <a:rPr sz="1400" spc="-25" dirty="0">
                <a:latin typeface="Times New Roman"/>
                <a:cs typeface="Times New Roman"/>
              </a:rPr>
              <a:t> </a:t>
            </a:r>
            <a:r>
              <a:rPr sz="1400" dirty="0">
                <a:latin typeface="Times New Roman"/>
                <a:cs typeface="Times New Roman"/>
              </a:rPr>
              <a:t>cause</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red</a:t>
            </a:r>
            <a:r>
              <a:rPr sz="1400" spc="-25" dirty="0">
                <a:latin typeface="Times New Roman"/>
                <a:cs typeface="Times New Roman"/>
              </a:rPr>
              <a:t> </a:t>
            </a:r>
            <a:r>
              <a:rPr sz="1400" dirty="0">
                <a:latin typeface="Times New Roman"/>
                <a:cs typeface="Times New Roman"/>
              </a:rPr>
              <a:t>FAULT</a:t>
            </a:r>
            <a:r>
              <a:rPr sz="1400" spc="-25" dirty="0">
                <a:latin typeface="Times New Roman"/>
                <a:cs typeface="Times New Roman"/>
              </a:rPr>
              <a:t> </a:t>
            </a:r>
            <a:r>
              <a:rPr sz="1400" dirty="0">
                <a:latin typeface="Times New Roman"/>
                <a:cs typeface="Times New Roman"/>
              </a:rPr>
              <a:t>LED</a:t>
            </a:r>
            <a:r>
              <a:rPr sz="1400" spc="-2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illuminate.</a:t>
            </a:r>
            <a:r>
              <a:rPr sz="1400" spc="315"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dirty="0">
                <a:latin typeface="Times New Roman"/>
                <a:cs typeface="Times New Roman"/>
              </a:rPr>
              <a:t>row</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Green </a:t>
            </a:r>
            <a:r>
              <a:rPr sz="1400" dirty="0">
                <a:latin typeface="Times New Roman"/>
                <a:cs typeface="Times New Roman"/>
              </a:rPr>
              <a:t>indicator</a:t>
            </a:r>
            <a:r>
              <a:rPr sz="1400" spc="-20" dirty="0">
                <a:latin typeface="Times New Roman"/>
                <a:cs typeface="Times New Roman"/>
              </a:rPr>
              <a:t> </a:t>
            </a:r>
            <a:r>
              <a:rPr sz="1400" dirty="0">
                <a:latin typeface="Times New Roman"/>
                <a:cs typeface="Times New Roman"/>
              </a:rPr>
              <a:t>LEDs</a:t>
            </a:r>
            <a:r>
              <a:rPr sz="1400" spc="-20" dirty="0">
                <a:latin typeface="Times New Roman"/>
                <a:cs typeface="Times New Roman"/>
              </a:rPr>
              <a:t> </a:t>
            </a:r>
            <a:r>
              <a:rPr sz="1400" dirty="0">
                <a:latin typeface="Times New Roman"/>
                <a:cs typeface="Times New Roman"/>
              </a:rPr>
              <a:t>located</a:t>
            </a:r>
            <a:r>
              <a:rPr sz="1400" spc="-20" dirty="0">
                <a:latin typeface="Times New Roman"/>
                <a:cs typeface="Times New Roman"/>
              </a:rPr>
              <a:t> </a:t>
            </a:r>
            <a:r>
              <a:rPr sz="1400" dirty="0">
                <a:latin typeface="Times New Roman"/>
                <a:cs typeface="Times New Roman"/>
              </a:rPr>
              <a:t>above</a:t>
            </a:r>
            <a:r>
              <a:rPr sz="1400" spc="-1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supplies</a:t>
            </a:r>
            <a:r>
              <a:rPr sz="1400" spc="-25" dirty="0">
                <a:latin typeface="Times New Roman"/>
                <a:cs typeface="Times New Roman"/>
              </a:rPr>
              <a:t> </a:t>
            </a:r>
            <a:r>
              <a:rPr sz="1400" dirty="0">
                <a:latin typeface="Times New Roman"/>
                <a:cs typeface="Times New Roman"/>
              </a:rPr>
              <a:t>in</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MGD</a:t>
            </a:r>
            <a:r>
              <a:rPr sz="1400" spc="-20" dirty="0">
                <a:latin typeface="Times New Roman"/>
                <a:cs typeface="Times New Roman"/>
              </a:rPr>
              <a:t> </a:t>
            </a:r>
            <a:r>
              <a:rPr sz="1400" spc="-10" dirty="0">
                <a:latin typeface="Times New Roman"/>
                <a:cs typeface="Times New Roman"/>
              </a:rPr>
              <a:t>Chassis </a:t>
            </a:r>
            <a:r>
              <a:rPr sz="1400" dirty="0">
                <a:latin typeface="Times New Roman"/>
                <a:cs typeface="Times New Roman"/>
              </a:rPr>
              <a:t>provide</a:t>
            </a:r>
            <a:r>
              <a:rPr sz="1400" spc="-3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visual</a:t>
            </a:r>
            <a:r>
              <a:rPr sz="1400" spc="-25" dirty="0">
                <a:latin typeface="Times New Roman"/>
                <a:cs typeface="Times New Roman"/>
              </a:rPr>
              <a:t> </a:t>
            </a:r>
            <a:r>
              <a:rPr sz="1400" dirty="0">
                <a:latin typeface="Times New Roman"/>
                <a:cs typeface="Times New Roman"/>
              </a:rPr>
              <a:t>indication</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dirty="0">
                <a:latin typeface="Times New Roman"/>
                <a:cs typeface="Times New Roman"/>
              </a:rPr>
              <a:t>each</a:t>
            </a:r>
            <a:r>
              <a:rPr sz="1400" spc="-25" dirty="0">
                <a:latin typeface="Times New Roman"/>
                <a:cs typeface="Times New Roman"/>
              </a:rPr>
              <a:t> </a:t>
            </a:r>
            <a:r>
              <a:rPr sz="1400" dirty="0">
                <a:latin typeface="Times New Roman"/>
                <a:cs typeface="Times New Roman"/>
              </a:rPr>
              <a:t>supply</a:t>
            </a:r>
            <a:r>
              <a:rPr sz="1400" spc="-30" dirty="0">
                <a:latin typeface="Times New Roman"/>
                <a:cs typeface="Times New Roman"/>
              </a:rPr>
              <a:t> </a:t>
            </a:r>
            <a:r>
              <a:rPr sz="1400" dirty="0">
                <a:latin typeface="Times New Roman"/>
                <a:cs typeface="Times New Roman"/>
              </a:rPr>
              <a:t>voltage.</a:t>
            </a:r>
            <a:r>
              <a:rPr sz="1400" spc="295" dirty="0">
                <a:latin typeface="Times New Roman"/>
                <a:cs typeface="Times New Roman"/>
              </a:rPr>
              <a:t> </a:t>
            </a:r>
            <a:r>
              <a:rPr sz="1400" dirty="0">
                <a:latin typeface="Times New Roman"/>
                <a:cs typeface="Times New Roman"/>
              </a:rPr>
              <a:t>Test</a:t>
            </a:r>
            <a:r>
              <a:rPr sz="1400" spc="-30" dirty="0">
                <a:latin typeface="Times New Roman"/>
                <a:cs typeface="Times New Roman"/>
              </a:rPr>
              <a:t> </a:t>
            </a:r>
            <a:r>
              <a:rPr sz="1400" spc="-10" dirty="0">
                <a:latin typeface="Times New Roman"/>
                <a:cs typeface="Times New Roman"/>
              </a:rPr>
              <a:t>points</a:t>
            </a:r>
            <a:r>
              <a:rPr sz="1400" spc="500" dirty="0">
                <a:latin typeface="Times New Roman"/>
                <a:cs typeface="Times New Roman"/>
              </a:rPr>
              <a:t> </a:t>
            </a:r>
            <a:r>
              <a:rPr sz="1400" dirty="0">
                <a:latin typeface="Times New Roman"/>
                <a:cs typeface="Times New Roman"/>
              </a:rPr>
              <a:t>next</a:t>
            </a:r>
            <a:r>
              <a:rPr sz="1400" spc="-40" dirty="0">
                <a:latin typeface="Times New Roman"/>
                <a:cs typeface="Times New Roman"/>
              </a:rPr>
              <a:t> </a:t>
            </a:r>
            <a:r>
              <a:rPr sz="1400" dirty="0">
                <a:latin typeface="Times New Roman"/>
                <a:cs typeface="Times New Roman"/>
              </a:rPr>
              <a:t>to</a:t>
            </a:r>
            <a:r>
              <a:rPr sz="1400" spc="-40" dirty="0">
                <a:latin typeface="Times New Roman"/>
                <a:cs typeface="Times New Roman"/>
              </a:rPr>
              <a:t> </a:t>
            </a:r>
            <a:r>
              <a:rPr sz="1400" dirty="0">
                <a:latin typeface="Times New Roman"/>
                <a:cs typeface="Times New Roman"/>
              </a:rPr>
              <a:t>each</a:t>
            </a:r>
            <a:r>
              <a:rPr sz="1400" spc="-35" dirty="0">
                <a:latin typeface="Times New Roman"/>
                <a:cs typeface="Times New Roman"/>
              </a:rPr>
              <a:t> </a:t>
            </a:r>
            <a:r>
              <a:rPr sz="1400" dirty="0">
                <a:latin typeface="Times New Roman"/>
                <a:cs typeface="Times New Roman"/>
              </a:rPr>
              <a:t>LED</a:t>
            </a:r>
            <a:r>
              <a:rPr sz="1400" spc="-40" dirty="0">
                <a:latin typeface="Times New Roman"/>
                <a:cs typeface="Times New Roman"/>
              </a:rPr>
              <a:t> </a:t>
            </a:r>
            <a:r>
              <a:rPr sz="1400" dirty="0">
                <a:latin typeface="Times New Roman"/>
                <a:cs typeface="Times New Roman"/>
              </a:rPr>
              <a:t>provide</a:t>
            </a:r>
            <a:r>
              <a:rPr sz="1400" spc="-40" dirty="0">
                <a:latin typeface="Times New Roman"/>
                <a:cs typeface="Times New Roman"/>
              </a:rPr>
              <a:t> </a:t>
            </a:r>
            <a:r>
              <a:rPr sz="1400" dirty="0">
                <a:latin typeface="Times New Roman"/>
                <a:cs typeface="Times New Roman"/>
              </a:rPr>
              <a:t>a</a:t>
            </a:r>
            <a:r>
              <a:rPr sz="1400" spc="-35" dirty="0">
                <a:latin typeface="Times New Roman"/>
                <a:cs typeface="Times New Roman"/>
              </a:rPr>
              <a:t> </a:t>
            </a:r>
            <a:r>
              <a:rPr sz="1400" dirty="0">
                <a:latin typeface="Times New Roman"/>
                <a:cs typeface="Times New Roman"/>
              </a:rPr>
              <a:t>convenient</a:t>
            </a:r>
            <a:r>
              <a:rPr sz="1400" spc="-35" dirty="0">
                <a:latin typeface="Times New Roman"/>
                <a:cs typeface="Times New Roman"/>
              </a:rPr>
              <a:t> </a:t>
            </a:r>
            <a:r>
              <a:rPr sz="1400" dirty="0">
                <a:latin typeface="Times New Roman"/>
                <a:cs typeface="Times New Roman"/>
              </a:rPr>
              <a:t>measurement</a:t>
            </a:r>
            <a:r>
              <a:rPr sz="1400" spc="-35" dirty="0">
                <a:latin typeface="Times New Roman"/>
                <a:cs typeface="Times New Roman"/>
              </a:rPr>
              <a:t> </a:t>
            </a:r>
            <a:r>
              <a:rPr sz="1400" dirty="0">
                <a:latin typeface="Times New Roman"/>
                <a:cs typeface="Times New Roman"/>
              </a:rPr>
              <a:t>location</a:t>
            </a:r>
            <a:r>
              <a:rPr sz="1400" spc="-35" dirty="0">
                <a:latin typeface="Times New Roman"/>
                <a:cs typeface="Times New Roman"/>
              </a:rPr>
              <a:t> </a:t>
            </a:r>
            <a:r>
              <a:rPr sz="1400" spc="-25" dirty="0">
                <a:latin typeface="Times New Roman"/>
                <a:cs typeface="Times New Roman"/>
              </a:rPr>
              <a:t>for </a:t>
            </a:r>
            <a:r>
              <a:rPr sz="1400" dirty="0">
                <a:latin typeface="Times New Roman"/>
                <a:cs typeface="Times New Roman"/>
              </a:rPr>
              <a:t>checking</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condition</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each</a:t>
            </a:r>
            <a:r>
              <a:rPr sz="1400" spc="-15" dirty="0">
                <a:latin typeface="Times New Roman"/>
                <a:cs typeface="Times New Roman"/>
              </a:rPr>
              <a:t> </a:t>
            </a:r>
            <a:r>
              <a:rPr sz="1400" dirty="0">
                <a:latin typeface="Times New Roman"/>
                <a:cs typeface="Times New Roman"/>
              </a:rPr>
              <a:t>supply</a:t>
            </a:r>
            <a:r>
              <a:rPr sz="1400" spc="-25" dirty="0">
                <a:latin typeface="Times New Roman"/>
                <a:cs typeface="Times New Roman"/>
              </a:rPr>
              <a:t> </a:t>
            </a:r>
            <a:r>
              <a:rPr sz="1400" dirty="0">
                <a:latin typeface="Times New Roman"/>
                <a:cs typeface="Times New Roman"/>
              </a:rPr>
              <a:t>voltage</a:t>
            </a:r>
            <a:r>
              <a:rPr sz="1400" spc="-20" dirty="0">
                <a:latin typeface="Times New Roman"/>
                <a:cs typeface="Times New Roman"/>
              </a:rPr>
              <a:t> </a:t>
            </a:r>
            <a:r>
              <a:rPr sz="1400" dirty="0">
                <a:latin typeface="Times New Roman"/>
                <a:cs typeface="Times New Roman"/>
              </a:rPr>
              <a:t>with</a:t>
            </a:r>
            <a:r>
              <a:rPr sz="1400" spc="-20"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spc="-10" dirty="0">
                <a:latin typeface="Times New Roman"/>
                <a:cs typeface="Times New Roman"/>
              </a:rPr>
              <a:t>Digital </a:t>
            </a:r>
            <a:r>
              <a:rPr sz="1400" dirty="0">
                <a:latin typeface="Times New Roman"/>
                <a:cs typeface="Times New Roman"/>
              </a:rPr>
              <a:t>Multimeter.</a:t>
            </a:r>
            <a:r>
              <a:rPr sz="1400" spc="280" dirty="0">
                <a:latin typeface="Times New Roman"/>
                <a:cs typeface="Times New Roman"/>
              </a:rPr>
              <a:t> </a:t>
            </a:r>
            <a:r>
              <a:rPr sz="1400" dirty="0">
                <a:latin typeface="Times New Roman"/>
                <a:cs typeface="Times New Roman"/>
              </a:rPr>
              <a:t>Please</a:t>
            </a:r>
            <a:r>
              <a:rPr sz="1400" spc="-40" dirty="0">
                <a:latin typeface="Times New Roman"/>
                <a:cs typeface="Times New Roman"/>
              </a:rPr>
              <a:t> </a:t>
            </a:r>
            <a:r>
              <a:rPr sz="1400" dirty="0">
                <a:latin typeface="Times New Roman"/>
                <a:cs typeface="Times New Roman"/>
              </a:rPr>
              <a:t>note</a:t>
            </a:r>
            <a:r>
              <a:rPr sz="1400" spc="-35" dirty="0">
                <a:latin typeface="Times New Roman"/>
                <a:cs typeface="Times New Roman"/>
              </a:rPr>
              <a:t> </a:t>
            </a:r>
            <a:r>
              <a:rPr sz="1400" dirty="0">
                <a:latin typeface="Times New Roman"/>
                <a:cs typeface="Times New Roman"/>
              </a:rPr>
              <a:t>that</a:t>
            </a:r>
            <a:r>
              <a:rPr sz="1400" spc="-3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MGD</a:t>
            </a:r>
            <a:r>
              <a:rPr sz="1400" spc="-40" dirty="0">
                <a:latin typeface="Times New Roman"/>
                <a:cs typeface="Times New Roman"/>
              </a:rPr>
              <a:t> </a:t>
            </a:r>
            <a:r>
              <a:rPr sz="1400" dirty="0">
                <a:latin typeface="Times New Roman"/>
                <a:cs typeface="Times New Roman"/>
              </a:rPr>
              <a:t>hardware</a:t>
            </a:r>
            <a:r>
              <a:rPr sz="1400" spc="-35" dirty="0">
                <a:latin typeface="Times New Roman"/>
                <a:cs typeface="Times New Roman"/>
              </a:rPr>
              <a:t> </a:t>
            </a:r>
            <a:r>
              <a:rPr sz="1400" dirty="0">
                <a:latin typeface="Times New Roman"/>
                <a:cs typeface="Times New Roman"/>
              </a:rPr>
              <a:t>does</a:t>
            </a:r>
            <a:r>
              <a:rPr sz="1400" spc="-20" dirty="0">
                <a:latin typeface="Times New Roman"/>
                <a:cs typeface="Times New Roman"/>
              </a:rPr>
              <a:t> </a:t>
            </a:r>
            <a:r>
              <a:rPr sz="1400" b="1" spc="-25" dirty="0">
                <a:latin typeface="Times New Roman"/>
                <a:cs typeface="Times New Roman"/>
              </a:rPr>
              <a:t>NOT </a:t>
            </a:r>
            <a:r>
              <a:rPr sz="1400" dirty="0">
                <a:latin typeface="Times New Roman"/>
                <a:cs typeface="Times New Roman"/>
              </a:rPr>
              <a:t>support</a:t>
            </a:r>
            <a:r>
              <a:rPr sz="1400" spc="-20" dirty="0">
                <a:latin typeface="Times New Roman"/>
                <a:cs typeface="Times New Roman"/>
              </a:rPr>
              <a:t> </a:t>
            </a:r>
            <a:r>
              <a:rPr sz="1400" dirty="0">
                <a:latin typeface="Times New Roman"/>
                <a:cs typeface="Times New Roman"/>
              </a:rPr>
              <a:t>“hot</a:t>
            </a:r>
            <a:r>
              <a:rPr sz="1400" spc="-20" dirty="0">
                <a:latin typeface="Times New Roman"/>
                <a:cs typeface="Times New Roman"/>
              </a:rPr>
              <a:t> </a:t>
            </a:r>
            <a:r>
              <a:rPr sz="1400" dirty="0">
                <a:latin typeface="Times New Roman"/>
                <a:cs typeface="Times New Roman"/>
              </a:rPr>
              <a:t>swapping”</a:t>
            </a:r>
            <a:r>
              <a:rPr sz="1400" spc="-20" dirty="0">
                <a:latin typeface="Times New Roman"/>
                <a:cs typeface="Times New Roman"/>
              </a:rPr>
              <a:t> </a:t>
            </a:r>
            <a:r>
              <a:rPr sz="1400" dirty="0">
                <a:latin typeface="Times New Roman"/>
                <a:cs typeface="Times New Roman"/>
              </a:rPr>
              <a:t>(i.e.</a:t>
            </a:r>
            <a:r>
              <a:rPr sz="1400" spc="-15" dirty="0">
                <a:latin typeface="Times New Roman"/>
                <a:cs typeface="Times New Roman"/>
              </a:rPr>
              <a:t> </a:t>
            </a:r>
            <a:r>
              <a:rPr sz="1400" dirty="0">
                <a:latin typeface="Times New Roman"/>
                <a:cs typeface="Times New Roman"/>
              </a:rPr>
              <a:t>removing</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installing</a:t>
            </a:r>
            <a:r>
              <a:rPr sz="1400" spc="-20" dirty="0">
                <a:latin typeface="Times New Roman"/>
                <a:cs typeface="Times New Roman"/>
              </a:rPr>
              <a:t> </a:t>
            </a:r>
            <a:r>
              <a:rPr sz="1400" dirty="0">
                <a:latin typeface="Times New Roman"/>
                <a:cs typeface="Times New Roman"/>
              </a:rPr>
              <a:t>power</a:t>
            </a:r>
            <a:r>
              <a:rPr sz="1400" spc="-15" dirty="0">
                <a:latin typeface="Times New Roman"/>
                <a:cs typeface="Times New Roman"/>
              </a:rPr>
              <a:t> </a:t>
            </a:r>
            <a:r>
              <a:rPr sz="1400" spc="-10" dirty="0">
                <a:latin typeface="Times New Roman"/>
                <a:cs typeface="Times New Roman"/>
              </a:rPr>
              <a:t>supply </a:t>
            </a:r>
            <a:r>
              <a:rPr sz="1400" dirty="0">
                <a:latin typeface="Times New Roman"/>
                <a:cs typeface="Times New Roman"/>
              </a:rPr>
              <a:t>with</a:t>
            </a:r>
            <a:r>
              <a:rPr sz="1400" spc="-25" dirty="0">
                <a:latin typeface="Times New Roman"/>
                <a:cs typeface="Times New Roman"/>
              </a:rPr>
              <a:t> </a:t>
            </a:r>
            <a:r>
              <a:rPr sz="1400" dirty="0">
                <a:latin typeface="Times New Roman"/>
                <a:cs typeface="Times New Roman"/>
              </a:rPr>
              <a:t>power</a:t>
            </a:r>
            <a:r>
              <a:rPr sz="1400" spc="-20"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power</a:t>
            </a:r>
            <a:r>
              <a:rPr sz="1400" spc="-20" dirty="0">
                <a:latin typeface="Times New Roman"/>
                <a:cs typeface="Times New Roman"/>
              </a:rPr>
              <a:t> </a:t>
            </a:r>
            <a:r>
              <a:rPr sz="1400" dirty="0">
                <a:latin typeface="Times New Roman"/>
                <a:cs typeface="Times New Roman"/>
              </a:rPr>
              <a:t>supplies.</a:t>
            </a:r>
            <a:r>
              <a:rPr sz="1400" spc="-15" dirty="0">
                <a:latin typeface="Times New Roman"/>
                <a:cs typeface="Times New Roman"/>
              </a:rPr>
              <a:t> </a:t>
            </a:r>
            <a:r>
              <a:rPr sz="1400" dirty="0">
                <a:latin typeface="Times New Roman"/>
                <a:cs typeface="Times New Roman"/>
              </a:rPr>
              <a:t>In</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event</a:t>
            </a:r>
            <a:r>
              <a:rPr sz="1400" spc="-20" dirty="0">
                <a:latin typeface="Times New Roman"/>
                <a:cs typeface="Times New Roman"/>
              </a:rPr>
              <a:t> </a:t>
            </a:r>
            <a:r>
              <a:rPr sz="1400" dirty="0">
                <a:latin typeface="Times New Roman"/>
                <a:cs typeface="Times New Roman"/>
              </a:rPr>
              <a:t>that</a:t>
            </a:r>
            <a:r>
              <a:rPr sz="1400" spc="-20" dirty="0">
                <a:latin typeface="Times New Roman"/>
                <a:cs typeface="Times New Roman"/>
              </a:rPr>
              <a:t> </a:t>
            </a:r>
            <a:r>
              <a:rPr sz="1400" dirty="0">
                <a:latin typeface="Times New Roman"/>
                <a:cs typeface="Times New Roman"/>
              </a:rPr>
              <a:t>one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25" dirty="0">
                <a:latin typeface="Times New Roman"/>
                <a:cs typeface="Times New Roman"/>
              </a:rPr>
              <a:t>the </a:t>
            </a:r>
            <a:r>
              <a:rPr sz="1400" dirty="0">
                <a:latin typeface="Times New Roman"/>
                <a:cs typeface="Times New Roman"/>
              </a:rPr>
              <a:t>modules</a:t>
            </a:r>
            <a:r>
              <a:rPr sz="1400" spc="-35" dirty="0">
                <a:latin typeface="Times New Roman"/>
                <a:cs typeface="Times New Roman"/>
              </a:rPr>
              <a:t> </a:t>
            </a:r>
            <a:r>
              <a:rPr sz="1400" dirty="0">
                <a:latin typeface="Times New Roman"/>
                <a:cs typeface="Times New Roman"/>
              </a:rPr>
              <a:t>fails,</a:t>
            </a:r>
            <a:r>
              <a:rPr sz="1400" spc="-30" dirty="0">
                <a:latin typeface="Times New Roman"/>
                <a:cs typeface="Times New Roman"/>
              </a:rPr>
              <a:t> </a:t>
            </a:r>
            <a:r>
              <a:rPr sz="1400" dirty="0">
                <a:latin typeface="Times New Roman"/>
                <a:cs typeface="Times New Roman"/>
              </a:rPr>
              <a:t>it</a:t>
            </a:r>
            <a:r>
              <a:rPr sz="1400" spc="-30"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recommended</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not</a:t>
            </a:r>
            <a:r>
              <a:rPr sz="1400" spc="-25" dirty="0">
                <a:latin typeface="Times New Roman"/>
                <a:cs typeface="Times New Roman"/>
              </a:rPr>
              <a:t> </a:t>
            </a:r>
            <a:r>
              <a:rPr sz="1400" dirty="0">
                <a:latin typeface="Times New Roman"/>
                <a:cs typeface="Times New Roman"/>
              </a:rPr>
              <a:t>operate</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MGD</a:t>
            </a:r>
            <a:r>
              <a:rPr sz="1400" spc="-25" dirty="0">
                <a:latin typeface="Times New Roman"/>
                <a:cs typeface="Times New Roman"/>
              </a:rPr>
              <a:t> </a:t>
            </a:r>
            <a:r>
              <a:rPr sz="1400" spc="-10" dirty="0">
                <a:latin typeface="Times New Roman"/>
                <a:cs typeface="Times New Roman"/>
              </a:rPr>
              <a:t>Chassis </a:t>
            </a:r>
            <a:r>
              <a:rPr sz="1400" dirty="0">
                <a:latin typeface="Times New Roman"/>
                <a:cs typeface="Times New Roman"/>
              </a:rPr>
              <a:t>with</a:t>
            </a:r>
            <a:r>
              <a:rPr sz="1400" spc="-2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dirty="0">
                <a:latin typeface="Times New Roman"/>
                <a:cs typeface="Times New Roman"/>
              </a:rPr>
              <a:t>single</a:t>
            </a:r>
            <a:r>
              <a:rPr sz="1400" spc="-20" dirty="0">
                <a:latin typeface="Times New Roman"/>
                <a:cs typeface="Times New Roman"/>
              </a:rPr>
              <a:t> </a:t>
            </a:r>
            <a:r>
              <a:rPr sz="1400" dirty="0">
                <a:latin typeface="Times New Roman"/>
                <a:cs typeface="Times New Roman"/>
              </a:rPr>
              <a:t>supply.</a:t>
            </a:r>
            <a:r>
              <a:rPr sz="1400" spc="-20" dirty="0">
                <a:latin typeface="Times New Roman"/>
                <a:cs typeface="Times New Roman"/>
              </a:rPr>
              <a:t> </a:t>
            </a:r>
            <a:r>
              <a:rPr sz="1400" dirty="0">
                <a:latin typeface="Times New Roman"/>
                <a:cs typeface="Times New Roman"/>
              </a:rPr>
              <a:t>One</a:t>
            </a:r>
            <a:r>
              <a:rPr sz="1400" spc="-20" dirty="0">
                <a:latin typeface="Times New Roman"/>
                <a:cs typeface="Times New Roman"/>
              </a:rPr>
              <a:t> </a:t>
            </a:r>
            <a:r>
              <a:rPr sz="1400" dirty="0">
                <a:latin typeface="Times New Roman"/>
                <a:cs typeface="Times New Roman"/>
              </a:rPr>
              <a:t>reason</a:t>
            </a:r>
            <a:r>
              <a:rPr sz="1400" spc="-20" dirty="0">
                <a:latin typeface="Times New Roman"/>
                <a:cs typeface="Times New Roman"/>
              </a:rPr>
              <a:t> </a:t>
            </a:r>
            <a:r>
              <a:rPr sz="1400" dirty="0">
                <a:latin typeface="Times New Roman"/>
                <a:cs typeface="Times New Roman"/>
              </a:rPr>
              <a:t>for</a:t>
            </a:r>
            <a:r>
              <a:rPr sz="1400" spc="-10" dirty="0">
                <a:latin typeface="Times New Roman"/>
                <a:cs typeface="Times New Roman"/>
              </a:rPr>
              <a:t> </a:t>
            </a:r>
            <a:r>
              <a:rPr sz="1400" dirty="0">
                <a:latin typeface="Times New Roman"/>
                <a:cs typeface="Times New Roman"/>
              </a:rPr>
              <a:t>not</a:t>
            </a:r>
            <a:r>
              <a:rPr sz="1400" spc="-20" dirty="0">
                <a:latin typeface="Times New Roman"/>
                <a:cs typeface="Times New Roman"/>
              </a:rPr>
              <a:t> </a:t>
            </a:r>
            <a:r>
              <a:rPr sz="1400" dirty="0">
                <a:latin typeface="Times New Roman"/>
                <a:cs typeface="Times New Roman"/>
              </a:rPr>
              <a:t>doing</a:t>
            </a:r>
            <a:r>
              <a:rPr sz="1400" spc="-15"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that</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25" dirty="0">
                <a:latin typeface="Times New Roman"/>
                <a:cs typeface="Times New Roman"/>
              </a:rPr>
              <a:t>air </a:t>
            </a:r>
            <a:r>
              <a:rPr sz="1400" dirty="0">
                <a:latin typeface="Times New Roman"/>
                <a:cs typeface="Times New Roman"/>
              </a:rPr>
              <a:t>flow</a:t>
            </a:r>
            <a:r>
              <a:rPr sz="1400" spc="-25" dirty="0">
                <a:latin typeface="Times New Roman"/>
                <a:cs typeface="Times New Roman"/>
              </a:rPr>
              <a:t> </a:t>
            </a:r>
            <a:r>
              <a:rPr sz="1400" dirty="0">
                <a:latin typeface="Times New Roman"/>
                <a:cs typeface="Times New Roman"/>
              </a:rPr>
              <a:t>will</a:t>
            </a:r>
            <a:r>
              <a:rPr sz="1400" spc="-20" dirty="0">
                <a:latin typeface="Times New Roman"/>
                <a:cs typeface="Times New Roman"/>
              </a:rPr>
              <a:t> </a:t>
            </a:r>
            <a:r>
              <a:rPr sz="1400" dirty="0">
                <a:latin typeface="Times New Roman"/>
                <a:cs typeface="Times New Roman"/>
              </a:rPr>
              <a:t>be</a:t>
            </a:r>
            <a:r>
              <a:rPr sz="1400" spc="-20" dirty="0">
                <a:latin typeface="Times New Roman"/>
                <a:cs typeface="Times New Roman"/>
              </a:rPr>
              <a:t> </a:t>
            </a:r>
            <a:r>
              <a:rPr sz="1400" dirty="0">
                <a:latin typeface="Times New Roman"/>
                <a:cs typeface="Times New Roman"/>
              </a:rPr>
              <a:t>compromised</a:t>
            </a:r>
            <a:r>
              <a:rPr sz="1400" spc="-20" dirty="0">
                <a:latin typeface="Times New Roman"/>
                <a:cs typeface="Times New Roman"/>
              </a:rPr>
              <a:t> </a:t>
            </a:r>
            <a:r>
              <a:rPr sz="1400" dirty="0">
                <a:latin typeface="Times New Roman"/>
                <a:cs typeface="Times New Roman"/>
              </a:rPr>
              <a:t>due</a:t>
            </a:r>
            <a:r>
              <a:rPr sz="1400" spc="-2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missing</a:t>
            </a:r>
            <a:r>
              <a:rPr sz="1400" spc="-20" dirty="0">
                <a:latin typeface="Times New Roman"/>
                <a:cs typeface="Times New Roman"/>
              </a:rPr>
              <a:t> </a:t>
            </a:r>
            <a:r>
              <a:rPr sz="1400" dirty="0">
                <a:latin typeface="Times New Roman"/>
                <a:cs typeface="Times New Roman"/>
              </a:rPr>
              <a:t>supply.</a:t>
            </a:r>
            <a:r>
              <a:rPr sz="1400" spc="-20"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spc="-10" dirty="0">
                <a:latin typeface="Times New Roman"/>
                <a:cs typeface="Times New Roman"/>
              </a:rPr>
              <a:t>forces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other</a:t>
            </a:r>
            <a:r>
              <a:rPr sz="1400" spc="-25" dirty="0">
                <a:latin typeface="Times New Roman"/>
                <a:cs typeface="Times New Roman"/>
              </a:rPr>
              <a:t> </a:t>
            </a:r>
            <a:r>
              <a:rPr sz="1400" dirty="0">
                <a:latin typeface="Times New Roman"/>
                <a:cs typeface="Times New Roman"/>
              </a:rPr>
              <a:t>boards</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operate</a:t>
            </a:r>
            <a:r>
              <a:rPr sz="1400" spc="-25" dirty="0">
                <a:latin typeface="Times New Roman"/>
                <a:cs typeface="Times New Roman"/>
              </a:rPr>
              <a:t> </a:t>
            </a:r>
            <a:r>
              <a:rPr sz="1400" dirty="0">
                <a:latin typeface="Times New Roman"/>
                <a:cs typeface="Times New Roman"/>
              </a:rPr>
              <a:t>at</a:t>
            </a:r>
            <a:r>
              <a:rPr sz="1400" spc="-25" dirty="0">
                <a:latin typeface="Times New Roman"/>
                <a:cs typeface="Times New Roman"/>
              </a:rPr>
              <a:t> </a:t>
            </a:r>
            <a:r>
              <a:rPr sz="1400" dirty="0">
                <a:latin typeface="Times New Roman"/>
                <a:cs typeface="Times New Roman"/>
              </a:rPr>
              <a:t>less</a:t>
            </a:r>
            <a:r>
              <a:rPr sz="1400" spc="-25" dirty="0">
                <a:latin typeface="Times New Roman"/>
                <a:cs typeface="Times New Roman"/>
              </a:rPr>
              <a:t> </a:t>
            </a:r>
            <a:r>
              <a:rPr sz="1400" dirty="0">
                <a:latin typeface="Times New Roman"/>
                <a:cs typeface="Times New Roman"/>
              </a:rPr>
              <a:t>than</a:t>
            </a:r>
            <a:r>
              <a:rPr sz="1400" spc="-25" dirty="0">
                <a:latin typeface="Times New Roman"/>
                <a:cs typeface="Times New Roman"/>
              </a:rPr>
              <a:t> </a:t>
            </a:r>
            <a:r>
              <a:rPr sz="1400" dirty="0">
                <a:latin typeface="Times New Roman"/>
                <a:cs typeface="Times New Roman"/>
              </a:rPr>
              <a:t>optimal</a:t>
            </a:r>
            <a:r>
              <a:rPr sz="1400" spc="-25" dirty="0">
                <a:latin typeface="Times New Roman"/>
                <a:cs typeface="Times New Roman"/>
              </a:rPr>
              <a:t> </a:t>
            </a:r>
            <a:r>
              <a:rPr sz="1400" spc="-10" dirty="0">
                <a:latin typeface="Times New Roman"/>
                <a:cs typeface="Times New Roman"/>
              </a:rPr>
              <a:t>temperatures</a:t>
            </a:r>
            <a:r>
              <a:rPr sz="1400" spc="500" dirty="0">
                <a:latin typeface="Times New Roman"/>
                <a:cs typeface="Times New Roman"/>
              </a:rPr>
              <a:t> </a:t>
            </a:r>
            <a:r>
              <a:rPr sz="1400" dirty="0">
                <a:latin typeface="Times New Roman"/>
                <a:cs typeface="Times New Roman"/>
              </a:rPr>
              <a:t>which</a:t>
            </a:r>
            <a:r>
              <a:rPr sz="1400" spc="-30" dirty="0">
                <a:latin typeface="Times New Roman"/>
                <a:cs typeface="Times New Roman"/>
              </a:rPr>
              <a:t> </a:t>
            </a:r>
            <a:r>
              <a:rPr sz="1400" dirty="0">
                <a:latin typeface="Times New Roman"/>
                <a:cs typeface="Times New Roman"/>
              </a:rPr>
              <a:t>could</a:t>
            </a:r>
            <a:r>
              <a:rPr sz="1400" spc="-25" dirty="0">
                <a:latin typeface="Times New Roman"/>
                <a:cs typeface="Times New Roman"/>
              </a:rPr>
              <a:t> </a:t>
            </a:r>
            <a:r>
              <a:rPr sz="1400" dirty="0">
                <a:latin typeface="Times New Roman"/>
                <a:cs typeface="Times New Roman"/>
              </a:rPr>
              <a:t>cause</a:t>
            </a:r>
            <a:r>
              <a:rPr sz="1400" spc="-25" dirty="0">
                <a:latin typeface="Times New Roman"/>
                <a:cs typeface="Times New Roman"/>
              </a:rPr>
              <a:t> </a:t>
            </a:r>
            <a:r>
              <a:rPr sz="1400" dirty="0">
                <a:latin typeface="Times New Roman"/>
                <a:cs typeface="Times New Roman"/>
              </a:rPr>
              <a:t>damage.</a:t>
            </a:r>
            <a:r>
              <a:rPr sz="1400" spc="-25" dirty="0">
                <a:latin typeface="Times New Roman"/>
                <a:cs typeface="Times New Roman"/>
              </a:rPr>
              <a:t> </a:t>
            </a:r>
            <a:r>
              <a:rPr sz="1400" dirty="0">
                <a:latin typeface="Times New Roman"/>
                <a:cs typeface="Times New Roman"/>
              </a:rPr>
              <a:t>Another</a:t>
            </a:r>
            <a:r>
              <a:rPr sz="1400" spc="-30" dirty="0">
                <a:latin typeface="Times New Roman"/>
                <a:cs typeface="Times New Roman"/>
              </a:rPr>
              <a:t> </a:t>
            </a:r>
            <a:r>
              <a:rPr sz="1400" dirty="0">
                <a:latin typeface="Times New Roman"/>
                <a:cs typeface="Times New Roman"/>
              </a:rPr>
              <a:t>reason</a:t>
            </a:r>
            <a:r>
              <a:rPr sz="1400" spc="-30" dirty="0">
                <a:latin typeface="Times New Roman"/>
                <a:cs typeface="Times New Roman"/>
              </a:rPr>
              <a:t> </a:t>
            </a:r>
            <a:r>
              <a:rPr sz="1400" dirty="0">
                <a:latin typeface="Times New Roman"/>
                <a:cs typeface="Times New Roman"/>
              </a:rPr>
              <a:t>for</a:t>
            </a:r>
            <a:r>
              <a:rPr sz="1400" spc="-30" dirty="0">
                <a:latin typeface="Times New Roman"/>
                <a:cs typeface="Times New Roman"/>
              </a:rPr>
              <a:t> </a:t>
            </a:r>
            <a:r>
              <a:rPr sz="1400" dirty="0">
                <a:latin typeface="Times New Roman"/>
                <a:cs typeface="Times New Roman"/>
              </a:rPr>
              <a:t>not</a:t>
            </a:r>
            <a:r>
              <a:rPr sz="1400" spc="-30" dirty="0">
                <a:latin typeface="Times New Roman"/>
                <a:cs typeface="Times New Roman"/>
              </a:rPr>
              <a:t> </a:t>
            </a:r>
            <a:r>
              <a:rPr sz="1400" dirty="0">
                <a:latin typeface="Times New Roman"/>
                <a:cs typeface="Times New Roman"/>
              </a:rPr>
              <a:t>doing</a:t>
            </a:r>
            <a:r>
              <a:rPr sz="1400" spc="-30" dirty="0">
                <a:latin typeface="Times New Roman"/>
                <a:cs typeface="Times New Roman"/>
              </a:rPr>
              <a:t> </a:t>
            </a:r>
            <a:r>
              <a:rPr sz="1400" dirty="0">
                <a:latin typeface="Times New Roman"/>
                <a:cs typeface="Times New Roman"/>
              </a:rPr>
              <a:t>this</a:t>
            </a:r>
            <a:r>
              <a:rPr sz="1400" spc="-30" dirty="0">
                <a:latin typeface="Times New Roman"/>
                <a:cs typeface="Times New Roman"/>
              </a:rPr>
              <a:t> </a:t>
            </a:r>
            <a:r>
              <a:rPr sz="1400" spc="-25" dirty="0">
                <a:latin typeface="Times New Roman"/>
                <a:cs typeface="Times New Roman"/>
              </a:rPr>
              <a:t>is </a:t>
            </a:r>
            <a:r>
              <a:rPr sz="1400" dirty="0">
                <a:latin typeface="Times New Roman"/>
                <a:cs typeface="Times New Roman"/>
              </a:rPr>
              <a:t>that</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remaining</a:t>
            </a:r>
            <a:r>
              <a:rPr sz="1400" spc="-20" dirty="0">
                <a:latin typeface="Times New Roman"/>
                <a:cs typeface="Times New Roman"/>
              </a:rPr>
              <a:t> </a:t>
            </a:r>
            <a:r>
              <a:rPr sz="1400" dirty="0">
                <a:latin typeface="Times New Roman"/>
                <a:cs typeface="Times New Roman"/>
              </a:rPr>
              <a:t>power</a:t>
            </a:r>
            <a:r>
              <a:rPr sz="1400" spc="-15" dirty="0">
                <a:latin typeface="Times New Roman"/>
                <a:cs typeface="Times New Roman"/>
              </a:rPr>
              <a:t> </a:t>
            </a:r>
            <a:r>
              <a:rPr sz="1400" dirty="0">
                <a:latin typeface="Times New Roman"/>
                <a:cs typeface="Times New Roman"/>
              </a:rPr>
              <a:t>supply</a:t>
            </a:r>
            <a:r>
              <a:rPr sz="1400" spc="-20" dirty="0">
                <a:latin typeface="Times New Roman"/>
                <a:cs typeface="Times New Roman"/>
              </a:rPr>
              <a:t> </a:t>
            </a:r>
            <a:r>
              <a:rPr sz="1400" dirty="0">
                <a:latin typeface="Times New Roman"/>
                <a:cs typeface="Times New Roman"/>
              </a:rPr>
              <a:t>is</a:t>
            </a:r>
            <a:r>
              <a:rPr sz="1400" spc="-15" dirty="0">
                <a:latin typeface="Times New Roman"/>
                <a:cs typeface="Times New Roman"/>
              </a:rPr>
              <a:t> </a:t>
            </a:r>
            <a:r>
              <a:rPr sz="1400" dirty="0">
                <a:latin typeface="Times New Roman"/>
                <a:cs typeface="Times New Roman"/>
              </a:rPr>
              <a:t>operating</a:t>
            </a:r>
            <a:r>
              <a:rPr sz="1400" spc="-20" dirty="0">
                <a:latin typeface="Times New Roman"/>
                <a:cs typeface="Times New Roman"/>
              </a:rPr>
              <a:t> </a:t>
            </a:r>
            <a:r>
              <a:rPr sz="1400" dirty="0">
                <a:latin typeface="Times New Roman"/>
                <a:cs typeface="Times New Roman"/>
              </a:rPr>
              <a:t>over</a:t>
            </a:r>
            <a:r>
              <a:rPr sz="1400" spc="-15" dirty="0">
                <a:latin typeface="Times New Roman"/>
                <a:cs typeface="Times New Roman"/>
              </a:rPr>
              <a:t> </a:t>
            </a:r>
            <a:r>
              <a:rPr sz="1400" dirty="0">
                <a:latin typeface="Times New Roman"/>
                <a:cs typeface="Times New Roman"/>
              </a:rPr>
              <a:t>capacity</a:t>
            </a:r>
            <a:r>
              <a:rPr sz="1400" spc="-20" dirty="0">
                <a:latin typeface="Times New Roman"/>
                <a:cs typeface="Times New Roman"/>
              </a:rPr>
              <a:t> </a:t>
            </a:r>
            <a:r>
              <a:rPr sz="1400" spc="-25" dirty="0">
                <a:latin typeface="Times New Roman"/>
                <a:cs typeface="Times New Roman"/>
              </a:rPr>
              <a:t>to </a:t>
            </a:r>
            <a:r>
              <a:rPr sz="1400" dirty="0">
                <a:latin typeface="Times New Roman"/>
                <a:cs typeface="Times New Roman"/>
              </a:rPr>
              <a:t>supply</a:t>
            </a:r>
            <a:r>
              <a:rPr sz="1400" spc="-25" dirty="0">
                <a:latin typeface="Times New Roman"/>
                <a:cs typeface="Times New Roman"/>
              </a:rPr>
              <a:t> </a:t>
            </a:r>
            <a:r>
              <a:rPr sz="1400" dirty="0">
                <a:latin typeface="Times New Roman"/>
                <a:cs typeface="Times New Roman"/>
              </a:rPr>
              <a:t>all</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MGD</a:t>
            </a:r>
            <a:r>
              <a:rPr sz="1400" spc="-25" dirty="0">
                <a:latin typeface="Times New Roman"/>
                <a:cs typeface="Times New Roman"/>
              </a:rPr>
              <a:t> </a:t>
            </a:r>
            <a:r>
              <a:rPr sz="1400" dirty="0">
                <a:latin typeface="Times New Roman"/>
                <a:cs typeface="Times New Roman"/>
              </a:rPr>
              <a:t>Chassis</a:t>
            </a:r>
            <a:r>
              <a:rPr sz="1400" spc="-20" dirty="0">
                <a:latin typeface="Times New Roman"/>
                <a:cs typeface="Times New Roman"/>
              </a:rPr>
              <a:t> </a:t>
            </a:r>
            <a:r>
              <a:rPr sz="1400" dirty="0">
                <a:latin typeface="Times New Roman"/>
                <a:cs typeface="Times New Roman"/>
              </a:rPr>
              <a:t>power</a:t>
            </a:r>
            <a:r>
              <a:rPr sz="1400" spc="-20" dirty="0">
                <a:latin typeface="Times New Roman"/>
                <a:cs typeface="Times New Roman"/>
              </a:rPr>
              <a:t> </a:t>
            </a:r>
            <a:r>
              <a:rPr sz="1400" dirty="0">
                <a:latin typeface="Times New Roman"/>
                <a:cs typeface="Times New Roman"/>
              </a:rPr>
              <a:t>needs.</a:t>
            </a:r>
            <a:r>
              <a:rPr sz="1400" spc="-25"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can</a:t>
            </a:r>
            <a:r>
              <a:rPr sz="1400" spc="-25" dirty="0">
                <a:latin typeface="Times New Roman"/>
                <a:cs typeface="Times New Roman"/>
              </a:rPr>
              <a:t> </a:t>
            </a:r>
            <a:r>
              <a:rPr sz="1400" dirty="0">
                <a:latin typeface="Times New Roman"/>
                <a:cs typeface="Times New Roman"/>
              </a:rPr>
              <a:t>damage</a:t>
            </a:r>
            <a:r>
              <a:rPr sz="1400" spc="-20" dirty="0">
                <a:latin typeface="Times New Roman"/>
                <a:cs typeface="Times New Roman"/>
              </a:rPr>
              <a:t> </a:t>
            </a:r>
            <a:r>
              <a:rPr sz="1400" spc="-25" dirty="0">
                <a:latin typeface="Times New Roman"/>
                <a:cs typeface="Times New Roman"/>
              </a:rPr>
              <a:t>the </a:t>
            </a:r>
            <a:r>
              <a:rPr sz="1400" dirty="0">
                <a:latin typeface="Times New Roman"/>
                <a:cs typeface="Times New Roman"/>
              </a:rPr>
              <a:t>power</a:t>
            </a:r>
            <a:r>
              <a:rPr sz="1400" spc="-20" dirty="0">
                <a:latin typeface="Times New Roman"/>
                <a:cs typeface="Times New Roman"/>
              </a:rPr>
              <a:t> </a:t>
            </a:r>
            <a:r>
              <a:rPr sz="1400" dirty="0">
                <a:latin typeface="Times New Roman"/>
                <a:cs typeface="Times New Roman"/>
              </a:rPr>
              <a:t>supply</a:t>
            </a:r>
            <a:r>
              <a:rPr sz="1400" spc="-15"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introduce</a:t>
            </a:r>
            <a:r>
              <a:rPr sz="1400" spc="-15" dirty="0">
                <a:latin typeface="Times New Roman"/>
                <a:cs typeface="Times New Roman"/>
              </a:rPr>
              <a:t> </a:t>
            </a:r>
            <a:r>
              <a:rPr sz="1400" dirty="0">
                <a:latin typeface="Times New Roman"/>
                <a:cs typeface="Times New Roman"/>
              </a:rPr>
              <a:t>intermittent</a:t>
            </a:r>
            <a:r>
              <a:rPr sz="1400" spc="-20" dirty="0">
                <a:latin typeface="Times New Roman"/>
                <a:cs typeface="Times New Roman"/>
              </a:rPr>
              <a:t> </a:t>
            </a:r>
            <a:r>
              <a:rPr sz="1400" dirty="0">
                <a:latin typeface="Times New Roman"/>
                <a:cs typeface="Times New Roman"/>
              </a:rPr>
              <a:t>failures</a:t>
            </a:r>
            <a:r>
              <a:rPr sz="1400" spc="-15" dirty="0">
                <a:latin typeface="Times New Roman"/>
                <a:cs typeface="Times New Roman"/>
              </a:rPr>
              <a:t> </a:t>
            </a:r>
            <a:r>
              <a:rPr sz="1400" dirty="0">
                <a:latin typeface="Times New Roman"/>
                <a:cs typeface="Times New Roman"/>
              </a:rPr>
              <a:t>that</a:t>
            </a:r>
            <a:r>
              <a:rPr sz="1400" spc="-15" dirty="0">
                <a:latin typeface="Times New Roman"/>
                <a:cs typeface="Times New Roman"/>
              </a:rPr>
              <a:t> </a:t>
            </a:r>
            <a:r>
              <a:rPr sz="1400" dirty="0">
                <a:latin typeface="Times New Roman"/>
                <a:cs typeface="Times New Roman"/>
              </a:rPr>
              <a:t>may</a:t>
            </a:r>
            <a:r>
              <a:rPr sz="1400" spc="-20" dirty="0">
                <a:latin typeface="Times New Roman"/>
                <a:cs typeface="Times New Roman"/>
              </a:rPr>
              <a:t> </a:t>
            </a:r>
            <a:r>
              <a:rPr sz="1400" spc="-25" dirty="0">
                <a:latin typeface="Times New Roman"/>
                <a:cs typeface="Times New Roman"/>
              </a:rPr>
              <a:t>be </a:t>
            </a:r>
            <a:r>
              <a:rPr sz="1400" dirty="0">
                <a:latin typeface="Times New Roman"/>
                <a:cs typeface="Times New Roman"/>
              </a:rPr>
              <a:t>difficult</a:t>
            </a:r>
            <a:r>
              <a:rPr sz="1400" spc="-35"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dirty="0">
                <a:latin typeface="Times New Roman"/>
                <a:cs typeface="Times New Roman"/>
              </a:rPr>
              <a:t>isolate.</a:t>
            </a:r>
            <a:r>
              <a:rPr sz="1400" spc="-3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more</a:t>
            </a:r>
            <a:r>
              <a:rPr sz="1400" spc="-35" dirty="0">
                <a:latin typeface="Times New Roman"/>
                <a:cs typeface="Times New Roman"/>
              </a:rPr>
              <a:t> </a:t>
            </a:r>
            <a:r>
              <a:rPr sz="1400" dirty="0">
                <a:latin typeface="Times New Roman"/>
                <a:cs typeface="Times New Roman"/>
              </a:rPr>
              <a:t>options</a:t>
            </a:r>
            <a:r>
              <a:rPr sz="1400" spc="-35" dirty="0">
                <a:latin typeface="Times New Roman"/>
                <a:cs typeface="Times New Roman"/>
              </a:rPr>
              <a:t> </a:t>
            </a:r>
            <a:r>
              <a:rPr sz="1400" dirty="0">
                <a:latin typeface="Times New Roman"/>
                <a:cs typeface="Times New Roman"/>
              </a:rPr>
              <a:t>(boards)</a:t>
            </a:r>
            <a:r>
              <a:rPr sz="1400" spc="-30" dirty="0">
                <a:latin typeface="Times New Roman"/>
                <a:cs typeface="Times New Roman"/>
              </a:rPr>
              <a:t> </a:t>
            </a:r>
            <a:r>
              <a:rPr sz="1400" spc="-10" dirty="0">
                <a:latin typeface="Times New Roman"/>
                <a:cs typeface="Times New Roman"/>
              </a:rPr>
              <a:t>installed</a:t>
            </a:r>
            <a:r>
              <a:rPr sz="1400" spc="-3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spc="-20" dirty="0">
                <a:latin typeface="Times New Roman"/>
                <a:cs typeface="Times New Roman"/>
              </a:rPr>
              <a:t>more </a:t>
            </a:r>
            <a:r>
              <a:rPr sz="1400" dirty="0">
                <a:latin typeface="Times New Roman"/>
                <a:cs typeface="Times New Roman"/>
              </a:rPr>
              <a:t>stress</a:t>
            </a:r>
            <a:r>
              <a:rPr sz="1400" spc="-3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possible</a:t>
            </a:r>
            <a:r>
              <a:rPr sz="1400" spc="-30" dirty="0">
                <a:latin typeface="Times New Roman"/>
                <a:cs typeface="Times New Roman"/>
              </a:rPr>
              <a:t> </a:t>
            </a:r>
            <a:r>
              <a:rPr sz="1400" dirty="0">
                <a:latin typeface="Times New Roman"/>
                <a:cs typeface="Times New Roman"/>
              </a:rPr>
              <a:t>damage</a:t>
            </a:r>
            <a:r>
              <a:rPr sz="1400" spc="-3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single</a:t>
            </a:r>
            <a:r>
              <a:rPr sz="1400" spc="-30" dirty="0">
                <a:latin typeface="Times New Roman"/>
                <a:cs typeface="Times New Roman"/>
              </a:rPr>
              <a:t> </a:t>
            </a:r>
            <a:r>
              <a:rPr sz="1400" dirty="0">
                <a:latin typeface="Times New Roman"/>
                <a:cs typeface="Times New Roman"/>
              </a:rPr>
              <a:t>supply</a:t>
            </a:r>
            <a:r>
              <a:rPr sz="1400" spc="-30" dirty="0">
                <a:latin typeface="Times New Roman"/>
                <a:cs typeface="Times New Roman"/>
              </a:rPr>
              <a:t> </a:t>
            </a:r>
            <a:r>
              <a:rPr sz="1400" dirty="0">
                <a:latin typeface="Times New Roman"/>
                <a:cs typeface="Times New Roman"/>
              </a:rPr>
              <a:t>may</a:t>
            </a:r>
            <a:r>
              <a:rPr sz="1400" spc="-30" dirty="0">
                <a:latin typeface="Times New Roman"/>
                <a:cs typeface="Times New Roman"/>
              </a:rPr>
              <a:t> </a:t>
            </a:r>
            <a:r>
              <a:rPr sz="1400" spc="-10" dirty="0">
                <a:latin typeface="Times New Roman"/>
                <a:cs typeface="Times New Roman"/>
              </a:rPr>
              <a:t>encounter.</a:t>
            </a:r>
            <a:endParaRPr sz="1400">
              <a:latin typeface="Times New Roman"/>
              <a:cs typeface="Times New Roman"/>
            </a:endParaRPr>
          </a:p>
        </p:txBody>
      </p:sp>
      <p:sp>
        <p:nvSpPr>
          <p:cNvPr id="11" name="object 11"/>
          <p:cNvSpPr txBox="1"/>
          <p:nvPr/>
        </p:nvSpPr>
        <p:spPr>
          <a:xfrm>
            <a:off x="2071370" y="644905"/>
            <a:ext cx="3966210" cy="375920"/>
          </a:xfrm>
          <a:prstGeom prst="rect">
            <a:avLst/>
          </a:prstGeom>
          <a:solidFill>
            <a:srgbClr val="FFFFFF"/>
          </a:solidFill>
          <a:ln w="9144">
            <a:solidFill>
              <a:srgbClr val="000000"/>
            </a:solidFill>
          </a:ln>
        </p:spPr>
        <p:txBody>
          <a:bodyPr vert="horz" wrap="square" lIns="0" tIns="42545" rIns="0" bIns="0" rtlCol="0">
            <a:spAutoFit/>
          </a:bodyPr>
          <a:lstStyle/>
          <a:p>
            <a:pPr marL="138430">
              <a:lnSpc>
                <a:spcPct val="100000"/>
              </a:lnSpc>
              <a:spcBef>
                <a:spcPts val="335"/>
              </a:spcBef>
            </a:pPr>
            <a:r>
              <a:rPr sz="1800" b="1" dirty="0">
                <a:latin typeface="Times New Roman"/>
                <a:cs typeface="Times New Roman"/>
              </a:rPr>
              <a:t>Power</a:t>
            </a:r>
            <a:r>
              <a:rPr sz="1800" b="1" spc="-30" dirty="0">
                <a:latin typeface="Times New Roman"/>
                <a:cs typeface="Times New Roman"/>
              </a:rPr>
              <a:t> </a:t>
            </a:r>
            <a:r>
              <a:rPr sz="1800" b="1" dirty="0">
                <a:latin typeface="Times New Roman"/>
                <a:cs typeface="Times New Roman"/>
              </a:rPr>
              <a:t>Supply</a:t>
            </a:r>
            <a:r>
              <a:rPr sz="1800" b="1" spc="-25" dirty="0">
                <a:latin typeface="Times New Roman"/>
                <a:cs typeface="Times New Roman"/>
              </a:rPr>
              <a:t> </a:t>
            </a:r>
            <a:r>
              <a:rPr sz="1800" b="1" dirty="0">
                <a:latin typeface="Times New Roman"/>
                <a:cs typeface="Times New Roman"/>
              </a:rPr>
              <a:t>Modules</a:t>
            </a:r>
            <a:r>
              <a:rPr sz="1800" b="1" spc="-25" dirty="0">
                <a:latin typeface="Times New Roman"/>
                <a:cs typeface="Times New Roman"/>
              </a:rPr>
              <a:t> </a:t>
            </a:r>
            <a:r>
              <a:rPr sz="1800" dirty="0">
                <a:latin typeface="Times New Roman"/>
                <a:cs typeface="Times New Roman"/>
              </a:rPr>
              <a:t>(PS1</a:t>
            </a:r>
            <a:r>
              <a:rPr sz="1800" spc="-20" dirty="0">
                <a:latin typeface="Times New Roman"/>
                <a:cs typeface="Times New Roman"/>
              </a:rPr>
              <a:t> </a:t>
            </a:r>
            <a:r>
              <a:rPr sz="1800" dirty="0">
                <a:latin typeface="Times New Roman"/>
                <a:cs typeface="Times New Roman"/>
              </a:rPr>
              <a:t>F,</a:t>
            </a:r>
            <a:r>
              <a:rPr sz="1800" spc="-25" dirty="0">
                <a:latin typeface="Times New Roman"/>
                <a:cs typeface="Times New Roman"/>
              </a:rPr>
              <a:t> </a:t>
            </a:r>
            <a:r>
              <a:rPr sz="1800" dirty="0">
                <a:latin typeface="Times New Roman"/>
                <a:cs typeface="Times New Roman"/>
              </a:rPr>
              <a:t>PS2</a:t>
            </a:r>
            <a:r>
              <a:rPr sz="1800" spc="-20" dirty="0">
                <a:latin typeface="Times New Roman"/>
                <a:cs typeface="Times New Roman"/>
              </a:rPr>
              <a:t> </a:t>
            </a:r>
            <a:r>
              <a:rPr sz="1800" spc="-25" dirty="0">
                <a:latin typeface="Times New Roman"/>
                <a:cs typeface="Times New Roman"/>
              </a:rPr>
              <a:t>F)</a:t>
            </a:r>
            <a:endParaRPr sz="1800">
              <a:latin typeface="Times New Roman"/>
              <a:cs typeface="Times New Roman"/>
            </a:endParaRPr>
          </a:p>
        </p:txBody>
      </p:sp>
      <p:grpSp>
        <p:nvGrpSpPr>
          <p:cNvPr id="12" name="object 12"/>
          <p:cNvGrpSpPr/>
          <p:nvPr/>
        </p:nvGrpSpPr>
        <p:grpSpPr>
          <a:xfrm>
            <a:off x="2302255" y="144271"/>
            <a:ext cx="5470525" cy="1936750"/>
            <a:chOff x="2302255" y="144271"/>
            <a:chExt cx="5470525" cy="1936750"/>
          </a:xfrm>
        </p:grpSpPr>
        <p:sp>
          <p:nvSpPr>
            <p:cNvPr id="13" name="object 13"/>
            <p:cNvSpPr/>
            <p:nvPr/>
          </p:nvSpPr>
          <p:spPr>
            <a:xfrm>
              <a:off x="6428485" y="1701799"/>
              <a:ext cx="1312545" cy="347980"/>
            </a:xfrm>
            <a:custGeom>
              <a:avLst/>
              <a:gdLst/>
              <a:ahLst/>
              <a:cxnLst/>
              <a:rect l="l" t="t" r="r" b="b"/>
              <a:pathLst>
                <a:path w="1312545" h="347980">
                  <a:moveTo>
                    <a:pt x="0" y="338327"/>
                  </a:moveTo>
                  <a:lnTo>
                    <a:pt x="5638" y="283927"/>
                  </a:lnTo>
                  <a:lnTo>
                    <a:pt x="21335" y="236878"/>
                  </a:lnTo>
                  <a:lnTo>
                    <a:pt x="45262" y="199960"/>
                  </a:lnTo>
                  <a:lnTo>
                    <a:pt x="75590" y="175954"/>
                  </a:lnTo>
                  <a:lnTo>
                    <a:pt x="110490" y="167639"/>
                  </a:lnTo>
                  <a:lnTo>
                    <a:pt x="547878" y="170687"/>
                  </a:lnTo>
                  <a:lnTo>
                    <a:pt x="582411" y="162299"/>
                  </a:lnTo>
                  <a:lnTo>
                    <a:pt x="612556" y="138147"/>
                  </a:lnTo>
                  <a:lnTo>
                    <a:pt x="636483" y="101120"/>
                  </a:lnTo>
                  <a:lnTo>
                    <a:pt x="652363" y="54108"/>
                  </a:lnTo>
                  <a:lnTo>
                    <a:pt x="658368" y="0"/>
                  </a:lnTo>
                  <a:lnTo>
                    <a:pt x="663549" y="54120"/>
                  </a:lnTo>
                  <a:lnTo>
                    <a:pt x="678789" y="101217"/>
                  </a:lnTo>
                  <a:lnTo>
                    <a:pt x="702259" y="138476"/>
                  </a:lnTo>
                  <a:lnTo>
                    <a:pt x="732129" y="163080"/>
                  </a:lnTo>
                  <a:lnTo>
                    <a:pt x="1203960" y="175259"/>
                  </a:lnTo>
                  <a:lnTo>
                    <a:pt x="1238695" y="184391"/>
                  </a:lnTo>
                  <a:lnTo>
                    <a:pt x="1268601" y="208995"/>
                  </a:lnTo>
                  <a:lnTo>
                    <a:pt x="1291961" y="246254"/>
                  </a:lnTo>
                  <a:lnTo>
                    <a:pt x="1307055" y="293351"/>
                  </a:lnTo>
                  <a:lnTo>
                    <a:pt x="1312164" y="347471"/>
                  </a:lnTo>
                </a:path>
              </a:pathLst>
            </a:custGeom>
            <a:ln w="63246">
              <a:solidFill>
                <a:srgbClr val="FFFFFF"/>
              </a:solidFill>
            </a:ln>
          </p:spPr>
          <p:txBody>
            <a:bodyPr wrap="square" lIns="0" tIns="0" rIns="0" bIns="0" rtlCol="0"/>
            <a:lstStyle/>
            <a:p>
              <a:endParaRPr/>
            </a:p>
          </p:txBody>
        </p:sp>
        <p:sp>
          <p:nvSpPr>
            <p:cNvPr id="14" name="object 14"/>
            <p:cNvSpPr/>
            <p:nvPr/>
          </p:nvSpPr>
          <p:spPr>
            <a:xfrm>
              <a:off x="6423152" y="1697227"/>
              <a:ext cx="1313180" cy="347980"/>
            </a:xfrm>
            <a:custGeom>
              <a:avLst/>
              <a:gdLst/>
              <a:ahLst/>
              <a:cxnLst/>
              <a:rect l="l" t="t" r="r" b="b"/>
              <a:pathLst>
                <a:path w="1313179" h="347980">
                  <a:moveTo>
                    <a:pt x="0" y="337565"/>
                  </a:moveTo>
                  <a:lnTo>
                    <a:pt x="6010" y="283531"/>
                  </a:lnTo>
                  <a:lnTo>
                    <a:pt x="21933" y="236665"/>
                  </a:lnTo>
                  <a:lnTo>
                    <a:pt x="45976" y="199747"/>
                  </a:lnTo>
                  <a:lnTo>
                    <a:pt x="76346" y="175558"/>
                  </a:lnTo>
                  <a:lnTo>
                    <a:pt x="111251" y="166877"/>
                  </a:lnTo>
                  <a:lnTo>
                    <a:pt x="548640" y="170687"/>
                  </a:lnTo>
                  <a:lnTo>
                    <a:pt x="583173" y="162007"/>
                  </a:lnTo>
                  <a:lnTo>
                    <a:pt x="613318" y="137818"/>
                  </a:lnTo>
                  <a:lnTo>
                    <a:pt x="637245" y="100900"/>
                  </a:lnTo>
                  <a:lnTo>
                    <a:pt x="653125" y="54034"/>
                  </a:lnTo>
                  <a:lnTo>
                    <a:pt x="659129" y="0"/>
                  </a:lnTo>
                  <a:lnTo>
                    <a:pt x="664311" y="54120"/>
                  </a:lnTo>
                  <a:lnTo>
                    <a:pt x="679551" y="101217"/>
                  </a:lnTo>
                  <a:lnTo>
                    <a:pt x="703021" y="138476"/>
                  </a:lnTo>
                  <a:lnTo>
                    <a:pt x="732891" y="163080"/>
                  </a:lnTo>
                  <a:lnTo>
                    <a:pt x="1204722" y="175259"/>
                  </a:lnTo>
                  <a:lnTo>
                    <a:pt x="1239457" y="184391"/>
                  </a:lnTo>
                  <a:lnTo>
                    <a:pt x="1269363" y="208995"/>
                  </a:lnTo>
                  <a:lnTo>
                    <a:pt x="1292723" y="246254"/>
                  </a:lnTo>
                  <a:lnTo>
                    <a:pt x="1307817" y="293351"/>
                  </a:lnTo>
                  <a:lnTo>
                    <a:pt x="1312926" y="347471"/>
                  </a:lnTo>
                </a:path>
              </a:pathLst>
            </a:custGeom>
            <a:ln w="32004">
              <a:solidFill>
                <a:srgbClr val="000000"/>
              </a:solidFill>
            </a:ln>
          </p:spPr>
          <p:txBody>
            <a:bodyPr wrap="square" lIns="0" tIns="0" rIns="0" bIns="0" rtlCol="0"/>
            <a:lstStyle/>
            <a:p>
              <a:endParaRPr/>
            </a:p>
          </p:txBody>
        </p:sp>
        <p:sp>
          <p:nvSpPr>
            <p:cNvPr id="15" name="object 15"/>
            <p:cNvSpPr/>
            <p:nvPr/>
          </p:nvSpPr>
          <p:spPr>
            <a:xfrm>
              <a:off x="2302255" y="144271"/>
              <a:ext cx="4414520" cy="407034"/>
            </a:xfrm>
            <a:custGeom>
              <a:avLst/>
              <a:gdLst/>
              <a:ahLst/>
              <a:cxnLst/>
              <a:rect l="l" t="t" r="r" b="b"/>
              <a:pathLst>
                <a:path w="4414520" h="407034">
                  <a:moveTo>
                    <a:pt x="4414266" y="406907"/>
                  </a:moveTo>
                  <a:lnTo>
                    <a:pt x="4414266" y="0"/>
                  </a:lnTo>
                  <a:lnTo>
                    <a:pt x="0" y="0"/>
                  </a:lnTo>
                  <a:lnTo>
                    <a:pt x="0" y="406907"/>
                  </a:lnTo>
                  <a:lnTo>
                    <a:pt x="4414266" y="406907"/>
                  </a:lnTo>
                  <a:close/>
                </a:path>
              </a:pathLst>
            </a:custGeom>
            <a:solidFill>
              <a:srgbClr val="FFFFFF"/>
            </a:solidFill>
          </p:spPr>
          <p:txBody>
            <a:bodyPr wrap="square" lIns="0" tIns="0" rIns="0" bIns="0" rtlCol="0"/>
            <a:lstStyle/>
            <a:p>
              <a:endParaRPr/>
            </a:p>
          </p:txBody>
        </p:sp>
      </p:grpSp>
      <p:sp>
        <p:nvSpPr>
          <p:cNvPr id="16" name="object 16"/>
          <p:cNvSpPr txBox="1">
            <a:spLocks noGrp="1"/>
          </p:cNvSpPr>
          <p:nvPr>
            <p:ph type="title"/>
          </p:nvPr>
        </p:nvSpPr>
        <p:spPr>
          <a:xfrm>
            <a:off x="2302255" y="144271"/>
            <a:ext cx="4414520" cy="407034"/>
          </a:xfrm>
          <a:prstGeom prst="rect">
            <a:avLst/>
          </a:prstGeom>
          <a:ln w="9144">
            <a:solidFill>
              <a:srgbClr val="000000"/>
            </a:solidFill>
          </a:ln>
        </p:spPr>
        <p:txBody>
          <a:bodyPr vert="horz" wrap="square" lIns="0" tIns="41275" rIns="0" bIns="0" rtlCol="0">
            <a:spAutoFit/>
          </a:bodyPr>
          <a:lstStyle/>
          <a:p>
            <a:pPr marL="13779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MGD</a:t>
            </a:r>
            <a:r>
              <a:rPr sz="2000" b="1" spc="-25" dirty="0">
                <a:latin typeface="Times New Roman"/>
                <a:cs typeface="Times New Roman"/>
              </a:rPr>
              <a:t> </a:t>
            </a:r>
            <a:r>
              <a:rPr sz="2000" b="1" dirty="0">
                <a:latin typeface="Times New Roman"/>
                <a:cs typeface="Times New Roman"/>
              </a:rPr>
              <a:t>Chassis</a:t>
            </a:r>
            <a:r>
              <a:rPr sz="2000" b="1" spc="-25" dirty="0">
                <a:latin typeface="Times New Roman"/>
                <a:cs typeface="Times New Roman"/>
              </a:rPr>
              <a:t> </a:t>
            </a:r>
            <a:r>
              <a:rPr sz="2000" b="1" spc="-10" dirty="0">
                <a:latin typeface="Times New Roman"/>
                <a:cs typeface="Times New Roman"/>
              </a:rPr>
              <a:t>Front</a:t>
            </a:r>
            <a:endParaRPr sz="2000">
              <a:latin typeface="Times New Roman"/>
              <a:cs typeface="Times New Roman"/>
            </a:endParaRPr>
          </a:p>
        </p:txBody>
      </p:sp>
      <p:grpSp>
        <p:nvGrpSpPr>
          <p:cNvPr id="17" name="object 17"/>
          <p:cNvGrpSpPr/>
          <p:nvPr/>
        </p:nvGrpSpPr>
        <p:grpSpPr>
          <a:xfrm>
            <a:off x="7642352" y="-4572"/>
            <a:ext cx="1480820" cy="280670"/>
            <a:chOff x="7642352" y="-4572"/>
            <a:chExt cx="1480820" cy="280670"/>
          </a:xfrm>
        </p:grpSpPr>
        <p:sp>
          <p:nvSpPr>
            <p:cNvPr id="18" name="object 18"/>
            <p:cNvSpPr/>
            <p:nvPr/>
          </p:nvSpPr>
          <p:spPr>
            <a:xfrm>
              <a:off x="7646924" y="0"/>
              <a:ext cx="1471930" cy="271780"/>
            </a:xfrm>
            <a:custGeom>
              <a:avLst/>
              <a:gdLst/>
              <a:ahLst/>
              <a:cxnLst/>
              <a:rect l="l" t="t" r="r" b="b"/>
              <a:pathLst>
                <a:path w="1471929" h="271780">
                  <a:moveTo>
                    <a:pt x="0" y="0"/>
                  </a:moveTo>
                  <a:lnTo>
                    <a:pt x="0" y="271525"/>
                  </a:lnTo>
                  <a:lnTo>
                    <a:pt x="1471676" y="271525"/>
                  </a:lnTo>
                  <a:lnTo>
                    <a:pt x="1471676" y="0"/>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7646924" y="0"/>
              <a:ext cx="1471930" cy="271780"/>
            </a:xfrm>
            <a:custGeom>
              <a:avLst/>
              <a:gdLst/>
              <a:ahLst/>
              <a:cxnLst/>
              <a:rect l="l" t="t" r="r" b="b"/>
              <a:pathLst>
                <a:path w="1471929" h="271780">
                  <a:moveTo>
                    <a:pt x="0" y="0"/>
                  </a:moveTo>
                  <a:lnTo>
                    <a:pt x="0" y="271525"/>
                  </a:lnTo>
                  <a:lnTo>
                    <a:pt x="1471676" y="271525"/>
                  </a:lnTo>
                </a:path>
              </a:pathLst>
            </a:custGeom>
            <a:ln w="9144">
              <a:solidFill>
                <a:srgbClr val="000000"/>
              </a:solidFill>
            </a:ln>
          </p:spPr>
          <p:txBody>
            <a:bodyPr wrap="square" lIns="0" tIns="0" rIns="0" bIns="0" rtlCol="0"/>
            <a:lstStyle/>
            <a:p>
              <a:endParaRPr/>
            </a:p>
          </p:txBody>
        </p:sp>
      </p:grpSp>
      <p:sp>
        <p:nvSpPr>
          <p:cNvPr id="20" name="object 20"/>
          <p:cNvSpPr txBox="1"/>
          <p:nvPr/>
        </p:nvSpPr>
        <p:spPr>
          <a:xfrm>
            <a:off x="817753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2605" y="459994"/>
            <a:ext cx="4255134" cy="391159"/>
          </a:xfrm>
        </p:spPr>
        <p:txBody>
          <a:bodyPr wrap="square">
            <a:normAutofit/>
          </a:bodyPr>
          <a:lstStyle/>
          <a:p>
            <a:r>
              <a:rPr lang="en-US"/>
              <a:t>MGD Troubleshooting</a:t>
            </a:r>
          </a:p>
        </p:txBody>
      </p:sp>
      <p:sp>
        <p:nvSpPr>
          <p:cNvPr id="3" name="Content Placeholder 2"/>
          <p:cNvSpPr>
            <a:spLocks noGrp="1"/>
          </p:cNvSpPr>
          <p:nvPr>
            <p:ph sz="half" idx="2"/>
          </p:nvPr>
        </p:nvSpPr>
        <p:spPr>
          <a:xfrm>
            <a:off x="455930" y="1571498"/>
            <a:ext cx="3966591" cy="4509516"/>
          </a:xfrm>
        </p:spPr>
        <p:txBody>
          <a:bodyPr wrap="square">
            <a:normAutofit/>
          </a:bodyPr>
          <a:lstStyle/>
          <a:p>
            <a:pPr>
              <a:lnSpc>
                <a:spcPct val="90000"/>
              </a:lnSpc>
              <a:spcAft>
                <a:spcPts val="600"/>
              </a:spcAft>
            </a:pPr>
            <a:r>
              <a:rPr lang="en-US" sz="1100"/>
              <a:t>The  minimum configuration needed to boot up the MGD chassis is:</a:t>
            </a:r>
          </a:p>
          <a:p>
            <a:pPr lvl="1">
              <a:lnSpc>
                <a:spcPct val="90000"/>
              </a:lnSpc>
              <a:spcAft>
                <a:spcPts val="600"/>
              </a:spcAft>
            </a:pPr>
            <a:r>
              <a:rPr lang="en-US" sz="1100">
                <a:solidFill>
                  <a:schemeClr val="tx1"/>
                </a:solidFill>
              </a:rPr>
              <a:t>SCP</a:t>
            </a:r>
          </a:p>
          <a:p>
            <a:pPr lvl="1">
              <a:lnSpc>
                <a:spcPct val="90000"/>
              </a:lnSpc>
              <a:spcAft>
                <a:spcPts val="600"/>
              </a:spcAft>
            </a:pPr>
            <a:r>
              <a:rPr lang="en-US" sz="1100">
                <a:solidFill>
                  <a:schemeClr val="tx1"/>
                </a:solidFill>
              </a:rPr>
              <a:t>APS</a:t>
            </a:r>
          </a:p>
          <a:p>
            <a:pPr lvl="1">
              <a:lnSpc>
                <a:spcPct val="90000"/>
              </a:lnSpc>
              <a:spcAft>
                <a:spcPts val="600"/>
              </a:spcAft>
            </a:pPr>
            <a:r>
              <a:rPr lang="en-US" sz="1100">
                <a:solidFill>
                  <a:schemeClr val="tx1"/>
                </a:solidFill>
              </a:rPr>
              <a:t>AGP</a:t>
            </a:r>
          </a:p>
          <a:p>
            <a:pPr lvl="1">
              <a:lnSpc>
                <a:spcPct val="90000"/>
              </a:lnSpc>
              <a:spcAft>
                <a:spcPts val="600"/>
              </a:spcAft>
            </a:pPr>
            <a:r>
              <a:rPr lang="en-US" sz="1100">
                <a:solidFill>
                  <a:schemeClr val="tx1"/>
                </a:solidFill>
              </a:rPr>
              <a:t>Bridge board</a:t>
            </a:r>
          </a:p>
          <a:p>
            <a:pPr lvl="1">
              <a:lnSpc>
                <a:spcPct val="90000"/>
              </a:lnSpc>
              <a:spcAft>
                <a:spcPts val="600"/>
              </a:spcAft>
            </a:pPr>
            <a:r>
              <a:rPr lang="en-US" sz="1100">
                <a:solidFill>
                  <a:schemeClr val="tx1"/>
                </a:solidFill>
              </a:rPr>
              <a:t>Power Supplies</a:t>
            </a:r>
          </a:p>
          <a:p>
            <a:pPr>
              <a:lnSpc>
                <a:spcPct val="90000"/>
              </a:lnSpc>
              <a:spcAft>
                <a:spcPts val="600"/>
              </a:spcAft>
            </a:pPr>
            <a:r>
              <a:rPr lang="en-US" sz="1100"/>
              <a:t>With this configuration, application will be able to boot all the way up but TPS will not respond. Very useful for down systems.</a:t>
            </a:r>
          </a:p>
          <a:p>
            <a:pPr>
              <a:lnSpc>
                <a:spcPct val="90000"/>
              </a:lnSpc>
              <a:spcAft>
                <a:spcPts val="600"/>
              </a:spcAft>
            </a:pPr>
            <a:r>
              <a:rPr lang="en-US" sz="1100"/>
              <a:t>We can ping all three processor boards from the host, that tells us that they are alive and the network path is working.</a:t>
            </a:r>
          </a:p>
          <a:p>
            <a:pPr>
              <a:lnSpc>
                <a:spcPct val="90000"/>
              </a:lnSpc>
              <a:spcAft>
                <a:spcPts val="600"/>
              </a:spcAft>
            </a:pPr>
            <a:r>
              <a:rPr lang="en-US" sz="1100"/>
              <a:t>We can ping the term server</a:t>
            </a:r>
          </a:p>
          <a:p>
            <a:pPr>
              <a:lnSpc>
                <a:spcPct val="90000"/>
              </a:lnSpc>
              <a:spcAft>
                <a:spcPts val="600"/>
              </a:spcAft>
            </a:pPr>
            <a:r>
              <a:rPr lang="en-US" sz="1100"/>
              <a:t>Measure power supply for term server, fails with power outages.</a:t>
            </a:r>
          </a:p>
          <a:p>
            <a:pPr>
              <a:lnSpc>
                <a:spcPct val="90000"/>
              </a:lnSpc>
              <a:spcAft>
                <a:spcPts val="600"/>
              </a:spcAft>
            </a:pPr>
            <a:r>
              <a:rPr lang="en-US" sz="1100"/>
              <a:t>Swap AGP and APS.</a:t>
            </a:r>
          </a:p>
          <a:p>
            <a:pPr>
              <a:lnSpc>
                <a:spcPct val="90000"/>
              </a:lnSpc>
              <a:spcAft>
                <a:spcPts val="600"/>
              </a:spcAft>
            </a:pPr>
            <a:r>
              <a:rPr lang="en-US" sz="1100"/>
              <a:t>Ping the network card (</a:t>
            </a:r>
            <a:r>
              <a:rPr lang="en-US" sz="1100" err="1"/>
              <a:t>tgate</a:t>
            </a:r>
            <a:r>
              <a:rPr lang="en-US" sz="1100"/>
              <a:t>)</a:t>
            </a:r>
          </a:p>
          <a:p>
            <a:pPr>
              <a:lnSpc>
                <a:spcPct val="90000"/>
              </a:lnSpc>
              <a:spcAft>
                <a:spcPts val="600"/>
              </a:spcAft>
            </a:pPr>
            <a:r>
              <a:rPr lang="en-US" sz="1100"/>
              <a:t>Ping the term server (TS1)</a:t>
            </a:r>
          </a:p>
          <a:p>
            <a:pPr>
              <a:lnSpc>
                <a:spcPct val="90000"/>
              </a:lnSpc>
              <a:spcAft>
                <a:spcPts val="600"/>
              </a:spcAft>
            </a:pPr>
            <a:r>
              <a:rPr lang="en-US" sz="1100"/>
              <a:t>Change the term server legs and do a TPS reset.</a:t>
            </a:r>
          </a:p>
          <a:p>
            <a:pPr>
              <a:lnSpc>
                <a:spcPct val="90000"/>
              </a:lnSpc>
              <a:spcAft>
                <a:spcPts val="600"/>
              </a:spcAft>
            </a:pPr>
            <a:r>
              <a:rPr lang="en-US" sz="1100"/>
              <a:t>You can watch the processors boot by typing ‘</a:t>
            </a:r>
            <a:r>
              <a:rPr lang="en-US" sz="1100" err="1"/>
              <a:t>mgd_term</a:t>
            </a:r>
            <a:r>
              <a:rPr lang="en-US" sz="1100"/>
              <a:t>’ in a </a:t>
            </a:r>
            <a:r>
              <a:rPr lang="en-US" sz="1100" err="1"/>
              <a:t>cshell</a:t>
            </a:r>
            <a:r>
              <a:rPr lang="en-US" sz="1100"/>
              <a:t>.</a:t>
            </a:r>
          </a:p>
          <a:p>
            <a:pPr>
              <a:lnSpc>
                <a:spcPct val="90000"/>
              </a:lnSpc>
              <a:spcAft>
                <a:spcPts val="600"/>
              </a:spcAft>
            </a:pPr>
            <a:r>
              <a:rPr lang="en-US" sz="1100"/>
              <a:t>Load software when ordering parts. In many instances, application software corruption will have the same symptoms as the board failures.</a:t>
            </a:r>
          </a:p>
          <a:p>
            <a:pPr lvl="1">
              <a:lnSpc>
                <a:spcPct val="90000"/>
              </a:lnSpc>
              <a:spcAft>
                <a:spcPts val="600"/>
              </a:spcAft>
            </a:pPr>
            <a:endParaRPr lang="en-US" sz="1100">
              <a:solidFill>
                <a:schemeClr val="tx1"/>
              </a:solidFill>
            </a:endParaRPr>
          </a:p>
        </p:txBody>
      </p:sp>
      <p:sp>
        <p:nvSpPr>
          <p:cNvPr id="5" name="Slide Number Placeholder 4" hidden="1"/>
          <p:cNvSpPr>
            <a:spLocks noGrp="1"/>
          </p:cNvSpPr>
          <p:nvPr>
            <p:ph type="sldNum" sz="quarter" idx="4294967295"/>
          </p:nvPr>
        </p:nvSpPr>
        <p:spPr>
          <a:xfrm>
            <a:off x="6553200" y="635635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A96FCAC1-F539-4436-A8D9-9E19D1673FCA}" type="slidenum">
              <a:rPr lang="en-US" smtClean="0"/>
              <a:pPr>
                <a:spcAft>
                  <a:spcPts val="600"/>
                </a:spcAft>
              </a:pPr>
              <a:t>26</a:t>
            </a:fld>
            <a:endParaRPr lang="en-US"/>
          </a:p>
        </p:txBody>
      </p:sp>
      <p:pic>
        <p:nvPicPr>
          <p:cNvPr id="9" name="Content Placeholder 8">
            <a:extLst>
              <a:ext uri="{FF2B5EF4-FFF2-40B4-BE49-F238E27FC236}">
                <a16:creationId xmlns:a16="http://schemas.microsoft.com/office/drawing/2014/main" id="{0F4CE619-1E22-9AAE-F64D-A5B824F2F536}"/>
              </a:ext>
            </a:extLst>
          </p:cNvPr>
          <p:cNvPicPr>
            <a:picLocks noGrp="1" noChangeAspect="1"/>
          </p:cNvPicPr>
          <p:nvPr>
            <p:ph sz="half" idx="3"/>
          </p:nvPr>
        </p:nvPicPr>
        <p:blipFill>
          <a:blip r:embed="rId2" cstate="print">
            <a:extLst>
              <a:ext uri="{28A0092B-C50C-407E-A947-70E740481C1C}">
                <a14:useLocalDpi xmlns:a14="http://schemas.microsoft.com/office/drawing/2010/main" val="0"/>
              </a:ext>
            </a:extLst>
          </a:blip>
          <a:stretch>
            <a:fillRect/>
          </a:stretch>
        </p:blipFill>
        <p:spPr>
          <a:xfrm>
            <a:off x="4695825" y="2339466"/>
            <a:ext cx="3967163" cy="297440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8900160" cy="6824980"/>
            <a:chOff x="0" y="0"/>
            <a:chExt cx="8900160" cy="6824980"/>
          </a:xfrm>
        </p:grpSpPr>
        <p:pic>
          <p:nvPicPr>
            <p:cNvPr id="3" name="object 3"/>
            <p:cNvPicPr/>
            <p:nvPr/>
          </p:nvPicPr>
          <p:blipFill>
            <a:blip r:embed="rId2" cstate="print"/>
            <a:stretch>
              <a:fillRect/>
            </a:stretch>
          </p:blipFill>
          <p:spPr>
            <a:xfrm>
              <a:off x="87122" y="29971"/>
              <a:ext cx="8812530" cy="6794754"/>
            </a:xfrm>
            <a:prstGeom prst="rect">
              <a:avLst/>
            </a:prstGeom>
          </p:spPr>
        </p:pic>
        <p:sp>
          <p:nvSpPr>
            <p:cNvPr id="4" name="object 4"/>
            <p:cNvSpPr/>
            <p:nvPr/>
          </p:nvSpPr>
          <p:spPr>
            <a:xfrm>
              <a:off x="6064250" y="2546095"/>
              <a:ext cx="565785" cy="259079"/>
            </a:xfrm>
            <a:custGeom>
              <a:avLst/>
              <a:gdLst/>
              <a:ahLst/>
              <a:cxnLst/>
              <a:rect l="l" t="t" r="r" b="b"/>
              <a:pathLst>
                <a:path w="565784" h="259080">
                  <a:moveTo>
                    <a:pt x="565403" y="0"/>
                  </a:moveTo>
                  <a:lnTo>
                    <a:pt x="0" y="259079"/>
                  </a:lnTo>
                </a:path>
              </a:pathLst>
            </a:custGeom>
            <a:ln w="114300">
              <a:solidFill>
                <a:srgbClr val="FFFFFF"/>
              </a:solidFill>
            </a:ln>
          </p:spPr>
          <p:txBody>
            <a:bodyPr wrap="square" lIns="0" tIns="0" rIns="0" bIns="0" rtlCol="0"/>
            <a:lstStyle/>
            <a:p>
              <a:endParaRPr/>
            </a:p>
          </p:txBody>
        </p:sp>
        <p:sp>
          <p:nvSpPr>
            <p:cNvPr id="5" name="object 5"/>
            <p:cNvSpPr/>
            <p:nvPr/>
          </p:nvSpPr>
          <p:spPr>
            <a:xfrm>
              <a:off x="5737352" y="2640583"/>
              <a:ext cx="405130" cy="329565"/>
            </a:xfrm>
            <a:custGeom>
              <a:avLst/>
              <a:gdLst/>
              <a:ahLst/>
              <a:cxnLst/>
              <a:rect l="l" t="t" r="r" b="b"/>
              <a:pathLst>
                <a:path w="405129" h="329564">
                  <a:moveTo>
                    <a:pt x="404622" y="329183"/>
                  </a:moveTo>
                  <a:lnTo>
                    <a:pt x="253746" y="0"/>
                  </a:lnTo>
                  <a:lnTo>
                    <a:pt x="0" y="315467"/>
                  </a:lnTo>
                  <a:lnTo>
                    <a:pt x="404622" y="329183"/>
                  </a:lnTo>
                  <a:close/>
                </a:path>
              </a:pathLst>
            </a:custGeom>
            <a:solidFill>
              <a:srgbClr val="FFFFFF"/>
            </a:solidFill>
          </p:spPr>
          <p:txBody>
            <a:bodyPr wrap="square" lIns="0" tIns="0" rIns="0" bIns="0" rtlCol="0"/>
            <a:lstStyle/>
            <a:p>
              <a:endParaRPr/>
            </a:p>
          </p:txBody>
        </p:sp>
        <p:sp>
          <p:nvSpPr>
            <p:cNvPr id="6" name="object 6"/>
            <p:cNvSpPr/>
            <p:nvPr/>
          </p:nvSpPr>
          <p:spPr>
            <a:xfrm>
              <a:off x="6015482" y="2549144"/>
              <a:ext cx="614680" cy="287655"/>
            </a:xfrm>
            <a:custGeom>
              <a:avLst/>
              <a:gdLst/>
              <a:ahLst/>
              <a:cxnLst/>
              <a:rect l="l" t="t" r="r" b="b"/>
              <a:pathLst>
                <a:path w="614679" h="287655">
                  <a:moveTo>
                    <a:pt x="614171" y="0"/>
                  </a:moveTo>
                  <a:lnTo>
                    <a:pt x="0" y="287273"/>
                  </a:lnTo>
                </a:path>
              </a:pathLst>
            </a:custGeom>
            <a:ln w="60198">
              <a:solidFill>
                <a:srgbClr val="000000"/>
              </a:solidFill>
            </a:ln>
          </p:spPr>
          <p:txBody>
            <a:bodyPr wrap="square" lIns="0" tIns="0" rIns="0" bIns="0" rtlCol="0"/>
            <a:lstStyle/>
            <a:p>
              <a:endParaRPr/>
            </a:p>
          </p:txBody>
        </p:sp>
        <p:sp>
          <p:nvSpPr>
            <p:cNvPr id="7" name="object 7"/>
            <p:cNvSpPr/>
            <p:nvPr/>
          </p:nvSpPr>
          <p:spPr>
            <a:xfrm>
              <a:off x="5812028" y="2733548"/>
              <a:ext cx="254000" cy="205740"/>
            </a:xfrm>
            <a:custGeom>
              <a:avLst/>
              <a:gdLst/>
              <a:ahLst/>
              <a:cxnLst/>
              <a:rect l="l" t="t" r="r" b="b"/>
              <a:pathLst>
                <a:path w="254000" h="205739">
                  <a:moveTo>
                    <a:pt x="253746" y="205739"/>
                  </a:moveTo>
                  <a:lnTo>
                    <a:pt x="157734" y="0"/>
                  </a:lnTo>
                  <a:lnTo>
                    <a:pt x="0" y="199643"/>
                  </a:lnTo>
                  <a:lnTo>
                    <a:pt x="253746" y="205739"/>
                  </a:lnTo>
                  <a:close/>
                </a:path>
              </a:pathLst>
            </a:custGeom>
            <a:solidFill>
              <a:srgbClr val="000000"/>
            </a:solidFill>
          </p:spPr>
          <p:txBody>
            <a:bodyPr wrap="square" lIns="0" tIns="0" rIns="0" bIns="0" rtlCol="0"/>
            <a:lstStyle/>
            <a:p>
              <a:endParaRPr/>
            </a:p>
          </p:txBody>
        </p:sp>
      </p:grpSp>
      <p:sp>
        <p:nvSpPr>
          <p:cNvPr id="8" name="object 8"/>
          <p:cNvSpPr txBox="1"/>
          <p:nvPr/>
        </p:nvSpPr>
        <p:spPr>
          <a:xfrm>
            <a:off x="350774" y="1962404"/>
            <a:ext cx="4235450" cy="952500"/>
          </a:xfrm>
          <a:prstGeom prst="rect">
            <a:avLst/>
          </a:prstGeom>
          <a:solidFill>
            <a:srgbClr val="FFFFFF"/>
          </a:solidFill>
          <a:ln w="9144">
            <a:solidFill>
              <a:srgbClr val="000000"/>
            </a:solidFill>
          </a:ln>
        </p:spPr>
        <p:txBody>
          <a:bodyPr vert="horz" wrap="square" lIns="0" tIns="44450" rIns="0" bIns="0" rtlCol="0">
            <a:spAutoFit/>
          </a:bodyPr>
          <a:lstStyle/>
          <a:p>
            <a:pPr marL="96520" marR="191770">
              <a:lnSpc>
                <a:spcPct val="100000"/>
              </a:lnSpc>
              <a:spcBef>
                <a:spcPts val="350"/>
              </a:spcBef>
            </a:pPr>
            <a:r>
              <a:rPr sz="1400" dirty="0">
                <a:latin typeface="Times New Roman"/>
                <a:cs typeface="Times New Roman"/>
              </a:rPr>
              <a:t>This</a:t>
            </a:r>
            <a:r>
              <a:rPr sz="1400" spc="-35" dirty="0">
                <a:latin typeface="Times New Roman"/>
                <a:cs typeface="Times New Roman"/>
              </a:rPr>
              <a:t> </a:t>
            </a:r>
            <a:r>
              <a:rPr sz="1400" dirty="0">
                <a:latin typeface="Times New Roman"/>
                <a:cs typeface="Times New Roman"/>
              </a:rPr>
              <a:t>board</a:t>
            </a:r>
            <a:r>
              <a:rPr sz="1400" spc="-30" dirty="0">
                <a:latin typeface="Times New Roman"/>
                <a:cs typeface="Times New Roman"/>
              </a:rPr>
              <a:t> </a:t>
            </a:r>
            <a:r>
              <a:rPr sz="1400" dirty="0">
                <a:latin typeface="Times New Roman"/>
                <a:cs typeface="Times New Roman"/>
              </a:rPr>
              <a:t>provides</a:t>
            </a:r>
            <a:r>
              <a:rPr sz="1400" spc="-35"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communication</a:t>
            </a:r>
            <a:r>
              <a:rPr sz="1400" spc="-45" dirty="0">
                <a:latin typeface="Times New Roman"/>
                <a:cs typeface="Times New Roman"/>
              </a:rPr>
              <a:t> </a:t>
            </a:r>
            <a:r>
              <a:rPr sz="1400" dirty="0">
                <a:latin typeface="Times New Roman"/>
                <a:cs typeface="Times New Roman"/>
              </a:rPr>
              <a:t>bridge</a:t>
            </a:r>
            <a:r>
              <a:rPr sz="1400" spc="-35" dirty="0">
                <a:latin typeface="Times New Roman"/>
                <a:cs typeface="Times New Roman"/>
              </a:rPr>
              <a:t> </a:t>
            </a:r>
            <a:r>
              <a:rPr sz="1400" spc="-10" dirty="0">
                <a:latin typeface="Times New Roman"/>
                <a:cs typeface="Times New Roman"/>
              </a:rPr>
              <a:t>between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AGP</a:t>
            </a:r>
            <a:r>
              <a:rPr sz="1400" spc="-10" dirty="0">
                <a:latin typeface="Times New Roman"/>
                <a:cs typeface="Times New Roman"/>
              </a:rPr>
              <a:t> </a:t>
            </a:r>
            <a:r>
              <a:rPr sz="1400" dirty="0">
                <a:latin typeface="Times New Roman"/>
                <a:cs typeface="Times New Roman"/>
              </a:rPr>
              <a:t>and</a:t>
            </a:r>
            <a:r>
              <a:rPr sz="1400" spc="-10" dirty="0">
                <a:latin typeface="Times New Roman"/>
                <a:cs typeface="Times New Roman"/>
              </a:rPr>
              <a:t> </a:t>
            </a:r>
            <a:r>
              <a:rPr sz="1400" dirty="0">
                <a:latin typeface="Times New Roman"/>
                <a:cs typeface="Times New Roman"/>
              </a:rPr>
              <a:t>APS</a:t>
            </a:r>
            <a:r>
              <a:rPr sz="1400" spc="-10" dirty="0">
                <a:latin typeface="Times New Roman"/>
                <a:cs typeface="Times New Roman"/>
              </a:rPr>
              <a:t> </a:t>
            </a:r>
            <a:r>
              <a:rPr sz="1400" dirty="0">
                <a:latin typeface="Times New Roman"/>
                <a:cs typeface="Times New Roman"/>
              </a:rPr>
              <a:t>sides</a:t>
            </a:r>
            <a:r>
              <a:rPr sz="1400" spc="-15" dirty="0">
                <a:latin typeface="Times New Roman"/>
                <a:cs typeface="Times New Roman"/>
              </a:rPr>
              <a:t> </a:t>
            </a:r>
            <a:r>
              <a:rPr sz="1400" dirty="0">
                <a:latin typeface="Times New Roman"/>
                <a:cs typeface="Times New Roman"/>
              </a:rPr>
              <a:t>of</a:t>
            </a:r>
            <a:r>
              <a:rPr sz="1400" spc="-1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two</a:t>
            </a:r>
            <a:r>
              <a:rPr sz="1400" spc="-15" dirty="0">
                <a:latin typeface="Times New Roman"/>
                <a:cs typeface="Times New Roman"/>
              </a:rPr>
              <a:t> </a:t>
            </a:r>
            <a:r>
              <a:rPr sz="1400" dirty="0">
                <a:latin typeface="Times New Roman"/>
                <a:cs typeface="Times New Roman"/>
              </a:rPr>
              <a:t>PCI</a:t>
            </a:r>
            <a:r>
              <a:rPr sz="1400" spc="-20" dirty="0">
                <a:latin typeface="Times New Roman"/>
                <a:cs typeface="Times New Roman"/>
              </a:rPr>
              <a:t> </a:t>
            </a:r>
            <a:r>
              <a:rPr sz="1400" dirty="0">
                <a:latin typeface="Times New Roman"/>
                <a:cs typeface="Times New Roman"/>
              </a:rPr>
              <a:t>buses.</a:t>
            </a:r>
            <a:r>
              <a:rPr sz="1400" spc="32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spc="-25" dirty="0">
                <a:latin typeface="Times New Roman"/>
                <a:cs typeface="Times New Roman"/>
              </a:rPr>
              <a:t>two </a:t>
            </a:r>
            <a:r>
              <a:rPr sz="1400" dirty="0">
                <a:latin typeface="Times New Roman"/>
                <a:cs typeface="Times New Roman"/>
              </a:rPr>
              <a:t>LEDs</a:t>
            </a:r>
            <a:r>
              <a:rPr sz="1400" spc="-25"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rear</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provide</a:t>
            </a:r>
            <a:r>
              <a:rPr sz="1400" spc="-20"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spc="-10" dirty="0">
                <a:latin typeface="Times New Roman"/>
                <a:cs typeface="Times New Roman"/>
              </a:rPr>
              <a:t>visual </a:t>
            </a:r>
            <a:r>
              <a:rPr sz="1400" dirty="0">
                <a:latin typeface="Times New Roman"/>
                <a:cs typeface="Times New Roman"/>
              </a:rPr>
              <a:t>indication</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status</a:t>
            </a:r>
            <a:r>
              <a:rPr sz="1400" spc="-15" dirty="0">
                <a:latin typeface="Times New Roman"/>
                <a:cs typeface="Times New Roman"/>
              </a:rPr>
              <a:t> </a:t>
            </a:r>
            <a:r>
              <a:rPr sz="1400" dirty="0">
                <a:latin typeface="Times New Roman"/>
                <a:cs typeface="Times New Roman"/>
              </a:rPr>
              <a:t>of</a:t>
            </a:r>
            <a:r>
              <a:rPr sz="1400" spc="-1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bus</a:t>
            </a:r>
            <a:r>
              <a:rPr sz="1400" spc="-20" dirty="0">
                <a:latin typeface="Times New Roman"/>
                <a:cs typeface="Times New Roman"/>
              </a:rPr>
              <a:t> </a:t>
            </a:r>
            <a:r>
              <a:rPr sz="1400" dirty="0">
                <a:latin typeface="Times New Roman"/>
                <a:cs typeface="Times New Roman"/>
              </a:rPr>
              <a:t>power</a:t>
            </a:r>
            <a:r>
              <a:rPr sz="1400" spc="-15" dirty="0">
                <a:latin typeface="Times New Roman"/>
                <a:cs typeface="Times New Roman"/>
              </a:rPr>
              <a:t> </a:t>
            </a:r>
            <a:r>
              <a:rPr sz="1400" spc="-10" dirty="0">
                <a:latin typeface="Times New Roman"/>
                <a:cs typeface="Times New Roman"/>
              </a:rPr>
              <a:t>supplies.</a:t>
            </a:r>
            <a:endParaRPr sz="1400">
              <a:latin typeface="Times New Roman"/>
              <a:cs typeface="Times New Roman"/>
            </a:endParaRPr>
          </a:p>
        </p:txBody>
      </p:sp>
      <p:sp>
        <p:nvSpPr>
          <p:cNvPr id="9" name="object 9"/>
          <p:cNvSpPr txBox="1"/>
          <p:nvPr/>
        </p:nvSpPr>
        <p:spPr>
          <a:xfrm>
            <a:off x="5343397" y="2216150"/>
            <a:ext cx="2494280" cy="376555"/>
          </a:xfrm>
          <a:prstGeom prst="rect">
            <a:avLst/>
          </a:prstGeom>
          <a:solidFill>
            <a:srgbClr val="FFFFFF"/>
          </a:solidFill>
          <a:ln w="9144">
            <a:solidFill>
              <a:srgbClr val="000000"/>
            </a:solidFill>
          </a:ln>
        </p:spPr>
        <p:txBody>
          <a:bodyPr vert="horz" wrap="square" lIns="0" tIns="42545" rIns="0" bIns="0" rtlCol="0">
            <a:spAutoFit/>
          </a:bodyPr>
          <a:lstStyle/>
          <a:p>
            <a:pPr marL="103505">
              <a:lnSpc>
                <a:spcPct val="100000"/>
              </a:lnSpc>
              <a:spcBef>
                <a:spcPts val="335"/>
              </a:spcBef>
            </a:pPr>
            <a:r>
              <a:rPr sz="1800" b="1" dirty="0">
                <a:latin typeface="Times New Roman"/>
                <a:cs typeface="Times New Roman"/>
              </a:rPr>
              <a:t>Bridge</a:t>
            </a:r>
            <a:r>
              <a:rPr sz="1800" b="1" spc="-30" dirty="0">
                <a:latin typeface="Times New Roman"/>
                <a:cs typeface="Times New Roman"/>
              </a:rPr>
              <a:t> </a:t>
            </a:r>
            <a:r>
              <a:rPr sz="1800" b="1" dirty="0">
                <a:latin typeface="Times New Roman"/>
                <a:cs typeface="Times New Roman"/>
              </a:rPr>
              <a:t>Board</a:t>
            </a:r>
            <a:r>
              <a:rPr sz="1800" b="1" spc="-25" dirty="0">
                <a:latin typeface="Times New Roman"/>
                <a:cs typeface="Times New Roman"/>
              </a:rPr>
              <a:t> </a:t>
            </a:r>
            <a:r>
              <a:rPr sz="1800" dirty="0">
                <a:latin typeface="Times New Roman"/>
                <a:cs typeface="Times New Roman"/>
              </a:rPr>
              <a:t>(Slot</a:t>
            </a:r>
            <a:r>
              <a:rPr sz="1800" spc="-20" dirty="0">
                <a:latin typeface="Times New Roman"/>
                <a:cs typeface="Times New Roman"/>
              </a:rPr>
              <a:t> </a:t>
            </a:r>
            <a:r>
              <a:rPr sz="1800" dirty="0">
                <a:latin typeface="Times New Roman"/>
                <a:cs typeface="Times New Roman"/>
              </a:rPr>
              <a:t>8</a:t>
            </a:r>
            <a:r>
              <a:rPr sz="1800" spc="-20" dirty="0">
                <a:latin typeface="Times New Roman"/>
                <a:cs typeface="Times New Roman"/>
              </a:rPr>
              <a:t> </a:t>
            </a:r>
            <a:r>
              <a:rPr sz="1800" spc="-25" dirty="0">
                <a:latin typeface="Times New Roman"/>
                <a:cs typeface="Times New Roman"/>
              </a:rPr>
              <a:t>R)</a:t>
            </a:r>
            <a:endParaRPr sz="1800">
              <a:latin typeface="Times New Roman"/>
              <a:cs typeface="Times New Roman"/>
            </a:endParaRPr>
          </a:p>
        </p:txBody>
      </p:sp>
      <p:sp>
        <p:nvSpPr>
          <p:cNvPr id="10" name="object 10"/>
          <p:cNvSpPr txBox="1"/>
          <p:nvPr/>
        </p:nvSpPr>
        <p:spPr>
          <a:xfrm>
            <a:off x="336295" y="3328670"/>
            <a:ext cx="4766310" cy="2654935"/>
          </a:xfrm>
          <a:prstGeom prst="rect">
            <a:avLst/>
          </a:prstGeom>
          <a:solidFill>
            <a:srgbClr val="FFFFFF"/>
          </a:solidFill>
          <a:ln w="9144">
            <a:solidFill>
              <a:srgbClr val="000000"/>
            </a:solidFill>
          </a:ln>
        </p:spPr>
        <p:txBody>
          <a:bodyPr vert="horz" wrap="square" lIns="0" tIns="44450" rIns="0" bIns="0" rtlCol="0">
            <a:spAutoFit/>
          </a:bodyPr>
          <a:lstStyle/>
          <a:p>
            <a:pPr marL="96520">
              <a:lnSpc>
                <a:spcPct val="100000"/>
              </a:lnSpc>
              <a:spcBef>
                <a:spcPts val="350"/>
              </a:spcBef>
            </a:pPr>
            <a:r>
              <a:rPr sz="1400" b="1" u="sng" dirty="0">
                <a:uFill>
                  <a:solidFill>
                    <a:srgbClr val="000000"/>
                  </a:solidFill>
                </a:uFill>
                <a:latin typeface="Times New Roman"/>
                <a:cs typeface="Times New Roman"/>
              </a:rPr>
              <a:t>Available</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Bridge</a:t>
            </a:r>
            <a:r>
              <a:rPr sz="1400" b="1" u="sng" spc="-4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marL="96520" marR="97790" indent="-8255">
              <a:lnSpc>
                <a:spcPct val="100000"/>
              </a:lnSpc>
              <a:spcBef>
                <a:spcPts val="835"/>
              </a:spcBef>
              <a:buSzPct val="92857"/>
              <a:buFont typeface="Times New Roman"/>
              <a:buChar char="•"/>
              <a:tabLst>
                <a:tab pos="158115" algn="l"/>
              </a:tabLst>
            </a:pPr>
            <a:r>
              <a:rPr sz="1400" b="1" dirty="0">
                <a:latin typeface="Times New Roman"/>
                <a:cs typeface="Times New Roman"/>
              </a:rPr>
              <a:t>	MGD</a:t>
            </a:r>
            <a:r>
              <a:rPr sz="1400" b="1" spc="-30" dirty="0">
                <a:latin typeface="Times New Roman"/>
                <a:cs typeface="Times New Roman"/>
              </a:rPr>
              <a:t> </a:t>
            </a:r>
            <a:r>
              <a:rPr sz="1400" b="1" dirty="0">
                <a:latin typeface="Times New Roman"/>
                <a:cs typeface="Times New Roman"/>
              </a:rPr>
              <a:t>Host</a:t>
            </a:r>
            <a:r>
              <a:rPr sz="1400" b="1" spc="-30" dirty="0">
                <a:latin typeface="Times New Roman"/>
                <a:cs typeface="Times New Roman"/>
              </a:rPr>
              <a:t> </a:t>
            </a:r>
            <a:r>
              <a:rPr sz="1400" b="1" dirty="0">
                <a:latin typeface="Times New Roman"/>
                <a:cs typeface="Times New Roman"/>
              </a:rPr>
              <a:t>Datapaths:</a:t>
            </a:r>
            <a:r>
              <a:rPr sz="1400" b="1" spc="-25" dirty="0">
                <a:latin typeface="Times New Roman"/>
                <a:cs typeface="Times New Roman"/>
              </a:rPr>
              <a:t> </a:t>
            </a:r>
            <a:r>
              <a:rPr sz="1400" dirty="0">
                <a:latin typeface="Times New Roman"/>
                <a:cs typeface="Times New Roman"/>
              </a:rPr>
              <a:t>These</a:t>
            </a:r>
            <a:r>
              <a:rPr sz="1400" spc="-25" dirty="0">
                <a:latin typeface="Times New Roman"/>
                <a:cs typeface="Times New Roman"/>
              </a:rPr>
              <a:t> </a:t>
            </a:r>
            <a:r>
              <a:rPr sz="1400" dirty="0">
                <a:latin typeface="Times New Roman"/>
                <a:cs typeface="Times New Roman"/>
              </a:rPr>
              <a:t>tests</a:t>
            </a:r>
            <a:r>
              <a:rPr sz="1400" spc="-20" dirty="0">
                <a:latin typeface="Times New Roman"/>
                <a:cs typeface="Times New Roman"/>
              </a:rPr>
              <a:t> </a:t>
            </a:r>
            <a:r>
              <a:rPr sz="1400" dirty="0">
                <a:latin typeface="Times New Roman"/>
                <a:cs typeface="Times New Roman"/>
              </a:rPr>
              <a:t>indirectly</a:t>
            </a:r>
            <a:r>
              <a:rPr sz="1400" spc="-25" dirty="0">
                <a:latin typeface="Times New Roman"/>
                <a:cs typeface="Times New Roman"/>
              </a:rPr>
              <a:t> </a:t>
            </a:r>
            <a:r>
              <a:rPr sz="1400" dirty="0">
                <a:latin typeface="Times New Roman"/>
                <a:cs typeface="Times New Roman"/>
              </a:rPr>
              <a:t>test</a:t>
            </a:r>
            <a:r>
              <a:rPr sz="1400" spc="-25" dirty="0">
                <a:latin typeface="Times New Roman"/>
                <a:cs typeface="Times New Roman"/>
              </a:rPr>
              <a:t> the </a:t>
            </a:r>
            <a:r>
              <a:rPr sz="1400" dirty="0">
                <a:latin typeface="Times New Roman"/>
                <a:cs typeface="Times New Roman"/>
              </a:rPr>
              <a:t>functionality</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Bridge</a:t>
            </a:r>
            <a:r>
              <a:rPr sz="1400" spc="-25" dirty="0">
                <a:latin typeface="Times New Roman"/>
                <a:cs typeface="Times New Roman"/>
              </a:rPr>
              <a:t> </a:t>
            </a:r>
            <a:r>
              <a:rPr sz="1400" dirty="0">
                <a:latin typeface="Times New Roman"/>
                <a:cs typeface="Times New Roman"/>
              </a:rPr>
              <a:t>by</a:t>
            </a:r>
            <a:r>
              <a:rPr sz="1400" spc="-25" dirty="0">
                <a:latin typeface="Times New Roman"/>
                <a:cs typeface="Times New Roman"/>
              </a:rPr>
              <a:t> </a:t>
            </a:r>
            <a:r>
              <a:rPr sz="1400" spc="-10" dirty="0">
                <a:latin typeface="Times New Roman"/>
                <a:cs typeface="Times New Roman"/>
              </a:rPr>
              <a:t>checking</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identity</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spc="-25" dirty="0">
                <a:latin typeface="Times New Roman"/>
                <a:cs typeface="Times New Roman"/>
              </a:rPr>
              <a:t>APS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AGP</a:t>
            </a:r>
            <a:r>
              <a:rPr sz="1400" spc="-25" dirty="0">
                <a:latin typeface="Times New Roman"/>
                <a:cs typeface="Times New Roman"/>
              </a:rPr>
              <a:t> </a:t>
            </a:r>
            <a:r>
              <a:rPr sz="1400" dirty="0">
                <a:latin typeface="Times New Roman"/>
                <a:cs typeface="Times New Roman"/>
              </a:rPr>
              <a:t>Boards.</a:t>
            </a:r>
            <a:r>
              <a:rPr sz="1400" spc="305" dirty="0">
                <a:latin typeface="Times New Roman"/>
                <a:cs typeface="Times New Roman"/>
              </a:rPr>
              <a:t> </a:t>
            </a:r>
            <a:r>
              <a:rPr sz="1400" dirty="0">
                <a:latin typeface="Times New Roman"/>
                <a:cs typeface="Times New Roman"/>
              </a:rPr>
              <a:t>These</a:t>
            </a:r>
            <a:r>
              <a:rPr sz="1400" spc="-20" dirty="0">
                <a:latin typeface="Times New Roman"/>
                <a:cs typeface="Times New Roman"/>
              </a:rPr>
              <a:t> </a:t>
            </a:r>
            <a:r>
              <a:rPr sz="1400" dirty="0">
                <a:latin typeface="Times New Roman"/>
                <a:cs typeface="Times New Roman"/>
              </a:rPr>
              <a:t>boards</a:t>
            </a:r>
            <a:r>
              <a:rPr sz="1400" spc="-25" dirty="0">
                <a:latin typeface="Times New Roman"/>
                <a:cs typeface="Times New Roman"/>
              </a:rPr>
              <a:t> </a:t>
            </a:r>
            <a:r>
              <a:rPr sz="1400" dirty="0">
                <a:latin typeface="Times New Roman"/>
                <a:cs typeface="Times New Roman"/>
              </a:rPr>
              <a:t>will</a:t>
            </a:r>
            <a:r>
              <a:rPr sz="1400" spc="-20" dirty="0">
                <a:latin typeface="Times New Roman"/>
                <a:cs typeface="Times New Roman"/>
              </a:rPr>
              <a:t> </a:t>
            </a:r>
            <a:r>
              <a:rPr sz="1400" dirty="0">
                <a:latin typeface="Times New Roman"/>
                <a:cs typeface="Times New Roman"/>
              </a:rPr>
              <a:t>assume</a:t>
            </a:r>
            <a:r>
              <a:rPr sz="1400" spc="-25" dirty="0">
                <a:latin typeface="Times New Roman"/>
                <a:cs typeface="Times New Roman"/>
              </a:rPr>
              <a:t> </a:t>
            </a:r>
            <a:r>
              <a:rPr sz="1400" dirty="0">
                <a:latin typeface="Times New Roman"/>
                <a:cs typeface="Times New Roman"/>
              </a:rPr>
              <a:t>default</a:t>
            </a:r>
            <a:r>
              <a:rPr sz="1400" spc="-20" dirty="0">
                <a:latin typeface="Times New Roman"/>
                <a:cs typeface="Times New Roman"/>
              </a:rPr>
              <a:t> </a:t>
            </a:r>
            <a:r>
              <a:rPr sz="1400" dirty="0">
                <a:latin typeface="Times New Roman"/>
                <a:cs typeface="Times New Roman"/>
              </a:rPr>
              <a:t>identities</a:t>
            </a:r>
            <a:r>
              <a:rPr sz="1400" spc="-25" dirty="0">
                <a:latin typeface="Times New Roman"/>
                <a:cs typeface="Times New Roman"/>
              </a:rPr>
              <a:t> if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boards</a:t>
            </a:r>
            <a:r>
              <a:rPr sz="1400" spc="-35" dirty="0">
                <a:latin typeface="Times New Roman"/>
                <a:cs typeface="Times New Roman"/>
              </a:rPr>
              <a:t> </a:t>
            </a:r>
            <a:r>
              <a:rPr sz="1400" dirty="0">
                <a:latin typeface="Times New Roman"/>
                <a:cs typeface="Times New Roman"/>
              </a:rPr>
              <a:t>cannot</a:t>
            </a:r>
            <a:r>
              <a:rPr sz="1400" spc="-30" dirty="0">
                <a:latin typeface="Times New Roman"/>
                <a:cs typeface="Times New Roman"/>
              </a:rPr>
              <a:t> </a:t>
            </a:r>
            <a:r>
              <a:rPr sz="1400" dirty="0">
                <a:latin typeface="Times New Roman"/>
                <a:cs typeface="Times New Roman"/>
              </a:rPr>
              <a:t>communicate</a:t>
            </a:r>
            <a:r>
              <a:rPr sz="1400" spc="-35" dirty="0">
                <a:latin typeface="Times New Roman"/>
                <a:cs typeface="Times New Roman"/>
              </a:rPr>
              <a:t> </a:t>
            </a:r>
            <a:r>
              <a:rPr sz="1400" dirty="0">
                <a:latin typeface="Times New Roman"/>
                <a:cs typeface="Times New Roman"/>
              </a:rPr>
              <a:t>because</a:t>
            </a:r>
            <a:r>
              <a:rPr sz="1400" spc="-3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Bridge</a:t>
            </a:r>
            <a:r>
              <a:rPr sz="1400" spc="-30" dirty="0">
                <a:latin typeface="Times New Roman"/>
                <a:cs typeface="Times New Roman"/>
              </a:rPr>
              <a:t> </a:t>
            </a:r>
            <a:r>
              <a:rPr sz="1400" dirty="0">
                <a:latin typeface="Times New Roman"/>
                <a:cs typeface="Times New Roman"/>
              </a:rPr>
              <a:t>Board</a:t>
            </a:r>
            <a:r>
              <a:rPr sz="1400" spc="-30" dirty="0">
                <a:latin typeface="Times New Roman"/>
                <a:cs typeface="Times New Roman"/>
              </a:rPr>
              <a:t> </a:t>
            </a:r>
            <a:r>
              <a:rPr sz="1400" spc="-25" dirty="0">
                <a:latin typeface="Times New Roman"/>
                <a:cs typeface="Times New Roman"/>
              </a:rPr>
              <a:t>has </a:t>
            </a:r>
            <a:r>
              <a:rPr sz="1400" dirty="0">
                <a:latin typeface="Times New Roman"/>
                <a:cs typeface="Times New Roman"/>
              </a:rPr>
              <a:t>failed.</a:t>
            </a:r>
            <a:r>
              <a:rPr sz="1400" spc="315" dirty="0">
                <a:latin typeface="Times New Roman"/>
                <a:cs typeface="Times New Roman"/>
              </a:rPr>
              <a:t> </a:t>
            </a:r>
            <a:r>
              <a:rPr sz="1400" dirty="0">
                <a:latin typeface="Times New Roman"/>
                <a:cs typeface="Times New Roman"/>
              </a:rPr>
              <a:t>The</a:t>
            </a:r>
            <a:r>
              <a:rPr sz="1400" spc="-10" dirty="0">
                <a:latin typeface="Times New Roman"/>
                <a:cs typeface="Times New Roman"/>
              </a:rPr>
              <a:t> </a:t>
            </a:r>
            <a:r>
              <a:rPr sz="1400" dirty="0">
                <a:latin typeface="Times New Roman"/>
                <a:cs typeface="Times New Roman"/>
              </a:rPr>
              <a:t>assumption</a:t>
            </a:r>
            <a:r>
              <a:rPr sz="1400" spc="-15"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default</a:t>
            </a:r>
            <a:r>
              <a:rPr sz="1400" spc="-15" dirty="0">
                <a:latin typeface="Times New Roman"/>
                <a:cs typeface="Times New Roman"/>
              </a:rPr>
              <a:t> </a:t>
            </a:r>
            <a:r>
              <a:rPr sz="1400" dirty="0">
                <a:latin typeface="Times New Roman"/>
                <a:cs typeface="Times New Roman"/>
              </a:rPr>
              <a:t>identities</a:t>
            </a:r>
            <a:r>
              <a:rPr sz="1400" spc="-20" dirty="0">
                <a:latin typeface="Times New Roman"/>
                <a:cs typeface="Times New Roman"/>
              </a:rPr>
              <a:t> </a:t>
            </a:r>
            <a:r>
              <a:rPr sz="1400" dirty="0">
                <a:latin typeface="Times New Roman"/>
                <a:cs typeface="Times New Roman"/>
              </a:rPr>
              <a:t>by</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APS</a:t>
            </a:r>
            <a:r>
              <a:rPr sz="1400" spc="-20" dirty="0">
                <a:latin typeface="Times New Roman"/>
                <a:cs typeface="Times New Roman"/>
              </a:rPr>
              <a:t> </a:t>
            </a:r>
            <a:r>
              <a:rPr sz="1400" spc="-25" dirty="0">
                <a:latin typeface="Times New Roman"/>
                <a:cs typeface="Times New Roman"/>
              </a:rPr>
              <a:t>and </a:t>
            </a:r>
            <a:r>
              <a:rPr sz="1400" dirty="0">
                <a:latin typeface="Times New Roman"/>
                <a:cs typeface="Times New Roman"/>
              </a:rPr>
              <a:t>AGP</a:t>
            </a:r>
            <a:r>
              <a:rPr sz="1400" spc="-30" dirty="0">
                <a:latin typeface="Times New Roman"/>
                <a:cs typeface="Times New Roman"/>
              </a:rPr>
              <a:t> </a:t>
            </a:r>
            <a:r>
              <a:rPr sz="1400" dirty="0">
                <a:latin typeface="Times New Roman"/>
                <a:cs typeface="Times New Roman"/>
              </a:rPr>
              <a:t>Boards</a:t>
            </a:r>
            <a:r>
              <a:rPr sz="1400" spc="-30" dirty="0">
                <a:latin typeface="Times New Roman"/>
                <a:cs typeface="Times New Roman"/>
              </a:rPr>
              <a:t> </a:t>
            </a:r>
            <a:r>
              <a:rPr sz="1400" dirty="0">
                <a:latin typeface="Times New Roman"/>
                <a:cs typeface="Times New Roman"/>
              </a:rPr>
              <a:t>does</a:t>
            </a:r>
            <a:r>
              <a:rPr sz="1400" spc="-30" dirty="0">
                <a:latin typeface="Times New Roman"/>
                <a:cs typeface="Times New Roman"/>
              </a:rPr>
              <a:t> </a:t>
            </a:r>
            <a:r>
              <a:rPr sz="1400" dirty="0">
                <a:latin typeface="Times New Roman"/>
                <a:cs typeface="Times New Roman"/>
              </a:rPr>
              <a:t>not</a:t>
            </a:r>
            <a:r>
              <a:rPr sz="1400" spc="-30" dirty="0">
                <a:latin typeface="Times New Roman"/>
                <a:cs typeface="Times New Roman"/>
              </a:rPr>
              <a:t> </a:t>
            </a:r>
            <a:r>
              <a:rPr sz="1400" dirty="0">
                <a:latin typeface="Times New Roman"/>
                <a:cs typeface="Times New Roman"/>
              </a:rPr>
              <a:t>always</a:t>
            </a:r>
            <a:r>
              <a:rPr sz="1400" spc="-30" dirty="0">
                <a:latin typeface="Times New Roman"/>
                <a:cs typeface="Times New Roman"/>
              </a:rPr>
              <a:t> </a:t>
            </a:r>
            <a:r>
              <a:rPr sz="1400" dirty="0">
                <a:latin typeface="Times New Roman"/>
                <a:cs typeface="Times New Roman"/>
              </a:rPr>
              <a:t>indicate</a:t>
            </a:r>
            <a:r>
              <a:rPr sz="1400" spc="-30" dirty="0">
                <a:latin typeface="Times New Roman"/>
                <a:cs typeface="Times New Roman"/>
              </a:rPr>
              <a:t> </a:t>
            </a:r>
            <a:r>
              <a:rPr sz="1400" dirty="0">
                <a:latin typeface="Times New Roman"/>
                <a:cs typeface="Times New Roman"/>
              </a:rPr>
              <a:t>that</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Bridge</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has </a:t>
            </a:r>
            <a:r>
              <a:rPr sz="1400" dirty="0">
                <a:latin typeface="Times New Roman"/>
                <a:cs typeface="Times New Roman"/>
              </a:rPr>
              <a:t>failed.</a:t>
            </a:r>
            <a:r>
              <a:rPr sz="1400" spc="305" dirty="0">
                <a:latin typeface="Times New Roman"/>
                <a:cs typeface="Times New Roman"/>
              </a:rPr>
              <a:t> </a:t>
            </a:r>
            <a:r>
              <a:rPr sz="1400" dirty="0">
                <a:latin typeface="Times New Roman"/>
                <a:cs typeface="Times New Roman"/>
              </a:rPr>
              <a:t>It</a:t>
            </a:r>
            <a:r>
              <a:rPr sz="1400" spc="-25" dirty="0">
                <a:latin typeface="Times New Roman"/>
                <a:cs typeface="Times New Roman"/>
              </a:rPr>
              <a:t> </a:t>
            </a:r>
            <a:r>
              <a:rPr sz="1400" dirty="0">
                <a:latin typeface="Times New Roman"/>
                <a:cs typeface="Times New Roman"/>
              </a:rPr>
              <a:t>only</a:t>
            </a:r>
            <a:r>
              <a:rPr sz="1400" spc="-25" dirty="0">
                <a:latin typeface="Times New Roman"/>
                <a:cs typeface="Times New Roman"/>
              </a:rPr>
              <a:t> </a:t>
            </a:r>
            <a:r>
              <a:rPr sz="1400" dirty="0">
                <a:latin typeface="Times New Roman"/>
                <a:cs typeface="Times New Roman"/>
              </a:rPr>
              <a:t>indicates</a:t>
            </a:r>
            <a:r>
              <a:rPr sz="1400" spc="-25" dirty="0">
                <a:latin typeface="Times New Roman"/>
                <a:cs typeface="Times New Roman"/>
              </a:rPr>
              <a:t> </a:t>
            </a:r>
            <a:r>
              <a:rPr sz="1400" dirty="0">
                <a:latin typeface="Times New Roman"/>
                <a:cs typeface="Times New Roman"/>
              </a:rPr>
              <a:t>that</a:t>
            </a:r>
            <a:r>
              <a:rPr sz="1400" spc="-15" dirty="0">
                <a:latin typeface="Times New Roman"/>
                <a:cs typeface="Times New Roman"/>
              </a:rPr>
              <a:t> </a:t>
            </a:r>
            <a:r>
              <a:rPr sz="1400" dirty="0">
                <a:latin typeface="Times New Roman"/>
                <a:cs typeface="Times New Roman"/>
              </a:rPr>
              <a:t>during</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initialization</a:t>
            </a:r>
            <a:r>
              <a:rPr sz="1400" spc="-25" dirty="0">
                <a:latin typeface="Times New Roman"/>
                <a:cs typeface="Times New Roman"/>
              </a:rPr>
              <a:t> </a:t>
            </a:r>
            <a:r>
              <a:rPr sz="1400" dirty="0">
                <a:latin typeface="Times New Roman"/>
                <a:cs typeface="Times New Roman"/>
              </a:rPr>
              <a:t>period</a:t>
            </a:r>
            <a:r>
              <a:rPr sz="1400" spc="-20" dirty="0">
                <a:latin typeface="Times New Roman"/>
                <a:cs typeface="Times New Roman"/>
              </a:rPr>
              <a:t> </a:t>
            </a:r>
            <a:r>
              <a:rPr sz="1400" spc="-25" dirty="0">
                <a:latin typeface="Times New Roman"/>
                <a:cs typeface="Times New Roman"/>
              </a:rPr>
              <a:t>the </a:t>
            </a:r>
            <a:r>
              <a:rPr sz="1400" dirty="0">
                <a:latin typeface="Times New Roman"/>
                <a:cs typeface="Times New Roman"/>
              </a:rPr>
              <a:t>AGP</a:t>
            </a:r>
            <a:r>
              <a:rPr sz="1400" spc="-15" dirty="0">
                <a:latin typeface="Times New Roman"/>
                <a:cs typeface="Times New Roman"/>
              </a:rPr>
              <a:t> </a:t>
            </a:r>
            <a:r>
              <a:rPr sz="1400" dirty="0">
                <a:latin typeface="Times New Roman"/>
                <a:cs typeface="Times New Roman"/>
              </a:rPr>
              <a:t>and</a:t>
            </a:r>
            <a:r>
              <a:rPr sz="1400" spc="-10" dirty="0">
                <a:latin typeface="Times New Roman"/>
                <a:cs typeface="Times New Roman"/>
              </a:rPr>
              <a:t> </a:t>
            </a:r>
            <a:r>
              <a:rPr sz="1400" dirty="0">
                <a:latin typeface="Times New Roman"/>
                <a:cs typeface="Times New Roman"/>
              </a:rPr>
              <a:t>APS</a:t>
            </a:r>
            <a:r>
              <a:rPr sz="1400" spc="-15" dirty="0">
                <a:latin typeface="Times New Roman"/>
                <a:cs typeface="Times New Roman"/>
              </a:rPr>
              <a:t> </a:t>
            </a:r>
            <a:r>
              <a:rPr sz="1400" dirty="0">
                <a:latin typeface="Times New Roman"/>
                <a:cs typeface="Times New Roman"/>
              </a:rPr>
              <a:t>boards</a:t>
            </a:r>
            <a:r>
              <a:rPr sz="1400" spc="-15" dirty="0">
                <a:latin typeface="Times New Roman"/>
                <a:cs typeface="Times New Roman"/>
              </a:rPr>
              <a:t> </a:t>
            </a:r>
            <a:r>
              <a:rPr sz="1400" dirty="0">
                <a:latin typeface="Times New Roman"/>
                <a:cs typeface="Times New Roman"/>
              </a:rPr>
              <a:t>could</a:t>
            </a:r>
            <a:r>
              <a:rPr sz="1400" spc="-20" dirty="0">
                <a:latin typeface="Times New Roman"/>
                <a:cs typeface="Times New Roman"/>
              </a:rPr>
              <a:t> </a:t>
            </a:r>
            <a:r>
              <a:rPr sz="1400" dirty="0">
                <a:latin typeface="Times New Roman"/>
                <a:cs typeface="Times New Roman"/>
              </a:rPr>
              <a:t>not,</a:t>
            </a:r>
            <a:r>
              <a:rPr sz="1400" spc="-15" dirty="0">
                <a:latin typeface="Times New Roman"/>
                <a:cs typeface="Times New Roman"/>
              </a:rPr>
              <a:t> </a:t>
            </a:r>
            <a:r>
              <a:rPr sz="1400" dirty="0">
                <a:latin typeface="Times New Roman"/>
                <a:cs typeface="Times New Roman"/>
              </a:rPr>
              <a:t>for</a:t>
            </a:r>
            <a:r>
              <a:rPr sz="1400" spc="-15" dirty="0">
                <a:latin typeface="Times New Roman"/>
                <a:cs typeface="Times New Roman"/>
              </a:rPr>
              <a:t> </a:t>
            </a:r>
            <a:r>
              <a:rPr sz="1400" dirty="0">
                <a:latin typeface="Times New Roman"/>
                <a:cs typeface="Times New Roman"/>
              </a:rPr>
              <a:t>some</a:t>
            </a:r>
            <a:r>
              <a:rPr sz="1400" spc="-20" dirty="0">
                <a:latin typeface="Times New Roman"/>
                <a:cs typeface="Times New Roman"/>
              </a:rPr>
              <a:t> </a:t>
            </a:r>
            <a:r>
              <a:rPr sz="1400" spc="-10" dirty="0">
                <a:latin typeface="Times New Roman"/>
                <a:cs typeface="Times New Roman"/>
              </a:rPr>
              <a:t>reason,</a:t>
            </a:r>
            <a:r>
              <a:rPr sz="1400" spc="500" dirty="0">
                <a:latin typeface="Times New Roman"/>
                <a:cs typeface="Times New Roman"/>
              </a:rPr>
              <a:t> </a:t>
            </a:r>
            <a:r>
              <a:rPr sz="1400" spc="-10" dirty="0">
                <a:latin typeface="Times New Roman"/>
                <a:cs typeface="Times New Roman"/>
              </a:rPr>
              <a:t>communicate.</a:t>
            </a:r>
            <a:endParaRPr sz="1400">
              <a:latin typeface="Times New Roman"/>
              <a:cs typeface="Times New Roman"/>
            </a:endParaRPr>
          </a:p>
          <a:p>
            <a:pPr marL="158115" indent="-69850">
              <a:lnSpc>
                <a:spcPct val="100000"/>
              </a:lnSpc>
              <a:spcBef>
                <a:spcPts val="790"/>
              </a:spcBef>
              <a:buSzPct val="92857"/>
              <a:buFont typeface="Times New Roman"/>
              <a:buChar char="•"/>
              <a:tabLst>
                <a:tab pos="158115" algn="l"/>
              </a:tabLst>
            </a:pPr>
            <a:r>
              <a:rPr sz="1400" b="1" dirty="0">
                <a:latin typeface="Times New Roman"/>
                <a:cs typeface="Times New Roman"/>
              </a:rPr>
              <a:t>MGD</a:t>
            </a:r>
            <a:r>
              <a:rPr sz="1400" b="1" spc="-20" dirty="0">
                <a:latin typeface="Times New Roman"/>
                <a:cs typeface="Times New Roman"/>
              </a:rPr>
              <a:t> </a:t>
            </a:r>
            <a:r>
              <a:rPr sz="1400" b="1" dirty="0">
                <a:latin typeface="Times New Roman"/>
                <a:cs typeface="Times New Roman"/>
              </a:rPr>
              <a:t>Datapaths:</a:t>
            </a:r>
            <a:r>
              <a:rPr sz="1400" b="1" spc="-20" dirty="0">
                <a:latin typeface="Times New Roman"/>
                <a:cs typeface="Times New Roman"/>
              </a:rPr>
              <a:t> </a:t>
            </a:r>
            <a:r>
              <a:rPr sz="1400" dirty="0">
                <a:latin typeface="Times New Roman"/>
                <a:cs typeface="Times New Roman"/>
              </a:rPr>
              <a:t>APS</a:t>
            </a:r>
            <a:r>
              <a:rPr sz="1400" spc="-2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dirty="0">
                <a:latin typeface="Times New Roman"/>
                <a:cs typeface="Times New Roman"/>
              </a:rPr>
              <a:t>Bridge,</a:t>
            </a:r>
            <a:r>
              <a:rPr sz="1400" spc="-25" dirty="0">
                <a:latin typeface="Times New Roman"/>
                <a:cs typeface="Times New Roman"/>
              </a:rPr>
              <a:t> </a:t>
            </a:r>
            <a:r>
              <a:rPr sz="1400" dirty="0">
                <a:latin typeface="Times New Roman"/>
                <a:cs typeface="Times New Roman"/>
              </a:rPr>
              <a:t>AGP</a:t>
            </a:r>
            <a:r>
              <a:rPr sz="1400" spc="-2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0" dirty="0">
                <a:latin typeface="Times New Roman"/>
                <a:cs typeface="Times New Roman"/>
              </a:rPr>
              <a:t> </a:t>
            </a:r>
            <a:r>
              <a:rPr sz="1400" spc="-10" dirty="0">
                <a:latin typeface="Times New Roman"/>
                <a:cs typeface="Times New Roman"/>
              </a:rPr>
              <a:t>Bridge</a:t>
            </a:r>
            <a:endParaRPr sz="1400">
              <a:latin typeface="Times New Roman"/>
              <a:cs typeface="Times New Roman"/>
            </a:endParaRPr>
          </a:p>
        </p:txBody>
      </p:sp>
      <p:sp>
        <p:nvSpPr>
          <p:cNvPr id="11" name="object 11"/>
          <p:cNvSpPr txBox="1">
            <a:spLocks noGrp="1"/>
          </p:cNvSpPr>
          <p:nvPr>
            <p:ph type="title"/>
          </p:nvPr>
        </p:nvSpPr>
        <p:spPr>
          <a:xfrm>
            <a:off x="2687827" y="144271"/>
            <a:ext cx="4300855" cy="407034"/>
          </a:xfrm>
          <a:prstGeom prst="rect">
            <a:avLst/>
          </a:prstGeom>
          <a:solidFill>
            <a:srgbClr val="FFFFFF"/>
          </a:solidFill>
          <a:ln w="9144">
            <a:solidFill>
              <a:srgbClr val="000000"/>
            </a:solidFill>
          </a:ln>
        </p:spPr>
        <p:txBody>
          <a:bodyPr vert="horz" wrap="square" lIns="0" tIns="41275" rIns="0" bIns="0" rtlCol="0">
            <a:spAutoFit/>
          </a:bodyPr>
          <a:lstStyle/>
          <a:p>
            <a:pPr marL="96520">
              <a:lnSpc>
                <a:spcPct val="100000"/>
              </a:lnSpc>
              <a:spcBef>
                <a:spcPts val="325"/>
              </a:spcBef>
            </a:pPr>
            <a:r>
              <a:rPr sz="2000" b="1" dirty="0">
                <a:latin typeface="Times New Roman"/>
                <a:cs typeface="Times New Roman"/>
              </a:rPr>
              <a:t>System</a:t>
            </a:r>
            <a:r>
              <a:rPr sz="2000" b="1" spc="-30"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0" dirty="0">
                <a:latin typeface="Times New Roman"/>
                <a:cs typeface="Times New Roman"/>
              </a:rPr>
              <a:t> </a:t>
            </a:r>
            <a:r>
              <a:rPr sz="2000" b="1" dirty="0">
                <a:latin typeface="Times New Roman"/>
                <a:cs typeface="Times New Roman"/>
              </a:rPr>
              <a:t>MGD</a:t>
            </a:r>
            <a:r>
              <a:rPr sz="2000" b="1" spc="-20" dirty="0">
                <a:latin typeface="Times New Roman"/>
                <a:cs typeface="Times New Roman"/>
              </a:rPr>
              <a:t> </a:t>
            </a:r>
            <a:r>
              <a:rPr sz="2000" b="1" dirty="0">
                <a:latin typeface="Times New Roman"/>
                <a:cs typeface="Times New Roman"/>
              </a:rPr>
              <a:t>Chassis</a:t>
            </a:r>
            <a:r>
              <a:rPr sz="2000" b="1" spc="-20" dirty="0">
                <a:latin typeface="Times New Roman"/>
                <a:cs typeface="Times New Roman"/>
              </a:rPr>
              <a:t> Rear</a:t>
            </a:r>
            <a:endParaRPr sz="2000">
              <a:latin typeface="Times New Roman"/>
              <a:cs typeface="Times New Roman"/>
            </a:endParaRPr>
          </a:p>
        </p:txBody>
      </p:sp>
      <p:grpSp>
        <p:nvGrpSpPr>
          <p:cNvPr id="12" name="object 12"/>
          <p:cNvGrpSpPr/>
          <p:nvPr/>
        </p:nvGrpSpPr>
        <p:grpSpPr>
          <a:xfrm>
            <a:off x="7633207" y="-4572"/>
            <a:ext cx="1490345" cy="280670"/>
            <a:chOff x="7633207" y="-4572"/>
            <a:chExt cx="1490345" cy="280670"/>
          </a:xfrm>
        </p:grpSpPr>
        <p:sp>
          <p:nvSpPr>
            <p:cNvPr id="13" name="object 13"/>
            <p:cNvSpPr/>
            <p:nvPr/>
          </p:nvSpPr>
          <p:spPr>
            <a:xfrm>
              <a:off x="7637779" y="0"/>
              <a:ext cx="1480820" cy="271780"/>
            </a:xfrm>
            <a:custGeom>
              <a:avLst/>
              <a:gdLst/>
              <a:ahLst/>
              <a:cxnLst/>
              <a:rect l="l" t="t" r="r" b="b"/>
              <a:pathLst>
                <a:path w="1480820" h="271780">
                  <a:moveTo>
                    <a:pt x="0" y="0"/>
                  </a:moveTo>
                  <a:lnTo>
                    <a:pt x="0" y="271525"/>
                  </a:lnTo>
                  <a:lnTo>
                    <a:pt x="1480820" y="271525"/>
                  </a:lnTo>
                  <a:lnTo>
                    <a:pt x="1480820" y="0"/>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7637779" y="0"/>
              <a:ext cx="1480820" cy="271780"/>
            </a:xfrm>
            <a:custGeom>
              <a:avLst/>
              <a:gdLst/>
              <a:ahLst/>
              <a:cxnLst/>
              <a:rect l="l" t="t" r="r" b="b"/>
              <a:pathLst>
                <a:path w="1480820" h="271780">
                  <a:moveTo>
                    <a:pt x="0" y="0"/>
                  </a:moveTo>
                  <a:lnTo>
                    <a:pt x="0" y="271525"/>
                  </a:lnTo>
                  <a:lnTo>
                    <a:pt x="1480820" y="271525"/>
                  </a:lnTo>
                </a:path>
              </a:pathLst>
            </a:custGeom>
            <a:ln w="9143">
              <a:solidFill>
                <a:srgbClr val="000000"/>
              </a:solidFill>
            </a:ln>
          </p:spPr>
          <p:txBody>
            <a:bodyPr wrap="square" lIns="0" tIns="0" rIns="0" bIns="0" rtlCol="0"/>
            <a:lstStyle/>
            <a:p>
              <a:endParaRPr/>
            </a:p>
          </p:txBody>
        </p:sp>
      </p:grpSp>
      <p:sp>
        <p:nvSpPr>
          <p:cNvPr id="15" name="object 15"/>
          <p:cNvSpPr txBox="1"/>
          <p:nvPr/>
        </p:nvSpPr>
        <p:spPr>
          <a:xfrm>
            <a:off x="8172957"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8942705" cy="6832600"/>
            <a:chOff x="0" y="0"/>
            <a:chExt cx="8942705" cy="6832600"/>
          </a:xfrm>
        </p:grpSpPr>
        <p:pic>
          <p:nvPicPr>
            <p:cNvPr id="3" name="object 3"/>
            <p:cNvPicPr/>
            <p:nvPr/>
          </p:nvPicPr>
          <p:blipFill>
            <a:blip r:embed="rId2" cstate="print"/>
            <a:stretch>
              <a:fillRect/>
            </a:stretch>
          </p:blipFill>
          <p:spPr>
            <a:xfrm>
              <a:off x="130555" y="54356"/>
              <a:ext cx="8811768" cy="6778244"/>
            </a:xfrm>
            <a:prstGeom prst="rect">
              <a:avLst/>
            </a:prstGeom>
          </p:spPr>
        </p:pic>
        <p:sp>
          <p:nvSpPr>
            <p:cNvPr id="4" name="object 4"/>
            <p:cNvSpPr/>
            <p:nvPr/>
          </p:nvSpPr>
          <p:spPr>
            <a:xfrm>
              <a:off x="4822190" y="1217930"/>
              <a:ext cx="193040" cy="187960"/>
            </a:xfrm>
            <a:custGeom>
              <a:avLst/>
              <a:gdLst/>
              <a:ahLst/>
              <a:cxnLst/>
              <a:rect l="l" t="t" r="r" b="b"/>
              <a:pathLst>
                <a:path w="193039" h="187959">
                  <a:moveTo>
                    <a:pt x="192786" y="0"/>
                  </a:moveTo>
                  <a:lnTo>
                    <a:pt x="0" y="187451"/>
                  </a:lnTo>
                </a:path>
              </a:pathLst>
            </a:custGeom>
            <a:ln w="114300">
              <a:solidFill>
                <a:srgbClr val="FFFFFF"/>
              </a:solidFill>
            </a:ln>
          </p:spPr>
          <p:txBody>
            <a:bodyPr wrap="square" lIns="0" tIns="0" rIns="0" bIns="0" rtlCol="0"/>
            <a:lstStyle/>
            <a:p>
              <a:endParaRPr/>
            </a:p>
          </p:txBody>
        </p:sp>
        <p:sp>
          <p:nvSpPr>
            <p:cNvPr id="5" name="object 5"/>
            <p:cNvSpPr/>
            <p:nvPr/>
          </p:nvSpPr>
          <p:spPr>
            <a:xfrm>
              <a:off x="4565396" y="1274317"/>
              <a:ext cx="386080" cy="382270"/>
            </a:xfrm>
            <a:custGeom>
              <a:avLst/>
              <a:gdLst/>
              <a:ahLst/>
              <a:cxnLst/>
              <a:rect l="l" t="t" r="r" b="b"/>
              <a:pathLst>
                <a:path w="386079" h="382269">
                  <a:moveTo>
                    <a:pt x="385571" y="259080"/>
                  </a:moveTo>
                  <a:lnTo>
                    <a:pt x="132587" y="0"/>
                  </a:lnTo>
                  <a:lnTo>
                    <a:pt x="0" y="381762"/>
                  </a:lnTo>
                  <a:lnTo>
                    <a:pt x="385571" y="259080"/>
                  </a:lnTo>
                  <a:close/>
                </a:path>
              </a:pathLst>
            </a:custGeom>
            <a:solidFill>
              <a:srgbClr val="FFFFFF"/>
            </a:solidFill>
          </p:spPr>
          <p:txBody>
            <a:bodyPr wrap="square" lIns="0" tIns="0" rIns="0" bIns="0" rtlCol="0"/>
            <a:lstStyle/>
            <a:p>
              <a:endParaRPr/>
            </a:p>
          </p:txBody>
        </p:sp>
        <p:sp>
          <p:nvSpPr>
            <p:cNvPr id="6" name="object 6"/>
            <p:cNvSpPr/>
            <p:nvPr/>
          </p:nvSpPr>
          <p:spPr>
            <a:xfrm>
              <a:off x="4783328" y="1249172"/>
              <a:ext cx="231775" cy="196215"/>
            </a:xfrm>
            <a:custGeom>
              <a:avLst/>
              <a:gdLst/>
              <a:ahLst/>
              <a:cxnLst/>
              <a:rect l="l" t="t" r="r" b="b"/>
              <a:pathLst>
                <a:path w="231775" h="196215">
                  <a:moveTo>
                    <a:pt x="231648" y="0"/>
                  </a:moveTo>
                  <a:lnTo>
                    <a:pt x="0" y="195833"/>
                  </a:lnTo>
                </a:path>
              </a:pathLst>
            </a:custGeom>
            <a:ln w="60198">
              <a:solidFill>
                <a:srgbClr val="000000"/>
              </a:solidFill>
            </a:ln>
          </p:spPr>
          <p:txBody>
            <a:bodyPr wrap="square" lIns="0" tIns="0" rIns="0" bIns="0" rtlCol="0"/>
            <a:lstStyle/>
            <a:p>
              <a:endParaRPr/>
            </a:p>
          </p:txBody>
        </p:sp>
        <p:sp>
          <p:nvSpPr>
            <p:cNvPr id="7" name="object 7"/>
            <p:cNvSpPr/>
            <p:nvPr/>
          </p:nvSpPr>
          <p:spPr>
            <a:xfrm>
              <a:off x="4612640" y="1356613"/>
              <a:ext cx="246379" cy="232410"/>
            </a:xfrm>
            <a:custGeom>
              <a:avLst/>
              <a:gdLst/>
              <a:ahLst/>
              <a:cxnLst/>
              <a:rect l="l" t="t" r="r" b="b"/>
              <a:pathLst>
                <a:path w="246379" h="232409">
                  <a:moveTo>
                    <a:pt x="246125" y="173736"/>
                  </a:moveTo>
                  <a:lnTo>
                    <a:pt x="100584" y="0"/>
                  </a:lnTo>
                  <a:lnTo>
                    <a:pt x="0" y="232410"/>
                  </a:lnTo>
                  <a:lnTo>
                    <a:pt x="246125" y="173736"/>
                  </a:lnTo>
                  <a:close/>
                </a:path>
              </a:pathLst>
            </a:custGeom>
            <a:solidFill>
              <a:srgbClr val="000000"/>
            </a:solidFill>
          </p:spPr>
          <p:txBody>
            <a:bodyPr wrap="square" lIns="0" tIns="0" rIns="0" bIns="0" rtlCol="0"/>
            <a:lstStyle/>
            <a:p>
              <a:endParaRPr/>
            </a:p>
          </p:txBody>
        </p:sp>
      </p:grpSp>
      <p:sp>
        <p:nvSpPr>
          <p:cNvPr id="8" name="object 8"/>
          <p:cNvSpPr txBox="1"/>
          <p:nvPr/>
        </p:nvSpPr>
        <p:spPr>
          <a:xfrm>
            <a:off x="5024120" y="1890776"/>
            <a:ext cx="3935729" cy="2654300"/>
          </a:xfrm>
          <a:prstGeom prst="rect">
            <a:avLst/>
          </a:prstGeom>
          <a:solidFill>
            <a:srgbClr val="FFFFFF"/>
          </a:solidFill>
          <a:ln w="9144">
            <a:solidFill>
              <a:srgbClr val="000000"/>
            </a:solidFill>
          </a:ln>
        </p:spPr>
        <p:txBody>
          <a:bodyPr vert="horz" wrap="square" lIns="0" tIns="44450" rIns="0" bIns="0" rtlCol="0">
            <a:spAutoFit/>
          </a:bodyPr>
          <a:lstStyle/>
          <a:p>
            <a:pPr marL="97155" marR="144780">
              <a:lnSpc>
                <a:spcPct val="100000"/>
              </a:lnSpc>
              <a:spcBef>
                <a:spcPts val="350"/>
              </a:spcBef>
            </a:pPr>
            <a:r>
              <a:rPr sz="1400" dirty="0">
                <a:latin typeface="Times New Roman"/>
                <a:cs typeface="Times New Roman"/>
              </a:rPr>
              <a:t>This</a:t>
            </a:r>
            <a:r>
              <a:rPr sz="1400" spc="-15" dirty="0">
                <a:latin typeface="Times New Roman"/>
                <a:cs typeface="Times New Roman"/>
              </a:rPr>
              <a:t> </a:t>
            </a:r>
            <a:r>
              <a:rPr sz="1400" dirty="0">
                <a:latin typeface="Times New Roman"/>
                <a:cs typeface="Times New Roman"/>
              </a:rPr>
              <a:t>board</a:t>
            </a:r>
            <a:r>
              <a:rPr sz="1400" spc="-15" dirty="0">
                <a:latin typeface="Times New Roman"/>
                <a:cs typeface="Times New Roman"/>
              </a:rPr>
              <a:t> </a:t>
            </a:r>
            <a:r>
              <a:rPr sz="1400" dirty="0">
                <a:latin typeface="Times New Roman"/>
                <a:cs typeface="Times New Roman"/>
              </a:rPr>
              <a:t>is</a:t>
            </a:r>
            <a:r>
              <a:rPr sz="1400" spc="-15" dirty="0">
                <a:latin typeface="Times New Roman"/>
                <a:cs typeface="Times New Roman"/>
              </a:rPr>
              <a:t> </a:t>
            </a:r>
            <a:r>
              <a:rPr sz="1400" dirty="0">
                <a:latin typeface="Times New Roman"/>
                <a:cs typeface="Times New Roman"/>
              </a:rPr>
              <a:t>a</a:t>
            </a:r>
            <a:r>
              <a:rPr sz="1400" spc="-15" dirty="0">
                <a:latin typeface="Times New Roman"/>
                <a:cs typeface="Times New Roman"/>
              </a:rPr>
              <a:t> </a:t>
            </a:r>
            <a:r>
              <a:rPr sz="1400" spc="-10" dirty="0">
                <a:latin typeface="Times New Roman"/>
                <a:cs typeface="Times New Roman"/>
              </a:rPr>
              <a:t>communications </a:t>
            </a:r>
            <a:r>
              <a:rPr sz="1400" dirty="0">
                <a:latin typeface="Times New Roman"/>
                <a:cs typeface="Times New Roman"/>
              </a:rPr>
              <a:t>interface</a:t>
            </a:r>
            <a:r>
              <a:rPr sz="1400" spc="320" dirty="0">
                <a:latin typeface="Times New Roman"/>
                <a:cs typeface="Times New Roman"/>
              </a:rPr>
              <a:t> </a:t>
            </a:r>
            <a:r>
              <a:rPr sz="1400" spc="-10" dirty="0">
                <a:latin typeface="Times New Roman"/>
                <a:cs typeface="Times New Roman"/>
              </a:rPr>
              <a:t>between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IRF2</a:t>
            </a:r>
            <a:r>
              <a:rPr sz="1400" spc="-20"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RRF</a:t>
            </a:r>
            <a:r>
              <a:rPr sz="1400" spc="-20" dirty="0">
                <a:latin typeface="Times New Roman"/>
                <a:cs typeface="Times New Roman"/>
              </a:rPr>
              <a:t> </a:t>
            </a:r>
            <a:r>
              <a:rPr sz="1400" dirty="0">
                <a:latin typeface="Times New Roman"/>
                <a:cs typeface="Times New Roman"/>
              </a:rPr>
              <a:t>Module,</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IRF2</a:t>
            </a:r>
            <a:r>
              <a:rPr sz="1400" spc="-25" dirty="0">
                <a:latin typeface="Times New Roman"/>
                <a:cs typeface="Times New Roman"/>
              </a:rPr>
              <a:t> </a:t>
            </a:r>
            <a:r>
              <a:rPr sz="1400" spc="-10" dirty="0">
                <a:latin typeface="Times New Roman"/>
                <a:cs typeface="Times New Roman"/>
              </a:rPr>
              <a:t>Board </a:t>
            </a:r>
            <a:r>
              <a:rPr sz="1400" dirty="0">
                <a:latin typeface="Times New Roman"/>
                <a:cs typeface="Times New Roman"/>
              </a:rPr>
              <a:t>and</a:t>
            </a:r>
            <a:r>
              <a:rPr sz="1400" spc="-15" dirty="0">
                <a:latin typeface="Times New Roman"/>
                <a:cs typeface="Times New Roman"/>
              </a:rPr>
              <a:t> </a:t>
            </a:r>
            <a:r>
              <a:rPr sz="1400" dirty="0">
                <a:latin typeface="Times New Roman"/>
                <a:cs typeface="Times New Roman"/>
              </a:rPr>
              <a:t>system</a:t>
            </a:r>
            <a:r>
              <a:rPr sz="1400" spc="-15" dirty="0">
                <a:latin typeface="Times New Roman"/>
                <a:cs typeface="Times New Roman"/>
              </a:rPr>
              <a:t> </a:t>
            </a:r>
            <a:r>
              <a:rPr sz="1400" dirty="0">
                <a:latin typeface="Times New Roman"/>
                <a:cs typeface="Times New Roman"/>
              </a:rPr>
              <a:t>control</a:t>
            </a:r>
            <a:r>
              <a:rPr sz="1400" spc="-25" dirty="0">
                <a:latin typeface="Times New Roman"/>
                <a:cs typeface="Times New Roman"/>
              </a:rPr>
              <a:t> </a:t>
            </a:r>
            <a:r>
              <a:rPr sz="1400" dirty="0">
                <a:latin typeface="Times New Roman"/>
                <a:cs typeface="Times New Roman"/>
              </a:rPr>
              <a:t>and</a:t>
            </a:r>
            <a:r>
              <a:rPr sz="1400" spc="-15" dirty="0">
                <a:latin typeface="Times New Roman"/>
                <a:cs typeface="Times New Roman"/>
              </a:rPr>
              <a:t> </a:t>
            </a:r>
            <a:r>
              <a:rPr sz="1400" dirty="0">
                <a:latin typeface="Times New Roman"/>
                <a:cs typeface="Times New Roman"/>
              </a:rPr>
              <a:t>status</a:t>
            </a:r>
            <a:r>
              <a:rPr sz="1400" spc="-20" dirty="0">
                <a:latin typeface="Times New Roman"/>
                <a:cs typeface="Times New Roman"/>
              </a:rPr>
              <a:t> </a:t>
            </a:r>
            <a:r>
              <a:rPr sz="1400" dirty="0">
                <a:latin typeface="Times New Roman"/>
                <a:cs typeface="Times New Roman"/>
              </a:rPr>
              <a:t>functions.</a:t>
            </a:r>
            <a:r>
              <a:rPr sz="1400" spc="3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10" dirty="0">
                <a:latin typeface="Times New Roman"/>
                <a:cs typeface="Times New Roman"/>
              </a:rPr>
              <a:t>fiber </a:t>
            </a:r>
            <a:r>
              <a:rPr sz="1400" dirty="0">
                <a:latin typeface="Times New Roman"/>
                <a:cs typeface="Times New Roman"/>
              </a:rPr>
              <a:t>optic</a:t>
            </a:r>
            <a:r>
              <a:rPr sz="1400" spc="-25" dirty="0">
                <a:latin typeface="Times New Roman"/>
                <a:cs typeface="Times New Roman"/>
              </a:rPr>
              <a:t> </a:t>
            </a:r>
            <a:r>
              <a:rPr sz="1400" dirty="0">
                <a:latin typeface="Times New Roman"/>
                <a:cs typeface="Times New Roman"/>
              </a:rPr>
              <a:t>cable</a:t>
            </a:r>
            <a:r>
              <a:rPr sz="1400" spc="-25" dirty="0">
                <a:latin typeface="Times New Roman"/>
                <a:cs typeface="Times New Roman"/>
              </a:rPr>
              <a:t> </a:t>
            </a:r>
            <a:r>
              <a:rPr sz="1400" dirty="0">
                <a:latin typeface="Times New Roman"/>
                <a:cs typeface="Times New Roman"/>
              </a:rPr>
              <a:t>interfaces</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“Gigalink”</a:t>
            </a:r>
            <a:r>
              <a:rPr sz="1400" spc="-25" dirty="0">
                <a:latin typeface="Times New Roman"/>
                <a:cs typeface="Times New Roman"/>
              </a:rPr>
              <a:t> </a:t>
            </a:r>
            <a:r>
              <a:rPr sz="1400" dirty="0">
                <a:latin typeface="Times New Roman"/>
                <a:cs typeface="Times New Roman"/>
              </a:rPr>
              <a:t>port</a:t>
            </a:r>
            <a:r>
              <a:rPr sz="1400" spc="-25" dirty="0">
                <a:latin typeface="Times New Roman"/>
                <a:cs typeface="Times New Roman"/>
              </a:rPr>
              <a:t> </a:t>
            </a:r>
            <a:r>
              <a:rPr sz="1400" dirty="0">
                <a:latin typeface="Times New Roman"/>
                <a:cs typeface="Times New Roman"/>
              </a:rPr>
              <a:t>on</a:t>
            </a:r>
            <a:r>
              <a:rPr sz="1400" spc="-25" dirty="0">
                <a:latin typeface="Times New Roman"/>
                <a:cs typeface="Times New Roman"/>
              </a:rPr>
              <a:t> the </a:t>
            </a:r>
            <a:r>
              <a:rPr sz="1400" dirty="0">
                <a:latin typeface="Times New Roman"/>
                <a:cs typeface="Times New Roman"/>
              </a:rPr>
              <a:t>rear</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connects</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right</a:t>
            </a:r>
            <a:r>
              <a:rPr sz="1400" spc="-25" dirty="0">
                <a:latin typeface="Times New Roman"/>
                <a:cs typeface="Times New Roman"/>
              </a:rPr>
              <a:t> </a:t>
            </a:r>
            <a:r>
              <a:rPr sz="1400" dirty="0">
                <a:latin typeface="Times New Roman"/>
                <a:cs typeface="Times New Roman"/>
              </a:rPr>
              <a:t>most</a:t>
            </a:r>
            <a:r>
              <a:rPr sz="1400" spc="-25" dirty="0">
                <a:latin typeface="Times New Roman"/>
                <a:cs typeface="Times New Roman"/>
              </a:rPr>
              <a:t> RF- </a:t>
            </a:r>
            <a:r>
              <a:rPr sz="1400" dirty="0">
                <a:latin typeface="Times New Roman"/>
                <a:cs typeface="Times New Roman"/>
              </a:rPr>
              <a:t>DIF</a:t>
            </a:r>
            <a:r>
              <a:rPr sz="1400" spc="-35" dirty="0">
                <a:latin typeface="Times New Roman"/>
                <a:cs typeface="Times New Roman"/>
              </a:rPr>
              <a:t> </a:t>
            </a:r>
            <a:r>
              <a:rPr sz="1400" dirty="0">
                <a:latin typeface="Times New Roman"/>
                <a:cs typeface="Times New Roman"/>
              </a:rPr>
              <a:t>Board</a:t>
            </a:r>
            <a:r>
              <a:rPr sz="1400" spc="-35" dirty="0">
                <a:latin typeface="Times New Roman"/>
                <a:cs typeface="Times New Roman"/>
              </a:rPr>
              <a:t> </a:t>
            </a:r>
            <a:r>
              <a:rPr sz="1400" dirty="0">
                <a:latin typeface="Times New Roman"/>
                <a:cs typeface="Times New Roman"/>
              </a:rPr>
              <a:t>in</a:t>
            </a:r>
            <a:r>
              <a:rPr sz="1400" spc="-3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RRF</a:t>
            </a:r>
            <a:r>
              <a:rPr sz="1400" spc="-30" dirty="0">
                <a:latin typeface="Times New Roman"/>
                <a:cs typeface="Times New Roman"/>
              </a:rPr>
              <a:t> </a:t>
            </a:r>
            <a:r>
              <a:rPr sz="1400" dirty="0">
                <a:latin typeface="Times New Roman"/>
                <a:cs typeface="Times New Roman"/>
              </a:rPr>
              <a:t>Module</a:t>
            </a:r>
            <a:r>
              <a:rPr sz="1400" spc="-35" dirty="0">
                <a:latin typeface="Times New Roman"/>
                <a:cs typeface="Times New Roman"/>
              </a:rPr>
              <a:t> </a:t>
            </a:r>
            <a:r>
              <a:rPr sz="1400" dirty="0">
                <a:latin typeface="Times New Roman"/>
                <a:cs typeface="Times New Roman"/>
              </a:rPr>
              <a:t>(for</a:t>
            </a:r>
            <a:r>
              <a:rPr sz="1400" spc="-30" dirty="0">
                <a:latin typeface="Times New Roman"/>
                <a:cs typeface="Times New Roman"/>
              </a:rPr>
              <a:t> </a:t>
            </a:r>
            <a:r>
              <a:rPr sz="1400" dirty="0">
                <a:latin typeface="Times New Roman"/>
                <a:cs typeface="Times New Roman"/>
              </a:rPr>
              <a:t>16</a:t>
            </a:r>
            <a:r>
              <a:rPr sz="1400" spc="-35" dirty="0">
                <a:latin typeface="Times New Roman"/>
                <a:cs typeface="Times New Roman"/>
              </a:rPr>
              <a:t> </a:t>
            </a:r>
            <a:r>
              <a:rPr sz="1400" spc="-10" dirty="0">
                <a:latin typeface="Times New Roman"/>
                <a:cs typeface="Times New Roman"/>
              </a:rPr>
              <a:t>channel </a:t>
            </a:r>
            <a:r>
              <a:rPr sz="1400" dirty="0">
                <a:latin typeface="Times New Roman"/>
                <a:cs typeface="Times New Roman"/>
              </a:rPr>
              <a:t>systems).</a:t>
            </a:r>
            <a:r>
              <a:rPr sz="1400" spc="-25" dirty="0">
                <a:latin typeface="Times New Roman"/>
                <a:cs typeface="Times New Roman"/>
              </a:rPr>
              <a:t> </a:t>
            </a:r>
            <a:r>
              <a:rPr sz="1400" dirty="0">
                <a:latin typeface="Times New Roman"/>
                <a:cs typeface="Times New Roman"/>
              </a:rPr>
              <a:t>This</a:t>
            </a:r>
            <a:r>
              <a:rPr sz="1400" spc="-20"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also</a:t>
            </a:r>
            <a:r>
              <a:rPr sz="1400" spc="-25" dirty="0">
                <a:latin typeface="Times New Roman"/>
                <a:cs typeface="Times New Roman"/>
              </a:rPr>
              <a:t> </a:t>
            </a:r>
            <a:r>
              <a:rPr sz="1400" dirty="0">
                <a:latin typeface="Times New Roman"/>
                <a:cs typeface="Times New Roman"/>
              </a:rPr>
              <a:t>provides</a:t>
            </a:r>
            <a:r>
              <a:rPr sz="1400" spc="-2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b="1" spc="-10" dirty="0">
                <a:latin typeface="Times New Roman"/>
                <a:cs typeface="Times New Roman"/>
              </a:rPr>
              <a:t>S</a:t>
            </a:r>
            <a:r>
              <a:rPr sz="1400" spc="-10" dirty="0">
                <a:latin typeface="Times New Roman"/>
                <a:cs typeface="Times New Roman"/>
              </a:rPr>
              <a:t>ystem </a:t>
            </a:r>
            <a:r>
              <a:rPr sz="1400" b="1" dirty="0">
                <a:latin typeface="Times New Roman"/>
                <a:cs typeface="Times New Roman"/>
              </a:rPr>
              <a:t>M</a:t>
            </a:r>
            <a:r>
              <a:rPr sz="1400" dirty="0">
                <a:latin typeface="Times New Roman"/>
                <a:cs typeface="Times New Roman"/>
              </a:rPr>
              <a:t>onitor</a:t>
            </a:r>
            <a:r>
              <a:rPr sz="1400" spc="-35"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b="1" dirty="0">
                <a:latin typeface="Times New Roman"/>
                <a:cs typeface="Times New Roman"/>
              </a:rPr>
              <a:t>C</a:t>
            </a:r>
            <a:r>
              <a:rPr sz="1400" dirty="0">
                <a:latin typeface="Times New Roman"/>
                <a:cs typeface="Times New Roman"/>
              </a:rPr>
              <a:t>ontrol</a:t>
            </a:r>
            <a:r>
              <a:rPr sz="1400" spc="-35" dirty="0">
                <a:latin typeface="Times New Roman"/>
                <a:cs typeface="Times New Roman"/>
              </a:rPr>
              <a:t> </a:t>
            </a:r>
            <a:r>
              <a:rPr sz="1400" dirty="0">
                <a:latin typeface="Times New Roman"/>
                <a:cs typeface="Times New Roman"/>
              </a:rPr>
              <a:t>(</a:t>
            </a:r>
            <a:r>
              <a:rPr sz="1400" b="1" dirty="0">
                <a:latin typeface="Times New Roman"/>
                <a:cs typeface="Times New Roman"/>
              </a:rPr>
              <a:t>SMC</a:t>
            </a:r>
            <a:r>
              <a:rPr sz="1400" dirty="0">
                <a:latin typeface="Times New Roman"/>
                <a:cs typeface="Times New Roman"/>
              </a:rPr>
              <a:t>)</a:t>
            </a:r>
            <a:r>
              <a:rPr sz="1400" spc="-35" dirty="0">
                <a:latin typeface="Times New Roman"/>
                <a:cs typeface="Times New Roman"/>
              </a:rPr>
              <a:t> </a:t>
            </a:r>
            <a:r>
              <a:rPr sz="1400" dirty="0">
                <a:latin typeface="Times New Roman"/>
                <a:cs typeface="Times New Roman"/>
              </a:rPr>
              <a:t>interface</a:t>
            </a:r>
            <a:r>
              <a:rPr sz="1400" spc="-30" dirty="0">
                <a:latin typeface="Times New Roman"/>
                <a:cs typeface="Times New Roman"/>
              </a:rPr>
              <a:t> </a:t>
            </a:r>
            <a:r>
              <a:rPr sz="1400" dirty="0">
                <a:latin typeface="Times New Roman"/>
                <a:cs typeface="Times New Roman"/>
              </a:rPr>
              <a:t>by</a:t>
            </a:r>
            <a:r>
              <a:rPr sz="1400" spc="-35" dirty="0">
                <a:latin typeface="Times New Roman"/>
                <a:cs typeface="Times New Roman"/>
              </a:rPr>
              <a:t> </a:t>
            </a:r>
            <a:r>
              <a:rPr sz="1400" dirty="0">
                <a:latin typeface="Times New Roman"/>
                <a:cs typeface="Times New Roman"/>
              </a:rPr>
              <a:t>which</a:t>
            </a:r>
            <a:r>
              <a:rPr sz="1400" spc="-35" dirty="0">
                <a:latin typeface="Times New Roman"/>
                <a:cs typeface="Times New Roman"/>
              </a:rPr>
              <a:t> </a:t>
            </a:r>
            <a:r>
              <a:rPr sz="1400" spc="-25" dirty="0">
                <a:latin typeface="Times New Roman"/>
                <a:cs typeface="Times New Roman"/>
              </a:rPr>
              <a:t>the </a:t>
            </a:r>
            <a:r>
              <a:rPr sz="1400" dirty="0">
                <a:latin typeface="Times New Roman"/>
                <a:cs typeface="Times New Roman"/>
              </a:rPr>
              <a:t>IRF2</a:t>
            </a:r>
            <a:r>
              <a:rPr sz="1400" spc="-20" dirty="0">
                <a:latin typeface="Times New Roman"/>
                <a:cs typeface="Times New Roman"/>
              </a:rPr>
              <a:t> </a:t>
            </a:r>
            <a:r>
              <a:rPr sz="1400" dirty="0">
                <a:latin typeface="Times New Roman"/>
                <a:cs typeface="Times New Roman"/>
              </a:rPr>
              <a:t>Board</a:t>
            </a:r>
            <a:r>
              <a:rPr sz="1400" spc="-15" dirty="0">
                <a:latin typeface="Times New Roman"/>
                <a:cs typeface="Times New Roman"/>
              </a:rPr>
              <a:t> </a:t>
            </a:r>
            <a:r>
              <a:rPr sz="1400" dirty="0">
                <a:latin typeface="Times New Roman"/>
                <a:cs typeface="Times New Roman"/>
              </a:rPr>
              <a:t>can</a:t>
            </a:r>
            <a:r>
              <a:rPr sz="1400" spc="-20" dirty="0">
                <a:latin typeface="Times New Roman"/>
                <a:cs typeface="Times New Roman"/>
              </a:rPr>
              <a:t> </a:t>
            </a:r>
            <a:r>
              <a:rPr sz="1400" dirty="0">
                <a:latin typeface="Times New Roman"/>
                <a:cs typeface="Times New Roman"/>
              </a:rPr>
              <a:t>monitor</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PDU</a:t>
            </a:r>
            <a:r>
              <a:rPr sz="1400" spc="-20" dirty="0">
                <a:latin typeface="Times New Roman"/>
                <a:cs typeface="Times New Roman"/>
              </a:rPr>
              <a:t> </a:t>
            </a:r>
            <a:r>
              <a:rPr sz="1400" dirty="0">
                <a:latin typeface="Times New Roman"/>
                <a:cs typeface="Times New Roman"/>
              </a:rPr>
              <a:t>mode,</a:t>
            </a:r>
            <a:r>
              <a:rPr sz="1400" spc="-10" dirty="0">
                <a:latin typeface="Times New Roman"/>
                <a:cs typeface="Times New Roman"/>
              </a:rPr>
              <a:t> Gradient </a:t>
            </a:r>
            <a:r>
              <a:rPr sz="1400" dirty="0">
                <a:latin typeface="Times New Roman"/>
                <a:cs typeface="Times New Roman"/>
              </a:rPr>
              <a:t>Coil</a:t>
            </a:r>
            <a:r>
              <a:rPr sz="1400" spc="-30" dirty="0">
                <a:latin typeface="Times New Roman"/>
                <a:cs typeface="Times New Roman"/>
              </a:rPr>
              <a:t> </a:t>
            </a:r>
            <a:r>
              <a:rPr sz="1400" dirty="0">
                <a:latin typeface="Times New Roman"/>
                <a:cs typeface="Times New Roman"/>
              </a:rPr>
              <a:t>Temperature,</a:t>
            </a:r>
            <a:r>
              <a:rPr sz="1400" spc="-25" dirty="0">
                <a:latin typeface="Times New Roman"/>
                <a:cs typeface="Times New Roman"/>
              </a:rPr>
              <a:t> </a:t>
            </a:r>
            <a:r>
              <a:rPr sz="1400" dirty="0">
                <a:latin typeface="Times New Roman"/>
                <a:cs typeface="Times New Roman"/>
              </a:rPr>
              <a:t>Scan</a:t>
            </a:r>
            <a:r>
              <a:rPr sz="1400" spc="-25" dirty="0">
                <a:latin typeface="Times New Roman"/>
                <a:cs typeface="Times New Roman"/>
              </a:rPr>
              <a:t> </a:t>
            </a:r>
            <a:r>
              <a:rPr sz="1400" dirty="0">
                <a:latin typeface="Times New Roman"/>
                <a:cs typeface="Times New Roman"/>
              </a:rPr>
              <a:t>Room</a:t>
            </a:r>
            <a:r>
              <a:rPr sz="1400" spc="-35" dirty="0">
                <a:latin typeface="Times New Roman"/>
                <a:cs typeface="Times New Roman"/>
              </a:rPr>
              <a:t> </a:t>
            </a:r>
            <a:r>
              <a:rPr sz="1400" dirty="0">
                <a:latin typeface="Times New Roman"/>
                <a:cs typeface="Times New Roman"/>
              </a:rPr>
              <a:t>Door</a:t>
            </a:r>
            <a:r>
              <a:rPr sz="1400" spc="-25" dirty="0">
                <a:latin typeface="Times New Roman"/>
                <a:cs typeface="Times New Roman"/>
              </a:rPr>
              <a:t> </a:t>
            </a:r>
            <a:r>
              <a:rPr sz="1400" dirty="0">
                <a:latin typeface="Times New Roman"/>
                <a:cs typeface="Times New Roman"/>
              </a:rPr>
              <a:t>status,</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E- </a:t>
            </a:r>
            <a:r>
              <a:rPr sz="1400" dirty="0">
                <a:latin typeface="Times New Roman"/>
                <a:cs typeface="Times New Roman"/>
              </a:rPr>
              <a:t>Stop</a:t>
            </a:r>
            <a:r>
              <a:rPr sz="1400" spc="-25" dirty="0">
                <a:latin typeface="Times New Roman"/>
                <a:cs typeface="Times New Roman"/>
              </a:rPr>
              <a:t> </a:t>
            </a:r>
            <a:r>
              <a:rPr sz="1400" dirty="0">
                <a:latin typeface="Times New Roman"/>
                <a:cs typeface="Times New Roman"/>
              </a:rPr>
              <a:t>signal</a:t>
            </a:r>
            <a:r>
              <a:rPr sz="1400" spc="-3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control</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Alignment</a:t>
            </a:r>
            <a:r>
              <a:rPr sz="1400" spc="-20" dirty="0">
                <a:latin typeface="Times New Roman"/>
                <a:cs typeface="Times New Roman"/>
              </a:rPr>
              <a:t> </a:t>
            </a:r>
            <a:r>
              <a:rPr sz="1400" dirty="0">
                <a:latin typeface="Times New Roman"/>
                <a:cs typeface="Times New Roman"/>
              </a:rPr>
              <a:t>Lights,</a:t>
            </a:r>
            <a:r>
              <a:rPr sz="1400" spc="-20" dirty="0">
                <a:latin typeface="Times New Roman"/>
                <a:cs typeface="Times New Roman"/>
              </a:rPr>
              <a:t> Bore </a:t>
            </a:r>
            <a:r>
              <a:rPr sz="1400" dirty="0">
                <a:latin typeface="Times New Roman"/>
                <a:cs typeface="Times New Roman"/>
              </a:rPr>
              <a:t>Lights,</a:t>
            </a:r>
            <a:r>
              <a:rPr sz="1400" spc="-40" dirty="0">
                <a:latin typeface="Times New Roman"/>
                <a:cs typeface="Times New Roman"/>
              </a:rPr>
              <a:t> </a:t>
            </a:r>
            <a:r>
              <a:rPr sz="1400" dirty="0">
                <a:latin typeface="Times New Roman"/>
                <a:cs typeface="Times New Roman"/>
              </a:rPr>
              <a:t>and</a:t>
            </a:r>
            <a:r>
              <a:rPr sz="1400" spc="-40" dirty="0">
                <a:latin typeface="Times New Roman"/>
                <a:cs typeface="Times New Roman"/>
              </a:rPr>
              <a:t> </a:t>
            </a:r>
            <a:r>
              <a:rPr sz="1400" dirty="0">
                <a:latin typeface="Times New Roman"/>
                <a:cs typeface="Times New Roman"/>
              </a:rPr>
              <a:t>Bore</a:t>
            </a:r>
            <a:r>
              <a:rPr sz="1400" spc="-40" dirty="0">
                <a:latin typeface="Times New Roman"/>
                <a:cs typeface="Times New Roman"/>
              </a:rPr>
              <a:t> </a:t>
            </a:r>
            <a:r>
              <a:rPr sz="1400" spc="-20" dirty="0">
                <a:latin typeface="Times New Roman"/>
                <a:cs typeface="Times New Roman"/>
              </a:rPr>
              <a:t>Fan.</a:t>
            </a:r>
            <a:endParaRPr sz="1400">
              <a:latin typeface="Times New Roman"/>
              <a:cs typeface="Times New Roman"/>
            </a:endParaRPr>
          </a:p>
        </p:txBody>
      </p:sp>
      <p:sp>
        <p:nvSpPr>
          <p:cNvPr id="9" name="object 9"/>
          <p:cNvSpPr txBox="1"/>
          <p:nvPr/>
        </p:nvSpPr>
        <p:spPr>
          <a:xfrm>
            <a:off x="4816855" y="573277"/>
            <a:ext cx="4143375" cy="650875"/>
          </a:xfrm>
          <a:prstGeom prst="rect">
            <a:avLst/>
          </a:prstGeom>
          <a:solidFill>
            <a:srgbClr val="FFFFFF"/>
          </a:solidFill>
          <a:ln w="9144">
            <a:solidFill>
              <a:srgbClr val="000000"/>
            </a:solidFill>
          </a:ln>
        </p:spPr>
        <p:txBody>
          <a:bodyPr vert="horz" wrap="square" lIns="0" tIns="42545" rIns="0" bIns="0" rtlCol="0">
            <a:spAutoFit/>
          </a:bodyPr>
          <a:lstStyle/>
          <a:p>
            <a:pPr marL="102870" marR="95885" indent="555625">
              <a:lnSpc>
                <a:spcPct val="100000"/>
              </a:lnSpc>
              <a:spcBef>
                <a:spcPts val="335"/>
              </a:spcBef>
            </a:pPr>
            <a:r>
              <a:rPr sz="1800" b="1" dirty="0">
                <a:latin typeface="Times New Roman"/>
                <a:cs typeface="Times New Roman"/>
              </a:rPr>
              <a:t>I</a:t>
            </a:r>
            <a:r>
              <a:rPr sz="1800" dirty="0">
                <a:latin typeface="Times New Roman"/>
                <a:cs typeface="Times New Roman"/>
              </a:rPr>
              <a:t>nterface</a:t>
            </a:r>
            <a:r>
              <a:rPr sz="1800" spc="-25" dirty="0">
                <a:latin typeface="Times New Roman"/>
                <a:cs typeface="Times New Roman"/>
              </a:rPr>
              <a:t> </a:t>
            </a:r>
            <a:r>
              <a:rPr sz="1800" b="1" dirty="0">
                <a:latin typeface="Times New Roman"/>
                <a:cs typeface="Times New Roman"/>
              </a:rPr>
              <a:t>&amp;</a:t>
            </a:r>
            <a:r>
              <a:rPr sz="1800" b="1" spc="-25" dirty="0">
                <a:latin typeface="Times New Roman"/>
                <a:cs typeface="Times New Roman"/>
              </a:rPr>
              <a:t> </a:t>
            </a:r>
            <a:r>
              <a:rPr sz="1800" b="1" dirty="0">
                <a:latin typeface="Times New Roman"/>
                <a:cs typeface="Times New Roman"/>
              </a:rPr>
              <a:t>R</a:t>
            </a:r>
            <a:r>
              <a:rPr sz="1800" dirty="0">
                <a:latin typeface="Times New Roman"/>
                <a:cs typeface="Times New Roman"/>
              </a:rPr>
              <a:t>emote</a:t>
            </a:r>
            <a:r>
              <a:rPr sz="1800" spc="-25" dirty="0">
                <a:latin typeface="Times New Roman"/>
                <a:cs typeface="Times New Roman"/>
              </a:rPr>
              <a:t> </a:t>
            </a:r>
            <a:r>
              <a:rPr sz="1800" b="1" spc="-10" dirty="0">
                <a:latin typeface="Times New Roman"/>
                <a:cs typeface="Times New Roman"/>
              </a:rPr>
              <a:t>F</a:t>
            </a:r>
            <a:r>
              <a:rPr sz="1800" spc="-10" dirty="0">
                <a:latin typeface="Times New Roman"/>
                <a:cs typeface="Times New Roman"/>
              </a:rPr>
              <a:t>unctions </a:t>
            </a:r>
            <a:r>
              <a:rPr sz="1800" b="1" dirty="0">
                <a:latin typeface="Times New Roman"/>
                <a:cs typeface="Times New Roman"/>
              </a:rPr>
              <a:t>I</a:t>
            </a:r>
            <a:r>
              <a:rPr sz="1800" dirty="0">
                <a:latin typeface="Times New Roman"/>
                <a:cs typeface="Times New Roman"/>
              </a:rPr>
              <a:t>nput</a:t>
            </a:r>
            <a:r>
              <a:rPr sz="1800" b="1" dirty="0">
                <a:latin typeface="Times New Roman"/>
                <a:cs typeface="Times New Roman"/>
              </a:rPr>
              <a:t>/O</a:t>
            </a:r>
            <a:r>
              <a:rPr sz="1800" dirty="0">
                <a:latin typeface="Times New Roman"/>
                <a:cs typeface="Times New Roman"/>
              </a:rPr>
              <a:t>utput</a:t>
            </a:r>
            <a:r>
              <a:rPr sz="1800" spc="-35" dirty="0">
                <a:latin typeface="Times New Roman"/>
                <a:cs typeface="Times New Roman"/>
              </a:rPr>
              <a:t> </a:t>
            </a:r>
            <a:r>
              <a:rPr sz="1800" dirty="0">
                <a:latin typeface="Times New Roman"/>
                <a:cs typeface="Times New Roman"/>
              </a:rPr>
              <a:t>(</a:t>
            </a:r>
            <a:r>
              <a:rPr sz="1800" b="1" dirty="0">
                <a:latin typeface="Times New Roman"/>
                <a:cs typeface="Times New Roman"/>
              </a:rPr>
              <a:t>IRF</a:t>
            </a:r>
            <a:r>
              <a:rPr sz="1800" b="1" spc="-25" dirty="0">
                <a:latin typeface="Times New Roman"/>
                <a:cs typeface="Times New Roman"/>
              </a:rPr>
              <a:t> </a:t>
            </a:r>
            <a:r>
              <a:rPr sz="1800" b="1" dirty="0">
                <a:latin typeface="Times New Roman"/>
                <a:cs typeface="Times New Roman"/>
              </a:rPr>
              <a:t>I/O</a:t>
            </a:r>
            <a:r>
              <a:rPr sz="1800" dirty="0">
                <a:latin typeface="Times New Roman"/>
                <a:cs typeface="Times New Roman"/>
              </a:rPr>
              <a:t>)</a:t>
            </a:r>
            <a:r>
              <a:rPr sz="1800" spc="-25" dirty="0">
                <a:latin typeface="Times New Roman"/>
                <a:cs typeface="Times New Roman"/>
              </a:rPr>
              <a:t> </a:t>
            </a:r>
            <a:r>
              <a:rPr sz="1800" b="1" dirty="0">
                <a:latin typeface="Times New Roman"/>
                <a:cs typeface="Times New Roman"/>
              </a:rPr>
              <a:t>Board</a:t>
            </a:r>
            <a:r>
              <a:rPr sz="1800" b="1" spc="-25" dirty="0">
                <a:latin typeface="Times New Roman"/>
                <a:cs typeface="Times New Roman"/>
              </a:rPr>
              <a:t> </a:t>
            </a:r>
            <a:r>
              <a:rPr sz="1800" dirty="0">
                <a:latin typeface="Times New Roman"/>
                <a:cs typeface="Times New Roman"/>
              </a:rPr>
              <a:t>(Slot</a:t>
            </a:r>
            <a:r>
              <a:rPr sz="1800" spc="-25" dirty="0">
                <a:latin typeface="Times New Roman"/>
                <a:cs typeface="Times New Roman"/>
              </a:rPr>
              <a:t> </a:t>
            </a:r>
            <a:r>
              <a:rPr sz="1800" dirty="0">
                <a:latin typeface="Times New Roman"/>
                <a:cs typeface="Times New Roman"/>
              </a:rPr>
              <a:t>11</a:t>
            </a:r>
            <a:r>
              <a:rPr sz="1800" spc="-25" dirty="0">
                <a:latin typeface="Times New Roman"/>
                <a:cs typeface="Times New Roman"/>
              </a:rPr>
              <a:t> R)</a:t>
            </a:r>
            <a:endParaRPr sz="1800">
              <a:latin typeface="Times New Roman"/>
              <a:cs typeface="Times New Roman"/>
            </a:endParaRPr>
          </a:p>
        </p:txBody>
      </p:sp>
      <p:grpSp>
        <p:nvGrpSpPr>
          <p:cNvPr id="10" name="object 10"/>
          <p:cNvGrpSpPr/>
          <p:nvPr/>
        </p:nvGrpSpPr>
        <p:grpSpPr>
          <a:xfrm>
            <a:off x="5061267" y="4784661"/>
            <a:ext cx="4062095" cy="1174750"/>
            <a:chOff x="5061267" y="4784661"/>
            <a:chExt cx="4062095" cy="1174750"/>
          </a:xfrm>
        </p:grpSpPr>
        <p:sp>
          <p:nvSpPr>
            <p:cNvPr id="11" name="object 11"/>
            <p:cNvSpPr/>
            <p:nvPr/>
          </p:nvSpPr>
          <p:spPr>
            <a:xfrm>
              <a:off x="5066029" y="4789423"/>
              <a:ext cx="4052570" cy="1165225"/>
            </a:xfrm>
            <a:custGeom>
              <a:avLst/>
              <a:gdLst/>
              <a:ahLst/>
              <a:cxnLst/>
              <a:rect l="l" t="t" r="r" b="b"/>
              <a:pathLst>
                <a:path w="4052570" h="1165225">
                  <a:moveTo>
                    <a:pt x="0" y="0"/>
                  </a:moveTo>
                  <a:lnTo>
                    <a:pt x="0" y="1165098"/>
                  </a:lnTo>
                  <a:lnTo>
                    <a:pt x="4052570" y="1165098"/>
                  </a:lnTo>
                  <a:lnTo>
                    <a:pt x="4052570" y="0"/>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5066029" y="4789423"/>
              <a:ext cx="4052570" cy="1165225"/>
            </a:xfrm>
            <a:custGeom>
              <a:avLst/>
              <a:gdLst/>
              <a:ahLst/>
              <a:cxnLst/>
              <a:rect l="l" t="t" r="r" b="b"/>
              <a:pathLst>
                <a:path w="4052570" h="1165225">
                  <a:moveTo>
                    <a:pt x="4052570" y="0"/>
                  </a:moveTo>
                  <a:lnTo>
                    <a:pt x="0" y="0"/>
                  </a:lnTo>
                  <a:lnTo>
                    <a:pt x="0" y="1165098"/>
                  </a:lnTo>
                  <a:lnTo>
                    <a:pt x="4052570" y="1165098"/>
                  </a:lnTo>
                </a:path>
              </a:pathLst>
            </a:custGeom>
            <a:ln w="9144">
              <a:solidFill>
                <a:srgbClr val="000000"/>
              </a:solidFill>
            </a:ln>
          </p:spPr>
          <p:txBody>
            <a:bodyPr wrap="square" lIns="0" tIns="0" rIns="0" bIns="0" rtlCol="0"/>
            <a:lstStyle/>
            <a:p>
              <a:endParaRPr/>
            </a:p>
          </p:txBody>
        </p:sp>
      </p:grpSp>
      <p:sp>
        <p:nvSpPr>
          <p:cNvPr id="13" name="object 13"/>
          <p:cNvSpPr txBox="1"/>
          <p:nvPr/>
        </p:nvSpPr>
        <p:spPr>
          <a:xfrm>
            <a:off x="5150103" y="4821682"/>
            <a:ext cx="3473450" cy="1089660"/>
          </a:xfrm>
          <a:prstGeom prst="rect">
            <a:avLst/>
          </a:prstGeom>
        </p:spPr>
        <p:txBody>
          <a:bodyPr vert="horz" wrap="square" lIns="0" tIns="12065" rIns="0" bIns="0" rtlCol="0">
            <a:spAutoFit/>
          </a:bodyPr>
          <a:lstStyle/>
          <a:p>
            <a:pPr marL="12700" marR="5080">
              <a:lnSpc>
                <a:spcPct val="100000"/>
              </a:lnSpc>
              <a:spcBef>
                <a:spcPts val="95"/>
              </a:spcBef>
            </a:pPr>
            <a:r>
              <a:rPr sz="1400" b="1" u="sng" dirty="0">
                <a:uFill>
                  <a:solidFill>
                    <a:srgbClr val="000000"/>
                  </a:solidFill>
                </a:uFill>
                <a:latin typeface="Times New Roman"/>
                <a:cs typeface="Times New Roman"/>
              </a:rPr>
              <a:t>Available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IRF</a:t>
            </a:r>
            <a:r>
              <a:rPr sz="1400" b="1" u="sng" spc="-35" dirty="0">
                <a:uFill>
                  <a:solidFill>
                    <a:srgbClr val="000000"/>
                  </a:solidFill>
                </a:uFill>
                <a:latin typeface="Times New Roman"/>
                <a:cs typeface="Times New Roman"/>
              </a:rPr>
              <a:t> </a:t>
            </a:r>
            <a:r>
              <a:rPr sz="1400" b="1" u="sng" spc="-25" dirty="0">
                <a:uFill>
                  <a:solidFill>
                    <a:srgbClr val="000000"/>
                  </a:solidFill>
                </a:uFill>
                <a:latin typeface="Times New Roman"/>
                <a:cs typeface="Times New Roman"/>
              </a:rPr>
              <a:t>I/O</a:t>
            </a:r>
            <a:r>
              <a:rPr sz="1400" b="1" u="none" spc="-25" dirty="0">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marL="74295" indent="-69850">
              <a:lnSpc>
                <a:spcPct val="100000"/>
              </a:lnSpc>
              <a:spcBef>
                <a:spcPts val="830"/>
              </a:spcBef>
              <a:buSzPct val="92857"/>
              <a:buFont typeface="Times New Roman"/>
              <a:buChar char="•"/>
              <a:tabLst>
                <a:tab pos="74295" algn="l"/>
              </a:tabLst>
            </a:pPr>
            <a:r>
              <a:rPr sz="1400" b="1" dirty="0">
                <a:latin typeface="Times New Roman"/>
                <a:cs typeface="Times New Roman"/>
              </a:rPr>
              <a:t>MGD</a:t>
            </a:r>
            <a:r>
              <a:rPr sz="1400" b="1" spc="-25" dirty="0">
                <a:latin typeface="Times New Roman"/>
                <a:cs typeface="Times New Roman"/>
              </a:rPr>
              <a:t> </a:t>
            </a:r>
            <a:r>
              <a:rPr sz="1400" b="1" dirty="0">
                <a:latin typeface="Times New Roman"/>
                <a:cs typeface="Times New Roman"/>
              </a:rPr>
              <a:t>Datapaths:</a:t>
            </a:r>
            <a:r>
              <a:rPr sz="1400" b="1" spc="-30" dirty="0">
                <a:latin typeface="Times New Roman"/>
                <a:cs typeface="Times New Roman"/>
              </a:rPr>
              <a:t> </a:t>
            </a:r>
            <a:r>
              <a:rPr sz="1400" dirty="0">
                <a:latin typeface="Times New Roman"/>
                <a:cs typeface="Times New Roman"/>
              </a:rPr>
              <a:t>IRF</a:t>
            </a:r>
            <a:r>
              <a:rPr sz="1400" spc="-25" dirty="0">
                <a:latin typeface="Times New Roman"/>
                <a:cs typeface="Times New Roman"/>
              </a:rPr>
              <a:t> </a:t>
            </a:r>
            <a:r>
              <a:rPr sz="1400" spc="-10" dirty="0">
                <a:latin typeface="Times New Roman"/>
                <a:cs typeface="Times New Roman"/>
              </a:rPr>
              <a:t>-</a:t>
            </a:r>
            <a:r>
              <a:rPr sz="1400" dirty="0">
                <a:latin typeface="Times New Roman"/>
                <a:cs typeface="Times New Roman"/>
              </a:rPr>
              <a:t>&gt;</a:t>
            </a:r>
            <a:r>
              <a:rPr sz="1400" spc="-25" dirty="0">
                <a:latin typeface="Times New Roman"/>
                <a:cs typeface="Times New Roman"/>
              </a:rPr>
              <a:t> </a:t>
            </a:r>
            <a:r>
              <a:rPr sz="1400" dirty="0">
                <a:latin typeface="Times New Roman"/>
                <a:cs typeface="Times New Roman"/>
              </a:rPr>
              <a:t>IRF</a:t>
            </a:r>
            <a:r>
              <a:rPr sz="1400" spc="-25" dirty="0">
                <a:latin typeface="Times New Roman"/>
                <a:cs typeface="Times New Roman"/>
              </a:rPr>
              <a:t> I/O</a:t>
            </a:r>
            <a:endParaRPr sz="1400">
              <a:latin typeface="Times New Roman"/>
              <a:cs typeface="Times New Roman"/>
            </a:endParaRPr>
          </a:p>
          <a:p>
            <a:pPr marL="74295" indent="-69850">
              <a:lnSpc>
                <a:spcPct val="100000"/>
              </a:lnSpc>
              <a:spcBef>
                <a:spcPts val="835"/>
              </a:spcBef>
              <a:buSzPct val="92857"/>
              <a:buFont typeface="Times New Roman"/>
              <a:buChar char="•"/>
              <a:tabLst>
                <a:tab pos="74295" algn="l"/>
              </a:tabLst>
            </a:pPr>
            <a:r>
              <a:rPr sz="1400" b="1" dirty="0">
                <a:latin typeface="Times New Roman"/>
                <a:cs typeface="Times New Roman"/>
              </a:rPr>
              <a:t>RRF</a:t>
            </a:r>
            <a:r>
              <a:rPr sz="1400" b="1" spc="-35" dirty="0">
                <a:latin typeface="Times New Roman"/>
                <a:cs typeface="Times New Roman"/>
              </a:rPr>
              <a:t> </a:t>
            </a:r>
            <a:r>
              <a:rPr sz="1400" b="1" dirty="0">
                <a:latin typeface="Times New Roman"/>
                <a:cs typeface="Times New Roman"/>
              </a:rPr>
              <a:t>Datapaths:</a:t>
            </a:r>
            <a:r>
              <a:rPr sz="1400" b="1" spc="-25" dirty="0">
                <a:latin typeface="Times New Roman"/>
                <a:cs typeface="Times New Roman"/>
              </a:rPr>
              <a:t> </a:t>
            </a:r>
            <a:r>
              <a:rPr sz="1400" dirty="0">
                <a:latin typeface="Times New Roman"/>
                <a:cs typeface="Times New Roman"/>
              </a:rPr>
              <a:t>RRF</a:t>
            </a:r>
            <a:r>
              <a:rPr sz="1400" spc="-35" dirty="0">
                <a:latin typeface="Times New Roman"/>
                <a:cs typeface="Times New Roman"/>
              </a:rPr>
              <a:t> </a:t>
            </a:r>
            <a:r>
              <a:rPr sz="1400" spc="-10" dirty="0">
                <a:latin typeface="Times New Roman"/>
                <a:cs typeface="Times New Roman"/>
              </a:rPr>
              <a:t>Loopback</a:t>
            </a:r>
            <a:endParaRPr sz="1400">
              <a:latin typeface="Times New Roman"/>
              <a:cs typeface="Times New Roman"/>
            </a:endParaRPr>
          </a:p>
        </p:txBody>
      </p:sp>
      <p:sp>
        <p:nvSpPr>
          <p:cNvPr id="14" name="object 14"/>
          <p:cNvSpPr txBox="1">
            <a:spLocks noGrp="1"/>
          </p:cNvSpPr>
          <p:nvPr>
            <p:ph type="title"/>
          </p:nvPr>
        </p:nvSpPr>
        <p:spPr>
          <a:xfrm>
            <a:off x="2687827" y="87122"/>
            <a:ext cx="4300855" cy="407034"/>
          </a:xfrm>
          <a:prstGeom prst="rect">
            <a:avLst/>
          </a:prstGeom>
          <a:solidFill>
            <a:srgbClr val="FFFFFF"/>
          </a:solidFill>
          <a:ln w="9144">
            <a:solidFill>
              <a:srgbClr val="000000"/>
            </a:solidFill>
          </a:ln>
        </p:spPr>
        <p:txBody>
          <a:bodyPr vert="horz" wrap="square" lIns="0" tIns="41275" rIns="0" bIns="0" rtlCol="0">
            <a:spAutoFit/>
          </a:bodyPr>
          <a:lstStyle/>
          <a:p>
            <a:pPr marL="96520">
              <a:lnSpc>
                <a:spcPct val="100000"/>
              </a:lnSpc>
              <a:spcBef>
                <a:spcPts val="325"/>
              </a:spcBef>
            </a:pPr>
            <a:r>
              <a:rPr sz="2000" b="1" dirty="0">
                <a:latin typeface="Times New Roman"/>
                <a:cs typeface="Times New Roman"/>
              </a:rPr>
              <a:t>System</a:t>
            </a:r>
            <a:r>
              <a:rPr sz="2000" b="1" spc="-30"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0" dirty="0">
                <a:latin typeface="Times New Roman"/>
                <a:cs typeface="Times New Roman"/>
              </a:rPr>
              <a:t> </a:t>
            </a:r>
            <a:r>
              <a:rPr sz="2000" b="1" dirty="0">
                <a:latin typeface="Times New Roman"/>
                <a:cs typeface="Times New Roman"/>
              </a:rPr>
              <a:t>MGD</a:t>
            </a:r>
            <a:r>
              <a:rPr sz="2000" b="1" spc="-20" dirty="0">
                <a:latin typeface="Times New Roman"/>
                <a:cs typeface="Times New Roman"/>
              </a:rPr>
              <a:t> </a:t>
            </a:r>
            <a:r>
              <a:rPr sz="2000" b="1" dirty="0">
                <a:latin typeface="Times New Roman"/>
                <a:cs typeface="Times New Roman"/>
              </a:rPr>
              <a:t>Chassis</a:t>
            </a:r>
            <a:r>
              <a:rPr sz="2000" b="1" spc="-20" dirty="0">
                <a:latin typeface="Times New Roman"/>
                <a:cs typeface="Times New Roman"/>
              </a:rPr>
              <a:t> Rear</a:t>
            </a:r>
            <a:endParaRPr sz="2000">
              <a:latin typeface="Times New Roman"/>
              <a:cs typeface="Times New Roman"/>
            </a:endParaRPr>
          </a:p>
        </p:txBody>
      </p:sp>
      <p:grpSp>
        <p:nvGrpSpPr>
          <p:cNvPr id="15" name="object 15"/>
          <p:cNvGrpSpPr/>
          <p:nvPr/>
        </p:nvGrpSpPr>
        <p:grpSpPr>
          <a:xfrm>
            <a:off x="7631683" y="-4572"/>
            <a:ext cx="1491615" cy="280670"/>
            <a:chOff x="7631683" y="-4572"/>
            <a:chExt cx="1491615" cy="280670"/>
          </a:xfrm>
        </p:grpSpPr>
        <p:sp>
          <p:nvSpPr>
            <p:cNvPr id="16" name="object 16"/>
            <p:cNvSpPr/>
            <p:nvPr/>
          </p:nvSpPr>
          <p:spPr>
            <a:xfrm>
              <a:off x="7636255" y="0"/>
              <a:ext cx="1482725" cy="271780"/>
            </a:xfrm>
            <a:custGeom>
              <a:avLst/>
              <a:gdLst/>
              <a:ahLst/>
              <a:cxnLst/>
              <a:rect l="l" t="t" r="r" b="b"/>
              <a:pathLst>
                <a:path w="1482725" h="271780">
                  <a:moveTo>
                    <a:pt x="0" y="0"/>
                  </a:moveTo>
                  <a:lnTo>
                    <a:pt x="0" y="271525"/>
                  </a:lnTo>
                  <a:lnTo>
                    <a:pt x="1482344" y="271525"/>
                  </a:lnTo>
                  <a:lnTo>
                    <a:pt x="1482344" y="0"/>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7636255" y="0"/>
              <a:ext cx="1482725" cy="271780"/>
            </a:xfrm>
            <a:custGeom>
              <a:avLst/>
              <a:gdLst/>
              <a:ahLst/>
              <a:cxnLst/>
              <a:rect l="l" t="t" r="r" b="b"/>
              <a:pathLst>
                <a:path w="1482725" h="271780">
                  <a:moveTo>
                    <a:pt x="0" y="0"/>
                  </a:moveTo>
                  <a:lnTo>
                    <a:pt x="0" y="271525"/>
                  </a:lnTo>
                  <a:lnTo>
                    <a:pt x="1482344" y="271525"/>
                  </a:lnTo>
                </a:path>
              </a:pathLst>
            </a:custGeom>
            <a:ln w="9144">
              <a:solidFill>
                <a:srgbClr val="000000"/>
              </a:solidFill>
            </a:ln>
          </p:spPr>
          <p:txBody>
            <a:bodyPr wrap="square" lIns="0" tIns="0" rIns="0" bIns="0" rtlCol="0"/>
            <a:lstStyle/>
            <a:p>
              <a:endParaRPr/>
            </a:p>
          </p:txBody>
        </p:sp>
      </p:grpSp>
      <p:sp>
        <p:nvSpPr>
          <p:cNvPr id="18" name="object 18"/>
          <p:cNvSpPr txBox="1"/>
          <p:nvPr/>
        </p:nvSpPr>
        <p:spPr>
          <a:xfrm>
            <a:off x="8172195"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320" y="22351"/>
            <a:ext cx="8812530" cy="6794754"/>
          </a:xfrm>
          <a:prstGeom prst="rect">
            <a:avLst/>
          </a:prstGeom>
        </p:spPr>
      </p:pic>
      <p:sp>
        <p:nvSpPr>
          <p:cNvPr id="3" name="object 3"/>
          <p:cNvSpPr txBox="1">
            <a:spLocks noGrp="1"/>
          </p:cNvSpPr>
          <p:nvPr>
            <p:ph type="title"/>
          </p:nvPr>
        </p:nvSpPr>
        <p:spPr>
          <a:xfrm>
            <a:off x="2687827" y="144271"/>
            <a:ext cx="4300855" cy="407034"/>
          </a:xfrm>
          <a:prstGeom prst="rect">
            <a:avLst/>
          </a:prstGeom>
          <a:solidFill>
            <a:srgbClr val="FFFFFF"/>
          </a:solidFill>
          <a:ln w="9144">
            <a:solidFill>
              <a:srgbClr val="000000"/>
            </a:solidFill>
          </a:ln>
        </p:spPr>
        <p:txBody>
          <a:bodyPr vert="horz" wrap="square" lIns="0" tIns="41275" rIns="0" bIns="0" rtlCol="0">
            <a:spAutoFit/>
          </a:bodyPr>
          <a:lstStyle/>
          <a:p>
            <a:pPr marL="96520">
              <a:lnSpc>
                <a:spcPct val="100000"/>
              </a:lnSpc>
              <a:spcBef>
                <a:spcPts val="325"/>
              </a:spcBef>
            </a:pPr>
            <a:r>
              <a:rPr sz="2000" b="1" dirty="0">
                <a:latin typeface="Times New Roman"/>
                <a:cs typeface="Times New Roman"/>
              </a:rPr>
              <a:t>System</a:t>
            </a:r>
            <a:r>
              <a:rPr sz="2000" b="1" spc="-30"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0" dirty="0">
                <a:latin typeface="Times New Roman"/>
                <a:cs typeface="Times New Roman"/>
              </a:rPr>
              <a:t> </a:t>
            </a:r>
            <a:r>
              <a:rPr sz="2000" b="1" dirty="0">
                <a:latin typeface="Times New Roman"/>
                <a:cs typeface="Times New Roman"/>
              </a:rPr>
              <a:t>MGD</a:t>
            </a:r>
            <a:r>
              <a:rPr sz="2000" b="1" spc="-20" dirty="0">
                <a:latin typeface="Times New Roman"/>
                <a:cs typeface="Times New Roman"/>
              </a:rPr>
              <a:t> </a:t>
            </a:r>
            <a:r>
              <a:rPr sz="2000" b="1" dirty="0">
                <a:latin typeface="Times New Roman"/>
                <a:cs typeface="Times New Roman"/>
              </a:rPr>
              <a:t>Chassis</a:t>
            </a:r>
            <a:r>
              <a:rPr sz="2000" b="1" spc="-20" dirty="0">
                <a:latin typeface="Times New Roman"/>
                <a:cs typeface="Times New Roman"/>
              </a:rPr>
              <a:t> Rear</a:t>
            </a:r>
            <a:endParaRPr sz="2000">
              <a:latin typeface="Times New Roman"/>
              <a:cs typeface="Times New Roman"/>
            </a:endParaRPr>
          </a:p>
        </p:txBody>
      </p:sp>
      <p:sp>
        <p:nvSpPr>
          <p:cNvPr id="4" name="object 4"/>
          <p:cNvSpPr txBox="1"/>
          <p:nvPr/>
        </p:nvSpPr>
        <p:spPr>
          <a:xfrm>
            <a:off x="4224020" y="1061719"/>
            <a:ext cx="4407535" cy="3718560"/>
          </a:xfrm>
          <a:prstGeom prst="rect">
            <a:avLst/>
          </a:prstGeom>
          <a:solidFill>
            <a:srgbClr val="FFFFFF"/>
          </a:solidFill>
          <a:ln w="9144">
            <a:solidFill>
              <a:srgbClr val="000000"/>
            </a:solidFill>
          </a:ln>
        </p:spPr>
        <p:txBody>
          <a:bodyPr vert="horz" wrap="square" lIns="0" tIns="44450" rIns="0" bIns="0" rtlCol="0">
            <a:spAutoFit/>
          </a:bodyPr>
          <a:lstStyle/>
          <a:p>
            <a:pPr marL="97155" marR="106680">
              <a:lnSpc>
                <a:spcPct val="100000"/>
              </a:lnSpc>
              <a:spcBef>
                <a:spcPts val="350"/>
              </a:spcBef>
            </a:pPr>
            <a:r>
              <a:rPr sz="1400" dirty="0">
                <a:latin typeface="Times New Roman"/>
                <a:cs typeface="Times New Roman"/>
              </a:rPr>
              <a:t>This</a:t>
            </a:r>
            <a:r>
              <a:rPr sz="1400" spc="-25"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spc="-10" dirty="0">
                <a:latin typeface="Times New Roman"/>
                <a:cs typeface="Times New Roman"/>
              </a:rPr>
              <a:t>provides</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fiber</a:t>
            </a:r>
            <a:r>
              <a:rPr sz="1400" spc="-20" dirty="0">
                <a:latin typeface="Times New Roman"/>
                <a:cs typeface="Times New Roman"/>
              </a:rPr>
              <a:t> </a:t>
            </a:r>
            <a:r>
              <a:rPr sz="1400" dirty="0">
                <a:latin typeface="Times New Roman"/>
                <a:cs typeface="Times New Roman"/>
              </a:rPr>
              <a:t>optic</a:t>
            </a:r>
            <a:r>
              <a:rPr sz="1400" spc="-25" dirty="0">
                <a:latin typeface="Times New Roman"/>
                <a:cs typeface="Times New Roman"/>
              </a:rPr>
              <a:t> </a:t>
            </a:r>
            <a:r>
              <a:rPr sz="1400" dirty="0">
                <a:latin typeface="Times New Roman"/>
                <a:cs typeface="Times New Roman"/>
              </a:rPr>
              <a:t>interfaces</a:t>
            </a:r>
            <a:r>
              <a:rPr sz="1400" spc="-20" dirty="0">
                <a:latin typeface="Times New Roman"/>
                <a:cs typeface="Times New Roman"/>
              </a:rPr>
              <a:t> </a:t>
            </a:r>
            <a:r>
              <a:rPr sz="1400" dirty="0">
                <a:latin typeface="Times New Roman"/>
                <a:cs typeface="Times New Roman"/>
              </a:rPr>
              <a:t>(fiber</a:t>
            </a:r>
            <a:r>
              <a:rPr sz="1400" spc="-20" dirty="0">
                <a:latin typeface="Times New Roman"/>
                <a:cs typeface="Times New Roman"/>
              </a:rPr>
              <a:t> </a:t>
            </a:r>
            <a:r>
              <a:rPr sz="1400" spc="-10" dirty="0">
                <a:latin typeface="Times New Roman"/>
                <a:cs typeface="Times New Roman"/>
              </a:rPr>
              <a:t>cables </a:t>
            </a:r>
            <a:r>
              <a:rPr sz="1400" dirty="0">
                <a:latin typeface="Times New Roman"/>
                <a:cs typeface="Times New Roman"/>
              </a:rPr>
              <a:t>are</a:t>
            </a:r>
            <a:r>
              <a:rPr sz="1400" spc="-30" dirty="0">
                <a:latin typeface="Times New Roman"/>
                <a:cs typeface="Times New Roman"/>
              </a:rPr>
              <a:t> </a:t>
            </a:r>
            <a:r>
              <a:rPr sz="1400" dirty="0">
                <a:latin typeface="Times New Roman"/>
                <a:cs typeface="Times New Roman"/>
              </a:rPr>
              <a:t>not</a:t>
            </a:r>
            <a:r>
              <a:rPr sz="1400" spc="-25" dirty="0">
                <a:latin typeface="Times New Roman"/>
                <a:cs typeface="Times New Roman"/>
              </a:rPr>
              <a:t> </a:t>
            </a:r>
            <a:r>
              <a:rPr sz="1400" dirty="0">
                <a:latin typeface="Times New Roman"/>
                <a:cs typeface="Times New Roman"/>
              </a:rPr>
              <a:t>shown</a:t>
            </a:r>
            <a:r>
              <a:rPr sz="1400" spc="-25" dirty="0">
                <a:latin typeface="Times New Roman"/>
                <a:cs typeface="Times New Roman"/>
              </a:rPr>
              <a:t> </a:t>
            </a:r>
            <a:r>
              <a:rPr sz="1400" dirty="0">
                <a:latin typeface="Times New Roman"/>
                <a:cs typeface="Times New Roman"/>
              </a:rPr>
              <a:t>connected)</a:t>
            </a:r>
            <a:r>
              <a:rPr sz="1400" spc="-25"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fiber</a:t>
            </a:r>
            <a:r>
              <a:rPr sz="1400" spc="-20" dirty="0">
                <a:latin typeface="Times New Roman"/>
                <a:cs typeface="Times New Roman"/>
              </a:rPr>
              <a:t> </a:t>
            </a:r>
            <a:r>
              <a:rPr sz="1400" dirty="0">
                <a:latin typeface="Times New Roman"/>
                <a:cs typeface="Times New Roman"/>
              </a:rPr>
              <a:t>cables</a:t>
            </a:r>
            <a:r>
              <a:rPr sz="1400" spc="-20" dirty="0">
                <a:latin typeface="Times New Roman"/>
                <a:cs typeface="Times New Roman"/>
              </a:rPr>
              <a:t> </a:t>
            </a:r>
            <a:r>
              <a:rPr sz="1400" spc="-10" dirty="0">
                <a:latin typeface="Times New Roman"/>
                <a:cs typeface="Times New Roman"/>
              </a:rPr>
              <a:t>connecting</a:t>
            </a:r>
            <a:r>
              <a:rPr sz="1400" spc="500"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b="1" dirty="0">
                <a:latin typeface="Times New Roman"/>
                <a:cs typeface="Times New Roman"/>
              </a:rPr>
              <a:t>G</a:t>
            </a:r>
            <a:r>
              <a:rPr sz="1400" dirty="0">
                <a:latin typeface="Times New Roman"/>
                <a:cs typeface="Times New Roman"/>
              </a:rPr>
              <a:t>radient</a:t>
            </a:r>
            <a:r>
              <a:rPr sz="1400" spc="-30" dirty="0">
                <a:latin typeface="Times New Roman"/>
                <a:cs typeface="Times New Roman"/>
              </a:rPr>
              <a:t> </a:t>
            </a:r>
            <a:r>
              <a:rPr sz="1400" b="1" dirty="0">
                <a:latin typeface="Times New Roman"/>
                <a:cs typeface="Times New Roman"/>
              </a:rPr>
              <a:t>P</a:t>
            </a:r>
            <a:r>
              <a:rPr sz="1400" dirty="0">
                <a:latin typeface="Times New Roman"/>
                <a:cs typeface="Times New Roman"/>
              </a:rPr>
              <a:t>rocessor</a:t>
            </a:r>
            <a:r>
              <a:rPr sz="1400" spc="-35" dirty="0">
                <a:latin typeface="Times New Roman"/>
                <a:cs typeface="Times New Roman"/>
              </a:rPr>
              <a:t> </a:t>
            </a:r>
            <a:r>
              <a:rPr sz="1400" dirty="0">
                <a:latin typeface="Times New Roman"/>
                <a:cs typeface="Times New Roman"/>
              </a:rPr>
              <a:t>(</a:t>
            </a:r>
            <a:r>
              <a:rPr sz="1400" b="1" dirty="0">
                <a:latin typeface="Times New Roman"/>
                <a:cs typeface="Times New Roman"/>
              </a:rPr>
              <a:t>GP</a:t>
            </a:r>
            <a:r>
              <a:rPr sz="1400" dirty="0">
                <a:latin typeface="Times New Roman"/>
                <a:cs typeface="Times New Roman"/>
              </a:rPr>
              <a:t>)</a:t>
            </a:r>
            <a:r>
              <a:rPr sz="1400" spc="-30" dirty="0">
                <a:latin typeface="Times New Roman"/>
                <a:cs typeface="Times New Roman"/>
              </a:rPr>
              <a:t> </a:t>
            </a:r>
            <a:r>
              <a:rPr sz="1400" b="1" dirty="0">
                <a:latin typeface="Times New Roman"/>
                <a:cs typeface="Times New Roman"/>
              </a:rPr>
              <a:t>Board</a:t>
            </a:r>
            <a:r>
              <a:rPr sz="1400" b="1" spc="-30" dirty="0">
                <a:latin typeface="Times New Roman"/>
                <a:cs typeface="Times New Roman"/>
              </a:rPr>
              <a:t> </a:t>
            </a:r>
            <a:r>
              <a:rPr sz="1400" dirty="0">
                <a:latin typeface="Times New Roman"/>
                <a:cs typeface="Times New Roman"/>
              </a:rPr>
              <a:t>inside</a:t>
            </a:r>
            <a:r>
              <a:rPr sz="1400" spc="-3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b="1" spc="-25" dirty="0">
                <a:latin typeface="Times New Roman"/>
                <a:cs typeface="Times New Roman"/>
              </a:rPr>
              <a:t>HFD </a:t>
            </a:r>
            <a:r>
              <a:rPr sz="1400" b="1" dirty="0">
                <a:latin typeface="Times New Roman"/>
                <a:cs typeface="Times New Roman"/>
              </a:rPr>
              <a:t>Cabinet</a:t>
            </a:r>
            <a:r>
              <a:rPr sz="1400" dirty="0">
                <a:latin typeface="Times New Roman"/>
                <a:cs typeface="Times New Roman"/>
              </a:rPr>
              <a:t>,</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b="1" dirty="0">
                <a:latin typeface="Times New Roman"/>
                <a:cs typeface="Times New Roman"/>
              </a:rPr>
              <a:t>SRI</a:t>
            </a:r>
            <a:r>
              <a:rPr sz="1400" b="1" spc="-25" dirty="0">
                <a:latin typeface="Times New Roman"/>
                <a:cs typeface="Times New Roman"/>
              </a:rPr>
              <a:t> </a:t>
            </a:r>
            <a:r>
              <a:rPr sz="1400" dirty="0">
                <a:latin typeface="Times New Roman"/>
                <a:cs typeface="Times New Roman"/>
              </a:rPr>
              <a:t>inside</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scan</a:t>
            </a:r>
            <a:r>
              <a:rPr sz="1400" spc="-25" dirty="0">
                <a:latin typeface="Times New Roman"/>
                <a:cs typeface="Times New Roman"/>
              </a:rPr>
              <a:t> </a:t>
            </a:r>
            <a:r>
              <a:rPr sz="1400" dirty="0">
                <a:latin typeface="Times New Roman"/>
                <a:cs typeface="Times New Roman"/>
              </a:rPr>
              <a:t>room,</a:t>
            </a:r>
            <a:r>
              <a:rPr sz="1400" spc="-2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b="1" dirty="0">
                <a:latin typeface="Times New Roman"/>
                <a:cs typeface="Times New Roman"/>
              </a:rPr>
              <a:t>PAC</a:t>
            </a:r>
            <a:r>
              <a:rPr sz="1400" b="1" spc="-20" dirty="0">
                <a:latin typeface="Times New Roman"/>
                <a:cs typeface="Times New Roman"/>
              </a:rPr>
              <a:t> </a:t>
            </a:r>
            <a:r>
              <a:rPr sz="1400" b="1" spc="-10" dirty="0">
                <a:latin typeface="Times New Roman"/>
                <a:cs typeface="Times New Roman"/>
              </a:rPr>
              <a:t>Module </a:t>
            </a:r>
            <a:r>
              <a:rPr sz="1400" dirty="0">
                <a:latin typeface="Times New Roman"/>
                <a:cs typeface="Times New Roman"/>
              </a:rPr>
              <a:t>inside</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scan</a:t>
            </a:r>
            <a:r>
              <a:rPr sz="1400" spc="-30" dirty="0">
                <a:latin typeface="Times New Roman"/>
                <a:cs typeface="Times New Roman"/>
              </a:rPr>
              <a:t> </a:t>
            </a:r>
            <a:r>
              <a:rPr sz="1400" dirty="0">
                <a:latin typeface="Times New Roman"/>
                <a:cs typeface="Times New Roman"/>
              </a:rPr>
              <a:t>room,</a:t>
            </a:r>
            <a:r>
              <a:rPr sz="1400" spc="-3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b="1" dirty="0">
                <a:latin typeface="Times New Roman"/>
                <a:cs typeface="Times New Roman"/>
              </a:rPr>
              <a:t>MDS</a:t>
            </a:r>
            <a:r>
              <a:rPr sz="1400" b="1" spc="-35" dirty="0">
                <a:latin typeface="Times New Roman"/>
                <a:cs typeface="Times New Roman"/>
              </a:rPr>
              <a:t> </a:t>
            </a:r>
            <a:r>
              <a:rPr sz="1400" b="1" dirty="0">
                <a:latin typeface="Times New Roman"/>
                <a:cs typeface="Times New Roman"/>
              </a:rPr>
              <a:t>Link</a:t>
            </a:r>
            <a:r>
              <a:rPr sz="1400" b="1" spc="-35" dirty="0">
                <a:latin typeface="Times New Roman"/>
                <a:cs typeface="Times New Roman"/>
              </a:rPr>
              <a:t> </a:t>
            </a:r>
            <a:r>
              <a:rPr sz="1400" dirty="0">
                <a:latin typeface="Times New Roman"/>
                <a:cs typeface="Times New Roman"/>
              </a:rPr>
              <a:t>(upgrades</a:t>
            </a:r>
            <a:r>
              <a:rPr sz="1400" spc="-35" dirty="0">
                <a:latin typeface="Times New Roman"/>
                <a:cs typeface="Times New Roman"/>
              </a:rPr>
              <a:t> </a:t>
            </a:r>
            <a:r>
              <a:rPr sz="1400" spc="-10" dirty="0">
                <a:latin typeface="Times New Roman"/>
                <a:cs typeface="Times New Roman"/>
              </a:rPr>
              <a:t>only) </a:t>
            </a:r>
            <a:r>
              <a:rPr sz="1400" dirty="0">
                <a:latin typeface="Times New Roman"/>
                <a:cs typeface="Times New Roman"/>
              </a:rPr>
              <a:t>that</a:t>
            </a:r>
            <a:r>
              <a:rPr sz="1400" spc="-25" dirty="0">
                <a:latin typeface="Times New Roman"/>
                <a:cs typeface="Times New Roman"/>
              </a:rPr>
              <a:t> </a:t>
            </a:r>
            <a:r>
              <a:rPr sz="1400" dirty="0">
                <a:latin typeface="Times New Roman"/>
                <a:cs typeface="Times New Roman"/>
              </a:rPr>
              <a:t>interconnects</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System</a:t>
            </a:r>
            <a:r>
              <a:rPr sz="1400" spc="-30" dirty="0">
                <a:latin typeface="Times New Roman"/>
                <a:cs typeface="Times New Roman"/>
              </a:rPr>
              <a:t> </a:t>
            </a:r>
            <a:r>
              <a:rPr sz="1400" dirty="0">
                <a:latin typeface="Times New Roman"/>
                <a:cs typeface="Times New Roman"/>
              </a:rPr>
              <a:t>Cabinet</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SRF</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HFD </a:t>
            </a:r>
            <a:r>
              <a:rPr sz="1400" dirty="0">
                <a:latin typeface="Times New Roman"/>
                <a:cs typeface="Times New Roman"/>
              </a:rPr>
              <a:t>Cabinets.</a:t>
            </a:r>
            <a:r>
              <a:rPr sz="1400" spc="-50" dirty="0">
                <a:latin typeface="Times New Roman"/>
                <a:cs typeface="Times New Roman"/>
              </a:rPr>
              <a:t> </a:t>
            </a: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coaxial</a:t>
            </a:r>
            <a:r>
              <a:rPr sz="1400" spc="-40" dirty="0">
                <a:latin typeface="Times New Roman"/>
                <a:cs typeface="Times New Roman"/>
              </a:rPr>
              <a:t> </a:t>
            </a:r>
            <a:r>
              <a:rPr sz="1400" dirty="0">
                <a:latin typeface="Times New Roman"/>
                <a:cs typeface="Times New Roman"/>
              </a:rPr>
              <a:t>cable</a:t>
            </a:r>
            <a:r>
              <a:rPr sz="1400" spc="-40" dirty="0">
                <a:latin typeface="Times New Roman"/>
                <a:cs typeface="Times New Roman"/>
              </a:rPr>
              <a:t> </a:t>
            </a:r>
            <a:r>
              <a:rPr sz="1400" dirty="0">
                <a:latin typeface="Times New Roman"/>
                <a:cs typeface="Times New Roman"/>
              </a:rPr>
              <a:t>connecting</a:t>
            </a:r>
            <a:r>
              <a:rPr sz="1400" spc="-40" dirty="0">
                <a:latin typeface="Times New Roman"/>
                <a:cs typeface="Times New Roman"/>
              </a:rPr>
              <a:t> </a:t>
            </a:r>
            <a:r>
              <a:rPr sz="1400" dirty="0">
                <a:latin typeface="Times New Roman"/>
                <a:cs typeface="Times New Roman"/>
              </a:rPr>
              <a:t>to</a:t>
            </a:r>
            <a:r>
              <a:rPr sz="1400" spc="-45" dirty="0">
                <a:latin typeface="Times New Roman"/>
                <a:cs typeface="Times New Roman"/>
              </a:rPr>
              <a:t> </a:t>
            </a:r>
            <a:r>
              <a:rPr sz="1400" dirty="0">
                <a:latin typeface="Times New Roman"/>
                <a:cs typeface="Times New Roman"/>
              </a:rPr>
              <a:t>J5</a:t>
            </a:r>
            <a:r>
              <a:rPr sz="1400" spc="-45" dirty="0">
                <a:latin typeface="Times New Roman"/>
                <a:cs typeface="Times New Roman"/>
              </a:rPr>
              <a:t> </a:t>
            </a:r>
            <a:r>
              <a:rPr sz="1400" dirty="0">
                <a:latin typeface="Times New Roman"/>
                <a:cs typeface="Times New Roman"/>
              </a:rPr>
              <a:t>provides</a:t>
            </a:r>
            <a:r>
              <a:rPr sz="1400" spc="-40" dirty="0">
                <a:latin typeface="Times New Roman"/>
                <a:cs typeface="Times New Roman"/>
              </a:rPr>
              <a:t> </a:t>
            </a:r>
            <a:r>
              <a:rPr sz="1400" spc="-25" dirty="0">
                <a:latin typeface="Times New Roman"/>
                <a:cs typeface="Times New Roman"/>
              </a:rPr>
              <a:t>the </a:t>
            </a:r>
            <a:r>
              <a:rPr sz="1400" dirty="0">
                <a:latin typeface="Times New Roman"/>
                <a:cs typeface="Times New Roman"/>
              </a:rPr>
              <a:t>60Hz</a:t>
            </a:r>
            <a:r>
              <a:rPr sz="1400" spc="-35" dirty="0">
                <a:latin typeface="Times New Roman"/>
                <a:cs typeface="Times New Roman"/>
              </a:rPr>
              <a:t> </a:t>
            </a:r>
            <a:r>
              <a:rPr sz="1400" dirty="0">
                <a:latin typeface="Times New Roman"/>
                <a:cs typeface="Times New Roman"/>
              </a:rPr>
              <a:t>line</a:t>
            </a:r>
            <a:r>
              <a:rPr sz="1400" spc="-20" dirty="0">
                <a:latin typeface="Times New Roman"/>
                <a:cs typeface="Times New Roman"/>
              </a:rPr>
              <a:t> </a:t>
            </a:r>
            <a:r>
              <a:rPr sz="1400" dirty="0">
                <a:latin typeface="Times New Roman"/>
                <a:cs typeface="Times New Roman"/>
              </a:rPr>
              <a:t>clock</a:t>
            </a:r>
            <a:r>
              <a:rPr sz="1400" spc="-20" dirty="0">
                <a:latin typeface="Times New Roman"/>
                <a:cs typeface="Times New Roman"/>
              </a:rPr>
              <a:t> </a:t>
            </a:r>
            <a:r>
              <a:rPr sz="1400" dirty="0">
                <a:latin typeface="Times New Roman"/>
                <a:cs typeface="Times New Roman"/>
              </a:rPr>
              <a:t>signal</a:t>
            </a:r>
            <a:r>
              <a:rPr sz="1400" spc="-20" dirty="0">
                <a:latin typeface="Times New Roman"/>
                <a:cs typeface="Times New Roman"/>
              </a:rPr>
              <a:t> </a:t>
            </a:r>
            <a:r>
              <a:rPr sz="1400" dirty="0">
                <a:latin typeface="Times New Roman"/>
                <a:cs typeface="Times New Roman"/>
              </a:rPr>
              <a:t>from</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AC</a:t>
            </a:r>
            <a:r>
              <a:rPr sz="1400" spc="-20" dirty="0">
                <a:latin typeface="Times New Roman"/>
                <a:cs typeface="Times New Roman"/>
              </a:rPr>
              <a:t> </a:t>
            </a:r>
            <a:r>
              <a:rPr sz="1400" dirty="0">
                <a:latin typeface="Times New Roman"/>
                <a:cs typeface="Times New Roman"/>
              </a:rPr>
              <a:t>distribution</a:t>
            </a:r>
            <a:r>
              <a:rPr sz="1400" spc="-20" dirty="0">
                <a:latin typeface="Times New Roman"/>
                <a:cs typeface="Times New Roman"/>
              </a:rPr>
              <a:t> </a:t>
            </a:r>
            <a:r>
              <a:rPr sz="1400" spc="-10" dirty="0">
                <a:latin typeface="Times New Roman"/>
                <a:cs typeface="Times New Roman"/>
              </a:rPr>
              <a:t>panel </a:t>
            </a:r>
            <a:r>
              <a:rPr sz="1400" dirty="0">
                <a:latin typeface="Times New Roman"/>
                <a:cs typeface="Times New Roman"/>
              </a:rPr>
              <a:t>inside</a:t>
            </a:r>
            <a:r>
              <a:rPr sz="1400" spc="-4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cabinet.</a:t>
            </a:r>
            <a:r>
              <a:rPr sz="1400" spc="-3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gray</a:t>
            </a:r>
            <a:r>
              <a:rPr sz="1400" spc="-20" dirty="0">
                <a:latin typeface="Times New Roman"/>
                <a:cs typeface="Times New Roman"/>
              </a:rPr>
              <a:t> </a:t>
            </a:r>
            <a:r>
              <a:rPr sz="1400" dirty="0">
                <a:latin typeface="Times New Roman"/>
                <a:cs typeface="Times New Roman"/>
              </a:rPr>
              <a:t>cable</a:t>
            </a:r>
            <a:r>
              <a:rPr sz="1400" spc="-35" dirty="0">
                <a:latin typeface="Times New Roman"/>
                <a:cs typeface="Times New Roman"/>
              </a:rPr>
              <a:t> </a:t>
            </a:r>
            <a:r>
              <a:rPr sz="1400" dirty="0">
                <a:latin typeface="Times New Roman"/>
                <a:cs typeface="Times New Roman"/>
              </a:rPr>
              <a:t>shown</a:t>
            </a:r>
            <a:r>
              <a:rPr sz="1400" spc="-35" dirty="0">
                <a:latin typeface="Times New Roman"/>
                <a:cs typeface="Times New Roman"/>
              </a:rPr>
              <a:t> </a:t>
            </a:r>
            <a:r>
              <a:rPr sz="1400" dirty="0">
                <a:latin typeface="Times New Roman"/>
                <a:cs typeface="Times New Roman"/>
              </a:rPr>
              <a:t>in</a:t>
            </a:r>
            <a:r>
              <a:rPr sz="1400" spc="-3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spc="-10" dirty="0">
                <a:latin typeface="Times New Roman"/>
                <a:cs typeface="Times New Roman"/>
              </a:rPr>
              <a:t>illustration equipped</a:t>
            </a:r>
            <a:r>
              <a:rPr sz="1400" spc="-30" dirty="0">
                <a:latin typeface="Times New Roman"/>
                <a:cs typeface="Times New Roman"/>
              </a:rPr>
              <a:t> </a:t>
            </a:r>
            <a:r>
              <a:rPr sz="1400" dirty="0">
                <a:latin typeface="Times New Roman"/>
                <a:cs typeface="Times New Roman"/>
              </a:rPr>
              <a:t>with</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spc="-10" dirty="0">
                <a:latin typeface="Times New Roman"/>
                <a:cs typeface="Times New Roman"/>
              </a:rPr>
              <a:t>9-</a:t>
            </a:r>
            <a:r>
              <a:rPr sz="1400" dirty="0">
                <a:latin typeface="Times New Roman"/>
                <a:cs typeface="Times New Roman"/>
              </a:rPr>
              <a:t>pin</a:t>
            </a:r>
            <a:r>
              <a:rPr sz="1400" spc="-25" dirty="0">
                <a:latin typeface="Times New Roman"/>
                <a:cs typeface="Times New Roman"/>
              </a:rPr>
              <a:t> </a:t>
            </a:r>
            <a:r>
              <a:rPr sz="1400" spc="-10" dirty="0">
                <a:latin typeface="Times New Roman"/>
                <a:cs typeface="Times New Roman"/>
              </a:rPr>
              <a:t>sub-</a:t>
            </a:r>
            <a:r>
              <a:rPr sz="1400" dirty="0">
                <a:latin typeface="Times New Roman"/>
                <a:cs typeface="Times New Roman"/>
              </a:rPr>
              <a:t>D</a:t>
            </a:r>
            <a:r>
              <a:rPr sz="1400" spc="-30" dirty="0">
                <a:latin typeface="Times New Roman"/>
                <a:cs typeface="Times New Roman"/>
              </a:rPr>
              <a:t> </a:t>
            </a:r>
            <a:r>
              <a:rPr sz="1400" dirty="0">
                <a:latin typeface="Times New Roman"/>
                <a:cs typeface="Times New Roman"/>
              </a:rPr>
              <a:t>connector</a:t>
            </a:r>
            <a:r>
              <a:rPr sz="1400" spc="-25" dirty="0">
                <a:latin typeface="Times New Roman"/>
                <a:cs typeface="Times New Roman"/>
              </a:rPr>
              <a:t> </a:t>
            </a:r>
            <a:r>
              <a:rPr sz="1400" dirty="0">
                <a:latin typeface="Times New Roman"/>
                <a:cs typeface="Times New Roman"/>
              </a:rPr>
              <a:t>provides</a:t>
            </a:r>
            <a:r>
              <a:rPr sz="1400" spc="-25" dirty="0">
                <a:latin typeface="Times New Roman"/>
                <a:cs typeface="Times New Roman"/>
              </a:rPr>
              <a:t> </a:t>
            </a:r>
            <a:r>
              <a:rPr sz="1400" dirty="0">
                <a:latin typeface="Times New Roman"/>
                <a:cs typeface="Times New Roman"/>
              </a:rPr>
              <a:t>an</a:t>
            </a:r>
            <a:r>
              <a:rPr sz="1400" spc="-25" dirty="0">
                <a:latin typeface="Times New Roman"/>
                <a:cs typeface="Times New Roman"/>
              </a:rPr>
              <a:t> RS- </a:t>
            </a:r>
            <a:r>
              <a:rPr sz="1400" dirty="0">
                <a:latin typeface="Times New Roman"/>
                <a:cs typeface="Times New Roman"/>
              </a:rPr>
              <a:t>232</a:t>
            </a:r>
            <a:r>
              <a:rPr sz="1400" spc="-30" dirty="0">
                <a:latin typeface="Times New Roman"/>
                <a:cs typeface="Times New Roman"/>
              </a:rPr>
              <a:t> </a:t>
            </a:r>
            <a:r>
              <a:rPr sz="1400" dirty="0">
                <a:latin typeface="Times New Roman"/>
                <a:cs typeface="Times New Roman"/>
              </a:rPr>
              <a:t>serial</a:t>
            </a:r>
            <a:r>
              <a:rPr sz="1400" spc="-25" dirty="0">
                <a:latin typeface="Times New Roman"/>
                <a:cs typeface="Times New Roman"/>
              </a:rPr>
              <a:t> </a:t>
            </a:r>
            <a:r>
              <a:rPr sz="1400" dirty="0">
                <a:latin typeface="Times New Roman"/>
                <a:cs typeface="Times New Roman"/>
              </a:rPr>
              <a:t>link</a:t>
            </a:r>
            <a:r>
              <a:rPr sz="1400" spc="-25" dirty="0">
                <a:latin typeface="Times New Roman"/>
                <a:cs typeface="Times New Roman"/>
              </a:rPr>
              <a:t> </a:t>
            </a:r>
            <a:r>
              <a:rPr sz="1400" dirty="0">
                <a:latin typeface="Times New Roman"/>
                <a:cs typeface="Times New Roman"/>
              </a:rPr>
              <a:t>between</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STIF</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Host</a:t>
            </a:r>
            <a:r>
              <a:rPr sz="1400" spc="-25" dirty="0">
                <a:latin typeface="Times New Roman"/>
                <a:cs typeface="Times New Roman"/>
              </a:rPr>
              <a:t> via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Term</a:t>
            </a:r>
            <a:r>
              <a:rPr sz="1400" spc="-30" dirty="0">
                <a:latin typeface="Times New Roman"/>
                <a:cs typeface="Times New Roman"/>
              </a:rPr>
              <a:t> </a:t>
            </a:r>
            <a:r>
              <a:rPr sz="1400" dirty="0">
                <a:latin typeface="Times New Roman"/>
                <a:cs typeface="Times New Roman"/>
              </a:rPr>
              <a:t>Server.</a:t>
            </a:r>
            <a:r>
              <a:rPr sz="1400" spc="30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function</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this</a:t>
            </a:r>
            <a:r>
              <a:rPr sz="1400" spc="-25" dirty="0">
                <a:latin typeface="Times New Roman"/>
                <a:cs typeface="Times New Roman"/>
              </a:rPr>
              <a:t> </a:t>
            </a:r>
            <a:r>
              <a:rPr sz="1400" dirty="0">
                <a:latin typeface="Times New Roman"/>
                <a:cs typeface="Times New Roman"/>
              </a:rPr>
              <a:t>link</a:t>
            </a:r>
            <a:r>
              <a:rPr sz="1400" spc="-30" dirty="0">
                <a:latin typeface="Times New Roman"/>
                <a:cs typeface="Times New Roman"/>
              </a:rPr>
              <a:t>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supply</a:t>
            </a:r>
            <a:r>
              <a:rPr sz="1400" spc="-25" dirty="0">
                <a:latin typeface="Times New Roman"/>
                <a:cs typeface="Times New Roman"/>
              </a:rPr>
              <a:t> the </a:t>
            </a:r>
            <a:r>
              <a:rPr sz="1400" dirty="0">
                <a:latin typeface="Times New Roman"/>
                <a:cs typeface="Times New Roman"/>
              </a:rPr>
              <a:t>signal</a:t>
            </a:r>
            <a:r>
              <a:rPr sz="1400" spc="-30" dirty="0">
                <a:latin typeface="Times New Roman"/>
                <a:cs typeface="Times New Roman"/>
              </a:rPr>
              <a:t> </a:t>
            </a:r>
            <a:r>
              <a:rPr sz="1400" dirty="0">
                <a:latin typeface="Times New Roman"/>
                <a:cs typeface="Times New Roman"/>
              </a:rPr>
              <a:t>necessary</a:t>
            </a:r>
            <a:r>
              <a:rPr sz="1400" spc="-2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start</a:t>
            </a:r>
            <a:r>
              <a:rPr sz="1400" spc="-25" dirty="0">
                <a:latin typeface="Times New Roman"/>
                <a:cs typeface="Times New Roman"/>
              </a:rPr>
              <a:t> </a:t>
            </a:r>
            <a:r>
              <a:rPr sz="1400" dirty="0">
                <a:latin typeface="Times New Roman"/>
                <a:cs typeface="Times New Roman"/>
              </a:rPr>
              <a:t>a</a:t>
            </a:r>
            <a:r>
              <a:rPr sz="1400" spc="-10" dirty="0">
                <a:latin typeface="Times New Roman"/>
                <a:cs typeface="Times New Roman"/>
              </a:rPr>
              <a:t> </a:t>
            </a:r>
            <a:r>
              <a:rPr sz="1400" b="1" dirty="0">
                <a:latin typeface="Times New Roman"/>
                <a:cs typeface="Times New Roman"/>
              </a:rPr>
              <a:t>TPS</a:t>
            </a:r>
            <a:r>
              <a:rPr sz="1400" b="1" spc="-25" dirty="0">
                <a:latin typeface="Times New Roman"/>
                <a:cs typeface="Times New Roman"/>
              </a:rPr>
              <a:t> </a:t>
            </a:r>
            <a:r>
              <a:rPr sz="1400" b="1" dirty="0">
                <a:latin typeface="Times New Roman"/>
                <a:cs typeface="Times New Roman"/>
              </a:rPr>
              <a:t>Reset</a:t>
            </a:r>
            <a:r>
              <a:rPr sz="1400" b="1" spc="-25" dirty="0">
                <a:latin typeface="Times New Roman"/>
                <a:cs typeface="Times New Roman"/>
              </a:rPr>
              <a:t> </a:t>
            </a:r>
            <a:r>
              <a:rPr sz="1400" dirty="0">
                <a:latin typeface="Times New Roman"/>
                <a:cs typeface="Times New Roman"/>
              </a:rPr>
              <a:t>when</a:t>
            </a:r>
            <a:r>
              <a:rPr sz="1400" spc="-30" dirty="0">
                <a:latin typeface="Times New Roman"/>
                <a:cs typeface="Times New Roman"/>
              </a:rPr>
              <a:t> </a:t>
            </a:r>
            <a:r>
              <a:rPr sz="1400" dirty="0">
                <a:latin typeface="Times New Roman"/>
                <a:cs typeface="Times New Roman"/>
              </a:rPr>
              <a:t>this</a:t>
            </a:r>
            <a:r>
              <a:rPr sz="1400" spc="-25"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spc="-10" dirty="0">
                <a:latin typeface="Times New Roman"/>
                <a:cs typeface="Times New Roman"/>
              </a:rPr>
              <a:t>selected </a:t>
            </a:r>
            <a:r>
              <a:rPr sz="1400" dirty="0">
                <a:latin typeface="Times New Roman"/>
                <a:cs typeface="Times New Roman"/>
              </a:rPr>
              <a:t>from</a:t>
            </a:r>
            <a:r>
              <a:rPr sz="1400" spc="-4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Operators</a:t>
            </a:r>
            <a:r>
              <a:rPr sz="1400" spc="-30" dirty="0">
                <a:latin typeface="Times New Roman"/>
                <a:cs typeface="Times New Roman"/>
              </a:rPr>
              <a:t> </a:t>
            </a:r>
            <a:r>
              <a:rPr sz="1400" dirty="0">
                <a:latin typeface="Times New Roman"/>
                <a:cs typeface="Times New Roman"/>
              </a:rPr>
              <a:t>Workstation.</a:t>
            </a:r>
            <a:r>
              <a:rPr sz="1400" spc="295" dirty="0">
                <a:latin typeface="Times New Roman"/>
                <a:cs typeface="Times New Roman"/>
              </a:rPr>
              <a:t> </a:t>
            </a:r>
            <a:r>
              <a:rPr sz="1400" dirty="0">
                <a:latin typeface="Times New Roman"/>
                <a:cs typeface="Times New Roman"/>
              </a:rPr>
              <a:t>Physiological</a:t>
            </a:r>
            <a:r>
              <a:rPr sz="1400" spc="-30" dirty="0">
                <a:latin typeface="Times New Roman"/>
                <a:cs typeface="Times New Roman"/>
              </a:rPr>
              <a:t> </a:t>
            </a:r>
            <a:r>
              <a:rPr sz="1400" spc="-10" dirty="0">
                <a:latin typeface="Times New Roman"/>
                <a:cs typeface="Times New Roman"/>
              </a:rPr>
              <a:t>waveform </a:t>
            </a:r>
            <a:r>
              <a:rPr sz="1400" dirty="0">
                <a:latin typeface="Times New Roman"/>
                <a:cs typeface="Times New Roman"/>
              </a:rPr>
              <a:t>data,</a:t>
            </a:r>
            <a:r>
              <a:rPr sz="1400" spc="-40" dirty="0">
                <a:latin typeface="Times New Roman"/>
                <a:cs typeface="Times New Roman"/>
              </a:rPr>
              <a:t> </a:t>
            </a:r>
            <a:r>
              <a:rPr sz="1400" dirty="0">
                <a:latin typeface="Times New Roman"/>
                <a:cs typeface="Times New Roman"/>
              </a:rPr>
              <a:t>physiological</a:t>
            </a:r>
            <a:r>
              <a:rPr sz="1400" spc="-35" dirty="0">
                <a:latin typeface="Times New Roman"/>
                <a:cs typeface="Times New Roman"/>
              </a:rPr>
              <a:t> </a:t>
            </a:r>
            <a:r>
              <a:rPr sz="1400" dirty="0">
                <a:latin typeface="Times New Roman"/>
                <a:cs typeface="Times New Roman"/>
              </a:rPr>
              <a:t>control</a:t>
            </a:r>
            <a:r>
              <a:rPr sz="1400" spc="-40" dirty="0">
                <a:latin typeface="Times New Roman"/>
                <a:cs typeface="Times New Roman"/>
              </a:rPr>
              <a:t> </a:t>
            </a:r>
            <a:r>
              <a:rPr sz="1400" dirty="0">
                <a:latin typeface="Times New Roman"/>
                <a:cs typeface="Times New Roman"/>
              </a:rPr>
              <a:t>data,</a:t>
            </a:r>
            <a:r>
              <a:rPr sz="1400" spc="-40" dirty="0">
                <a:latin typeface="Times New Roman"/>
                <a:cs typeface="Times New Roman"/>
              </a:rPr>
              <a:t> </a:t>
            </a:r>
            <a:r>
              <a:rPr sz="1400" dirty="0">
                <a:latin typeface="Times New Roman"/>
                <a:cs typeface="Times New Roman"/>
              </a:rPr>
              <a:t>and</a:t>
            </a:r>
            <a:r>
              <a:rPr sz="1400" spc="-45" dirty="0">
                <a:latin typeface="Times New Roman"/>
                <a:cs typeface="Times New Roman"/>
              </a:rPr>
              <a:t> </a:t>
            </a:r>
            <a:r>
              <a:rPr sz="1400" dirty="0">
                <a:latin typeface="Times New Roman"/>
                <a:cs typeface="Times New Roman"/>
              </a:rPr>
              <a:t>hardkey</a:t>
            </a:r>
            <a:r>
              <a:rPr sz="1400" spc="-35" dirty="0">
                <a:latin typeface="Times New Roman"/>
                <a:cs typeface="Times New Roman"/>
              </a:rPr>
              <a:t> </a:t>
            </a:r>
            <a:r>
              <a:rPr sz="1400" dirty="0">
                <a:latin typeface="Times New Roman"/>
                <a:cs typeface="Times New Roman"/>
              </a:rPr>
              <a:t>control</a:t>
            </a:r>
            <a:r>
              <a:rPr sz="1400" spc="-35" dirty="0">
                <a:latin typeface="Times New Roman"/>
                <a:cs typeface="Times New Roman"/>
              </a:rPr>
              <a:t> </a:t>
            </a:r>
            <a:r>
              <a:rPr sz="1400" spc="-20" dirty="0">
                <a:latin typeface="Times New Roman"/>
                <a:cs typeface="Times New Roman"/>
              </a:rPr>
              <a:t>data</a:t>
            </a:r>
            <a:r>
              <a:rPr sz="1400" spc="500" dirty="0">
                <a:latin typeface="Times New Roman"/>
                <a:cs typeface="Times New Roman"/>
              </a:rPr>
              <a:t>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transferred</a:t>
            </a:r>
            <a:r>
              <a:rPr sz="1400" spc="-20" dirty="0">
                <a:latin typeface="Times New Roman"/>
                <a:cs typeface="Times New Roman"/>
              </a:rPr>
              <a:t> </a:t>
            </a:r>
            <a:r>
              <a:rPr sz="1400" dirty="0">
                <a:latin typeface="Times New Roman"/>
                <a:cs typeface="Times New Roman"/>
              </a:rPr>
              <a:t>from</a:t>
            </a:r>
            <a:r>
              <a:rPr sz="1400" spc="-25" dirty="0">
                <a:latin typeface="Times New Roman"/>
                <a:cs typeface="Times New Roman"/>
              </a:rPr>
              <a:t> </a:t>
            </a:r>
            <a:r>
              <a:rPr sz="1400" dirty="0">
                <a:latin typeface="Times New Roman"/>
                <a:cs typeface="Times New Roman"/>
              </a:rPr>
              <a:t>connector</a:t>
            </a:r>
            <a:r>
              <a:rPr sz="1400" spc="-20" dirty="0">
                <a:latin typeface="Times New Roman"/>
                <a:cs typeface="Times New Roman"/>
              </a:rPr>
              <a:t> </a:t>
            </a:r>
            <a:r>
              <a:rPr sz="1400" dirty="0">
                <a:latin typeface="Times New Roman"/>
                <a:cs typeface="Times New Roman"/>
              </a:rPr>
              <a:t>J3</a:t>
            </a:r>
            <a:r>
              <a:rPr sz="1400" spc="-20" dirty="0">
                <a:latin typeface="Times New Roman"/>
                <a:cs typeface="Times New Roman"/>
              </a:rPr>
              <a:t> </a:t>
            </a:r>
            <a:r>
              <a:rPr sz="1400" dirty="0">
                <a:latin typeface="Times New Roman"/>
                <a:cs typeface="Times New Roman"/>
              </a:rPr>
              <a:t>(cable</a:t>
            </a:r>
            <a:r>
              <a:rPr sz="1400" spc="-25" dirty="0">
                <a:latin typeface="Times New Roman"/>
                <a:cs typeface="Times New Roman"/>
              </a:rPr>
              <a:t> </a:t>
            </a:r>
            <a:r>
              <a:rPr sz="1400" dirty="0">
                <a:latin typeface="Times New Roman"/>
                <a:cs typeface="Times New Roman"/>
              </a:rPr>
              <a:t>not</a:t>
            </a:r>
            <a:r>
              <a:rPr sz="1400" spc="-20" dirty="0">
                <a:latin typeface="Times New Roman"/>
                <a:cs typeface="Times New Roman"/>
              </a:rPr>
              <a:t> shown </a:t>
            </a:r>
            <a:r>
              <a:rPr sz="1400" spc="-10" dirty="0">
                <a:latin typeface="Times New Roman"/>
                <a:cs typeface="Times New Roman"/>
              </a:rPr>
              <a:t>connected).</a:t>
            </a:r>
            <a:endParaRPr sz="1400">
              <a:latin typeface="Times New Roman"/>
              <a:cs typeface="Times New Roman"/>
            </a:endParaRPr>
          </a:p>
        </p:txBody>
      </p:sp>
      <p:sp>
        <p:nvSpPr>
          <p:cNvPr id="5" name="object 5"/>
          <p:cNvSpPr txBox="1"/>
          <p:nvPr/>
        </p:nvSpPr>
        <p:spPr>
          <a:xfrm>
            <a:off x="4044950" y="601472"/>
            <a:ext cx="4914900" cy="376555"/>
          </a:xfrm>
          <a:prstGeom prst="rect">
            <a:avLst/>
          </a:prstGeom>
          <a:solidFill>
            <a:srgbClr val="FFFFFF"/>
          </a:solidFill>
          <a:ln w="9144">
            <a:solidFill>
              <a:srgbClr val="000000"/>
            </a:solidFill>
          </a:ln>
        </p:spPr>
        <p:txBody>
          <a:bodyPr vert="horz" wrap="square" lIns="0" tIns="42545" rIns="0" bIns="0" rtlCol="0">
            <a:spAutoFit/>
          </a:bodyPr>
          <a:lstStyle/>
          <a:p>
            <a:pPr marL="135890">
              <a:lnSpc>
                <a:spcPct val="100000"/>
              </a:lnSpc>
              <a:spcBef>
                <a:spcPts val="335"/>
              </a:spcBef>
            </a:pPr>
            <a:r>
              <a:rPr sz="1800" b="1" dirty="0">
                <a:latin typeface="Times New Roman"/>
                <a:cs typeface="Times New Roman"/>
              </a:rPr>
              <a:t>S</a:t>
            </a:r>
            <a:r>
              <a:rPr sz="1800" dirty="0">
                <a:latin typeface="Times New Roman"/>
                <a:cs typeface="Times New Roman"/>
              </a:rPr>
              <a:t>RF</a:t>
            </a:r>
            <a:r>
              <a:rPr sz="1800" spc="-30" dirty="0">
                <a:latin typeface="Times New Roman"/>
                <a:cs typeface="Times New Roman"/>
              </a:rPr>
              <a:t> </a:t>
            </a:r>
            <a:r>
              <a:rPr sz="1800" b="1" dirty="0">
                <a:latin typeface="Times New Roman"/>
                <a:cs typeface="Times New Roman"/>
              </a:rPr>
              <a:t>/</a:t>
            </a:r>
            <a:r>
              <a:rPr sz="1800" b="1" spc="-30" dirty="0">
                <a:latin typeface="Times New Roman"/>
                <a:cs typeface="Times New Roman"/>
              </a:rPr>
              <a:t> </a:t>
            </a:r>
            <a:r>
              <a:rPr sz="1800" b="1" dirty="0">
                <a:latin typeface="Times New Roman"/>
                <a:cs typeface="Times New Roman"/>
              </a:rPr>
              <a:t>T</a:t>
            </a:r>
            <a:r>
              <a:rPr sz="1800" dirty="0">
                <a:latin typeface="Times New Roman"/>
                <a:cs typeface="Times New Roman"/>
              </a:rPr>
              <a:t>RF</a:t>
            </a:r>
            <a:r>
              <a:rPr sz="1800" spc="-25" dirty="0">
                <a:latin typeface="Times New Roman"/>
                <a:cs typeface="Times New Roman"/>
              </a:rPr>
              <a:t> </a:t>
            </a:r>
            <a:r>
              <a:rPr sz="1800" b="1" dirty="0">
                <a:latin typeface="Times New Roman"/>
                <a:cs typeface="Times New Roman"/>
              </a:rPr>
              <a:t>I</a:t>
            </a:r>
            <a:r>
              <a:rPr sz="1800" dirty="0">
                <a:latin typeface="Times New Roman"/>
                <a:cs typeface="Times New Roman"/>
              </a:rPr>
              <a:t>nter</a:t>
            </a:r>
            <a:r>
              <a:rPr sz="1800" b="1" dirty="0">
                <a:latin typeface="Times New Roman"/>
                <a:cs typeface="Times New Roman"/>
              </a:rPr>
              <a:t>F</a:t>
            </a:r>
            <a:r>
              <a:rPr sz="1800" dirty="0">
                <a:latin typeface="Times New Roman"/>
                <a:cs typeface="Times New Roman"/>
              </a:rPr>
              <a:t>ace</a:t>
            </a:r>
            <a:r>
              <a:rPr sz="1800" spc="-30" dirty="0">
                <a:latin typeface="Times New Roman"/>
                <a:cs typeface="Times New Roman"/>
              </a:rPr>
              <a:t> </a:t>
            </a:r>
            <a:r>
              <a:rPr sz="1800" dirty="0">
                <a:latin typeface="Times New Roman"/>
                <a:cs typeface="Times New Roman"/>
              </a:rPr>
              <a:t>(</a:t>
            </a:r>
            <a:r>
              <a:rPr sz="1800" b="1" dirty="0">
                <a:latin typeface="Times New Roman"/>
                <a:cs typeface="Times New Roman"/>
              </a:rPr>
              <a:t>STIF</a:t>
            </a:r>
            <a:r>
              <a:rPr sz="1800" dirty="0">
                <a:latin typeface="Times New Roman"/>
                <a:cs typeface="Times New Roman"/>
              </a:rPr>
              <a:t>)</a:t>
            </a:r>
            <a:r>
              <a:rPr sz="1800" spc="-25" dirty="0">
                <a:latin typeface="Times New Roman"/>
                <a:cs typeface="Times New Roman"/>
              </a:rPr>
              <a:t> </a:t>
            </a:r>
            <a:r>
              <a:rPr sz="1800" b="1" dirty="0">
                <a:latin typeface="Times New Roman"/>
                <a:cs typeface="Times New Roman"/>
              </a:rPr>
              <a:t>Board</a:t>
            </a:r>
            <a:r>
              <a:rPr sz="1800" b="1" spc="-30" dirty="0">
                <a:latin typeface="Times New Roman"/>
                <a:cs typeface="Times New Roman"/>
              </a:rPr>
              <a:t> </a:t>
            </a:r>
            <a:r>
              <a:rPr sz="1600" dirty="0">
                <a:latin typeface="Times New Roman"/>
                <a:cs typeface="Times New Roman"/>
              </a:rPr>
              <a:t>(Slots</a:t>
            </a:r>
            <a:r>
              <a:rPr sz="1600" spc="-25" dirty="0">
                <a:latin typeface="Times New Roman"/>
                <a:cs typeface="Times New Roman"/>
              </a:rPr>
              <a:t> </a:t>
            </a:r>
            <a:r>
              <a:rPr sz="1600" dirty="0">
                <a:latin typeface="Times New Roman"/>
                <a:cs typeface="Times New Roman"/>
              </a:rPr>
              <a:t>13,14</a:t>
            </a:r>
            <a:r>
              <a:rPr sz="1600" spc="-25" dirty="0">
                <a:latin typeface="Times New Roman"/>
                <a:cs typeface="Times New Roman"/>
              </a:rPr>
              <a:t> R)</a:t>
            </a:r>
            <a:endParaRPr sz="1600">
              <a:latin typeface="Times New Roman"/>
              <a:cs typeface="Times New Roman"/>
            </a:endParaRPr>
          </a:p>
        </p:txBody>
      </p:sp>
      <p:grpSp>
        <p:nvGrpSpPr>
          <p:cNvPr id="6" name="object 6"/>
          <p:cNvGrpSpPr/>
          <p:nvPr/>
        </p:nvGrpSpPr>
        <p:grpSpPr>
          <a:xfrm>
            <a:off x="3644900" y="-4572"/>
            <a:ext cx="5478780" cy="896619"/>
            <a:chOff x="3644900" y="-4572"/>
            <a:chExt cx="5478780" cy="896619"/>
          </a:xfrm>
        </p:grpSpPr>
        <p:sp>
          <p:nvSpPr>
            <p:cNvPr id="7" name="object 7"/>
            <p:cNvSpPr/>
            <p:nvPr/>
          </p:nvSpPr>
          <p:spPr>
            <a:xfrm>
              <a:off x="3909313" y="758444"/>
              <a:ext cx="135890" cy="0"/>
            </a:xfrm>
            <a:custGeom>
              <a:avLst/>
              <a:gdLst/>
              <a:ahLst/>
              <a:cxnLst/>
              <a:rect l="l" t="t" r="r" b="b"/>
              <a:pathLst>
                <a:path w="135889">
                  <a:moveTo>
                    <a:pt x="135636" y="0"/>
                  </a:moveTo>
                  <a:lnTo>
                    <a:pt x="0" y="0"/>
                  </a:lnTo>
                </a:path>
              </a:pathLst>
            </a:custGeom>
            <a:ln w="76200">
              <a:solidFill>
                <a:srgbClr val="FFFFFF"/>
              </a:solidFill>
            </a:ln>
          </p:spPr>
          <p:txBody>
            <a:bodyPr wrap="square" lIns="0" tIns="0" rIns="0" bIns="0" rtlCol="0"/>
            <a:lstStyle/>
            <a:p>
              <a:endParaRPr/>
            </a:p>
          </p:txBody>
        </p:sp>
        <p:sp>
          <p:nvSpPr>
            <p:cNvPr id="8" name="object 8"/>
            <p:cNvSpPr/>
            <p:nvPr/>
          </p:nvSpPr>
          <p:spPr>
            <a:xfrm>
              <a:off x="3644900" y="625855"/>
              <a:ext cx="266700" cy="266065"/>
            </a:xfrm>
            <a:custGeom>
              <a:avLst/>
              <a:gdLst/>
              <a:ahLst/>
              <a:cxnLst/>
              <a:rect l="l" t="t" r="r" b="b"/>
              <a:pathLst>
                <a:path w="266700" h="266065">
                  <a:moveTo>
                    <a:pt x="266700" y="265938"/>
                  </a:moveTo>
                  <a:lnTo>
                    <a:pt x="266700" y="0"/>
                  </a:lnTo>
                  <a:lnTo>
                    <a:pt x="0" y="132588"/>
                  </a:lnTo>
                  <a:lnTo>
                    <a:pt x="266700" y="265938"/>
                  </a:lnTo>
                  <a:close/>
                </a:path>
              </a:pathLst>
            </a:custGeom>
            <a:solidFill>
              <a:srgbClr val="FFFFFF"/>
            </a:solidFill>
          </p:spPr>
          <p:txBody>
            <a:bodyPr wrap="square" lIns="0" tIns="0" rIns="0" bIns="0" rtlCol="0"/>
            <a:lstStyle/>
            <a:p>
              <a:endParaRPr/>
            </a:p>
          </p:txBody>
        </p:sp>
        <p:sp>
          <p:nvSpPr>
            <p:cNvPr id="9" name="object 9"/>
            <p:cNvSpPr/>
            <p:nvPr/>
          </p:nvSpPr>
          <p:spPr>
            <a:xfrm>
              <a:off x="3887215" y="758444"/>
              <a:ext cx="172720" cy="0"/>
            </a:xfrm>
            <a:custGeom>
              <a:avLst/>
              <a:gdLst/>
              <a:ahLst/>
              <a:cxnLst/>
              <a:rect l="l" t="t" r="r" b="b"/>
              <a:pathLst>
                <a:path w="172720">
                  <a:moveTo>
                    <a:pt x="172212" y="0"/>
                  </a:moveTo>
                  <a:lnTo>
                    <a:pt x="0" y="0"/>
                  </a:lnTo>
                </a:path>
              </a:pathLst>
            </a:custGeom>
            <a:ln w="44196">
              <a:solidFill>
                <a:srgbClr val="000000"/>
              </a:solidFill>
            </a:ln>
          </p:spPr>
          <p:txBody>
            <a:bodyPr wrap="square" lIns="0" tIns="0" rIns="0" bIns="0" rtlCol="0"/>
            <a:lstStyle/>
            <a:p>
              <a:endParaRPr/>
            </a:p>
          </p:txBody>
        </p:sp>
        <p:sp>
          <p:nvSpPr>
            <p:cNvPr id="10" name="object 10"/>
            <p:cNvSpPr/>
            <p:nvPr/>
          </p:nvSpPr>
          <p:spPr>
            <a:xfrm>
              <a:off x="3702811" y="665479"/>
              <a:ext cx="186690" cy="186690"/>
            </a:xfrm>
            <a:custGeom>
              <a:avLst/>
              <a:gdLst/>
              <a:ahLst/>
              <a:cxnLst/>
              <a:rect l="l" t="t" r="r" b="b"/>
              <a:pathLst>
                <a:path w="186689" h="186690">
                  <a:moveTo>
                    <a:pt x="186689" y="186690"/>
                  </a:moveTo>
                  <a:lnTo>
                    <a:pt x="186689" y="0"/>
                  </a:lnTo>
                  <a:lnTo>
                    <a:pt x="0" y="92964"/>
                  </a:lnTo>
                  <a:lnTo>
                    <a:pt x="186689" y="186690"/>
                  </a:lnTo>
                  <a:close/>
                </a:path>
              </a:pathLst>
            </a:custGeom>
            <a:solidFill>
              <a:srgbClr val="000000"/>
            </a:solidFill>
          </p:spPr>
          <p:txBody>
            <a:bodyPr wrap="square" lIns="0" tIns="0" rIns="0" bIns="0" rtlCol="0"/>
            <a:lstStyle/>
            <a:p>
              <a:endParaRPr/>
            </a:p>
          </p:txBody>
        </p:sp>
        <p:sp>
          <p:nvSpPr>
            <p:cNvPr id="11" name="object 11"/>
            <p:cNvSpPr/>
            <p:nvPr/>
          </p:nvSpPr>
          <p:spPr>
            <a:xfrm>
              <a:off x="7646923" y="0"/>
              <a:ext cx="1471930" cy="271780"/>
            </a:xfrm>
            <a:custGeom>
              <a:avLst/>
              <a:gdLst/>
              <a:ahLst/>
              <a:cxnLst/>
              <a:rect l="l" t="t" r="r" b="b"/>
              <a:pathLst>
                <a:path w="1471929" h="271780">
                  <a:moveTo>
                    <a:pt x="0" y="0"/>
                  </a:moveTo>
                  <a:lnTo>
                    <a:pt x="0" y="271525"/>
                  </a:lnTo>
                  <a:lnTo>
                    <a:pt x="1471676" y="271525"/>
                  </a:lnTo>
                  <a:lnTo>
                    <a:pt x="1471676" y="0"/>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7646923" y="0"/>
              <a:ext cx="1471930" cy="271780"/>
            </a:xfrm>
            <a:custGeom>
              <a:avLst/>
              <a:gdLst/>
              <a:ahLst/>
              <a:cxnLst/>
              <a:rect l="l" t="t" r="r" b="b"/>
              <a:pathLst>
                <a:path w="1471929" h="271780">
                  <a:moveTo>
                    <a:pt x="0" y="0"/>
                  </a:moveTo>
                  <a:lnTo>
                    <a:pt x="0" y="271525"/>
                  </a:lnTo>
                  <a:lnTo>
                    <a:pt x="1471676" y="271525"/>
                  </a:lnTo>
                </a:path>
              </a:pathLst>
            </a:custGeom>
            <a:ln w="9144">
              <a:solidFill>
                <a:srgbClr val="000000"/>
              </a:solidFill>
            </a:ln>
          </p:spPr>
          <p:txBody>
            <a:bodyPr wrap="square" lIns="0" tIns="0" rIns="0" bIns="0" rtlCol="0"/>
            <a:lstStyle/>
            <a:p>
              <a:endParaRPr/>
            </a:p>
          </p:txBody>
        </p:sp>
      </p:grpSp>
      <p:sp>
        <p:nvSpPr>
          <p:cNvPr id="13" name="object 13"/>
          <p:cNvSpPr txBox="1"/>
          <p:nvPr/>
        </p:nvSpPr>
        <p:spPr>
          <a:xfrm>
            <a:off x="4222496" y="4871720"/>
            <a:ext cx="4396105" cy="1804035"/>
          </a:xfrm>
          <a:prstGeom prst="rect">
            <a:avLst/>
          </a:prstGeom>
          <a:solidFill>
            <a:srgbClr val="FFFFFF"/>
          </a:solidFill>
          <a:ln w="9144">
            <a:solidFill>
              <a:srgbClr val="000000"/>
            </a:solidFill>
          </a:ln>
        </p:spPr>
        <p:txBody>
          <a:bodyPr vert="horz" wrap="square" lIns="0" tIns="44450" rIns="0" bIns="0" rtlCol="0">
            <a:spAutoFit/>
          </a:bodyPr>
          <a:lstStyle/>
          <a:p>
            <a:pPr marL="96520">
              <a:lnSpc>
                <a:spcPct val="100000"/>
              </a:lnSpc>
              <a:spcBef>
                <a:spcPts val="350"/>
              </a:spcBef>
            </a:pPr>
            <a:r>
              <a:rPr sz="1400" b="1" u="sng" dirty="0">
                <a:uFill>
                  <a:solidFill>
                    <a:srgbClr val="000000"/>
                  </a:solidFill>
                </a:uFill>
                <a:latin typeface="Times New Roman"/>
                <a:cs typeface="Times New Roman"/>
              </a:rPr>
              <a:t>Available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Diagnostics</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1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Testing</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the</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STIF</a:t>
            </a:r>
            <a:r>
              <a:rPr sz="1400" b="1" u="sng" spc="-2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Board</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SRI</a:t>
            </a:r>
            <a:r>
              <a:rPr sz="1400" b="1" spc="-30" dirty="0">
                <a:latin typeface="Times New Roman"/>
                <a:cs typeface="Times New Roman"/>
              </a:rPr>
              <a:t> </a:t>
            </a:r>
            <a:r>
              <a:rPr sz="1400" b="1" dirty="0">
                <a:latin typeface="Times New Roman"/>
                <a:cs typeface="Times New Roman"/>
              </a:rPr>
              <a:t>Datapaths:</a:t>
            </a:r>
            <a:r>
              <a:rPr sz="1400" b="1" spc="-35" dirty="0">
                <a:latin typeface="Times New Roman"/>
                <a:cs typeface="Times New Roman"/>
              </a:rPr>
              <a:t> </a:t>
            </a:r>
            <a:r>
              <a:rPr sz="1400" dirty="0">
                <a:latin typeface="Times New Roman"/>
                <a:cs typeface="Times New Roman"/>
              </a:rPr>
              <a:t>SRI</a:t>
            </a:r>
            <a:r>
              <a:rPr sz="1400" spc="-35" dirty="0">
                <a:latin typeface="Times New Roman"/>
                <a:cs typeface="Times New Roman"/>
              </a:rPr>
              <a:t> </a:t>
            </a:r>
            <a:r>
              <a:rPr sz="1400" dirty="0">
                <a:latin typeface="Times New Roman"/>
                <a:cs typeface="Times New Roman"/>
              </a:rPr>
              <a:t>STIF</a:t>
            </a:r>
            <a:r>
              <a:rPr sz="1400" spc="-30" dirty="0">
                <a:latin typeface="Times New Roman"/>
                <a:cs typeface="Times New Roman"/>
              </a:rPr>
              <a:t> </a:t>
            </a:r>
            <a:r>
              <a:rPr sz="1400" spc="-10" dirty="0">
                <a:latin typeface="Times New Roman"/>
                <a:cs typeface="Times New Roman"/>
              </a:rPr>
              <a:t>Loopback</a:t>
            </a:r>
            <a:endParaRPr sz="1400">
              <a:latin typeface="Times New Roman"/>
              <a:cs typeface="Times New Roman"/>
            </a:endParaRPr>
          </a:p>
          <a:p>
            <a:pPr marL="158115" indent="-69850">
              <a:lnSpc>
                <a:spcPct val="100000"/>
              </a:lnSpc>
              <a:spcBef>
                <a:spcPts val="835"/>
              </a:spcBef>
              <a:buSzPct val="92857"/>
              <a:buFont typeface="Times New Roman"/>
              <a:buChar char="•"/>
              <a:tabLst>
                <a:tab pos="158115" algn="l"/>
              </a:tabLst>
            </a:pPr>
            <a:r>
              <a:rPr sz="1400" b="1" dirty="0">
                <a:latin typeface="Times New Roman"/>
                <a:cs typeface="Times New Roman"/>
              </a:rPr>
              <a:t>SRI</a:t>
            </a:r>
            <a:r>
              <a:rPr sz="1400" b="1" spc="-35" dirty="0">
                <a:latin typeface="Times New Roman"/>
                <a:cs typeface="Times New Roman"/>
              </a:rPr>
              <a:t> </a:t>
            </a:r>
            <a:r>
              <a:rPr sz="1400" b="1" dirty="0">
                <a:latin typeface="Times New Roman"/>
                <a:cs typeface="Times New Roman"/>
              </a:rPr>
              <a:t>Functional</a:t>
            </a:r>
            <a:r>
              <a:rPr sz="1400" b="1" spc="-30" dirty="0">
                <a:latin typeface="Times New Roman"/>
                <a:cs typeface="Times New Roman"/>
              </a:rPr>
              <a:t> </a:t>
            </a:r>
            <a:r>
              <a:rPr sz="1400" b="1" dirty="0">
                <a:latin typeface="Times New Roman"/>
                <a:cs typeface="Times New Roman"/>
              </a:rPr>
              <a:t>Tests:</a:t>
            </a:r>
            <a:r>
              <a:rPr sz="1400" b="1" spc="-35" dirty="0">
                <a:latin typeface="Times New Roman"/>
                <a:cs typeface="Times New Roman"/>
              </a:rPr>
              <a:t> </a:t>
            </a:r>
            <a:r>
              <a:rPr sz="1400" dirty="0">
                <a:latin typeface="Times New Roman"/>
                <a:cs typeface="Times New Roman"/>
              </a:rPr>
              <a:t>STIF</a:t>
            </a:r>
            <a:r>
              <a:rPr sz="1400" spc="-35" dirty="0">
                <a:latin typeface="Times New Roman"/>
                <a:cs typeface="Times New Roman"/>
              </a:rPr>
              <a:t> </a:t>
            </a:r>
            <a:r>
              <a:rPr sz="1400" dirty="0">
                <a:latin typeface="Times New Roman"/>
                <a:cs typeface="Times New Roman"/>
              </a:rPr>
              <a:t>–</a:t>
            </a:r>
            <a:r>
              <a:rPr sz="1400" spc="-30" dirty="0">
                <a:latin typeface="Times New Roman"/>
                <a:cs typeface="Times New Roman"/>
              </a:rPr>
              <a:t> </a:t>
            </a:r>
            <a:r>
              <a:rPr sz="1400" dirty="0">
                <a:latin typeface="Times New Roman"/>
                <a:cs typeface="Times New Roman"/>
              </a:rPr>
              <a:t>SRI</a:t>
            </a:r>
            <a:r>
              <a:rPr sz="1400" spc="-30" dirty="0">
                <a:latin typeface="Times New Roman"/>
                <a:cs typeface="Times New Roman"/>
              </a:rPr>
              <a:t> </a:t>
            </a:r>
            <a:r>
              <a:rPr sz="1400" dirty="0">
                <a:latin typeface="Times New Roman"/>
                <a:cs typeface="Times New Roman"/>
              </a:rPr>
              <a:t>Fiber</a:t>
            </a:r>
            <a:r>
              <a:rPr sz="1400" spc="-30" dirty="0">
                <a:latin typeface="Times New Roman"/>
                <a:cs typeface="Times New Roman"/>
              </a:rPr>
              <a:t> </a:t>
            </a:r>
            <a:r>
              <a:rPr sz="1400" spc="-10" dirty="0">
                <a:latin typeface="Times New Roman"/>
                <a:cs typeface="Times New Roman"/>
              </a:rPr>
              <a:t>Optic</a:t>
            </a:r>
            <a:endParaRPr sz="1400">
              <a:latin typeface="Times New Roman"/>
              <a:cs typeface="Times New Roman"/>
            </a:endParaRPr>
          </a:p>
          <a:p>
            <a:pPr marL="158115" indent="-69850">
              <a:lnSpc>
                <a:spcPts val="1675"/>
              </a:lnSpc>
              <a:spcBef>
                <a:spcPts val="835"/>
              </a:spcBef>
              <a:buSzPct val="92857"/>
              <a:buFont typeface="Times New Roman"/>
              <a:buChar char="•"/>
              <a:tabLst>
                <a:tab pos="158115" algn="l"/>
              </a:tabLst>
            </a:pPr>
            <a:r>
              <a:rPr sz="1400" b="1" dirty="0">
                <a:latin typeface="Times New Roman"/>
                <a:cs typeface="Times New Roman"/>
              </a:rPr>
              <a:t>Fiber</a:t>
            </a:r>
            <a:r>
              <a:rPr sz="1400" b="1" spc="-15" dirty="0">
                <a:latin typeface="Times New Roman"/>
                <a:cs typeface="Times New Roman"/>
              </a:rPr>
              <a:t> </a:t>
            </a:r>
            <a:r>
              <a:rPr sz="1400" b="1" dirty="0">
                <a:latin typeface="Times New Roman"/>
                <a:cs typeface="Times New Roman"/>
              </a:rPr>
              <a:t>Repeater</a:t>
            </a:r>
            <a:r>
              <a:rPr sz="1400" b="1" spc="-10" dirty="0">
                <a:latin typeface="Times New Roman"/>
                <a:cs typeface="Times New Roman"/>
              </a:rPr>
              <a:t> </a:t>
            </a:r>
            <a:r>
              <a:rPr sz="1400" b="1" dirty="0">
                <a:latin typeface="Times New Roman"/>
                <a:cs typeface="Times New Roman"/>
              </a:rPr>
              <a:t>Diagnostics:</a:t>
            </a:r>
            <a:r>
              <a:rPr sz="1400" b="1" spc="-15" dirty="0">
                <a:latin typeface="Times New Roman"/>
                <a:cs typeface="Times New Roman"/>
              </a:rPr>
              <a:t> </a:t>
            </a:r>
            <a:r>
              <a:rPr sz="1400" dirty="0">
                <a:latin typeface="Times New Roman"/>
                <a:cs typeface="Times New Roman"/>
              </a:rPr>
              <a:t>SRI</a:t>
            </a:r>
            <a:r>
              <a:rPr sz="1400" spc="-15" dirty="0">
                <a:latin typeface="Times New Roman"/>
                <a:cs typeface="Times New Roman"/>
              </a:rPr>
              <a:t> </a:t>
            </a:r>
            <a:r>
              <a:rPr sz="1400" dirty="0">
                <a:latin typeface="Times New Roman"/>
                <a:cs typeface="Times New Roman"/>
              </a:rPr>
              <a:t>STIF</a:t>
            </a:r>
            <a:r>
              <a:rPr sz="1400" spc="-15" dirty="0">
                <a:latin typeface="Times New Roman"/>
                <a:cs typeface="Times New Roman"/>
              </a:rPr>
              <a:t> </a:t>
            </a:r>
            <a:r>
              <a:rPr sz="1400" dirty="0">
                <a:latin typeface="Times New Roman"/>
                <a:cs typeface="Times New Roman"/>
              </a:rPr>
              <a:t>Loopback,</a:t>
            </a:r>
            <a:r>
              <a:rPr sz="1400" spc="-15" dirty="0">
                <a:latin typeface="Times New Roman"/>
                <a:cs typeface="Times New Roman"/>
              </a:rPr>
              <a:t> </a:t>
            </a:r>
            <a:r>
              <a:rPr sz="1400" spc="-20" dirty="0">
                <a:latin typeface="Times New Roman"/>
                <a:cs typeface="Times New Roman"/>
              </a:rPr>
              <a:t>SPU-</a:t>
            </a:r>
            <a:endParaRPr sz="1400">
              <a:latin typeface="Times New Roman"/>
              <a:cs typeface="Times New Roman"/>
            </a:endParaRPr>
          </a:p>
          <a:p>
            <a:pPr marL="96520">
              <a:lnSpc>
                <a:spcPts val="1675"/>
              </a:lnSpc>
            </a:pPr>
            <a:r>
              <a:rPr sz="1400" dirty="0">
                <a:latin typeface="Times New Roman"/>
                <a:cs typeface="Times New Roman"/>
              </a:rPr>
              <a:t>&gt;</a:t>
            </a:r>
            <a:r>
              <a:rPr sz="1400" spc="-10" dirty="0">
                <a:latin typeface="Times New Roman"/>
                <a:cs typeface="Times New Roman"/>
              </a:rPr>
              <a:t> </a:t>
            </a:r>
            <a:r>
              <a:rPr sz="1400" spc="-20" dirty="0">
                <a:latin typeface="Times New Roman"/>
                <a:cs typeface="Times New Roman"/>
              </a:rPr>
              <a:t>STIF</a:t>
            </a:r>
            <a:endParaRPr sz="1400">
              <a:latin typeface="Times New Roman"/>
              <a:cs typeface="Times New Roman"/>
            </a:endParaRPr>
          </a:p>
          <a:p>
            <a:pPr marL="158115" indent="-69850">
              <a:lnSpc>
                <a:spcPct val="100000"/>
              </a:lnSpc>
              <a:spcBef>
                <a:spcPts val="825"/>
              </a:spcBef>
              <a:buSzPct val="92857"/>
              <a:buFont typeface="Times New Roman"/>
              <a:buChar char="•"/>
              <a:tabLst>
                <a:tab pos="158115" algn="l"/>
              </a:tabLst>
            </a:pPr>
            <a:r>
              <a:rPr sz="1400" b="1" dirty="0">
                <a:latin typeface="Times New Roman"/>
                <a:cs typeface="Times New Roman"/>
              </a:rPr>
              <a:t>Fiber</a:t>
            </a:r>
            <a:r>
              <a:rPr sz="1400" b="1" spc="-35" dirty="0">
                <a:latin typeface="Times New Roman"/>
                <a:cs typeface="Times New Roman"/>
              </a:rPr>
              <a:t> </a:t>
            </a:r>
            <a:r>
              <a:rPr sz="1400" b="1" dirty="0">
                <a:latin typeface="Times New Roman"/>
                <a:cs typeface="Times New Roman"/>
              </a:rPr>
              <a:t>Optic</a:t>
            </a:r>
            <a:r>
              <a:rPr sz="1400" b="1" spc="-30" dirty="0">
                <a:latin typeface="Times New Roman"/>
                <a:cs typeface="Times New Roman"/>
              </a:rPr>
              <a:t> </a:t>
            </a:r>
            <a:r>
              <a:rPr sz="1400" b="1" dirty="0">
                <a:latin typeface="Times New Roman"/>
                <a:cs typeface="Times New Roman"/>
              </a:rPr>
              <a:t>Diagnostics:</a:t>
            </a:r>
            <a:r>
              <a:rPr sz="1400" b="1" spc="-25" dirty="0">
                <a:latin typeface="Times New Roman"/>
                <a:cs typeface="Times New Roman"/>
              </a:rPr>
              <a:t> </a:t>
            </a:r>
            <a:r>
              <a:rPr sz="1400" dirty="0">
                <a:latin typeface="Times New Roman"/>
                <a:cs typeface="Times New Roman"/>
              </a:rPr>
              <a:t>STIF</a:t>
            </a:r>
            <a:r>
              <a:rPr sz="1400" spc="-35" dirty="0">
                <a:latin typeface="Times New Roman"/>
                <a:cs typeface="Times New Roman"/>
              </a:rPr>
              <a:t> </a:t>
            </a:r>
            <a:r>
              <a:rPr sz="1400" dirty="0">
                <a:latin typeface="Times New Roman"/>
                <a:cs typeface="Times New Roman"/>
              </a:rPr>
              <a:t>Fiber</a:t>
            </a:r>
            <a:r>
              <a:rPr sz="1400" spc="-35" dirty="0">
                <a:latin typeface="Times New Roman"/>
                <a:cs typeface="Times New Roman"/>
              </a:rPr>
              <a:t> </a:t>
            </a:r>
            <a:r>
              <a:rPr sz="1400" dirty="0">
                <a:latin typeface="Times New Roman"/>
                <a:cs typeface="Times New Roman"/>
              </a:rPr>
              <a:t>Optic</a:t>
            </a:r>
            <a:r>
              <a:rPr sz="1400" spc="-35" dirty="0">
                <a:latin typeface="Times New Roman"/>
                <a:cs typeface="Times New Roman"/>
              </a:rPr>
              <a:t> </a:t>
            </a:r>
            <a:r>
              <a:rPr sz="1400" spc="-20" dirty="0">
                <a:latin typeface="Times New Roman"/>
                <a:cs typeface="Times New Roman"/>
              </a:rPr>
              <a:t>Test</a:t>
            </a:r>
            <a:endParaRPr sz="1400">
              <a:latin typeface="Times New Roman"/>
              <a:cs typeface="Times New Roman"/>
            </a:endParaRPr>
          </a:p>
        </p:txBody>
      </p:sp>
      <p:sp>
        <p:nvSpPr>
          <p:cNvPr id="14" name="object 14"/>
          <p:cNvSpPr txBox="1"/>
          <p:nvPr/>
        </p:nvSpPr>
        <p:spPr>
          <a:xfrm>
            <a:off x="817753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SRI (Scan Room Interface)</a:t>
            </a:r>
          </a:p>
        </p:txBody>
      </p:sp>
      <p:sp>
        <p:nvSpPr>
          <p:cNvPr id="3" name="Content Placeholder 2"/>
          <p:cNvSpPr>
            <a:spLocks noGrp="1"/>
          </p:cNvSpPr>
          <p:nvPr>
            <p:ph idx="1"/>
          </p:nvPr>
        </p:nvSpPr>
        <p:spPr/>
        <p:txBody>
          <a:bodyPr>
            <a:normAutofit fontScale="92500"/>
          </a:bodyPr>
          <a:lstStyle/>
          <a:p>
            <a:r>
              <a:rPr lang="en-US" dirty="0">
                <a:solidFill>
                  <a:schemeClr val="tx2">
                    <a:lumMod val="60000"/>
                    <a:lumOff val="40000"/>
                  </a:schemeClr>
                </a:solidFill>
              </a:rPr>
              <a:t>It is powered by the SSM or PHPS</a:t>
            </a:r>
          </a:p>
          <a:p>
            <a:r>
              <a:rPr lang="en-US" dirty="0">
                <a:solidFill>
                  <a:schemeClr val="tx2">
                    <a:lumMod val="60000"/>
                    <a:lumOff val="40000"/>
                  </a:schemeClr>
                </a:solidFill>
              </a:rPr>
              <a:t>Gets the commands and reports changes to the STIF board through the FO repeater in the pen wall.</a:t>
            </a:r>
          </a:p>
          <a:p>
            <a:r>
              <a:rPr lang="en-US" dirty="0">
                <a:solidFill>
                  <a:schemeClr val="tx2">
                    <a:lumMod val="60000"/>
                    <a:lumOff val="40000"/>
                  </a:schemeClr>
                </a:solidFill>
              </a:rPr>
              <a:t>There are several revisions, but all keep the same functionality.</a:t>
            </a:r>
          </a:p>
          <a:p>
            <a:r>
              <a:rPr lang="en-US" dirty="0">
                <a:solidFill>
                  <a:schemeClr val="tx2">
                    <a:lumMod val="60000"/>
                    <a:lumOff val="40000"/>
                  </a:schemeClr>
                </a:solidFill>
              </a:rPr>
              <a:t>Controls and monitors status for:</a:t>
            </a:r>
          </a:p>
          <a:p>
            <a:pPr lvl="1"/>
            <a:r>
              <a:rPr lang="en-US" dirty="0">
                <a:solidFill>
                  <a:schemeClr val="tx2">
                    <a:lumMod val="60000"/>
                    <a:lumOff val="40000"/>
                  </a:schemeClr>
                </a:solidFill>
              </a:rPr>
              <a:t>Longitudinal table movement</a:t>
            </a:r>
          </a:p>
          <a:p>
            <a:pPr lvl="1"/>
            <a:r>
              <a:rPr lang="en-US" dirty="0">
                <a:solidFill>
                  <a:schemeClr val="tx2">
                    <a:lumMod val="60000"/>
                    <a:lumOff val="40000"/>
                  </a:schemeClr>
                </a:solidFill>
              </a:rPr>
              <a:t>Enclosure display and table movement keypads</a:t>
            </a:r>
          </a:p>
          <a:p>
            <a:pPr lvl="1"/>
            <a:r>
              <a:rPr lang="en-US" dirty="0">
                <a:solidFill>
                  <a:schemeClr val="tx2">
                    <a:lumMod val="60000"/>
                    <a:lumOff val="40000"/>
                  </a:schemeClr>
                </a:solidFill>
              </a:rPr>
              <a:t>E-STOP</a:t>
            </a:r>
          </a:p>
          <a:p>
            <a:pPr lvl="1"/>
            <a:r>
              <a:rPr lang="en-US" dirty="0">
                <a:solidFill>
                  <a:schemeClr val="tx2">
                    <a:lumMod val="60000"/>
                    <a:lumOff val="40000"/>
                  </a:schemeClr>
                </a:solidFill>
              </a:rPr>
              <a:t>Dock assembly</a:t>
            </a:r>
          </a:p>
          <a:p>
            <a:pPr marL="455508" lvl="1" indent="0">
              <a:buNone/>
            </a:pPr>
            <a:endParaRPr lang="en-US" dirty="0">
              <a:solidFill>
                <a:schemeClr val="tx2">
                  <a:lumMod val="60000"/>
                  <a:lumOff val="40000"/>
                </a:schemeClr>
              </a:solidFill>
            </a:endParaRPr>
          </a:p>
        </p:txBody>
      </p:sp>
      <p:sp>
        <p:nvSpPr>
          <p:cNvPr id="5" name="Slide Number Placeholder 4"/>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30</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2523716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PAC (Physiological Acquisition Controller)</a:t>
            </a:r>
          </a:p>
        </p:txBody>
      </p:sp>
      <p:sp>
        <p:nvSpPr>
          <p:cNvPr id="3" name="Content Placeholder 2"/>
          <p:cNvSpPr>
            <a:spLocks noGrp="1"/>
          </p:cNvSpPr>
          <p:nvPr>
            <p:ph idx="1"/>
          </p:nvPr>
        </p:nvSpPr>
        <p:spPr/>
        <p:txBody>
          <a:bodyPr>
            <a:normAutofit/>
          </a:bodyPr>
          <a:lstStyle/>
          <a:p>
            <a:r>
              <a:rPr lang="en-US" dirty="0">
                <a:solidFill>
                  <a:schemeClr val="tx2">
                    <a:lumMod val="60000"/>
                    <a:lumOff val="40000"/>
                  </a:schemeClr>
                </a:solidFill>
              </a:rPr>
              <a:t>It is powered by the SSM or PHPS</a:t>
            </a:r>
          </a:p>
          <a:p>
            <a:r>
              <a:rPr lang="en-US" dirty="0">
                <a:solidFill>
                  <a:schemeClr val="tx2">
                    <a:lumMod val="60000"/>
                    <a:lumOff val="40000"/>
                  </a:schemeClr>
                </a:solidFill>
              </a:rPr>
              <a:t>Gets the commands and reports changes to the STIF through the FO repeater in the pen wall.</a:t>
            </a:r>
          </a:p>
          <a:p>
            <a:r>
              <a:rPr lang="en-US" dirty="0">
                <a:solidFill>
                  <a:schemeClr val="tx2">
                    <a:lumMod val="60000"/>
                    <a:lumOff val="40000"/>
                  </a:schemeClr>
                </a:solidFill>
              </a:rPr>
              <a:t>Sends the acquire signal information from patient to the SPU portion of the IPG.</a:t>
            </a:r>
          </a:p>
          <a:p>
            <a:r>
              <a:rPr lang="en-US" dirty="0">
                <a:solidFill>
                  <a:schemeClr val="tx2">
                    <a:lumMod val="60000"/>
                    <a:lumOff val="40000"/>
                  </a:schemeClr>
                </a:solidFill>
              </a:rPr>
              <a:t>It can monitor:</a:t>
            </a:r>
          </a:p>
          <a:p>
            <a:pPr lvl="1"/>
            <a:r>
              <a:rPr lang="en-US" dirty="0">
                <a:solidFill>
                  <a:schemeClr val="tx2">
                    <a:lumMod val="60000"/>
                    <a:lumOff val="40000"/>
                  </a:schemeClr>
                </a:solidFill>
              </a:rPr>
              <a:t>ECG</a:t>
            </a:r>
          </a:p>
          <a:p>
            <a:pPr lvl="1"/>
            <a:r>
              <a:rPr lang="en-US" dirty="0">
                <a:solidFill>
                  <a:schemeClr val="tx2">
                    <a:lumMod val="60000"/>
                    <a:lumOff val="40000"/>
                  </a:schemeClr>
                </a:solidFill>
              </a:rPr>
              <a:t>Respiration</a:t>
            </a:r>
          </a:p>
          <a:p>
            <a:pPr lvl="1"/>
            <a:r>
              <a:rPr lang="en-US" dirty="0">
                <a:solidFill>
                  <a:schemeClr val="tx2">
                    <a:lumMod val="60000"/>
                    <a:lumOff val="40000"/>
                  </a:schemeClr>
                </a:solidFill>
              </a:rPr>
              <a:t>Pulse</a:t>
            </a:r>
          </a:p>
          <a:p>
            <a:pPr marL="455508" lvl="1" indent="0">
              <a:buNone/>
            </a:pPr>
            <a:endParaRPr lang="en-US" dirty="0">
              <a:solidFill>
                <a:schemeClr val="tx2">
                  <a:lumMod val="60000"/>
                  <a:lumOff val="40000"/>
                </a:schemeClr>
              </a:solidFill>
            </a:endParaRPr>
          </a:p>
        </p:txBody>
      </p:sp>
      <p:sp>
        <p:nvSpPr>
          <p:cNvPr id="5" name="Slide Number Placeholder 4"/>
          <p:cNvSpPr>
            <a:spLocks noGrp="1"/>
          </p:cNvSpPr>
          <p:nvPr>
            <p:ph type="sldNum" sz="quarter" idx="12"/>
          </p:nvPr>
        </p:nvSpPr>
        <p:spPr/>
        <p:txBody>
          <a:bodyPr/>
          <a:lstStyle/>
          <a:p>
            <a:pPr algn="l" defTabSz="911017" rtl="0"/>
            <a:fld id="{A96FCAC1-F539-4436-A8D9-9E19D1673FCA}" type="slidenum">
              <a:rPr lang="en-US" sz="1793" kern="1200">
                <a:solidFill>
                  <a:prstClr val="black"/>
                </a:solidFill>
                <a:latin typeface="Calibri"/>
                <a:ea typeface="+mn-ea"/>
                <a:cs typeface="+mn-cs"/>
              </a:rPr>
              <a:pPr algn="l" defTabSz="911017" rtl="0"/>
              <a:t>31</a:t>
            </a:fld>
            <a:endParaRPr lang="en-US" sz="1793" kern="1200">
              <a:solidFill>
                <a:prstClr val="black"/>
              </a:solidFill>
              <a:latin typeface="Calibri"/>
              <a:ea typeface="+mn-ea"/>
              <a:cs typeface="+mn-cs"/>
            </a:endParaRPr>
          </a:p>
        </p:txBody>
      </p:sp>
    </p:spTree>
    <p:extLst>
      <p:ext uri="{BB962C8B-B14F-4D97-AF65-F5344CB8AC3E}">
        <p14:creationId xmlns:p14="http://schemas.microsoft.com/office/powerpoint/2010/main" val="1946628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3448" y="87122"/>
            <a:ext cx="5288280" cy="407034"/>
          </a:xfrm>
          <a:prstGeom prst="rect">
            <a:avLst/>
          </a:prstGeom>
          <a:ln w="9144">
            <a:solidFill>
              <a:srgbClr val="000000"/>
            </a:solidFill>
          </a:ln>
        </p:spPr>
        <p:txBody>
          <a:bodyPr vert="horz" wrap="square" lIns="0" tIns="41275" rIns="0" bIns="0" rtlCol="0">
            <a:spAutoFit/>
          </a:bodyPr>
          <a:lstStyle/>
          <a:p>
            <a:pPr marL="277495">
              <a:lnSpc>
                <a:spcPct val="100000"/>
              </a:lnSpc>
              <a:spcBef>
                <a:spcPts val="325"/>
              </a:spcBef>
            </a:pPr>
            <a:r>
              <a:rPr sz="2000" b="1" dirty="0">
                <a:latin typeface="Times New Roman"/>
                <a:cs typeface="Times New Roman"/>
              </a:rPr>
              <a:t>System</a:t>
            </a:r>
            <a:r>
              <a:rPr sz="2000" b="1" spc="-45" dirty="0">
                <a:latin typeface="Times New Roman"/>
                <a:cs typeface="Times New Roman"/>
              </a:rPr>
              <a:t> </a:t>
            </a:r>
            <a:r>
              <a:rPr sz="2000" b="1" dirty="0">
                <a:latin typeface="Times New Roman"/>
                <a:cs typeface="Times New Roman"/>
              </a:rPr>
              <a:t>Cabinet</a:t>
            </a:r>
            <a:r>
              <a:rPr sz="2000" b="1" spc="-30" dirty="0">
                <a:latin typeface="Times New Roman"/>
                <a:cs typeface="Times New Roman"/>
              </a:rPr>
              <a:t> </a:t>
            </a:r>
            <a:r>
              <a:rPr sz="2000" b="1" dirty="0">
                <a:latin typeface="Times New Roman"/>
                <a:cs typeface="Times New Roman"/>
              </a:rPr>
              <a:t>–</a:t>
            </a:r>
            <a:r>
              <a:rPr sz="2000" b="1" spc="-35" dirty="0">
                <a:latin typeface="Times New Roman"/>
                <a:cs typeface="Times New Roman"/>
              </a:rPr>
              <a:t> </a:t>
            </a:r>
            <a:r>
              <a:rPr sz="2000" b="1" dirty="0">
                <a:latin typeface="Times New Roman"/>
                <a:cs typeface="Times New Roman"/>
              </a:rPr>
              <a:t>CAM</a:t>
            </a:r>
            <a:r>
              <a:rPr sz="2000" b="1" spc="-25" dirty="0">
                <a:latin typeface="Times New Roman"/>
                <a:cs typeface="Times New Roman"/>
              </a:rPr>
              <a:t> </a:t>
            </a:r>
            <a:r>
              <a:rPr sz="2000" b="1" dirty="0">
                <a:latin typeface="Times New Roman"/>
                <a:cs typeface="Times New Roman"/>
              </a:rPr>
              <a:t>Chassis</a:t>
            </a:r>
            <a:r>
              <a:rPr sz="2000" b="1" spc="-30" dirty="0">
                <a:latin typeface="Times New Roman"/>
                <a:cs typeface="Times New Roman"/>
              </a:rPr>
              <a:t> </a:t>
            </a:r>
            <a:r>
              <a:rPr sz="2000" b="1" spc="-10" dirty="0">
                <a:latin typeface="Times New Roman"/>
                <a:cs typeface="Times New Roman"/>
              </a:rPr>
              <a:t>Differences</a:t>
            </a:r>
            <a:endParaRPr sz="2000">
              <a:latin typeface="Times New Roman"/>
              <a:cs typeface="Times New Roman"/>
            </a:endParaRPr>
          </a:p>
        </p:txBody>
      </p:sp>
      <p:grpSp>
        <p:nvGrpSpPr>
          <p:cNvPr id="3" name="object 3"/>
          <p:cNvGrpSpPr/>
          <p:nvPr/>
        </p:nvGrpSpPr>
        <p:grpSpPr>
          <a:xfrm>
            <a:off x="227329" y="668527"/>
            <a:ext cx="5509260" cy="4865370"/>
            <a:chOff x="227329" y="668527"/>
            <a:chExt cx="5509260" cy="4865370"/>
          </a:xfrm>
        </p:grpSpPr>
        <p:pic>
          <p:nvPicPr>
            <p:cNvPr id="4" name="object 4"/>
            <p:cNvPicPr/>
            <p:nvPr/>
          </p:nvPicPr>
          <p:blipFill>
            <a:blip r:embed="rId2" cstate="print"/>
            <a:stretch>
              <a:fillRect/>
            </a:stretch>
          </p:blipFill>
          <p:spPr>
            <a:xfrm>
              <a:off x="227329" y="668527"/>
              <a:ext cx="5279897" cy="4865370"/>
            </a:xfrm>
            <a:prstGeom prst="rect">
              <a:avLst/>
            </a:prstGeom>
          </p:spPr>
        </p:pic>
        <p:sp>
          <p:nvSpPr>
            <p:cNvPr id="5" name="object 5"/>
            <p:cNvSpPr/>
            <p:nvPr/>
          </p:nvSpPr>
          <p:spPr>
            <a:xfrm>
              <a:off x="495554" y="4870195"/>
              <a:ext cx="5236210" cy="314960"/>
            </a:xfrm>
            <a:custGeom>
              <a:avLst/>
              <a:gdLst/>
              <a:ahLst/>
              <a:cxnLst/>
              <a:rect l="l" t="t" r="r" b="b"/>
              <a:pathLst>
                <a:path w="5236210" h="314960">
                  <a:moveTo>
                    <a:pt x="5235702" y="314705"/>
                  </a:moveTo>
                  <a:lnTo>
                    <a:pt x="5235702" y="0"/>
                  </a:lnTo>
                  <a:lnTo>
                    <a:pt x="0" y="0"/>
                  </a:lnTo>
                  <a:lnTo>
                    <a:pt x="0" y="314706"/>
                  </a:lnTo>
                  <a:lnTo>
                    <a:pt x="5235702" y="314705"/>
                  </a:lnTo>
                  <a:close/>
                </a:path>
              </a:pathLst>
            </a:custGeom>
            <a:solidFill>
              <a:srgbClr val="FFFFFF"/>
            </a:solidFill>
          </p:spPr>
          <p:txBody>
            <a:bodyPr wrap="square" lIns="0" tIns="0" rIns="0" bIns="0" rtlCol="0"/>
            <a:lstStyle/>
            <a:p>
              <a:endParaRPr/>
            </a:p>
          </p:txBody>
        </p:sp>
        <p:sp>
          <p:nvSpPr>
            <p:cNvPr id="6" name="object 6"/>
            <p:cNvSpPr/>
            <p:nvPr/>
          </p:nvSpPr>
          <p:spPr>
            <a:xfrm>
              <a:off x="495554" y="4870195"/>
              <a:ext cx="5236210" cy="314960"/>
            </a:xfrm>
            <a:custGeom>
              <a:avLst/>
              <a:gdLst/>
              <a:ahLst/>
              <a:cxnLst/>
              <a:rect l="l" t="t" r="r" b="b"/>
              <a:pathLst>
                <a:path w="5236210" h="314960">
                  <a:moveTo>
                    <a:pt x="5235702" y="314705"/>
                  </a:moveTo>
                  <a:lnTo>
                    <a:pt x="5235702" y="0"/>
                  </a:lnTo>
                  <a:lnTo>
                    <a:pt x="0" y="0"/>
                  </a:lnTo>
                  <a:lnTo>
                    <a:pt x="0" y="314706"/>
                  </a:lnTo>
                  <a:lnTo>
                    <a:pt x="5235702" y="314705"/>
                  </a:lnTo>
                  <a:close/>
                </a:path>
              </a:pathLst>
            </a:custGeom>
            <a:ln w="9144">
              <a:solidFill>
                <a:srgbClr val="000000"/>
              </a:solidFill>
            </a:ln>
          </p:spPr>
          <p:txBody>
            <a:bodyPr wrap="square" lIns="0" tIns="0" rIns="0" bIns="0" rtlCol="0"/>
            <a:lstStyle/>
            <a:p>
              <a:endParaRPr/>
            </a:p>
          </p:txBody>
        </p:sp>
      </p:grpSp>
      <p:sp>
        <p:nvSpPr>
          <p:cNvPr id="7" name="object 7"/>
          <p:cNvSpPr txBox="1"/>
          <p:nvPr/>
        </p:nvSpPr>
        <p:spPr>
          <a:xfrm>
            <a:off x="579627" y="4902453"/>
            <a:ext cx="1433830" cy="238760"/>
          </a:xfrm>
          <a:prstGeom prst="rect">
            <a:avLst/>
          </a:prstGeom>
        </p:spPr>
        <p:txBody>
          <a:bodyPr vert="horz" wrap="square" lIns="0" tIns="12065" rIns="0" bIns="0" rtlCol="0">
            <a:spAutoFit/>
          </a:bodyPr>
          <a:lstStyle/>
          <a:p>
            <a:pPr marL="12700">
              <a:lnSpc>
                <a:spcPct val="100000"/>
              </a:lnSpc>
              <a:spcBef>
                <a:spcPts val="95"/>
              </a:spcBef>
            </a:pPr>
            <a:r>
              <a:rPr sz="1400" dirty="0">
                <a:latin typeface="Times New Roman"/>
                <a:cs typeface="Times New Roman"/>
              </a:rPr>
              <a:t>MGD</a:t>
            </a:r>
            <a:r>
              <a:rPr sz="1400" spc="-50" dirty="0">
                <a:latin typeface="Times New Roman"/>
                <a:cs typeface="Times New Roman"/>
              </a:rPr>
              <a:t> </a:t>
            </a:r>
            <a:r>
              <a:rPr sz="1400" spc="-10" dirty="0">
                <a:latin typeface="Times New Roman"/>
                <a:cs typeface="Times New Roman"/>
              </a:rPr>
              <a:t>Functionality</a:t>
            </a:r>
            <a:endParaRPr sz="1400">
              <a:latin typeface="Times New Roman"/>
              <a:cs typeface="Times New Roman"/>
            </a:endParaRPr>
          </a:p>
        </p:txBody>
      </p:sp>
      <p:sp>
        <p:nvSpPr>
          <p:cNvPr id="8" name="object 8"/>
          <p:cNvSpPr txBox="1"/>
          <p:nvPr/>
        </p:nvSpPr>
        <p:spPr>
          <a:xfrm>
            <a:off x="2787630" y="4902453"/>
            <a:ext cx="1137920" cy="238760"/>
          </a:xfrm>
          <a:prstGeom prst="rect">
            <a:avLst/>
          </a:prstGeom>
        </p:spPr>
        <p:txBody>
          <a:bodyPr vert="horz" wrap="square" lIns="0" tIns="12065" rIns="0" bIns="0" rtlCol="0">
            <a:spAutoFit/>
          </a:bodyPr>
          <a:lstStyle/>
          <a:p>
            <a:pPr marL="12700">
              <a:lnSpc>
                <a:spcPct val="100000"/>
              </a:lnSpc>
              <a:spcBef>
                <a:spcPts val="95"/>
              </a:spcBef>
            </a:pPr>
            <a:r>
              <a:rPr sz="1400" dirty="0">
                <a:latin typeface="Times New Roman"/>
                <a:cs typeface="Times New Roman"/>
              </a:rPr>
              <a:t>Power </a:t>
            </a:r>
            <a:r>
              <a:rPr sz="1400" spc="-10" dirty="0">
                <a:latin typeface="Times New Roman"/>
                <a:cs typeface="Times New Roman"/>
              </a:rPr>
              <a:t>Supplies</a:t>
            </a:r>
            <a:endParaRPr sz="1400">
              <a:latin typeface="Times New Roman"/>
              <a:cs typeface="Times New Roman"/>
            </a:endParaRPr>
          </a:p>
        </p:txBody>
      </p:sp>
      <p:sp>
        <p:nvSpPr>
          <p:cNvPr id="9" name="object 9"/>
          <p:cNvSpPr txBox="1"/>
          <p:nvPr/>
        </p:nvSpPr>
        <p:spPr>
          <a:xfrm>
            <a:off x="4121791" y="4902453"/>
            <a:ext cx="1365250" cy="238760"/>
          </a:xfrm>
          <a:prstGeom prst="rect">
            <a:avLst/>
          </a:prstGeom>
        </p:spPr>
        <p:txBody>
          <a:bodyPr vert="horz" wrap="square" lIns="0" tIns="12065" rIns="0" bIns="0" rtlCol="0">
            <a:spAutoFit/>
          </a:bodyPr>
          <a:lstStyle/>
          <a:p>
            <a:pPr marL="12700">
              <a:lnSpc>
                <a:spcPct val="100000"/>
              </a:lnSpc>
              <a:spcBef>
                <a:spcPts val="95"/>
              </a:spcBef>
            </a:pPr>
            <a:r>
              <a:rPr sz="1400" dirty="0">
                <a:latin typeface="Times New Roman"/>
                <a:cs typeface="Times New Roman"/>
              </a:rPr>
              <a:t>ASC</a:t>
            </a:r>
            <a:r>
              <a:rPr sz="1400" spc="-30" dirty="0">
                <a:latin typeface="Times New Roman"/>
                <a:cs typeface="Times New Roman"/>
              </a:rPr>
              <a:t> </a:t>
            </a:r>
            <a:r>
              <a:rPr sz="1400" spc="-10" dirty="0">
                <a:latin typeface="Times New Roman"/>
                <a:cs typeface="Times New Roman"/>
              </a:rPr>
              <a:t>Functionality</a:t>
            </a:r>
            <a:endParaRPr sz="1400">
              <a:latin typeface="Times New Roman"/>
              <a:cs typeface="Times New Roman"/>
            </a:endParaRPr>
          </a:p>
        </p:txBody>
      </p:sp>
      <p:grpSp>
        <p:nvGrpSpPr>
          <p:cNvPr id="10" name="object 10"/>
          <p:cNvGrpSpPr/>
          <p:nvPr/>
        </p:nvGrpSpPr>
        <p:grpSpPr>
          <a:xfrm>
            <a:off x="5521515" y="561657"/>
            <a:ext cx="3589654" cy="5110480"/>
            <a:chOff x="5521515" y="561657"/>
            <a:chExt cx="3589654" cy="5110480"/>
          </a:xfrm>
        </p:grpSpPr>
        <p:sp>
          <p:nvSpPr>
            <p:cNvPr id="11" name="object 11"/>
            <p:cNvSpPr/>
            <p:nvPr/>
          </p:nvSpPr>
          <p:spPr>
            <a:xfrm>
              <a:off x="5526278" y="566419"/>
              <a:ext cx="3580129" cy="5100955"/>
            </a:xfrm>
            <a:custGeom>
              <a:avLst/>
              <a:gdLst/>
              <a:ahLst/>
              <a:cxnLst/>
              <a:rect l="l" t="t" r="r" b="b"/>
              <a:pathLst>
                <a:path w="3580129" h="5100955">
                  <a:moveTo>
                    <a:pt x="3579876" y="5100828"/>
                  </a:moveTo>
                  <a:lnTo>
                    <a:pt x="3579876" y="0"/>
                  </a:lnTo>
                  <a:lnTo>
                    <a:pt x="0" y="0"/>
                  </a:lnTo>
                  <a:lnTo>
                    <a:pt x="0" y="5100828"/>
                  </a:lnTo>
                  <a:lnTo>
                    <a:pt x="3579876" y="5100828"/>
                  </a:lnTo>
                  <a:close/>
                </a:path>
              </a:pathLst>
            </a:custGeom>
            <a:solidFill>
              <a:srgbClr val="FFFFFF"/>
            </a:solidFill>
          </p:spPr>
          <p:txBody>
            <a:bodyPr wrap="square" lIns="0" tIns="0" rIns="0" bIns="0" rtlCol="0"/>
            <a:lstStyle/>
            <a:p>
              <a:endParaRPr/>
            </a:p>
          </p:txBody>
        </p:sp>
        <p:sp>
          <p:nvSpPr>
            <p:cNvPr id="12" name="object 12"/>
            <p:cNvSpPr/>
            <p:nvPr/>
          </p:nvSpPr>
          <p:spPr>
            <a:xfrm>
              <a:off x="5526278" y="566419"/>
              <a:ext cx="3580129" cy="5100955"/>
            </a:xfrm>
            <a:custGeom>
              <a:avLst/>
              <a:gdLst/>
              <a:ahLst/>
              <a:cxnLst/>
              <a:rect l="l" t="t" r="r" b="b"/>
              <a:pathLst>
                <a:path w="3580129" h="5100955">
                  <a:moveTo>
                    <a:pt x="3579876" y="5100828"/>
                  </a:moveTo>
                  <a:lnTo>
                    <a:pt x="3579876" y="0"/>
                  </a:lnTo>
                  <a:lnTo>
                    <a:pt x="0" y="0"/>
                  </a:lnTo>
                  <a:lnTo>
                    <a:pt x="0" y="5100828"/>
                  </a:lnTo>
                  <a:lnTo>
                    <a:pt x="3579876" y="5100828"/>
                  </a:lnTo>
                  <a:close/>
                </a:path>
              </a:pathLst>
            </a:custGeom>
            <a:ln w="9144">
              <a:solidFill>
                <a:srgbClr val="000000"/>
              </a:solidFill>
            </a:ln>
          </p:spPr>
          <p:txBody>
            <a:bodyPr wrap="square" lIns="0" tIns="0" rIns="0" bIns="0" rtlCol="0"/>
            <a:lstStyle/>
            <a:p>
              <a:endParaRPr/>
            </a:p>
          </p:txBody>
        </p:sp>
      </p:grpSp>
      <p:sp>
        <p:nvSpPr>
          <p:cNvPr id="13" name="object 13"/>
          <p:cNvSpPr txBox="1"/>
          <p:nvPr/>
        </p:nvSpPr>
        <p:spPr>
          <a:xfrm>
            <a:off x="5610349" y="598677"/>
            <a:ext cx="3406775" cy="4280535"/>
          </a:xfrm>
          <a:prstGeom prst="rect">
            <a:avLst/>
          </a:prstGeom>
        </p:spPr>
        <p:txBody>
          <a:bodyPr vert="horz" wrap="square" lIns="0" tIns="12065" rIns="0" bIns="0" rtlCol="0">
            <a:spAutoFit/>
          </a:bodyPr>
          <a:lstStyle/>
          <a:p>
            <a:pPr marL="12700" marR="157480">
              <a:lnSpc>
                <a:spcPct val="100000"/>
              </a:lnSpc>
              <a:spcBef>
                <a:spcPts val="95"/>
              </a:spcBef>
            </a:pPr>
            <a:r>
              <a:rPr sz="1400" dirty="0">
                <a:latin typeface="Times New Roman"/>
                <a:cs typeface="Times New Roman"/>
              </a:rPr>
              <a:t>Though</a:t>
            </a:r>
            <a:r>
              <a:rPr sz="1400" spc="-50" dirty="0">
                <a:latin typeface="Times New Roman"/>
                <a:cs typeface="Times New Roman"/>
              </a:rPr>
              <a:t> </a:t>
            </a:r>
            <a:r>
              <a:rPr sz="1400" dirty="0">
                <a:latin typeface="Times New Roman"/>
                <a:cs typeface="Times New Roman"/>
              </a:rPr>
              <a:t>the</a:t>
            </a:r>
            <a:r>
              <a:rPr sz="1400" spc="-45" dirty="0">
                <a:latin typeface="Times New Roman"/>
                <a:cs typeface="Times New Roman"/>
              </a:rPr>
              <a:t> </a:t>
            </a:r>
            <a:r>
              <a:rPr sz="1400" dirty="0">
                <a:latin typeface="Times New Roman"/>
                <a:cs typeface="Times New Roman"/>
              </a:rPr>
              <a:t>functionality</a:t>
            </a:r>
            <a:r>
              <a:rPr sz="1400" spc="-50" dirty="0">
                <a:latin typeface="Times New Roman"/>
                <a:cs typeface="Times New Roman"/>
              </a:rPr>
              <a:t> </a:t>
            </a:r>
            <a:r>
              <a:rPr sz="1400" dirty="0">
                <a:latin typeface="Times New Roman"/>
                <a:cs typeface="Times New Roman"/>
              </a:rPr>
              <a:t>didn’t</a:t>
            </a:r>
            <a:r>
              <a:rPr sz="1400" spc="-45" dirty="0">
                <a:latin typeface="Times New Roman"/>
                <a:cs typeface="Times New Roman"/>
              </a:rPr>
              <a:t> </a:t>
            </a:r>
            <a:r>
              <a:rPr sz="1400" dirty="0">
                <a:latin typeface="Times New Roman"/>
                <a:cs typeface="Times New Roman"/>
              </a:rPr>
              <a:t>change,</a:t>
            </a:r>
            <a:r>
              <a:rPr sz="1400" spc="-50" dirty="0">
                <a:latin typeface="Times New Roman"/>
                <a:cs typeface="Times New Roman"/>
              </a:rPr>
              <a:t> </a:t>
            </a:r>
            <a:r>
              <a:rPr sz="1400" spc="-10" dirty="0">
                <a:latin typeface="Times New Roman"/>
                <a:cs typeface="Times New Roman"/>
              </a:rPr>
              <a:t>there </a:t>
            </a:r>
            <a:r>
              <a:rPr sz="1400" dirty="0">
                <a:latin typeface="Times New Roman"/>
                <a:cs typeface="Times New Roman"/>
              </a:rPr>
              <a:t>are</a:t>
            </a:r>
            <a:r>
              <a:rPr sz="1400" spc="-45" dirty="0">
                <a:latin typeface="Times New Roman"/>
                <a:cs typeface="Times New Roman"/>
              </a:rPr>
              <a:t> </a:t>
            </a:r>
            <a:r>
              <a:rPr sz="1400" dirty="0">
                <a:latin typeface="Times New Roman"/>
                <a:cs typeface="Times New Roman"/>
              </a:rPr>
              <a:t>some</a:t>
            </a:r>
            <a:r>
              <a:rPr sz="1400" spc="-45" dirty="0">
                <a:latin typeface="Times New Roman"/>
                <a:cs typeface="Times New Roman"/>
              </a:rPr>
              <a:t> </a:t>
            </a:r>
            <a:r>
              <a:rPr sz="1400" dirty="0">
                <a:latin typeface="Times New Roman"/>
                <a:cs typeface="Times New Roman"/>
              </a:rPr>
              <a:t>hardware</a:t>
            </a:r>
            <a:r>
              <a:rPr sz="1400" spc="-40" dirty="0">
                <a:latin typeface="Times New Roman"/>
                <a:cs typeface="Times New Roman"/>
              </a:rPr>
              <a:t> </a:t>
            </a:r>
            <a:r>
              <a:rPr sz="1400" dirty="0">
                <a:latin typeface="Times New Roman"/>
                <a:cs typeface="Times New Roman"/>
              </a:rPr>
              <a:t>differences</a:t>
            </a:r>
            <a:r>
              <a:rPr sz="1400" spc="-40" dirty="0">
                <a:latin typeface="Times New Roman"/>
                <a:cs typeface="Times New Roman"/>
              </a:rPr>
              <a:t> </a:t>
            </a:r>
            <a:r>
              <a:rPr sz="1400" dirty="0">
                <a:latin typeface="Times New Roman"/>
                <a:cs typeface="Times New Roman"/>
              </a:rPr>
              <a:t>between</a:t>
            </a:r>
            <a:r>
              <a:rPr sz="1400" spc="-40" dirty="0">
                <a:latin typeface="Times New Roman"/>
                <a:cs typeface="Times New Roman"/>
              </a:rPr>
              <a:t> </a:t>
            </a:r>
            <a:r>
              <a:rPr sz="1400" spc="-25" dirty="0">
                <a:latin typeface="Times New Roman"/>
                <a:cs typeface="Times New Roman"/>
              </a:rPr>
              <a:t>the </a:t>
            </a:r>
            <a:r>
              <a:rPr sz="1400" dirty="0">
                <a:latin typeface="Times New Roman"/>
                <a:cs typeface="Times New Roman"/>
              </a:rPr>
              <a:t>MGD</a:t>
            </a:r>
            <a:r>
              <a:rPr sz="1400" spc="-25" dirty="0">
                <a:latin typeface="Times New Roman"/>
                <a:cs typeface="Times New Roman"/>
              </a:rPr>
              <a:t> </a:t>
            </a:r>
            <a:r>
              <a:rPr sz="1400" dirty="0">
                <a:latin typeface="Times New Roman"/>
                <a:cs typeface="Times New Roman"/>
              </a:rPr>
              <a:t>chassis</a:t>
            </a:r>
            <a:r>
              <a:rPr sz="1400" spc="-25"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CAM</a:t>
            </a:r>
            <a:r>
              <a:rPr sz="1400" spc="-25" dirty="0">
                <a:latin typeface="Times New Roman"/>
                <a:cs typeface="Times New Roman"/>
              </a:rPr>
              <a:t> </a:t>
            </a:r>
            <a:r>
              <a:rPr sz="1400" dirty="0">
                <a:latin typeface="Times New Roman"/>
                <a:cs typeface="Times New Roman"/>
              </a:rPr>
              <a:t>chassis.</a:t>
            </a:r>
            <a:r>
              <a:rPr sz="1400" spc="300" dirty="0">
                <a:latin typeface="Times New Roman"/>
                <a:cs typeface="Times New Roman"/>
              </a:rPr>
              <a:t> </a:t>
            </a:r>
            <a:r>
              <a:rPr sz="1400" spc="-10" dirty="0">
                <a:latin typeface="Times New Roman"/>
                <a:cs typeface="Times New Roman"/>
              </a:rPr>
              <a:t>These include:</a:t>
            </a:r>
            <a:endParaRPr sz="1400">
              <a:latin typeface="Times New Roman"/>
              <a:cs typeface="Times New Roman"/>
            </a:endParaRPr>
          </a:p>
          <a:p>
            <a:pPr marL="12700" marR="297180">
              <a:lnSpc>
                <a:spcPct val="100000"/>
              </a:lnSpc>
              <a:spcBef>
                <a:spcPts val="825"/>
              </a:spcBef>
            </a:pPr>
            <a:r>
              <a:rPr sz="1400" b="1" dirty="0">
                <a:latin typeface="Times New Roman"/>
                <a:cs typeface="Times New Roman"/>
              </a:rPr>
              <a:t>Blower</a:t>
            </a:r>
            <a:r>
              <a:rPr sz="1400" b="1" spc="-25" dirty="0">
                <a:latin typeface="Times New Roman"/>
                <a:cs typeface="Times New Roman"/>
              </a:rPr>
              <a:t> </a:t>
            </a:r>
            <a:r>
              <a:rPr sz="1400" b="1" dirty="0">
                <a:latin typeface="Times New Roman"/>
                <a:cs typeface="Times New Roman"/>
              </a:rPr>
              <a:t>Assembly</a:t>
            </a:r>
            <a:r>
              <a:rPr sz="1400" b="1" spc="-30" dirty="0">
                <a:latin typeface="Times New Roman"/>
                <a:cs typeface="Times New Roman"/>
              </a:rPr>
              <a:t> </a:t>
            </a:r>
            <a:r>
              <a:rPr sz="1400" dirty="0">
                <a:latin typeface="Times New Roman"/>
                <a:cs typeface="Times New Roman"/>
              </a:rPr>
              <a:t>–</a:t>
            </a:r>
            <a:r>
              <a:rPr sz="1400" spc="-30" dirty="0">
                <a:latin typeface="Times New Roman"/>
                <a:cs typeface="Times New Roman"/>
              </a:rPr>
              <a:t> </a:t>
            </a:r>
            <a:r>
              <a:rPr sz="1400" dirty="0">
                <a:latin typeface="Times New Roman"/>
                <a:cs typeface="Times New Roman"/>
              </a:rPr>
              <a:t>Different</a:t>
            </a:r>
            <a:r>
              <a:rPr sz="1400" spc="-25" dirty="0">
                <a:latin typeface="Times New Roman"/>
                <a:cs typeface="Times New Roman"/>
              </a:rPr>
              <a:t> </a:t>
            </a:r>
            <a:r>
              <a:rPr sz="1400" dirty="0">
                <a:latin typeface="Times New Roman"/>
                <a:cs typeface="Times New Roman"/>
              </a:rPr>
              <a:t>module</a:t>
            </a:r>
            <a:r>
              <a:rPr sz="1400" spc="-25" dirty="0">
                <a:latin typeface="Times New Roman"/>
                <a:cs typeface="Times New Roman"/>
              </a:rPr>
              <a:t> </a:t>
            </a:r>
            <a:r>
              <a:rPr sz="1400" spc="-20" dirty="0">
                <a:latin typeface="Times New Roman"/>
                <a:cs typeface="Times New Roman"/>
              </a:rPr>
              <a:t>with </a:t>
            </a:r>
            <a:r>
              <a:rPr sz="1400" spc="-10" dirty="0">
                <a:latin typeface="Times New Roman"/>
                <a:cs typeface="Times New Roman"/>
              </a:rPr>
              <a:t>integrated</a:t>
            </a:r>
            <a:r>
              <a:rPr sz="1400" spc="-35" dirty="0">
                <a:latin typeface="Times New Roman"/>
                <a:cs typeface="Times New Roman"/>
              </a:rPr>
              <a:t> </a:t>
            </a:r>
            <a:r>
              <a:rPr sz="1400" dirty="0">
                <a:latin typeface="Times New Roman"/>
                <a:cs typeface="Times New Roman"/>
              </a:rPr>
              <a:t>status</a:t>
            </a:r>
            <a:r>
              <a:rPr sz="1400" spc="-25" dirty="0">
                <a:latin typeface="Times New Roman"/>
                <a:cs typeface="Times New Roman"/>
              </a:rPr>
              <a:t> </a:t>
            </a:r>
            <a:r>
              <a:rPr sz="1400" spc="-20" dirty="0">
                <a:latin typeface="Times New Roman"/>
                <a:cs typeface="Times New Roman"/>
              </a:rPr>
              <a:t>LED.</a:t>
            </a:r>
            <a:endParaRPr sz="1400">
              <a:latin typeface="Times New Roman"/>
              <a:cs typeface="Times New Roman"/>
            </a:endParaRPr>
          </a:p>
          <a:p>
            <a:pPr marL="12700" marR="558165">
              <a:lnSpc>
                <a:spcPct val="100000"/>
              </a:lnSpc>
              <a:spcBef>
                <a:spcPts val="819"/>
              </a:spcBef>
            </a:pPr>
            <a:r>
              <a:rPr sz="1400" b="1" dirty="0">
                <a:latin typeface="Times New Roman"/>
                <a:cs typeface="Times New Roman"/>
              </a:rPr>
              <a:t>Power</a:t>
            </a:r>
            <a:r>
              <a:rPr sz="1400" b="1" spc="-30" dirty="0">
                <a:latin typeface="Times New Roman"/>
                <a:cs typeface="Times New Roman"/>
              </a:rPr>
              <a:t> </a:t>
            </a:r>
            <a:r>
              <a:rPr sz="1400" b="1" dirty="0">
                <a:latin typeface="Times New Roman"/>
                <a:cs typeface="Times New Roman"/>
              </a:rPr>
              <a:t>Supply</a:t>
            </a:r>
            <a:r>
              <a:rPr sz="1400" b="1" spc="-25" dirty="0">
                <a:latin typeface="Times New Roman"/>
                <a:cs typeface="Times New Roman"/>
              </a:rPr>
              <a:t> </a:t>
            </a:r>
            <a:r>
              <a:rPr sz="1400" dirty="0">
                <a:latin typeface="Times New Roman"/>
                <a:cs typeface="Times New Roman"/>
              </a:rPr>
              <a:t>–</a:t>
            </a:r>
            <a:r>
              <a:rPr sz="1400" spc="-25" dirty="0">
                <a:latin typeface="Times New Roman"/>
                <a:cs typeface="Times New Roman"/>
              </a:rPr>
              <a:t> </a:t>
            </a:r>
            <a:r>
              <a:rPr sz="1400" dirty="0">
                <a:latin typeface="Times New Roman"/>
                <a:cs typeface="Times New Roman"/>
              </a:rPr>
              <a:t>Different</a:t>
            </a:r>
            <a:r>
              <a:rPr sz="1400" spc="-30" dirty="0">
                <a:latin typeface="Times New Roman"/>
                <a:cs typeface="Times New Roman"/>
              </a:rPr>
              <a:t> </a:t>
            </a:r>
            <a:r>
              <a:rPr sz="1400" dirty="0">
                <a:latin typeface="Times New Roman"/>
                <a:cs typeface="Times New Roman"/>
              </a:rPr>
              <a:t>Vendor</a:t>
            </a:r>
            <a:r>
              <a:rPr sz="1400" spc="-25" dirty="0">
                <a:latin typeface="Times New Roman"/>
                <a:cs typeface="Times New Roman"/>
              </a:rPr>
              <a:t> </a:t>
            </a:r>
            <a:r>
              <a:rPr sz="1400" spc="-20" dirty="0">
                <a:latin typeface="Times New Roman"/>
                <a:cs typeface="Times New Roman"/>
              </a:rPr>
              <a:t>with </a:t>
            </a:r>
            <a:r>
              <a:rPr sz="1400" spc="-10" dirty="0">
                <a:latin typeface="Times New Roman"/>
                <a:cs typeface="Times New Roman"/>
              </a:rPr>
              <a:t>integrated</a:t>
            </a:r>
            <a:r>
              <a:rPr sz="1400" spc="-35" dirty="0">
                <a:latin typeface="Times New Roman"/>
                <a:cs typeface="Times New Roman"/>
              </a:rPr>
              <a:t> </a:t>
            </a:r>
            <a:r>
              <a:rPr sz="1400" dirty="0">
                <a:latin typeface="Times New Roman"/>
                <a:cs typeface="Times New Roman"/>
              </a:rPr>
              <a:t>status</a:t>
            </a:r>
            <a:r>
              <a:rPr sz="1400" spc="-25" dirty="0">
                <a:latin typeface="Times New Roman"/>
                <a:cs typeface="Times New Roman"/>
              </a:rPr>
              <a:t> </a:t>
            </a:r>
            <a:r>
              <a:rPr sz="1400" spc="-20" dirty="0">
                <a:latin typeface="Times New Roman"/>
                <a:cs typeface="Times New Roman"/>
              </a:rPr>
              <a:t>LED.</a:t>
            </a:r>
            <a:endParaRPr sz="1400">
              <a:latin typeface="Times New Roman"/>
              <a:cs typeface="Times New Roman"/>
            </a:endParaRPr>
          </a:p>
          <a:p>
            <a:pPr marL="12700" marR="5080" indent="-635">
              <a:lnSpc>
                <a:spcPct val="100000"/>
              </a:lnSpc>
              <a:spcBef>
                <a:spcPts val="830"/>
              </a:spcBef>
            </a:pPr>
            <a:r>
              <a:rPr sz="1400" b="1" dirty="0">
                <a:latin typeface="Times New Roman"/>
                <a:cs typeface="Times New Roman"/>
              </a:rPr>
              <a:t>Voltage</a:t>
            </a:r>
            <a:r>
              <a:rPr sz="1400" b="1" spc="-30" dirty="0">
                <a:latin typeface="Times New Roman"/>
                <a:cs typeface="Times New Roman"/>
              </a:rPr>
              <a:t> </a:t>
            </a:r>
            <a:r>
              <a:rPr sz="1400" b="1" dirty="0">
                <a:latin typeface="Times New Roman"/>
                <a:cs typeface="Times New Roman"/>
              </a:rPr>
              <a:t>test</a:t>
            </a:r>
            <a:r>
              <a:rPr sz="1400" b="1" spc="-25" dirty="0">
                <a:latin typeface="Times New Roman"/>
                <a:cs typeface="Times New Roman"/>
              </a:rPr>
              <a:t> </a:t>
            </a:r>
            <a:r>
              <a:rPr sz="1400" b="1" dirty="0">
                <a:latin typeface="Times New Roman"/>
                <a:cs typeface="Times New Roman"/>
              </a:rPr>
              <a:t>points</a:t>
            </a:r>
            <a:r>
              <a:rPr sz="1400" b="1" spc="-30" dirty="0">
                <a:latin typeface="Times New Roman"/>
                <a:cs typeface="Times New Roman"/>
              </a:rPr>
              <a:t> </a:t>
            </a:r>
            <a:r>
              <a:rPr sz="1400" b="1" dirty="0">
                <a:latin typeface="Times New Roman"/>
                <a:cs typeface="Times New Roman"/>
              </a:rPr>
              <a:t>and</a:t>
            </a:r>
            <a:r>
              <a:rPr sz="1400" b="1" spc="-25" dirty="0">
                <a:latin typeface="Times New Roman"/>
                <a:cs typeface="Times New Roman"/>
              </a:rPr>
              <a:t> </a:t>
            </a:r>
            <a:r>
              <a:rPr sz="1400" b="1" dirty="0">
                <a:latin typeface="Times New Roman"/>
                <a:cs typeface="Times New Roman"/>
              </a:rPr>
              <a:t>Status</a:t>
            </a:r>
            <a:r>
              <a:rPr sz="1400" b="1" spc="-25" dirty="0">
                <a:latin typeface="Times New Roman"/>
                <a:cs typeface="Times New Roman"/>
              </a:rPr>
              <a:t> </a:t>
            </a:r>
            <a:r>
              <a:rPr sz="1400" b="1" dirty="0">
                <a:latin typeface="Times New Roman"/>
                <a:cs typeface="Times New Roman"/>
              </a:rPr>
              <a:t>LEDs</a:t>
            </a:r>
            <a:r>
              <a:rPr sz="1400" b="1" spc="310" dirty="0">
                <a:latin typeface="Times New Roman"/>
                <a:cs typeface="Times New Roman"/>
              </a:rPr>
              <a:t> </a:t>
            </a:r>
            <a:r>
              <a:rPr sz="1400" dirty="0">
                <a:latin typeface="Times New Roman"/>
                <a:cs typeface="Times New Roman"/>
              </a:rPr>
              <a:t>-</a:t>
            </a:r>
            <a:r>
              <a:rPr sz="1400" spc="-30" dirty="0">
                <a:latin typeface="Times New Roman"/>
                <a:cs typeface="Times New Roman"/>
              </a:rPr>
              <a:t> </a:t>
            </a:r>
            <a:r>
              <a:rPr sz="1400" spc="-20" dirty="0">
                <a:latin typeface="Times New Roman"/>
                <a:cs typeface="Times New Roman"/>
              </a:rPr>
              <a:t>Test </a:t>
            </a:r>
            <a:r>
              <a:rPr sz="1400" dirty="0">
                <a:latin typeface="Times New Roman"/>
                <a:cs typeface="Times New Roman"/>
              </a:rPr>
              <a:t>points</a:t>
            </a:r>
            <a:r>
              <a:rPr sz="1400" spc="-25" dirty="0">
                <a:latin typeface="Times New Roman"/>
                <a:cs typeface="Times New Roman"/>
              </a:rPr>
              <a:t> </a:t>
            </a:r>
            <a:r>
              <a:rPr sz="1400" dirty="0">
                <a:latin typeface="Times New Roman"/>
                <a:cs typeface="Times New Roman"/>
              </a:rPr>
              <a:t>are</a:t>
            </a:r>
            <a:r>
              <a:rPr sz="1400" spc="-20" dirty="0">
                <a:latin typeface="Times New Roman"/>
                <a:cs typeface="Times New Roman"/>
              </a:rPr>
              <a:t> </a:t>
            </a:r>
            <a:r>
              <a:rPr sz="1400" dirty="0">
                <a:latin typeface="Times New Roman"/>
                <a:cs typeface="Times New Roman"/>
              </a:rPr>
              <a:t>part</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chassis</a:t>
            </a:r>
            <a:r>
              <a:rPr sz="1400" spc="-20" dirty="0">
                <a:latin typeface="Times New Roman"/>
                <a:cs typeface="Times New Roman"/>
              </a:rPr>
              <a:t> </a:t>
            </a:r>
            <a:r>
              <a:rPr sz="1400" dirty="0">
                <a:latin typeface="Times New Roman"/>
                <a:cs typeface="Times New Roman"/>
              </a:rPr>
              <a:t>instead</a:t>
            </a:r>
            <a:r>
              <a:rPr sz="1400" spc="-2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spc="-10" dirty="0">
                <a:latin typeface="Times New Roman"/>
                <a:cs typeface="Times New Roman"/>
              </a:rPr>
              <a:t>separate </a:t>
            </a:r>
            <a:r>
              <a:rPr sz="1400" dirty="0">
                <a:latin typeface="Times New Roman"/>
                <a:cs typeface="Times New Roman"/>
              </a:rPr>
              <a:t>indicator</a:t>
            </a:r>
            <a:r>
              <a:rPr sz="1400" spc="-25" dirty="0">
                <a:latin typeface="Times New Roman"/>
                <a:cs typeface="Times New Roman"/>
              </a:rPr>
              <a:t> </a:t>
            </a:r>
            <a:r>
              <a:rPr sz="1400" dirty="0">
                <a:latin typeface="Times New Roman"/>
                <a:cs typeface="Times New Roman"/>
              </a:rPr>
              <a:t>module.</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Chassis</a:t>
            </a:r>
            <a:r>
              <a:rPr sz="1400" spc="-25" dirty="0">
                <a:latin typeface="Times New Roman"/>
                <a:cs typeface="Times New Roman"/>
              </a:rPr>
              <a:t> </a:t>
            </a:r>
            <a:r>
              <a:rPr sz="1400" dirty="0">
                <a:latin typeface="Times New Roman"/>
                <a:cs typeface="Times New Roman"/>
              </a:rPr>
              <a:t>Power</a:t>
            </a:r>
            <a:r>
              <a:rPr sz="1400" spc="-20" dirty="0">
                <a:latin typeface="Times New Roman"/>
                <a:cs typeface="Times New Roman"/>
              </a:rPr>
              <a:t> </a:t>
            </a:r>
            <a:r>
              <a:rPr sz="1400" spc="-10" dirty="0">
                <a:latin typeface="Times New Roman"/>
                <a:cs typeface="Times New Roman"/>
              </a:rPr>
              <a:t>Supply </a:t>
            </a:r>
            <a:r>
              <a:rPr sz="1400" dirty="0">
                <a:latin typeface="Times New Roman"/>
                <a:cs typeface="Times New Roman"/>
              </a:rPr>
              <a:t>LEDs</a:t>
            </a:r>
            <a:r>
              <a:rPr sz="1400" spc="-35" dirty="0">
                <a:latin typeface="Times New Roman"/>
                <a:cs typeface="Times New Roman"/>
              </a:rPr>
              <a:t> </a:t>
            </a:r>
            <a:r>
              <a:rPr sz="1400" dirty="0">
                <a:latin typeface="Times New Roman"/>
                <a:cs typeface="Times New Roman"/>
              </a:rPr>
              <a:t>were</a:t>
            </a:r>
            <a:r>
              <a:rPr sz="1400" spc="-30" dirty="0">
                <a:latin typeface="Times New Roman"/>
                <a:cs typeface="Times New Roman"/>
              </a:rPr>
              <a:t> </a:t>
            </a:r>
            <a:r>
              <a:rPr sz="1400" dirty="0">
                <a:latin typeface="Times New Roman"/>
                <a:cs typeface="Times New Roman"/>
              </a:rPr>
              <a:t>removed</a:t>
            </a:r>
            <a:r>
              <a:rPr sz="1400" spc="-30" dirty="0">
                <a:latin typeface="Times New Roman"/>
                <a:cs typeface="Times New Roman"/>
              </a:rPr>
              <a:t> </a:t>
            </a:r>
            <a:r>
              <a:rPr sz="1400" dirty="0">
                <a:latin typeface="Times New Roman"/>
                <a:cs typeface="Times New Roman"/>
              </a:rPr>
              <a:t>as</a:t>
            </a:r>
            <a:r>
              <a:rPr sz="1400" spc="-25" dirty="0">
                <a:latin typeface="Times New Roman"/>
                <a:cs typeface="Times New Roman"/>
              </a:rPr>
              <a:t> </a:t>
            </a:r>
            <a:r>
              <a:rPr sz="1400" dirty="0">
                <a:latin typeface="Times New Roman"/>
                <a:cs typeface="Times New Roman"/>
              </a:rPr>
              <a:t>actual</a:t>
            </a:r>
            <a:r>
              <a:rPr sz="1400" spc="-35" dirty="0">
                <a:latin typeface="Times New Roman"/>
                <a:cs typeface="Times New Roman"/>
              </a:rPr>
              <a:t> </a:t>
            </a:r>
            <a:r>
              <a:rPr sz="1400" dirty="0">
                <a:latin typeface="Times New Roman"/>
                <a:cs typeface="Times New Roman"/>
              </a:rPr>
              <a:t>PS</a:t>
            </a:r>
            <a:r>
              <a:rPr sz="1400" spc="-30" dirty="0">
                <a:latin typeface="Times New Roman"/>
                <a:cs typeface="Times New Roman"/>
              </a:rPr>
              <a:t> </a:t>
            </a:r>
            <a:r>
              <a:rPr sz="1400" dirty="0">
                <a:latin typeface="Times New Roman"/>
                <a:cs typeface="Times New Roman"/>
              </a:rPr>
              <a:t>values</a:t>
            </a:r>
            <a:r>
              <a:rPr sz="1400" spc="-30" dirty="0">
                <a:latin typeface="Times New Roman"/>
                <a:cs typeface="Times New Roman"/>
              </a:rPr>
              <a:t> </a:t>
            </a:r>
            <a:r>
              <a:rPr sz="1400" dirty="0">
                <a:latin typeface="Times New Roman"/>
                <a:cs typeface="Times New Roman"/>
              </a:rPr>
              <a:t>can</a:t>
            </a:r>
            <a:r>
              <a:rPr sz="1400" spc="-30" dirty="0">
                <a:latin typeface="Times New Roman"/>
                <a:cs typeface="Times New Roman"/>
              </a:rPr>
              <a:t> </a:t>
            </a:r>
            <a:r>
              <a:rPr sz="1400" spc="-25" dirty="0">
                <a:latin typeface="Times New Roman"/>
                <a:cs typeface="Times New Roman"/>
              </a:rPr>
              <a:t>be </a:t>
            </a:r>
            <a:r>
              <a:rPr sz="1400" dirty="0">
                <a:latin typeface="Times New Roman"/>
                <a:cs typeface="Times New Roman"/>
              </a:rPr>
              <a:t>read</a:t>
            </a:r>
            <a:r>
              <a:rPr sz="1400" spc="-30" dirty="0">
                <a:latin typeface="Times New Roman"/>
                <a:cs typeface="Times New Roman"/>
              </a:rPr>
              <a:t> </a:t>
            </a:r>
            <a:r>
              <a:rPr sz="1400" dirty="0">
                <a:latin typeface="Times New Roman"/>
                <a:cs typeface="Times New Roman"/>
              </a:rPr>
              <a:t>from</a:t>
            </a:r>
            <a:r>
              <a:rPr sz="1400" spc="-4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UPM</a:t>
            </a:r>
            <a:r>
              <a:rPr sz="1400" spc="-30" dirty="0">
                <a:latin typeface="Times New Roman"/>
                <a:cs typeface="Times New Roman"/>
              </a:rPr>
              <a:t> </a:t>
            </a:r>
            <a:r>
              <a:rPr sz="1400" dirty="0">
                <a:latin typeface="Times New Roman"/>
                <a:cs typeface="Times New Roman"/>
              </a:rPr>
              <a:t>Diagnostics</a:t>
            </a:r>
            <a:r>
              <a:rPr sz="1400" spc="-35" dirty="0">
                <a:latin typeface="Times New Roman"/>
                <a:cs typeface="Times New Roman"/>
              </a:rPr>
              <a:t> </a:t>
            </a:r>
            <a:r>
              <a:rPr sz="1400" dirty="0">
                <a:latin typeface="Times New Roman"/>
                <a:cs typeface="Times New Roman"/>
              </a:rPr>
              <a:t>by</a:t>
            </a:r>
            <a:r>
              <a:rPr sz="1400" spc="-30" dirty="0">
                <a:latin typeface="Times New Roman"/>
                <a:cs typeface="Times New Roman"/>
              </a:rPr>
              <a:t> </a:t>
            </a:r>
            <a:r>
              <a:rPr sz="1400" spc="-10" dirty="0">
                <a:latin typeface="Times New Roman"/>
                <a:cs typeface="Times New Roman"/>
              </a:rPr>
              <a:t>selecting </a:t>
            </a:r>
            <a:r>
              <a:rPr sz="1400" dirty="0">
                <a:latin typeface="Times New Roman"/>
                <a:cs typeface="Times New Roman"/>
              </a:rPr>
              <a:t>Analog</a:t>
            </a:r>
            <a:r>
              <a:rPr sz="1400" spc="-25" dirty="0">
                <a:latin typeface="Times New Roman"/>
                <a:cs typeface="Times New Roman"/>
              </a:rPr>
              <a:t> </a:t>
            </a:r>
            <a:r>
              <a:rPr sz="1400" dirty="0">
                <a:latin typeface="Times New Roman"/>
                <a:cs typeface="Times New Roman"/>
              </a:rPr>
              <a:t>Data.</a:t>
            </a:r>
            <a:r>
              <a:rPr sz="1400" spc="30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power</a:t>
            </a:r>
            <a:r>
              <a:rPr sz="1400" spc="-15" dirty="0">
                <a:latin typeface="Times New Roman"/>
                <a:cs typeface="Times New Roman"/>
              </a:rPr>
              <a:t> </a:t>
            </a:r>
            <a:r>
              <a:rPr sz="1400" dirty="0">
                <a:latin typeface="Times New Roman"/>
                <a:cs typeface="Times New Roman"/>
              </a:rPr>
              <a:t>supplies</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spc="-10" dirty="0">
                <a:latin typeface="Times New Roman"/>
                <a:cs typeface="Times New Roman"/>
              </a:rPr>
              <a:t>blower </a:t>
            </a:r>
            <a:r>
              <a:rPr sz="1400" dirty="0">
                <a:latin typeface="Times New Roman"/>
                <a:cs typeface="Times New Roman"/>
              </a:rPr>
              <a:t>assemblies</a:t>
            </a:r>
            <a:r>
              <a:rPr sz="1400" spc="-50" dirty="0">
                <a:latin typeface="Times New Roman"/>
                <a:cs typeface="Times New Roman"/>
              </a:rPr>
              <a:t> </a:t>
            </a:r>
            <a:r>
              <a:rPr sz="1400" dirty="0">
                <a:latin typeface="Times New Roman"/>
                <a:cs typeface="Times New Roman"/>
              </a:rPr>
              <a:t>include</a:t>
            </a:r>
            <a:r>
              <a:rPr sz="1400" spc="-55" dirty="0">
                <a:latin typeface="Times New Roman"/>
                <a:cs typeface="Times New Roman"/>
              </a:rPr>
              <a:t> </a:t>
            </a:r>
            <a:r>
              <a:rPr sz="1400" dirty="0">
                <a:latin typeface="Times New Roman"/>
                <a:cs typeface="Times New Roman"/>
              </a:rPr>
              <a:t>the</a:t>
            </a:r>
            <a:r>
              <a:rPr sz="1400" spc="-55" dirty="0">
                <a:latin typeface="Times New Roman"/>
                <a:cs typeface="Times New Roman"/>
              </a:rPr>
              <a:t> </a:t>
            </a:r>
            <a:r>
              <a:rPr sz="1400" dirty="0">
                <a:latin typeface="Times New Roman"/>
                <a:cs typeface="Times New Roman"/>
              </a:rPr>
              <a:t>Status</a:t>
            </a:r>
            <a:r>
              <a:rPr sz="1400" spc="-55" dirty="0">
                <a:latin typeface="Times New Roman"/>
                <a:cs typeface="Times New Roman"/>
              </a:rPr>
              <a:t> </a:t>
            </a:r>
            <a:r>
              <a:rPr sz="1400" dirty="0">
                <a:latin typeface="Times New Roman"/>
                <a:cs typeface="Times New Roman"/>
              </a:rPr>
              <a:t>LEDs</a:t>
            </a:r>
            <a:r>
              <a:rPr sz="1400" spc="-45" dirty="0">
                <a:latin typeface="Times New Roman"/>
                <a:cs typeface="Times New Roman"/>
              </a:rPr>
              <a:t> </a:t>
            </a:r>
            <a:r>
              <a:rPr sz="1400" spc="-10" dirty="0">
                <a:latin typeface="Times New Roman"/>
                <a:cs typeface="Times New Roman"/>
              </a:rPr>
              <a:t>within</a:t>
            </a:r>
            <a:r>
              <a:rPr sz="1400" spc="500" dirty="0">
                <a:latin typeface="Times New Roman"/>
                <a:cs typeface="Times New Roman"/>
              </a:rPr>
              <a:t> </a:t>
            </a:r>
            <a:r>
              <a:rPr sz="1400" dirty="0">
                <a:latin typeface="Times New Roman"/>
                <a:cs typeface="Times New Roman"/>
              </a:rPr>
              <a:t>their</a:t>
            </a:r>
            <a:r>
              <a:rPr sz="1400" spc="-5" dirty="0">
                <a:latin typeface="Times New Roman"/>
                <a:cs typeface="Times New Roman"/>
              </a:rPr>
              <a:t> </a:t>
            </a:r>
            <a:r>
              <a:rPr sz="1400" spc="-10" dirty="0">
                <a:latin typeface="Times New Roman"/>
                <a:cs typeface="Times New Roman"/>
              </a:rPr>
              <a:t>modules.</a:t>
            </a:r>
            <a:endParaRPr sz="1400">
              <a:latin typeface="Times New Roman"/>
              <a:cs typeface="Times New Roman"/>
            </a:endParaRPr>
          </a:p>
          <a:p>
            <a:pPr marL="12700" marR="195580">
              <a:lnSpc>
                <a:spcPct val="100000"/>
              </a:lnSpc>
              <a:spcBef>
                <a:spcPts val="795"/>
              </a:spcBef>
            </a:pPr>
            <a:r>
              <a:rPr sz="1400" b="1" dirty="0">
                <a:latin typeface="Times New Roman"/>
                <a:cs typeface="Times New Roman"/>
              </a:rPr>
              <a:t>Bridge</a:t>
            </a:r>
            <a:r>
              <a:rPr sz="1400" b="1" spc="-30" dirty="0">
                <a:latin typeface="Times New Roman"/>
                <a:cs typeface="Times New Roman"/>
              </a:rPr>
              <a:t> </a:t>
            </a:r>
            <a:r>
              <a:rPr sz="1400" b="1" dirty="0">
                <a:latin typeface="Times New Roman"/>
                <a:cs typeface="Times New Roman"/>
              </a:rPr>
              <a:t>Board</a:t>
            </a:r>
            <a:r>
              <a:rPr sz="1400" b="1" spc="-3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dirty="0">
                <a:latin typeface="Times New Roman"/>
                <a:cs typeface="Times New Roman"/>
              </a:rPr>
              <a:t>Mounted</a:t>
            </a:r>
            <a:r>
              <a:rPr sz="1400" spc="290" dirty="0">
                <a:latin typeface="Times New Roman"/>
                <a:cs typeface="Times New Roman"/>
              </a:rPr>
              <a:t> </a:t>
            </a:r>
            <a:r>
              <a:rPr sz="1400" dirty="0">
                <a:latin typeface="Times New Roman"/>
                <a:cs typeface="Times New Roman"/>
              </a:rPr>
              <a:t>in</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front</a:t>
            </a:r>
            <a:r>
              <a:rPr sz="1400" spc="-35" dirty="0">
                <a:latin typeface="Times New Roman"/>
                <a:cs typeface="Times New Roman"/>
              </a:rPr>
              <a:t> </a:t>
            </a:r>
            <a:r>
              <a:rPr sz="1400" spc="-10" dirty="0">
                <a:latin typeface="Times New Roman"/>
                <a:cs typeface="Times New Roman"/>
              </a:rPr>
              <a:t>rather </a:t>
            </a:r>
            <a:r>
              <a:rPr sz="1400" dirty="0">
                <a:latin typeface="Times New Roman"/>
                <a:cs typeface="Times New Roman"/>
              </a:rPr>
              <a:t>than</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rear</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spc="-10" dirty="0">
                <a:latin typeface="Times New Roman"/>
                <a:cs typeface="Times New Roman"/>
              </a:rPr>
              <a:t>chassis.</a:t>
            </a:r>
            <a:endParaRPr sz="1400">
              <a:latin typeface="Times New Roman"/>
              <a:cs typeface="Times New Roman"/>
            </a:endParaRPr>
          </a:p>
        </p:txBody>
      </p:sp>
      <p:sp>
        <p:nvSpPr>
          <p:cNvPr id="14" name="object 14"/>
          <p:cNvSpPr txBox="1"/>
          <p:nvPr/>
        </p:nvSpPr>
        <p:spPr>
          <a:xfrm>
            <a:off x="5610357" y="4959569"/>
            <a:ext cx="2934970"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Card</a:t>
            </a:r>
            <a:r>
              <a:rPr sz="1400" b="1" spc="-30" dirty="0">
                <a:latin typeface="Times New Roman"/>
                <a:cs typeface="Times New Roman"/>
              </a:rPr>
              <a:t> </a:t>
            </a:r>
            <a:r>
              <a:rPr sz="1400" b="1" dirty="0">
                <a:latin typeface="Times New Roman"/>
                <a:cs typeface="Times New Roman"/>
              </a:rPr>
              <a:t>Slots</a:t>
            </a:r>
            <a:r>
              <a:rPr sz="1400" b="1" spc="-25"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dirty="0">
                <a:latin typeface="Times New Roman"/>
                <a:cs typeface="Times New Roman"/>
              </a:rPr>
              <a:t>New</a:t>
            </a:r>
            <a:r>
              <a:rPr sz="1400" spc="-25" dirty="0">
                <a:latin typeface="Times New Roman"/>
                <a:cs typeface="Times New Roman"/>
              </a:rPr>
              <a:t> </a:t>
            </a:r>
            <a:r>
              <a:rPr sz="1400" dirty="0">
                <a:latin typeface="Times New Roman"/>
                <a:cs typeface="Times New Roman"/>
              </a:rPr>
              <a:t>card</a:t>
            </a:r>
            <a:r>
              <a:rPr sz="1400" spc="-30" dirty="0">
                <a:latin typeface="Times New Roman"/>
                <a:cs typeface="Times New Roman"/>
              </a:rPr>
              <a:t> </a:t>
            </a:r>
            <a:r>
              <a:rPr sz="1400" dirty="0">
                <a:latin typeface="Times New Roman"/>
                <a:cs typeface="Times New Roman"/>
              </a:rPr>
              <a:t>slot</a:t>
            </a:r>
            <a:r>
              <a:rPr sz="1400" spc="-30" dirty="0">
                <a:latin typeface="Times New Roman"/>
                <a:cs typeface="Times New Roman"/>
              </a:rPr>
              <a:t> </a:t>
            </a:r>
            <a:r>
              <a:rPr sz="1400" dirty="0">
                <a:latin typeface="Times New Roman"/>
                <a:cs typeface="Times New Roman"/>
              </a:rPr>
              <a:t>locations</a:t>
            </a:r>
            <a:r>
              <a:rPr sz="1400" spc="-25" dirty="0">
                <a:latin typeface="Times New Roman"/>
                <a:cs typeface="Times New Roman"/>
              </a:rPr>
              <a:t> for</a:t>
            </a:r>
            <a:endParaRPr sz="1400">
              <a:latin typeface="Times New Roman"/>
              <a:cs typeface="Times New Roman"/>
            </a:endParaRPr>
          </a:p>
        </p:txBody>
      </p:sp>
      <p:sp>
        <p:nvSpPr>
          <p:cNvPr id="15" name="object 15"/>
          <p:cNvSpPr txBox="1"/>
          <p:nvPr/>
        </p:nvSpPr>
        <p:spPr>
          <a:xfrm>
            <a:off x="5610358" y="5172163"/>
            <a:ext cx="3342004" cy="452120"/>
          </a:xfrm>
          <a:prstGeom prst="rect">
            <a:avLst/>
          </a:prstGeom>
        </p:spPr>
        <p:txBody>
          <a:bodyPr vert="horz" wrap="square" lIns="0" tIns="12065" rIns="0" bIns="0" rtlCol="0">
            <a:spAutoFit/>
          </a:bodyPr>
          <a:lstStyle/>
          <a:p>
            <a:pPr marL="12700" marR="5080">
              <a:lnSpc>
                <a:spcPct val="100000"/>
              </a:lnSpc>
              <a:spcBef>
                <a:spcPts val="95"/>
              </a:spcBef>
            </a:pPr>
            <a:r>
              <a:rPr sz="1400" dirty="0">
                <a:latin typeface="Times New Roman"/>
                <a:cs typeface="Times New Roman"/>
              </a:rPr>
              <a:t>boards</a:t>
            </a:r>
            <a:r>
              <a:rPr sz="1400" spc="-25" dirty="0">
                <a:latin typeface="Times New Roman"/>
                <a:cs typeface="Times New Roman"/>
              </a:rPr>
              <a:t> </a:t>
            </a:r>
            <a:r>
              <a:rPr sz="1400" dirty="0">
                <a:latin typeface="Times New Roman"/>
                <a:cs typeface="Times New Roman"/>
              </a:rPr>
              <a:t>plus</a:t>
            </a:r>
            <a:r>
              <a:rPr sz="1400" spc="-20" dirty="0">
                <a:latin typeface="Times New Roman"/>
                <a:cs typeface="Times New Roman"/>
              </a:rPr>
              <a:t> </a:t>
            </a:r>
            <a:r>
              <a:rPr sz="1400" dirty="0">
                <a:latin typeface="Times New Roman"/>
                <a:cs typeface="Times New Roman"/>
              </a:rPr>
              <a:t>additional</a:t>
            </a:r>
            <a:r>
              <a:rPr sz="1400" spc="-20" dirty="0">
                <a:latin typeface="Times New Roman"/>
                <a:cs typeface="Times New Roman"/>
              </a:rPr>
              <a:t> </a:t>
            </a:r>
            <a:r>
              <a:rPr sz="1400" dirty="0">
                <a:latin typeface="Times New Roman"/>
                <a:cs typeface="Times New Roman"/>
              </a:rPr>
              <a:t>slots</a:t>
            </a:r>
            <a:r>
              <a:rPr sz="1400" spc="-25" dirty="0">
                <a:latin typeface="Times New Roman"/>
                <a:cs typeface="Times New Roman"/>
              </a:rPr>
              <a:t> </a:t>
            </a:r>
            <a:r>
              <a:rPr sz="1400" dirty="0">
                <a:latin typeface="Times New Roman"/>
                <a:cs typeface="Times New Roman"/>
              </a:rPr>
              <a:t>added</a:t>
            </a:r>
            <a:r>
              <a:rPr sz="1400" spc="-25" dirty="0">
                <a:latin typeface="Times New Roman"/>
                <a:cs typeface="Times New Roman"/>
              </a:rPr>
              <a:t> </a:t>
            </a:r>
            <a:r>
              <a:rPr sz="1400" dirty="0">
                <a:latin typeface="Times New Roman"/>
                <a:cs typeface="Times New Roman"/>
              </a:rPr>
              <a:t>for</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ASC </a:t>
            </a:r>
            <a:r>
              <a:rPr sz="1400" spc="-10" dirty="0">
                <a:latin typeface="Times New Roman"/>
                <a:cs typeface="Times New Roman"/>
              </a:rPr>
              <a:t>functionality.</a:t>
            </a:r>
            <a:endParaRPr sz="1400">
              <a:latin typeface="Times New Roman"/>
              <a:cs typeface="Times New Roman"/>
            </a:endParaRPr>
          </a:p>
        </p:txBody>
      </p:sp>
      <p:grpSp>
        <p:nvGrpSpPr>
          <p:cNvPr id="16" name="object 16"/>
          <p:cNvGrpSpPr/>
          <p:nvPr/>
        </p:nvGrpSpPr>
        <p:grpSpPr>
          <a:xfrm>
            <a:off x="539369" y="4395851"/>
            <a:ext cx="4761230" cy="431800"/>
            <a:chOff x="539369" y="4395851"/>
            <a:chExt cx="4761230" cy="431800"/>
          </a:xfrm>
        </p:grpSpPr>
        <p:sp>
          <p:nvSpPr>
            <p:cNvPr id="17" name="object 17"/>
            <p:cNvSpPr/>
            <p:nvPr/>
          </p:nvSpPr>
          <p:spPr>
            <a:xfrm>
              <a:off x="570992" y="4444238"/>
              <a:ext cx="2371090" cy="351790"/>
            </a:xfrm>
            <a:custGeom>
              <a:avLst/>
              <a:gdLst/>
              <a:ahLst/>
              <a:cxnLst/>
              <a:rect l="l" t="t" r="r" b="b"/>
              <a:pathLst>
                <a:path w="2371090" h="351789">
                  <a:moveTo>
                    <a:pt x="2370581" y="17525"/>
                  </a:moveTo>
                  <a:lnTo>
                    <a:pt x="2363152" y="62974"/>
                  </a:lnTo>
                  <a:lnTo>
                    <a:pt x="2342896" y="103744"/>
                  </a:lnTo>
                  <a:lnTo>
                    <a:pt x="2311717" y="138207"/>
                  </a:lnTo>
                  <a:lnTo>
                    <a:pt x="2271522" y="164733"/>
                  </a:lnTo>
                  <a:lnTo>
                    <a:pt x="2224214" y="181691"/>
                  </a:lnTo>
                  <a:lnTo>
                    <a:pt x="2171700" y="187451"/>
                  </a:lnTo>
                  <a:lnTo>
                    <a:pt x="1381506" y="181356"/>
                  </a:lnTo>
                  <a:lnTo>
                    <a:pt x="1328991" y="187116"/>
                  </a:lnTo>
                  <a:lnTo>
                    <a:pt x="1281684" y="204074"/>
                  </a:lnTo>
                  <a:lnTo>
                    <a:pt x="1241488" y="230600"/>
                  </a:lnTo>
                  <a:lnTo>
                    <a:pt x="1210310" y="265063"/>
                  </a:lnTo>
                  <a:lnTo>
                    <a:pt x="1190053" y="305833"/>
                  </a:lnTo>
                  <a:lnTo>
                    <a:pt x="1182624" y="351282"/>
                  </a:lnTo>
                  <a:lnTo>
                    <a:pt x="1175949" y="305766"/>
                  </a:lnTo>
                  <a:lnTo>
                    <a:pt x="1156405" y="264780"/>
                  </a:lnTo>
                  <a:lnTo>
                    <a:pt x="1125855" y="229933"/>
                  </a:lnTo>
                  <a:lnTo>
                    <a:pt x="1086160" y="202833"/>
                  </a:lnTo>
                  <a:lnTo>
                    <a:pt x="1039184" y="185088"/>
                  </a:lnTo>
                  <a:lnTo>
                    <a:pt x="986790" y="178308"/>
                  </a:lnTo>
                  <a:lnTo>
                    <a:pt x="196596" y="172974"/>
                  </a:lnTo>
                  <a:lnTo>
                    <a:pt x="144145" y="166458"/>
                  </a:lnTo>
                  <a:lnTo>
                    <a:pt x="97028" y="148787"/>
                  </a:lnTo>
                  <a:lnTo>
                    <a:pt x="57150" y="121634"/>
                  </a:lnTo>
                  <a:lnTo>
                    <a:pt x="26416" y="86670"/>
                  </a:lnTo>
                  <a:lnTo>
                    <a:pt x="6731" y="45568"/>
                  </a:lnTo>
                  <a:lnTo>
                    <a:pt x="0" y="0"/>
                  </a:lnTo>
                </a:path>
              </a:pathLst>
            </a:custGeom>
            <a:ln w="63246">
              <a:solidFill>
                <a:srgbClr val="FFFFFF"/>
              </a:solidFill>
            </a:ln>
          </p:spPr>
          <p:txBody>
            <a:bodyPr wrap="square" lIns="0" tIns="0" rIns="0" bIns="0" rtlCol="0"/>
            <a:lstStyle/>
            <a:p>
              <a:endParaRPr/>
            </a:p>
          </p:txBody>
        </p:sp>
        <p:sp>
          <p:nvSpPr>
            <p:cNvPr id="18" name="object 18"/>
            <p:cNvSpPr/>
            <p:nvPr/>
          </p:nvSpPr>
          <p:spPr>
            <a:xfrm>
              <a:off x="564896" y="4435856"/>
              <a:ext cx="2369820" cy="352425"/>
            </a:xfrm>
            <a:custGeom>
              <a:avLst/>
              <a:gdLst/>
              <a:ahLst/>
              <a:cxnLst/>
              <a:rect l="l" t="t" r="r" b="b"/>
              <a:pathLst>
                <a:path w="2369820" h="352425">
                  <a:moveTo>
                    <a:pt x="2369819" y="18288"/>
                  </a:moveTo>
                  <a:lnTo>
                    <a:pt x="2362443" y="63736"/>
                  </a:lnTo>
                  <a:lnTo>
                    <a:pt x="2342303" y="104506"/>
                  </a:lnTo>
                  <a:lnTo>
                    <a:pt x="2311241" y="138969"/>
                  </a:lnTo>
                  <a:lnTo>
                    <a:pt x="2271098" y="165495"/>
                  </a:lnTo>
                  <a:lnTo>
                    <a:pt x="2223717" y="182453"/>
                  </a:lnTo>
                  <a:lnTo>
                    <a:pt x="2170938" y="188214"/>
                  </a:lnTo>
                  <a:lnTo>
                    <a:pt x="1381505" y="182118"/>
                  </a:lnTo>
                  <a:lnTo>
                    <a:pt x="1328991" y="187878"/>
                  </a:lnTo>
                  <a:lnTo>
                    <a:pt x="1281684" y="204836"/>
                  </a:lnTo>
                  <a:lnTo>
                    <a:pt x="1241488" y="231362"/>
                  </a:lnTo>
                  <a:lnTo>
                    <a:pt x="1210310" y="265825"/>
                  </a:lnTo>
                  <a:lnTo>
                    <a:pt x="1190053" y="306595"/>
                  </a:lnTo>
                  <a:lnTo>
                    <a:pt x="1182623" y="352044"/>
                  </a:lnTo>
                  <a:lnTo>
                    <a:pt x="1175892" y="306475"/>
                  </a:lnTo>
                  <a:lnTo>
                    <a:pt x="1156207" y="265373"/>
                  </a:lnTo>
                  <a:lnTo>
                    <a:pt x="1125473" y="230409"/>
                  </a:lnTo>
                  <a:lnTo>
                    <a:pt x="1085596" y="203256"/>
                  </a:lnTo>
                  <a:lnTo>
                    <a:pt x="1038479" y="185585"/>
                  </a:lnTo>
                  <a:lnTo>
                    <a:pt x="986028" y="179070"/>
                  </a:lnTo>
                  <a:lnTo>
                    <a:pt x="195834" y="172974"/>
                  </a:lnTo>
                  <a:lnTo>
                    <a:pt x="143439" y="166511"/>
                  </a:lnTo>
                  <a:lnTo>
                    <a:pt x="96463" y="148956"/>
                  </a:lnTo>
                  <a:lnTo>
                    <a:pt x="56768" y="121920"/>
                  </a:lnTo>
                  <a:lnTo>
                    <a:pt x="26218" y="87009"/>
                  </a:lnTo>
                  <a:lnTo>
                    <a:pt x="6674" y="45832"/>
                  </a:lnTo>
                  <a:lnTo>
                    <a:pt x="0" y="0"/>
                  </a:lnTo>
                </a:path>
              </a:pathLst>
            </a:custGeom>
            <a:ln w="32004">
              <a:solidFill>
                <a:srgbClr val="000000"/>
              </a:solidFill>
            </a:ln>
          </p:spPr>
          <p:txBody>
            <a:bodyPr wrap="square" lIns="0" tIns="0" rIns="0" bIns="0" rtlCol="0"/>
            <a:lstStyle/>
            <a:p>
              <a:endParaRPr/>
            </a:p>
          </p:txBody>
        </p:sp>
        <p:sp>
          <p:nvSpPr>
            <p:cNvPr id="19" name="object 19"/>
            <p:cNvSpPr/>
            <p:nvPr/>
          </p:nvSpPr>
          <p:spPr>
            <a:xfrm>
              <a:off x="3014726" y="4427474"/>
              <a:ext cx="894715" cy="346075"/>
            </a:xfrm>
            <a:custGeom>
              <a:avLst/>
              <a:gdLst/>
              <a:ahLst/>
              <a:cxnLst/>
              <a:rect l="l" t="t" r="r" b="b"/>
              <a:pathLst>
                <a:path w="894714" h="346075">
                  <a:moveTo>
                    <a:pt x="894588" y="6858"/>
                  </a:moveTo>
                  <a:lnTo>
                    <a:pt x="888587" y="73390"/>
                  </a:lnTo>
                  <a:lnTo>
                    <a:pt x="872299" y="127635"/>
                  </a:lnTo>
                  <a:lnTo>
                    <a:pt x="848296" y="164163"/>
                  </a:lnTo>
                  <a:lnTo>
                    <a:pt x="819150" y="177546"/>
                  </a:lnTo>
                  <a:lnTo>
                    <a:pt x="520446" y="175260"/>
                  </a:lnTo>
                  <a:lnTo>
                    <a:pt x="491406" y="188642"/>
                  </a:lnTo>
                  <a:lnTo>
                    <a:pt x="467582" y="225171"/>
                  </a:lnTo>
                  <a:lnTo>
                    <a:pt x="451330" y="279415"/>
                  </a:lnTo>
                  <a:lnTo>
                    <a:pt x="445008" y="345948"/>
                  </a:lnTo>
                  <a:lnTo>
                    <a:pt x="439566" y="279296"/>
                  </a:lnTo>
                  <a:lnTo>
                    <a:pt x="423767" y="224789"/>
                  </a:lnTo>
                  <a:lnTo>
                    <a:pt x="400109" y="187999"/>
                  </a:lnTo>
                  <a:lnTo>
                    <a:pt x="371094" y="174498"/>
                  </a:lnTo>
                  <a:lnTo>
                    <a:pt x="73151" y="172212"/>
                  </a:lnTo>
                  <a:lnTo>
                    <a:pt x="44255" y="158269"/>
                  </a:lnTo>
                  <a:lnTo>
                    <a:pt x="20859" y="121253"/>
                  </a:lnTo>
                  <a:lnTo>
                    <a:pt x="5322" y="66663"/>
                  </a:lnTo>
                  <a:lnTo>
                    <a:pt x="0" y="0"/>
                  </a:lnTo>
                </a:path>
              </a:pathLst>
            </a:custGeom>
            <a:ln w="63246">
              <a:solidFill>
                <a:srgbClr val="FFFFFF"/>
              </a:solidFill>
            </a:ln>
          </p:spPr>
          <p:txBody>
            <a:bodyPr wrap="square" lIns="0" tIns="0" rIns="0" bIns="0" rtlCol="0"/>
            <a:lstStyle/>
            <a:p>
              <a:endParaRPr/>
            </a:p>
          </p:txBody>
        </p:sp>
        <p:sp>
          <p:nvSpPr>
            <p:cNvPr id="20" name="object 20"/>
            <p:cNvSpPr/>
            <p:nvPr/>
          </p:nvSpPr>
          <p:spPr>
            <a:xfrm>
              <a:off x="3012439" y="4419092"/>
              <a:ext cx="895350" cy="346710"/>
            </a:xfrm>
            <a:custGeom>
              <a:avLst/>
              <a:gdLst/>
              <a:ahLst/>
              <a:cxnLst/>
              <a:rect l="l" t="t" r="r" b="b"/>
              <a:pathLst>
                <a:path w="895350" h="346710">
                  <a:moveTo>
                    <a:pt x="895350" y="6858"/>
                  </a:moveTo>
                  <a:lnTo>
                    <a:pt x="889027" y="73497"/>
                  </a:lnTo>
                  <a:lnTo>
                    <a:pt x="872775" y="127920"/>
                  </a:lnTo>
                  <a:lnTo>
                    <a:pt x="848951" y="164484"/>
                  </a:lnTo>
                  <a:lnTo>
                    <a:pt x="819912" y="177546"/>
                  </a:lnTo>
                  <a:lnTo>
                    <a:pt x="521208" y="176022"/>
                  </a:lnTo>
                  <a:lnTo>
                    <a:pt x="492168" y="189083"/>
                  </a:lnTo>
                  <a:lnTo>
                    <a:pt x="468344" y="225647"/>
                  </a:lnTo>
                  <a:lnTo>
                    <a:pt x="452092" y="280070"/>
                  </a:lnTo>
                  <a:lnTo>
                    <a:pt x="445770" y="346710"/>
                  </a:lnTo>
                  <a:lnTo>
                    <a:pt x="440328" y="280046"/>
                  </a:lnTo>
                  <a:lnTo>
                    <a:pt x="424529" y="225456"/>
                  </a:lnTo>
                  <a:lnTo>
                    <a:pt x="400871" y="188440"/>
                  </a:lnTo>
                  <a:lnTo>
                    <a:pt x="371856" y="174498"/>
                  </a:lnTo>
                  <a:lnTo>
                    <a:pt x="73913" y="172212"/>
                  </a:lnTo>
                  <a:lnTo>
                    <a:pt x="45005" y="158698"/>
                  </a:lnTo>
                  <a:lnTo>
                    <a:pt x="21526" y="121824"/>
                  </a:lnTo>
                  <a:lnTo>
                    <a:pt x="5762" y="67091"/>
                  </a:lnTo>
                  <a:lnTo>
                    <a:pt x="0" y="0"/>
                  </a:lnTo>
                </a:path>
              </a:pathLst>
            </a:custGeom>
            <a:ln w="32004">
              <a:solidFill>
                <a:srgbClr val="000000"/>
              </a:solidFill>
            </a:ln>
          </p:spPr>
          <p:txBody>
            <a:bodyPr wrap="square" lIns="0" tIns="0" rIns="0" bIns="0" rtlCol="0"/>
            <a:lstStyle/>
            <a:p>
              <a:endParaRPr/>
            </a:p>
          </p:txBody>
        </p:sp>
        <p:sp>
          <p:nvSpPr>
            <p:cNvPr id="21" name="object 21"/>
            <p:cNvSpPr/>
            <p:nvPr/>
          </p:nvSpPr>
          <p:spPr>
            <a:xfrm>
              <a:off x="4098290" y="4432808"/>
              <a:ext cx="1170940" cy="347980"/>
            </a:xfrm>
            <a:custGeom>
              <a:avLst/>
              <a:gdLst/>
              <a:ahLst/>
              <a:cxnLst/>
              <a:rect l="l" t="t" r="r" b="b"/>
              <a:pathLst>
                <a:path w="1170939" h="347979">
                  <a:moveTo>
                    <a:pt x="1170432" y="8381"/>
                  </a:moveTo>
                  <a:lnTo>
                    <a:pt x="1165030" y="62782"/>
                  </a:lnTo>
                  <a:lnTo>
                    <a:pt x="1150815" y="109831"/>
                  </a:lnTo>
                  <a:lnTo>
                    <a:pt x="1129393" y="146749"/>
                  </a:lnTo>
                  <a:lnTo>
                    <a:pt x="1071372" y="179069"/>
                  </a:lnTo>
                  <a:lnTo>
                    <a:pt x="681227" y="176783"/>
                  </a:lnTo>
                  <a:lnTo>
                    <a:pt x="650595" y="185098"/>
                  </a:lnTo>
                  <a:lnTo>
                    <a:pt x="623803" y="209104"/>
                  </a:lnTo>
                  <a:lnTo>
                    <a:pt x="602498" y="246022"/>
                  </a:lnTo>
                  <a:lnTo>
                    <a:pt x="588324" y="293071"/>
                  </a:lnTo>
                  <a:lnTo>
                    <a:pt x="582930" y="347471"/>
                  </a:lnTo>
                  <a:lnTo>
                    <a:pt x="578358" y="292985"/>
                  </a:lnTo>
                  <a:lnTo>
                    <a:pt x="564824" y="245705"/>
                  </a:lnTo>
                  <a:lnTo>
                    <a:pt x="543976" y="208446"/>
                  </a:lnTo>
                  <a:lnTo>
                    <a:pt x="486918" y="175259"/>
                  </a:lnTo>
                  <a:lnTo>
                    <a:pt x="96774" y="172212"/>
                  </a:lnTo>
                  <a:lnTo>
                    <a:pt x="65934" y="163080"/>
                  </a:lnTo>
                  <a:lnTo>
                    <a:pt x="39337" y="138476"/>
                  </a:lnTo>
                  <a:lnTo>
                    <a:pt x="18483" y="101217"/>
                  </a:lnTo>
                  <a:lnTo>
                    <a:pt x="4870" y="54120"/>
                  </a:lnTo>
                  <a:lnTo>
                    <a:pt x="0" y="0"/>
                  </a:lnTo>
                </a:path>
              </a:pathLst>
            </a:custGeom>
            <a:ln w="63246">
              <a:solidFill>
                <a:srgbClr val="FFFFFF"/>
              </a:solidFill>
            </a:ln>
          </p:spPr>
          <p:txBody>
            <a:bodyPr wrap="square" lIns="0" tIns="0" rIns="0" bIns="0" rtlCol="0"/>
            <a:lstStyle/>
            <a:p>
              <a:endParaRPr/>
            </a:p>
          </p:txBody>
        </p:sp>
        <p:sp>
          <p:nvSpPr>
            <p:cNvPr id="22" name="object 22"/>
            <p:cNvSpPr/>
            <p:nvPr/>
          </p:nvSpPr>
          <p:spPr>
            <a:xfrm>
              <a:off x="4095241" y="4424426"/>
              <a:ext cx="1170940" cy="347980"/>
            </a:xfrm>
            <a:custGeom>
              <a:avLst/>
              <a:gdLst/>
              <a:ahLst/>
              <a:cxnLst/>
              <a:rect l="l" t="t" r="r" b="b"/>
              <a:pathLst>
                <a:path w="1170939" h="347979">
                  <a:moveTo>
                    <a:pt x="1170432" y="9144"/>
                  </a:moveTo>
                  <a:lnTo>
                    <a:pt x="1165030" y="63178"/>
                  </a:lnTo>
                  <a:lnTo>
                    <a:pt x="1150815" y="110044"/>
                  </a:lnTo>
                  <a:lnTo>
                    <a:pt x="1129393" y="146962"/>
                  </a:lnTo>
                  <a:lnTo>
                    <a:pt x="1071372" y="179832"/>
                  </a:lnTo>
                  <a:lnTo>
                    <a:pt x="681228" y="176784"/>
                  </a:lnTo>
                  <a:lnTo>
                    <a:pt x="650595" y="185464"/>
                  </a:lnTo>
                  <a:lnTo>
                    <a:pt x="623803" y="209653"/>
                  </a:lnTo>
                  <a:lnTo>
                    <a:pt x="602498" y="246571"/>
                  </a:lnTo>
                  <a:lnTo>
                    <a:pt x="588324" y="293437"/>
                  </a:lnTo>
                  <a:lnTo>
                    <a:pt x="582930" y="347472"/>
                  </a:lnTo>
                  <a:lnTo>
                    <a:pt x="578351" y="293351"/>
                  </a:lnTo>
                  <a:lnTo>
                    <a:pt x="564776" y="246254"/>
                  </a:lnTo>
                  <a:lnTo>
                    <a:pt x="543811" y="208995"/>
                  </a:lnTo>
                  <a:lnTo>
                    <a:pt x="486156" y="175260"/>
                  </a:lnTo>
                  <a:lnTo>
                    <a:pt x="96774" y="172212"/>
                  </a:lnTo>
                  <a:lnTo>
                    <a:pt x="65861" y="163445"/>
                  </a:lnTo>
                  <a:lnTo>
                    <a:pt x="39118" y="139025"/>
                  </a:lnTo>
                  <a:lnTo>
                    <a:pt x="18153" y="101766"/>
                  </a:lnTo>
                  <a:lnTo>
                    <a:pt x="4578" y="54486"/>
                  </a:lnTo>
                  <a:lnTo>
                    <a:pt x="0" y="0"/>
                  </a:lnTo>
                </a:path>
              </a:pathLst>
            </a:custGeom>
            <a:ln w="32004">
              <a:solidFill>
                <a:srgbClr val="000000"/>
              </a:solidFill>
            </a:ln>
          </p:spPr>
          <p:txBody>
            <a:bodyPr wrap="square" lIns="0" tIns="0" rIns="0" bIns="0" rtlCol="0"/>
            <a:lstStyle/>
            <a:p>
              <a:endParaRPr/>
            </a:p>
          </p:txBody>
        </p:sp>
      </p:grpSp>
      <p:sp>
        <p:nvSpPr>
          <p:cNvPr id="23" name="object 23"/>
          <p:cNvSpPr/>
          <p:nvPr/>
        </p:nvSpPr>
        <p:spPr>
          <a:xfrm>
            <a:off x="7646923" y="0"/>
            <a:ext cx="1471930" cy="271780"/>
          </a:xfrm>
          <a:custGeom>
            <a:avLst/>
            <a:gdLst/>
            <a:ahLst/>
            <a:cxnLst/>
            <a:rect l="l" t="t" r="r" b="b"/>
            <a:pathLst>
              <a:path w="1471929" h="271780">
                <a:moveTo>
                  <a:pt x="0" y="0"/>
                </a:moveTo>
                <a:lnTo>
                  <a:pt x="0" y="271525"/>
                </a:lnTo>
                <a:lnTo>
                  <a:pt x="1471676" y="271525"/>
                </a:lnTo>
              </a:path>
            </a:pathLst>
          </a:custGeom>
          <a:ln w="9144">
            <a:solidFill>
              <a:srgbClr val="000000"/>
            </a:solidFill>
          </a:ln>
        </p:spPr>
        <p:txBody>
          <a:bodyPr wrap="square" lIns="0" tIns="0" rIns="0" bIns="0" rtlCol="0"/>
          <a:lstStyle/>
          <a:p>
            <a:endParaRPr/>
          </a:p>
        </p:txBody>
      </p:sp>
      <p:sp>
        <p:nvSpPr>
          <p:cNvPr id="24" name="object 24"/>
          <p:cNvSpPr txBox="1"/>
          <p:nvPr/>
        </p:nvSpPr>
        <p:spPr>
          <a:xfrm>
            <a:off x="817753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91704" y="0"/>
            <a:ext cx="1327150" cy="271780"/>
          </a:xfrm>
          <a:custGeom>
            <a:avLst/>
            <a:gdLst/>
            <a:ahLst/>
            <a:cxnLst/>
            <a:rect l="l" t="t" r="r" b="b"/>
            <a:pathLst>
              <a:path w="1327150" h="271780">
                <a:moveTo>
                  <a:pt x="0" y="0"/>
                </a:moveTo>
                <a:lnTo>
                  <a:pt x="0" y="271525"/>
                </a:lnTo>
                <a:lnTo>
                  <a:pt x="1326896" y="271525"/>
                </a:lnTo>
              </a:path>
            </a:pathLst>
          </a:custGeom>
          <a:ln w="9144">
            <a:solidFill>
              <a:srgbClr val="000000"/>
            </a:solidFill>
          </a:ln>
        </p:spPr>
        <p:txBody>
          <a:bodyPr wrap="square" lIns="0" tIns="0" rIns="0" bIns="0" rtlCol="0"/>
          <a:lstStyle/>
          <a:p>
            <a:endParaRPr/>
          </a:p>
        </p:txBody>
      </p:sp>
      <p:sp>
        <p:nvSpPr>
          <p:cNvPr id="3" name="object 3"/>
          <p:cNvSpPr txBox="1"/>
          <p:nvPr/>
        </p:nvSpPr>
        <p:spPr>
          <a:xfrm>
            <a:off x="8249919"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
        <p:nvSpPr>
          <p:cNvPr id="4" name="object 4"/>
          <p:cNvSpPr txBox="1">
            <a:spLocks noGrp="1"/>
          </p:cNvSpPr>
          <p:nvPr>
            <p:ph type="title"/>
          </p:nvPr>
        </p:nvSpPr>
        <p:spPr>
          <a:xfrm>
            <a:off x="1448053" y="87122"/>
            <a:ext cx="6261100" cy="407034"/>
          </a:xfrm>
          <a:prstGeom prst="rect">
            <a:avLst/>
          </a:prstGeom>
          <a:ln w="9144">
            <a:solidFill>
              <a:srgbClr val="000000"/>
            </a:solidFill>
          </a:ln>
        </p:spPr>
        <p:txBody>
          <a:bodyPr vert="horz" wrap="square" lIns="0" tIns="41275" rIns="0" bIns="0" rtlCol="0">
            <a:spAutoFit/>
          </a:bodyPr>
          <a:lstStyle/>
          <a:p>
            <a:pPr marL="542925">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30" dirty="0">
                <a:latin typeface="Times New Roman"/>
                <a:cs typeface="Times New Roman"/>
              </a:rPr>
              <a:t> </a:t>
            </a:r>
            <a:r>
              <a:rPr sz="2000" b="1" dirty="0">
                <a:latin typeface="Times New Roman"/>
                <a:cs typeface="Times New Roman"/>
              </a:rPr>
              <a:t>–</a:t>
            </a:r>
            <a:r>
              <a:rPr sz="2000" b="1" spc="-30" dirty="0">
                <a:latin typeface="Times New Roman"/>
                <a:cs typeface="Times New Roman"/>
              </a:rPr>
              <a:t> </a:t>
            </a:r>
            <a:r>
              <a:rPr sz="2000" b="1" dirty="0">
                <a:latin typeface="Times New Roman"/>
                <a:cs typeface="Times New Roman"/>
              </a:rPr>
              <a:t>CAM</a:t>
            </a:r>
            <a:r>
              <a:rPr sz="2000" b="1" spc="-35" dirty="0">
                <a:latin typeface="Times New Roman"/>
                <a:cs typeface="Times New Roman"/>
              </a:rPr>
              <a:t> </a:t>
            </a:r>
            <a:r>
              <a:rPr sz="2000" b="1" dirty="0">
                <a:latin typeface="Times New Roman"/>
                <a:cs typeface="Times New Roman"/>
              </a:rPr>
              <a:t>Chassis</a:t>
            </a:r>
            <a:r>
              <a:rPr sz="2000" b="1" spc="-30" dirty="0">
                <a:latin typeface="Times New Roman"/>
                <a:cs typeface="Times New Roman"/>
              </a:rPr>
              <a:t> </a:t>
            </a:r>
            <a:r>
              <a:rPr sz="2000" b="1" dirty="0">
                <a:latin typeface="Times New Roman"/>
                <a:cs typeface="Times New Roman"/>
              </a:rPr>
              <a:t>Slot</a:t>
            </a:r>
            <a:r>
              <a:rPr sz="2000" b="1" spc="-30" dirty="0">
                <a:latin typeface="Times New Roman"/>
                <a:cs typeface="Times New Roman"/>
              </a:rPr>
              <a:t> </a:t>
            </a:r>
            <a:r>
              <a:rPr sz="2000" b="1" spc="-10" dirty="0">
                <a:latin typeface="Times New Roman"/>
                <a:cs typeface="Times New Roman"/>
              </a:rPr>
              <a:t>Definitions</a:t>
            </a:r>
            <a:endParaRPr sz="2000">
              <a:latin typeface="Times New Roman"/>
              <a:cs typeface="Times New Roman"/>
            </a:endParaRPr>
          </a:p>
        </p:txBody>
      </p:sp>
      <p:sp>
        <p:nvSpPr>
          <p:cNvPr id="5" name="object 5"/>
          <p:cNvSpPr txBox="1"/>
          <p:nvPr/>
        </p:nvSpPr>
        <p:spPr>
          <a:xfrm>
            <a:off x="5324347" y="791972"/>
            <a:ext cx="3592829" cy="1059180"/>
          </a:xfrm>
          <a:prstGeom prst="rect">
            <a:avLst/>
          </a:prstGeom>
          <a:ln w="9144">
            <a:solidFill>
              <a:srgbClr val="000000"/>
            </a:solidFill>
          </a:ln>
        </p:spPr>
        <p:txBody>
          <a:bodyPr vert="horz" wrap="square" lIns="0" tIns="44450" rIns="0" bIns="0" rtlCol="0">
            <a:spAutoFit/>
          </a:bodyPr>
          <a:lstStyle/>
          <a:p>
            <a:pPr marL="96520">
              <a:lnSpc>
                <a:spcPct val="100000"/>
              </a:lnSpc>
              <a:spcBef>
                <a:spcPts val="350"/>
              </a:spcBef>
            </a:pPr>
            <a:r>
              <a:rPr sz="1400" b="1" dirty="0">
                <a:latin typeface="Times New Roman"/>
                <a:cs typeface="Times New Roman"/>
              </a:rPr>
              <a:t>Rear</a:t>
            </a:r>
            <a:r>
              <a:rPr sz="1400" b="1" spc="-35" dirty="0">
                <a:latin typeface="Times New Roman"/>
                <a:cs typeface="Times New Roman"/>
              </a:rPr>
              <a:t> </a:t>
            </a:r>
            <a:r>
              <a:rPr sz="1400" b="1" spc="-10" dirty="0">
                <a:latin typeface="Times New Roman"/>
                <a:cs typeface="Times New Roman"/>
              </a:rPr>
              <a:t>Slots:</a:t>
            </a:r>
            <a:endParaRPr sz="1400">
              <a:latin typeface="Times New Roman"/>
              <a:cs typeface="Times New Roman"/>
            </a:endParaRPr>
          </a:p>
          <a:p>
            <a:pPr marL="96520" marR="410209">
              <a:lnSpc>
                <a:spcPct val="100000"/>
              </a:lnSpc>
              <a:spcBef>
                <a:spcPts val="835"/>
              </a:spcBef>
            </a:pP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8</a:t>
            </a:r>
            <a:r>
              <a:rPr sz="1400" spc="-20" dirty="0">
                <a:latin typeface="Times New Roman"/>
                <a:cs typeface="Times New Roman"/>
              </a:rPr>
              <a:t> </a:t>
            </a:r>
            <a:r>
              <a:rPr sz="1400" dirty="0">
                <a:latin typeface="Times New Roman"/>
                <a:cs typeface="Times New Roman"/>
              </a:rPr>
              <a:t>:</a:t>
            </a:r>
            <a:r>
              <a:rPr sz="1400" spc="-20" dirty="0">
                <a:latin typeface="Times New Roman"/>
                <a:cs typeface="Times New Roman"/>
              </a:rPr>
              <a:t> </a:t>
            </a:r>
            <a:r>
              <a:rPr sz="1400" dirty="0">
                <a:latin typeface="Times New Roman"/>
                <a:cs typeface="Times New Roman"/>
              </a:rPr>
              <a:t>Interface</a:t>
            </a:r>
            <a:r>
              <a:rPr sz="1400" spc="-20"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Remote</a:t>
            </a:r>
            <a:r>
              <a:rPr sz="1400" spc="-20" dirty="0">
                <a:latin typeface="Times New Roman"/>
                <a:cs typeface="Times New Roman"/>
              </a:rPr>
              <a:t> </a:t>
            </a:r>
            <a:r>
              <a:rPr sz="1400" dirty="0">
                <a:latin typeface="Times New Roman"/>
                <a:cs typeface="Times New Roman"/>
              </a:rPr>
              <a:t>I/F</a:t>
            </a:r>
            <a:r>
              <a:rPr sz="1400" spc="-15" dirty="0">
                <a:latin typeface="Times New Roman"/>
                <a:cs typeface="Times New Roman"/>
              </a:rPr>
              <a:t> </a:t>
            </a:r>
            <a:r>
              <a:rPr sz="1400" dirty="0">
                <a:latin typeface="Times New Roman"/>
                <a:cs typeface="Times New Roman"/>
              </a:rPr>
              <a:t>(IRF</a:t>
            </a:r>
            <a:r>
              <a:rPr sz="1400" spc="-20" dirty="0">
                <a:latin typeface="Times New Roman"/>
                <a:cs typeface="Times New Roman"/>
              </a:rPr>
              <a:t> I/O) </a:t>
            </a:r>
            <a:r>
              <a:rPr sz="1400" dirty="0">
                <a:latin typeface="Times New Roman"/>
                <a:cs typeface="Times New Roman"/>
              </a:rPr>
              <a:t>Slots</a:t>
            </a:r>
            <a:r>
              <a:rPr sz="1400" spc="-15" dirty="0">
                <a:latin typeface="Times New Roman"/>
                <a:cs typeface="Times New Roman"/>
              </a:rPr>
              <a:t> </a:t>
            </a:r>
            <a:r>
              <a:rPr sz="1400" dirty="0">
                <a:latin typeface="Times New Roman"/>
                <a:cs typeface="Times New Roman"/>
              </a:rPr>
              <a:t>10-11:</a:t>
            </a:r>
            <a:r>
              <a:rPr sz="1400" spc="-15" dirty="0">
                <a:latin typeface="Times New Roman"/>
                <a:cs typeface="Times New Roman"/>
              </a:rPr>
              <a:t> </a:t>
            </a:r>
            <a:r>
              <a:rPr sz="1400" dirty="0">
                <a:latin typeface="Times New Roman"/>
                <a:cs typeface="Times New Roman"/>
              </a:rPr>
              <a:t>SRF/TRF</a:t>
            </a:r>
            <a:r>
              <a:rPr sz="1400" spc="-15" dirty="0">
                <a:latin typeface="Times New Roman"/>
                <a:cs typeface="Times New Roman"/>
              </a:rPr>
              <a:t> </a:t>
            </a:r>
            <a:r>
              <a:rPr sz="1400" dirty="0">
                <a:latin typeface="Times New Roman"/>
                <a:cs typeface="Times New Roman"/>
              </a:rPr>
              <a:t>Interface</a:t>
            </a:r>
            <a:r>
              <a:rPr sz="1400" spc="-15" dirty="0">
                <a:latin typeface="Times New Roman"/>
                <a:cs typeface="Times New Roman"/>
              </a:rPr>
              <a:t> </a:t>
            </a:r>
            <a:r>
              <a:rPr sz="1400" spc="-10" dirty="0">
                <a:latin typeface="Times New Roman"/>
                <a:cs typeface="Times New Roman"/>
              </a:rPr>
              <a:t>(STIF) </a:t>
            </a:r>
            <a:r>
              <a:rPr sz="1400" dirty="0">
                <a:latin typeface="Times New Roman"/>
                <a:cs typeface="Times New Roman"/>
              </a:rPr>
              <a:t>Slots</a:t>
            </a:r>
            <a:r>
              <a:rPr sz="1400" spc="-20" dirty="0">
                <a:latin typeface="Times New Roman"/>
                <a:cs typeface="Times New Roman"/>
              </a:rPr>
              <a:t> </a:t>
            </a:r>
            <a:r>
              <a:rPr sz="1400" spc="-10" dirty="0">
                <a:latin typeface="Times New Roman"/>
                <a:cs typeface="Times New Roman"/>
              </a:rPr>
              <a:t>12-</a:t>
            </a:r>
            <a:r>
              <a:rPr sz="1400" dirty="0">
                <a:latin typeface="Times New Roman"/>
                <a:cs typeface="Times New Roman"/>
              </a:rPr>
              <a:t>15:</a:t>
            </a:r>
            <a:r>
              <a:rPr sz="1400" spc="-15" dirty="0">
                <a:latin typeface="Times New Roman"/>
                <a:cs typeface="Times New Roman"/>
              </a:rPr>
              <a:t> </a:t>
            </a:r>
            <a:r>
              <a:rPr sz="1400" dirty="0">
                <a:latin typeface="Times New Roman"/>
                <a:cs typeface="Times New Roman"/>
              </a:rPr>
              <a:t>Fan</a:t>
            </a:r>
            <a:r>
              <a:rPr sz="1400" spc="-15" dirty="0">
                <a:latin typeface="Times New Roman"/>
                <a:cs typeface="Times New Roman"/>
              </a:rPr>
              <a:t> </a:t>
            </a:r>
            <a:r>
              <a:rPr sz="1400" dirty="0">
                <a:latin typeface="Times New Roman"/>
                <a:cs typeface="Times New Roman"/>
              </a:rPr>
              <a:t>Pwr,</a:t>
            </a:r>
            <a:r>
              <a:rPr sz="1400" spc="-20" dirty="0">
                <a:latin typeface="Times New Roman"/>
                <a:cs typeface="Times New Roman"/>
              </a:rPr>
              <a:t> </a:t>
            </a:r>
            <a:r>
              <a:rPr sz="1400" dirty="0">
                <a:latin typeface="Times New Roman"/>
                <a:cs typeface="Times New Roman"/>
              </a:rPr>
              <a:t>AC</a:t>
            </a:r>
            <a:r>
              <a:rPr sz="1400" spc="-10" dirty="0">
                <a:latin typeface="Times New Roman"/>
                <a:cs typeface="Times New Roman"/>
              </a:rPr>
              <a:t> </a:t>
            </a:r>
            <a:r>
              <a:rPr sz="1400" dirty="0">
                <a:latin typeface="Times New Roman"/>
                <a:cs typeface="Times New Roman"/>
              </a:rPr>
              <a:t>Pwr,</a:t>
            </a:r>
            <a:r>
              <a:rPr sz="1400" spc="-15" dirty="0">
                <a:latin typeface="Times New Roman"/>
                <a:cs typeface="Times New Roman"/>
              </a:rPr>
              <a:t> </a:t>
            </a:r>
            <a:r>
              <a:rPr sz="1400" dirty="0">
                <a:latin typeface="Times New Roman"/>
                <a:cs typeface="Times New Roman"/>
              </a:rPr>
              <a:t>Can</a:t>
            </a:r>
            <a:r>
              <a:rPr sz="1400" spc="-10" dirty="0">
                <a:latin typeface="Times New Roman"/>
                <a:cs typeface="Times New Roman"/>
              </a:rPr>
              <a:t> </a:t>
            </a:r>
            <a:r>
              <a:rPr sz="1400" spc="-20" dirty="0">
                <a:latin typeface="Times New Roman"/>
                <a:cs typeface="Times New Roman"/>
              </a:rPr>
              <a:t>Comm</a:t>
            </a:r>
            <a:endParaRPr sz="1400">
              <a:latin typeface="Times New Roman"/>
              <a:cs typeface="Times New Roman"/>
            </a:endParaRPr>
          </a:p>
        </p:txBody>
      </p:sp>
      <p:sp>
        <p:nvSpPr>
          <p:cNvPr id="6" name="object 6"/>
          <p:cNvSpPr txBox="1"/>
          <p:nvPr/>
        </p:nvSpPr>
        <p:spPr>
          <a:xfrm>
            <a:off x="5347970" y="2130805"/>
            <a:ext cx="3580129" cy="4674870"/>
          </a:xfrm>
          <a:prstGeom prst="rect">
            <a:avLst/>
          </a:prstGeom>
          <a:ln w="9144">
            <a:solidFill>
              <a:srgbClr val="000000"/>
            </a:solidFill>
          </a:ln>
        </p:spPr>
        <p:txBody>
          <a:bodyPr vert="horz" wrap="square" lIns="0" tIns="43815" rIns="0" bIns="0" rtlCol="0">
            <a:spAutoFit/>
          </a:bodyPr>
          <a:lstStyle/>
          <a:p>
            <a:pPr marL="97155">
              <a:lnSpc>
                <a:spcPct val="100000"/>
              </a:lnSpc>
              <a:spcBef>
                <a:spcPts val="345"/>
              </a:spcBef>
            </a:pPr>
            <a:r>
              <a:rPr sz="1400" b="1" dirty="0">
                <a:latin typeface="Times New Roman"/>
                <a:cs typeface="Times New Roman"/>
              </a:rPr>
              <a:t>Front</a:t>
            </a:r>
            <a:r>
              <a:rPr sz="1400" b="1" spc="-30" dirty="0">
                <a:latin typeface="Times New Roman"/>
                <a:cs typeface="Times New Roman"/>
              </a:rPr>
              <a:t> </a:t>
            </a:r>
            <a:r>
              <a:rPr sz="1400" b="1" spc="-10" dirty="0">
                <a:latin typeface="Times New Roman"/>
                <a:cs typeface="Times New Roman"/>
              </a:rPr>
              <a:t>Slots:</a:t>
            </a:r>
            <a:endParaRPr sz="1400">
              <a:latin typeface="Times New Roman"/>
              <a:cs typeface="Times New Roman"/>
            </a:endParaRPr>
          </a:p>
          <a:p>
            <a:pPr marL="97155" marR="1125220">
              <a:lnSpc>
                <a:spcPct val="100000"/>
              </a:lnSpc>
            </a:pP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1:</a:t>
            </a:r>
            <a:r>
              <a:rPr sz="1400" spc="-20" dirty="0">
                <a:latin typeface="Times New Roman"/>
                <a:cs typeface="Times New Roman"/>
              </a:rPr>
              <a:t> </a:t>
            </a:r>
            <a:r>
              <a:rPr sz="1400" dirty="0">
                <a:latin typeface="Times New Roman"/>
                <a:cs typeface="Times New Roman"/>
              </a:rPr>
              <a:t>APS2</a:t>
            </a:r>
            <a:r>
              <a:rPr sz="1400" spc="-20" dirty="0">
                <a:latin typeface="Times New Roman"/>
                <a:cs typeface="Times New Roman"/>
              </a:rPr>
              <a:t> </a:t>
            </a:r>
            <a:r>
              <a:rPr sz="1400" dirty="0">
                <a:latin typeface="Times New Roman"/>
                <a:cs typeface="Times New Roman"/>
              </a:rPr>
              <a:t>Processor</a:t>
            </a:r>
            <a:r>
              <a:rPr sz="1400" spc="-15" dirty="0">
                <a:latin typeface="Times New Roman"/>
                <a:cs typeface="Times New Roman"/>
              </a:rPr>
              <a:t> </a:t>
            </a:r>
            <a:r>
              <a:rPr sz="1400" spc="-10" dirty="0">
                <a:latin typeface="Times New Roman"/>
                <a:cs typeface="Times New Roman"/>
              </a:rPr>
              <a:t>Board </a:t>
            </a:r>
            <a:r>
              <a:rPr sz="1400" dirty="0">
                <a:latin typeface="Times New Roman"/>
                <a:cs typeface="Times New Roman"/>
              </a:rPr>
              <a:t>Slot</a:t>
            </a:r>
            <a:r>
              <a:rPr sz="1400" spc="-40" dirty="0">
                <a:latin typeface="Times New Roman"/>
                <a:cs typeface="Times New Roman"/>
              </a:rPr>
              <a:t> </a:t>
            </a:r>
            <a:r>
              <a:rPr sz="1400" dirty="0">
                <a:latin typeface="Times New Roman"/>
                <a:cs typeface="Times New Roman"/>
              </a:rPr>
              <a:t>2:</a:t>
            </a:r>
            <a:r>
              <a:rPr sz="1400" spc="-45" dirty="0">
                <a:latin typeface="Times New Roman"/>
                <a:cs typeface="Times New Roman"/>
              </a:rPr>
              <a:t> </a:t>
            </a:r>
            <a:r>
              <a:rPr sz="1400" dirty="0">
                <a:latin typeface="Times New Roman"/>
                <a:cs typeface="Times New Roman"/>
              </a:rPr>
              <a:t>Infiniband</a:t>
            </a:r>
            <a:r>
              <a:rPr sz="1400" spc="-40" dirty="0">
                <a:latin typeface="Times New Roman"/>
                <a:cs typeface="Times New Roman"/>
              </a:rPr>
              <a:t> </a:t>
            </a:r>
            <a:r>
              <a:rPr sz="1400" dirty="0">
                <a:latin typeface="Times New Roman"/>
                <a:cs typeface="Times New Roman"/>
              </a:rPr>
              <a:t>Adapter</a:t>
            </a:r>
            <a:r>
              <a:rPr sz="1400" spc="-40" dirty="0">
                <a:latin typeface="Times New Roman"/>
                <a:cs typeface="Times New Roman"/>
              </a:rPr>
              <a:t> </a:t>
            </a:r>
            <a:r>
              <a:rPr sz="1400" spc="-10" dirty="0">
                <a:latin typeface="Times New Roman"/>
                <a:cs typeface="Times New Roman"/>
              </a:rPr>
              <a:t>Board </a:t>
            </a:r>
            <a:r>
              <a:rPr sz="1400" dirty="0">
                <a:latin typeface="Times New Roman"/>
                <a:cs typeface="Times New Roman"/>
              </a:rPr>
              <a:t>Slot</a:t>
            </a:r>
            <a:r>
              <a:rPr sz="1400" spc="-25" dirty="0">
                <a:latin typeface="Times New Roman"/>
                <a:cs typeface="Times New Roman"/>
              </a:rPr>
              <a:t> </a:t>
            </a:r>
            <a:r>
              <a:rPr sz="1400" dirty="0">
                <a:latin typeface="Times New Roman"/>
                <a:cs typeface="Times New Roman"/>
              </a:rPr>
              <a:t>3:</a:t>
            </a:r>
            <a:r>
              <a:rPr sz="1400" spc="-25" dirty="0">
                <a:latin typeface="Times New Roman"/>
                <a:cs typeface="Times New Roman"/>
              </a:rPr>
              <a:t> </a:t>
            </a:r>
            <a:r>
              <a:rPr sz="1400" dirty="0">
                <a:latin typeface="Times New Roman"/>
                <a:cs typeface="Times New Roman"/>
              </a:rPr>
              <a:t>DRF2</a:t>
            </a:r>
            <a:r>
              <a:rPr sz="1400" spc="-25"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or</a:t>
            </a:r>
            <a:r>
              <a:rPr sz="1400" spc="-20" dirty="0">
                <a:latin typeface="Times New Roman"/>
                <a:cs typeface="Times New Roman"/>
              </a:rPr>
              <a:t> </a:t>
            </a:r>
            <a:r>
              <a:rPr sz="1400" spc="-10" dirty="0">
                <a:latin typeface="Times New Roman"/>
                <a:cs typeface="Times New Roman"/>
              </a:rPr>
              <a:t>Spare</a:t>
            </a:r>
            <a:r>
              <a:rPr sz="1400" dirty="0">
                <a:latin typeface="Times New Roman"/>
                <a:cs typeface="Times New Roman"/>
              </a:rPr>
              <a:t> Slot</a:t>
            </a:r>
            <a:r>
              <a:rPr sz="1400" spc="-20" dirty="0">
                <a:latin typeface="Times New Roman"/>
                <a:cs typeface="Times New Roman"/>
              </a:rPr>
              <a:t> </a:t>
            </a:r>
            <a:r>
              <a:rPr sz="1400" dirty="0">
                <a:latin typeface="Times New Roman"/>
                <a:cs typeface="Times New Roman"/>
              </a:rPr>
              <a:t>4:</a:t>
            </a:r>
            <a:r>
              <a:rPr sz="1400" spc="-15" dirty="0">
                <a:latin typeface="Times New Roman"/>
                <a:cs typeface="Times New Roman"/>
              </a:rPr>
              <a:t> </a:t>
            </a:r>
            <a:r>
              <a:rPr sz="1400" dirty="0">
                <a:latin typeface="Times New Roman"/>
                <a:cs typeface="Times New Roman"/>
              </a:rPr>
              <a:t>DRF2</a:t>
            </a:r>
            <a:r>
              <a:rPr sz="1400" spc="-15"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a:lnSpc>
                <a:spcPts val="1655"/>
              </a:lnSpc>
            </a:pP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5:</a:t>
            </a:r>
            <a:r>
              <a:rPr sz="1400" spc="-20" dirty="0">
                <a:latin typeface="Times New Roman"/>
                <a:cs typeface="Times New Roman"/>
              </a:rPr>
              <a:t> </a:t>
            </a:r>
            <a:r>
              <a:rPr sz="1400" dirty="0">
                <a:latin typeface="Times New Roman"/>
                <a:cs typeface="Times New Roman"/>
              </a:rPr>
              <a:t>Bridge</a:t>
            </a:r>
            <a:r>
              <a:rPr sz="1400" spc="-20"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marR="1301750">
              <a:lnSpc>
                <a:spcPts val="1680"/>
              </a:lnSpc>
              <a:spcBef>
                <a:spcPts val="50"/>
              </a:spcBef>
            </a:pP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6:</a:t>
            </a:r>
            <a:r>
              <a:rPr sz="1400" spc="-20" dirty="0">
                <a:latin typeface="Times New Roman"/>
                <a:cs typeface="Times New Roman"/>
              </a:rPr>
              <a:t> </a:t>
            </a:r>
            <a:r>
              <a:rPr sz="1400" dirty="0">
                <a:latin typeface="Times New Roman"/>
                <a:cs typeface="Times New Roman"/>
              </a:rPr>
              <a:t>AGP2</a:t>
            </a:r>
            <a:r>
              <a:rPr sz="1400" spc="-20" dirty="0">
                <a:latin typeface="Times New Roman"/>
                <a:cs typeface="Times New Roman"/>
              </a:rPr>
              <a:t> </a:t>
            </a:r>
            <a:r>
              <a:rPr sz="1400" dirty="0">
                <a:latin typeface="Times New Roman"/>
                <a:cs typeface="Times New Roman"/>
              </a:rPr>
              <a:t>Processor</a:t>
            </a:r>
            <a:r>
              <a:rPr sz="1400" spc="-15" dirty="0">
                <a:latin typeface="Times New Roman"/>
                <a:cs typeface="Times New Roman"/>
              </a:rPr>
              <a:t> </a:t>
            </a:r>
            <a:r>
              <a:rPr sz="1400" spc="-10" dirty="0">
                <a:latin typeface="Times New Roman"/>
                <a:cs typeface="Times New Roman"/>
              </a:rPr>
              <a:t>Board </a:t>
            </a: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7:</a:t>
            </a:r>
            <a:r>
              <a:rPr sz="1400" spc="-15" dirty="0">
                <a:latin typeface="Times New Roman"/>
                <a:cs typeface="Times New Roman"/>
              </a:rPr>
              <a:t> </a:t>
            </a:r>
            <a:r>
              <a:rPr sz="1400" dirty="0">
                <a:latin typeface="Times New Roman"/>
                <a:cs typeface="Times New Roman"/>
              </a:rPr>
              <a:t>IRF2</a:t>
            </a:r>
            <a:r>
              <a:rPr sz="1400" spc="-15"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a:lnSpc>
                <a:spcPts val="1614"/>
              </a:lnSpc>
            </a:pPr>
            <a:r>
              <a:rPr sz="1400" dirty="0">
                <a:latin typeface="Times New Roman"/>
                <a:cs typeface="Times New Roman"/>
              </a:rPr>
              <a:t>Slot</a:t>
            </a:r>
            <a:r>
              <a:rPr sz="1400" spc="-5" dirty="0">
                <a:latin typeface="Times New Roman"/>
                <a:cs typeface="Times New Roman"/>
              </a:rPr>
              <a:t> </a:t>
            </a:r>
            <a:r>
              <a:rPr sz="1400" dirty="0">
                <a:latin typeface="Times New Roman"/>
                <a:cs typeface="Times New Roman"/>
              </a:rPr>
              <a:t>8:</a:t>
            </a:r>
            <a:r>
              <a:rPr sz="1400" spc="-5" dirty="0">
                <a:latin typeface="Times New Roman"/>
                <a:cs typeface="Times New Roman"/>
              </a:rPr>
              <a:t> </a:t>
            </a:r>
            <a:r>
              <a:rPr sz="1400" spc="-10" dirty="0">
                <a:latin typeface="Times New Roman"/>
                <a:cs typeface="Times New Roman"/>
              </a:rPr>
              <a:t>Spare</a:t>
            </a:r>
            <a:endParaRPr sz="1400">
              <a:latin typeface="Times New Roman"/>
              <a:cs typeface="Times New Roman"/>
            </a:endParaRPr>
          </a:p>
          <a:p>
            <a:pPr marL="97155">
              <a:lnSpc>
                <a:spcPts val="1675"/>
              </a:lnSpc>
            </a:pPr>
            <a:r>
              <a:rPr sz="1400" dirty="0">
                <a:latin typeface="Times New Roman"/>
                <a:cs typeface="Times New Roman"/>
              </a:rPr>
              <a:t>Slot</a:t>
            </a:r>
            <a:r>
              <a:rPr sz="1400" spc="-20" dirty="0">
                <a:latin typeface="Times New Roman"/>
                <a:cs typeface="Times New Roman"/>
              </a:rPr>
              <a:t> </a:t>
            </a:r>
            <a:r>
              <a:rPr sz="1400" dirty="0">
                <a:latin typeface="Times New Roman"/>
                <a:cs typeface="Times New Roman"/>
              </a:rPr>
              <a:t>9:</a:t>
            </a:r>
            <a:r>
              <a:rPr sz="1400" spc="-15" dirty="0">
                <a:latin typeface="Times New Roman"/>
                <a:cs typeface="Times New Roman"/>
              </a:rPr>
              <a:t> </a:t>
            </a:r>
            <a:r>
              <a:rPr sz="1400" dirty="0">
                <a:latin typeface="Times New Roman"/>
                <a:cs typeface="Times New Roman"/>
              </a:rPr>
              <a:t>SCP2</a:t>
            </a:r>
            <a:r>
              <a:rPr sz="1400" spc="-15"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a:lnSpc>
                <a:spcPts val="1675"/>
              </a:lnSpc>
            </a:pPr>
            <a:r>
              <a:rPr sz="1400" dirty="0">
                <a:latin typeface="Times New Roman"/>
                <a:cs typeface="Times New Roman"/>
              </a:rPr>
              <a:t>Slots</a:t>
            </a:r>
            <a:r>
              <a:rPr sz="1400" spc="-40" dirty="0">
                <a:latin typeface="Times New Roman"/>
                <a:cs typeface="Times New Roman"/>
              </a:rPr>
              <a:t> </a:t>
            </a:r>
            <a:r>
              <a:rPr sz="1400" dirty="0">
                <a:latin typeface="Times New Roman"/>
                <a:cs typeface="Times New Roman"/>
              </a:rPr>
              <a:t>10,11:</a:t>
            </a:r>
            <a:r>
              <a:rPr sz="1400" spc="-30" dirty="0">
                <a:latin typeface="Times New Roman"/>
                <a:cs typeface="Times New Roman"/>
              </a:rPr>
              <a:t> </a:t>
            </a:r>
            <a:r>
              <a:rPr sz="1400" dirty="0">
                <a:latin typeface="Times New Roman"/>
                <a:cs typeface="Times New Roman"/>
              </a:rPr>
              <a:t>SRF/TRF</a:t>
            </a:r>
            <a:r>
              <a:rPr sz="1400" spc="-30"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a:lnSpc>
                <a:spcPts val="1675"/>
              </a:lnSpc>
            </a:pPr>
            <a:r>
              <a:rPr sz="1400" dirty="0">
                <a:latin typeface="Times New Roman"/>
                <a:cs typeface="Times New Roman"/>
              </a:rPr>
              <a:t>Slots</a:t>
            </a:r>
            <a:r>
              <a:rPr sz="1400" spc="-10" dirty="0">
                <a:latin typeface="Times New Roman"/>
                <a:cs typeface="Times New Roman"/>
              </a:rPr>
              <a:t> 12-</a:t>
            </a:r>
            <a:r>
              <a:rPr sz="1400" dirty="0">
                <a:latin typeface="Times New Roman"/>
                <a:cs typeface="Times New Roman"/>
              </a:rPr>
              <a:t>13</a:t>
            </a:r>
            <a:r>
              <a:rPr sz="1400" spc="-10" dirty="0">
                <a:latin typeface="Times New Roman"/>
                <a:cs typeface="Times New Roman"/>
              </a:rPr>
              <a:t> </a:t>
            </a:r>
            <a:r>
              <a:rPr sz="1400" dirty="0">
                <a:latin typeface="Times New Roman"/>
                <a:cs typeface="Times New Roman"/>
              </a:rPr>
              <a:t>&amp;</a:t>
            </a:r>
            <a:r>
              <a:rPr sz="1400" spc="-10" dirty="0">
                <a:latin typeface="Times New Roman"/>
                <a:cs typeface="Times New Roman"/>
              </a:rPr>
              <a:t> 14-</a:t>
            </a:r>
            <a:r>
              <a:rPr sz="1400" dirty="0">
                <a:latin typeface="Times New Roman"/>
                <a:cs typeface="Times New Roman"/>
              </a:rPr>
              <a:t>15:</a:t>
            </a:r>
            <a:r>
              <a:rPr sz="1400" spc="-10" dirty="0">
                <a:latin typeface="Times New Roman"/>
                <a:cs typeface="Times New Roman"/>
              </a:rPr>
              <a:t> </a:t>
            </a:r>
            <a:r>
              <a:rPr sz="1400" dirty="0">
                <a:latin typeface="Times New Roman"/>
                <a:cs typeface="Times New Roman"/>
              </a:rPr>
              <a:t>Power</a:t>
            </a:r>
            <a:r>
              <a:rPr sz="1400" spc="-10" dirty="0">
                <a:latin typeface="Times New Roman"/>
                <a:cs typeface="Times New Roman"/>
              </a:rPr>
              <a:t> Supply</a:t>
            </a:r>
            <a:endParaRPr sz="1400">
              <a:latin typeface="Times New Roman"/>
              <a:cs typeface="Times New Roman"/>
            </a:endParaRPr>
          </a:p>
          <a:p>
            <a:pPr marL="97155" marR="125095">
              <a:lnSpc>
                <a:spcPct val="99800"/>
              </a:lnSpc>
              <a:spcBef>
                <a:spcPts val="5"/>
              </a:spcBef>
            </a:pPr>
            <a:r>
              <a:rPr sz="1400" dirty="0">
                <a:latin typeface="Times New Roman"/>
                <a:cs typeface="Times New Roman"/>
              </a:rPr>
              <a:t>Slots</a:t>
            </a:r>
            <a:r>
              <a:rPr sz="1400" spc="-15" dirty="0">
                <a:latin typeface="Times New Roman"/>
                <a:cs typeface="Times New Roman"/>
              </a:rPr>
              <a:t> </a:t>
            </a:r>
            <a:r>
              <a:rPr sz="1400" dirty="0">
                <a:latin typeface="Times New Roman"/>
                <a:cs typeface="Times New Roman"/>
              </a:rPr>
              <a:t>17U-18U:</a:t>
            </a:r>
            <a:r>
              <a:rPr sz="1400" spc="-15" dirty="0">
                <a:latin typeface="Times New Roman"/>
                <a:cs typeface="Times New Roman"/>
              </a:rPr>
              <a:t> </a:t>
            </a:r>
            <a:r>
              <a:rPr sz="1400" dirty="0">
                <a:latin typeface="Times New Roman"/>
                <a:cs typeface="Times New Roman"/>
              </a:rPr>
              <a:t>Optional</a:t>
            </a:r>
            <a:r>
              <a:rPr sz="1400" spc="-10" dirty="0">
                <a:latin typeface="Times New Roman"/>
                <a:cs typeface="Times New Roman"/>
              </a:rPr>
              <a:t> </a:t>
            </a:r>
            <a:r>
              <a:rPr sz="1400" dirty="0">
                <a:latin typeface="Times New Roman"/>
                <a:cs typeface="Times New Roman"/>
              </a:rPr>
              <a:t>MNS</a:t>
            </a:r>
            <a:r>
              <a:rPr sz="1400" spc="-5" dirty="0">
                <a:latin typeface="Times New Roman"/>
                <a:cs typeface="Times New Roman"/>
              </a:rPr>
              <a:t> </a:t>
            </a:r>
            <a:r>
              <a:rPr sz="1400" dirty="0">
                <a:latin typeface="Times New Roman"/>
                <a:cs typeface="Times New Roman"/>
              </a:rPr>
              <a:t>Amp</a:t>
            </a:r>
            <a:r>
              <a:rPr sz="1400" spc="-10" dirty="0">
                <a:latin typeface="Times New Roman"/>
                <a:cs typeface="Times New Roman"/>
              </a:rPr>
              <a:t> </a:t>
            </a:r>
            <a:r>
              <a:rPr sz="1400" dirty="0">
                <a:latin typeface="Times New Roman"/>
                <a:cs typeface="Times New Roman"/>
              </a:rPr>
              <a:t>I/F</a:t>
            </a:r>
            <a:r>
              <a:rPr sz="1400" spc="-10" dirty="0">
                <a:latin typeface="Times New Roman"/>
                <a:cs typeface="Times New Roman"/>
              </a:rPr>
              <a:t> Board </a:t>
            </a:r>
            <a:r>
              <a:rPr sz="1400" dirty="0">
                <a:latin typeface="Times New Roman"/>
                <a:cs typeface="Times New Roman"/>
              </a:rPr>
              <a:t>Slots</a:t>
            </a:r>
            <a:r>
              <a:rPr sz="1400" spc="-20" dirty="0">
                <a:latin typeface="Times New Roman"/>
                <a:cs typeface="Times New Roman"/>
              </a:rPr>
              <a:t> </a:t>
            </a:r>
            <a:r>
              <a:rPr sz="1400" spc="-10" dirty="0">
                <a:latin typeface="Times New Roman"/>
                <a:cs typeface="Times New Roman"/>
              </a:rPr>
              <a:t>17L-</a:t>
            </a:r>
            <a:r>
              <a:rPr sz="1400" dirty="0">
                <a:latin typeface="Times New Roman"/>
                <a:cs typeface="Times New Roman"/>
              </a:rPr>
              <a:t>18L:</a:t>
            </a:r>
            <a:r>
              <a:rPr sz="1400" spc="-20" dirty="0">
                <a:latin typeface="Times New Roman"/>
                <a:cs typeface="Times New Roman"/>
              </a:rPr>
              <a:t> </a:t>
            </a:r>
            <a:r>
              <a:rPr sz="1400" dirty="0">
                <a:latin typeface="Times New Roman"/>
                <a:cs typeface="Times New Roman"/>
              </a:rPr>
              <a:t>Narrow</a:t>
            </a:r>
            <a:r>
              <a:rPr sz="1400" spc="-25" dirty="0">
                <a:latin typeface="Times New Roman"/>
                <a:cs typeface="Times New Roman"/>
              </a:rPr>
              <a:t> </a:t>
            </a:r>
            <a:r>
              <a:rPr sz="1400" dirty="0">
                <a:latin typeface="Times New Roman"/>
                <a:cs typeface="Times New Roman"/>
              </a:rPr>
              <a:t>Band</a:t>
            </a:r>
            <a:r>
              <a:rPr sz="1400" spc="-15" dirty="0">
                <a:latin typeface="Times New Roman"/>
                <a:cs typeface="Times New Roman"/>
              </a:rPr>
              <a:t> </a:t>
            </a:r>
            <a:r>
              <a:rPr sz="1400" dirty="0">
                <a:latin typeface="Times New Roman"/>
                <a:cs typeface="Times New Roman"/>
              </a:rPr>
              <a:t>Amp</a:t>
            </a:r>
            <a:r>
              <a:rPr sz="1400" spc="-15" dirty="0">
                <a:latin typeface="Times New Roman"/>
                <a:cs typeface="Times New Roman"/>
              </a:rPr>
              <a:t> </a:t>
            </a:r>
            <a:r>
              <a:rPr sz="1400" dirty="0">
                <a:latin typeface="Times New Roman"/>
                <a:cs typeface="Times New Roman"/>
              </a:rPr>
              <a:t>I/F</a:t>
            </a:r>
            <a:r>
              <a:rPr sz="1400" spc="-10" dirty="0">
                <a:latin typeface="Times New Roman"/>
                <a:cs typeface="Times New Roman"/>
              </a:rPr>
              <a:t> Board </a:t>
            </a:r>
            <a:r>
              <a:rPr sz="1400" dirty="0">
                <a:latin typeface="Times New Roman"/>
                <a:cs typeface="Times New Roman"/>
              </a:rPr>
              <a:t>Slot</a:t>
            </a:r>
            <a:r>
              <a:rPr sz="1400" spc="-25" dirty="0">
                <a:latin typeface="Times New Roman"/>
                <a:cs typeface="Times New Roman"/>
              </a:rPr>
              <a:t> </a:t>
            </a:r>
            <a:r>
              <a:rPr sz="1400" dirty="0">
                <a:latin typeface="Times New Roman"/>
                <a:cs typeface="Times New Roman"/>
              </a:rPr>
              <a:t>19U:</a:t>
            </a:r>
            <a:r>
              <a:rPr sz="1400" spc="-20" dirty="0">
                <a:latin typeface="Times New Roman"/>
                <a:cs typeface="Times New Roman"/>
              </a:rPr>
              <a:t> </a:t>
            </a:r>
            <a:r>
              <a:rPr sz="1400" dirty="0">
                <a:latin typeface="Times New Roman"/>
                <a:cs typeface="Times New Roman"/>
              </a:rPr>
              <a:t>Optional</a:t>
            </a:r>
            <a:r>
              <a:rPr sz="1400" spc="-20" dirty="0">
                <a:latin typeface="Times New Roman"/>
                <a:cs typeface="Times New Roman"/>
              </a:rPr>
              <a:t> </a:t>
            </a:r>
            <a:r>
              <a:rPr sz="1400" dirty="0">
                <a:latin typeface="Times New Roman"/>
                <a:cs typeface="Times New Roman"/>
              </a:rPr>
              <a:t>MNS</a:t>
            </a:r>
            <a:r>
              <a:rPr sz="1400" spc="-20" dirty="0">
                <a:latin typeface="Times New Roman"/>
                <a:cs typeface="Times New Roman"/>
              </a:rPr>
              <a:t> </a:t>
            </a:r>
            <a:r>
              <a:rPr sz="1400" dirty="0">
                <a:latin typeface="Times New Roman"/>
                <a:cs typeface="Times New Roman"/>
              </a:rPr>
              <a:t>Detector</a:t>
            </a:r>
            <a:r>
              <a:rPr sz="1400" spc="-20"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marR="576580">
              <a:lnSpc>
                <a:spcPts val="1670"/>
              </a:lnSpc>
              <a:spcBef>
                <a:spcPts val="55"/>
              </a:spcBef>
            </a:pPr>
            <a:r>
              <a:rPr sz="1400" dirty="0">
                <a:latin typeface="Times New Roman"/>
                <a:cs typeface="Times New Roman"/>
              </a:rPr>
              <a:t>Slot</a:t>
            </a:r>
            <a:r>
              <a:rPr sz="1400" spc="-25" dirty="0">
                <a:latin typeface="Times New Roman"/>
                <a:cs typeface="Times New Roman"/>
              </a:rPr>
              <a:t> </a:t>
            </a:r>
            <a:r>
              <a:rPr sz="1400" dirty="0">
                <a:latin typeface="Times New Roman"/>
                <a:cs typeface="Times New Roman"/>
              </a:rPr>
              <a:t>19L:</a:t>
            </a:r>
            <a:r>
              <a:rPr sz="1400" spc="-20" dirty="0">
                <a:latin typeface="Times New Roman"/>
                <a:cs typeface="Times New Roman"/>
              </a:rPr>
              <a:t> </a:t>
            </a:r>
            <a:r>
              <a:rPr sz="1400" dirty="0">
                <a:latin typeface="Times New Roman"/>
                <a:cs typeface="Times New Roman"/>
              </a:rPr>
              <a:t>Optional</a:t>
            </a:r>
            <a:r>
              <a:rPr sz="1400" spc="-20" dirty="0">
                <a:latin typeface="Times New Roman"/>
                <a:cs typeface="Times New Roman"/>
              </a:rPr>
              <a:t> </a:t>
            </a:r>
            <a:r>
              <a:rPr sz="1400" dirty="0">
                <a:latin typeface="Times New Roman"/>
                <a:cs typeface="Times New Roman"/>
              </a:rPr>
              <a:t>MNS</a:t>
            </a:r>
            <a:r>
              <a:rPr sz="1400" spc="-20" dirty="0">
                <a:latin typeface="Times New Roman"/>
                <a:cs typeface="Times New Roman"/>
              </a:rPr>
              <a:t> </a:t>
            </a:r>
            <a:r>
              <a:rPr sz="1400" dirty="0">
                <a:latin typeface="Times New Roman"/>
                <a:cs typeface="Times New Roman"/>
              </a:rPr>
              <a:t>Detector</a:t>
            </a:r>
            <a:r>
              <a:rPr sz="1400" spc="-20" dirty="0">
                <a:latin typeface="Times New Roman"/>
                <a:cs typeface="Times New Roman"/>
              </a:rPr>
              <a:t> </a:t>
            </a:r>
            <a:r>
              <a:rPr sz="1400" spc="-10" dirty="0">
                <a:latin typeface="Times New Roman"/>
                <a:cs typeface="Times New Roman"/>
              </a:rPr>
              <a:t>Board </a:t>
            </a:r>
            <a:r>
              <a:rPr sz="1400" dirty="0">
                <a:latin typeface="Times New Roman"/>
                <a:cs typeface="Times New Roman"/>
              </a:rPr>
              <a:t>Slot</a:t>
            </a:r>
            <a:r>
              <a:rPr sz="1400" spc="-25" dirty="0">
                <a:latin typeface="Times New Roman"/>
                <a:cs typeface="Times New Roman"/>
              </a:rPr>
              <a:t> </a:t>
            </a:r>
            <a:r>
              <a:rPr sz="1400" dirty="0">
                <a:latin typeface="Times New Roman"/>
                <a:cs typeface="Times New Roman"/>
              </a:rPr>
              <a:t>20U:</a:t>
            </a:r>
            <a:r>
              <a:rPr sz="1400" spc="-20" dirty="0">
                <a:latin typeface="Times New Roman"/>
                <a:cs typeface="Times New Roman"/>
              </a:rPr>
              <a:t> </a:t>
            </a:r>
            <a:r>
              <a:rPr sz="1400" dirty="0">
                <a:latin typeface="Times New Roman"/>
                <a:cs typeface="Times New Roman"/>
              </a:rPr>
              <a:t>Narrow</a:t>
            </a:r>
            <a:r>
              <a:rPr sz="1400" spc="-20" dirty="0">
                <a:latin typeface="Times New Roman"/>
                <a:cs typeface="Times New Roman"/>
              </a:rPr>
              <a:t> </a:t>
            </a:r>
            <a:r>
              <a:rPr sz="1400" dirty="0">
                <a:latin typeface="Times New Roman"/>
                <a:cs typeface="Times New Roman"/>
              </a:rPr>
              <a:t>Band</a:t>
            </a:r>
            <a:r>
              <a:rPr sz="1400" spc="-20" dirty="0">
                <a:latin typeface="Times New Roman"/>
                <a:cs typeface="Times New Roman"/>
              </a:rPr>
              <a:t> </a:t>
            </a:r>
            <a:r>
              <a:rPr sz="1400" dirty="0">
                <a:latin typeface="Times New Roman"/>
                <a:cs typeface="Times New Roman"/>
              </a:rPr>
              <a:t>Detector</a:t>
            </a:r>
            <a:r>
              <a:rPr sz="1400" spc="-20" dirty="0">
                <a:latin typeface="Times New Roman"/>
                <a:cs typeface="Times New Roman"/>
              </a:rPr>
              <a:t> </a:t>
            </a:r>
            <a:r>
              <a:rPr sz="1400" spc="-10" dirty="0">
                <a:latin typeface="Times New Roman"/>
                <a:cs typeface="Times New Roman"/>
              </a:rPr>
              <a:t>Board </a:t>
            </a:r>
            <a:r>
              <a:rPr sz="1400" dirty="0">
                <a:latin typeface="Times New Roman"/>
                <a:cs typeface="Times New Roman"/>
              </a:rPr>
              <a:t>Slot</a:t>
            </a:r>
            <a:r>
              <a:rPr sz="1400" spc="-30" dirty="0">
                <a:latin typeface="Times New Roman"/>
                <a:cs typeface="Times New Roman"/>
              </a:rPr>
              <a:t> </a:t>
            </a:r>
            <a:r>
              <a:rPr sz="1400" dirty="0">
                <a:latin typeface="Times New Roman"/>
                <a:cs typeface="Times New Roman"/>
              </a:rPr>
              <a:t>20L:</a:t>
            </a:r>
            <a:r>
              <a:rPr sz="1400" spc="-25" dirty="0">
                <a:latin typeface="Times New Roman"/>
                <a:cs typeface="Times New Roman"/>
              </a:rPr>
              <a:t> </a:t>
            </a:r>
            <a:r>
              <a:rPr sz="1400" dirty="0">
                <a:latin typeface="Times New Roman"/>
                <a:cs typeface="Times New Roman"/>
              </a:rPr>
              <a:t>Narrow</a:t>
            </a:r>
            <a:r>
              <a:rPr sz="1400" spc="-25" dirty="0">
                <a:latin typeface="Times New Roman"/>
                <a:cs typeface="Times New Roman"/>
              </a:rPr>
              <a:t> </a:t>
            </a:r>
            <a:r>
              <a:rPr sz="1400" dirty="0">
                <a:latin typeface="Times New Roman"/>
                <a:cs typeface="Times New Roman"/>
              </a:rPr>
              <a:t>Band</a:t>
            </a:r>
            <a:r>
              <a:rPr sz="1400" spc="-25" dirty="0">
                <a:latin typeface="Times New Roman"/>
                <a:cs typeface="Times New Roman"/>
              </a:rPr>
              <a:t> </a:t>
            </a:r>
            <a:r>
              <a:rPr sz="1400" spc="-10" dirty="0">
                <a:latin typeface="Times New Roman"/>
                <a:cs typeface="Times New Roman"/>
              </a:rPr>
              <a:t>Detector</a:t>
            </a:r>
            <a:r>
              <a:rPr sz="1400" spc="-25" dirty="0">
                <a:latin typeface="Times New Roman"/>
                <a:cs typeface="Times New Roman"/>
              </a:rPr>
              <a:t> </a:t>
            </a:r>
            <a:r>
              <a:rPr sz="1400" spc="-10" dirty="0">
                <a:latin typeface="Times New Roman"/>
                <a:cs typeface="Times New Roman"/>
              </a:rPr>
              <a:t>Board </a:t>
            </a:r>
            <a:r>
              <a:rPr sz="1400" dirty="0">
                <a:latin typeface="Times New Roman"/>
                <a:cs typeface="Times New Roman"/>
              </a:rPr>
              <a:t>Slot</a:t>
            </a:r>
            <a:r>
              <a:rPr sz="1400" spc="-30" dirty="0">
                <a:latin typeface="Times New Roman"/>
                <a:cs typeface="Times New Roman"/>
              </a:rPr>
              <a:t> </a:t>
            </a:r>
            <a:r>
              <a:rPr sz="1400" dirty="0">
                <a:latin typeface="Times New Roman"/>
                <a:cs typeface="Times New Roman"/>
              </a:rPr>
              <a:t>21U:</a:t>
            </a:r>
            <a:r>
              <a:rPr sz="1400" spc="-25" dirty="0">
                <a:latin typeface="Times New Roman"/>
                <a:cs typeface="Times New Roman"/>
              </a:rPr>
              <a:t> </a:t>
            </a:r>
            <a:r>
              <a:rPr sz="1400" dirty="0">
                <a:latin typeface="Times New Roman"/>
                <a:cs typeface="Times New Roman"/>
              </a:rPr>
              <a:t>UPM</a:t>
            </a:r>
            <a:r>
              <a:rPr sz="1400" spc="-25" dirty="0">
                <a:latin typeface="Times New Roman"/>
                <a:cs typeface="Times New Roman"/>
              </a:rPr>
              <a:t> </a:t>
            </a:r>
            <a:r>
              <a:rPr sz="1400" dirty="0">
                <a:latin typeface="Times New Roman"/>
                <a:cs typeface="Times New Roman"/>
              </a:rPr>
              <a:t>Processor</a:t>
            </a:r>
            <a:r>
              <a:rPr sz="1400" spc="-25" dirty="0">
                <a:latin typeface="Times New Roman"/>
                <a:cs typeface="Times New Roman"/>
              </a:rPr>
              <a:t> </a:t>
            </a:r>
            <a:r>
              <a:rPr sz="1400" spc="-10" dirty="0">
                <a:latin typeface="Times New Roman"/>
                <a:cs typeface="Times New Roman"/>
              </a:rPr>
              <a:t>Board</a:t>
            </a:r>
            <a:endParaRPr sz="1400">
              <a:latin typeface="Times New Roman"/>
              <a:cs typeface="Times New Roman"/>
            </a:endParaRPr>
          </a:p>
          <a:p>
            <a:pPr marL="97155">
              <a:lnSpc>
                <a:spcPts val="1639"/>
              </a:lnSpc>
            </a:pPr>
            <a:r>
              <a:rPr sz="1400" dirty="0">
                <a:latin typeface="Times New Roman"/>
                <a:cs typeface="Times New Roman"/>
              </a:rPr>
              <a:t>Slot</a:t>
            </a:r>
            <a:r>
              <a:rPr sz="1400" spc="-30" dirty="0">
                <a:latin typeface="Times New Roman"/>
                <a:cs typeface="Times New Roman"/>
              </a:rPr>
              <a:t> </a:t>
            </a:r>
            <a:r>
              <a:rPr sz="1400" dirty="0">
                <a:latin typeface="Times New Roman"/>
                <a:cs typeface="Times New Roman"/>
              </a:rPr>
              <a:t>21L:</a:t>
            </a:r>
            <a:r>
              <a:rPr sz="1400" spc="-25" dirty="0">
                <a:latin typeface="Times New Roman"/>
                <a:cs typeface="Times New Roman"/>
              </a:rPr>
              <a:t> </a:t>
            </a:r>
            <a:r>
              <a:rPr sz="1400" dirty="0">
                <a:latin typeface="Times New Roman"/>
                <a:cs typeface="Times New Roman"/>
              </a:rPr>
              <a:t>UPM</a:t>
            </a:r>
            <a:r>
              <a:rPr sz="1400" spc="-25" dirty="0">
                <a:latin typeface="Times New Roman"/>
                <a:cs typeface="Times New Roman"/>
              </a:rPr>
              <a:t> </a:t>
            </a:r>
            <a:r>
              <a:rPr sz="1400" dirty="0">
                <a:latin typeface="Times New Roman"/>
                <a:cs typeface="Times New Roman"/>
              </a:rPr>
              <a:t>Processor</a:t>
            </a:r>
            <a:r>
              <a:rPr sz="1400" spc="-25" dirty="0">
                <a:latin typeface="Times New Roman"/>
                <a:cs typeface="Times New Roman"/>
              </a:rPr>
              <a:t> </a:t>
            </a:r>
            <a:r>
              <a:rPr sz="1400" spc="-10" dirty="0">
                <a:latin typeface="Times New Roman"/>
                <a:cs typeface="Times New Roman"/>
              </a:rPr>
              <a:t>Board</a:t>
            </a:r>
            <a:endParaRPr sz="1400">
              <a:latin typeface="Times New Roman"/>
              <a:cs typeface="Times New Roman"/>
            </a:endParaRPr>
          </a:p>
        </p:txBody>
      </p:sp>
      <p:pic>
        <p:nvPicPr>
          <p:cNvPr id="7" name="object 7"/>
          <p:cNvPicPr/>
          <p:nvPr/>
        </p:nvPicPr>
        <p:blipFill>
          <a:blip r:embed="rId2" cstate="print"/>
          <a:stretch>
            <a:fillRect/>
          </a:stretch>
        </p:blipFill>
        <p:spPr>
          <a:xfrm>
            <a:off x="90169" y="574801"/>
            <a:ext cx="5204460" cy="496595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46923" y="0"/>
            <a:ext cx="1471930" cy="271780"/>
          </a:xfrm>
          <a:custGeom>
            <a:avLst/>
            <a:gdLst/>
            <a:ahLst/>
            <a:cxnLst/>
            <a:rect l="l" t="t" r="r" b="b"/>
            <a:pathLst>
              <a:path w="1471929" h="271780">
                <a:moveTo>
                  <a:pt x="0" y="0"/>
                </a:moveTo>
                <a:lnTo>
                  <a:pt x="0" y="271525"/>
                </a:lnTo>
                <a:lnTo>
                  <a:pt x="1471676" y="271525"/>
                </a:lnTo>
              </a:path>
            </a:pathLst>
          </a:custGeom>
          <a:ln w="9144">
            <a:solidFill>
              <a:srgbClr val="000000"/>
            </a:solidFill>
          </a:ln>
        </p:spPr>
        <p:txBody>
          <a:bodyPr wrap="square" lIns="0" tIns="0" rIns="0" bIns="0" rtlCol="0"/>
          <a:lstStyle/>
          <a:p>
            <a:endParaRPr/>
          </a:p>
        </p:txBody>
      </p:sp>
      <p:sp>
        <p:nvSpPr>
          <p:cNvPr id="3" name="object 3"/>
          <p:cNvSpPr txBox="1"/>
          <p:nvPr/>
        </p:nvSpPr>
        <p:spPr>
          <a:xfrm>
            <a:off x="8177530"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
        <p:nvSpPr>
          <p:cNvPr id="4" name="object 4"/>
          <p:cNvSpPr txBox="1">
            <a:spLocks noGrp="1"/>
          </p:cNvSpPr>
          <p:nvPr>
            <p:ph type="title"/>
          </p:nvPr>
        </p:nvSpPr>
        <p:spPr>
          <a:xfrm>
            <a:off x="2573527" y="87122"/>
            <a:ext cx="3857625" cy="407034"/>
          </a:xfrm>
          <a:prstGeom prst="rect">
            <a:avLst/>
          </a:prstGeom>
          <a:ln w="9144">
            <a:solidFill>
              <a:srgbClr val="000000"/>
            </a:solidFill>
          </a:ln>
        </p:spPr>
        <p:txBody>
          <a:bodyPr vert="horz" wrap="square" lIns="0" tIns="41275" rIns="0" bIns="0" rtlCol="0">
            <a:spAutoFit/>
          </a:bodyPr>
          <a:lstStyle/>
          <a:p>
            <a:pPr marL="256540">
              <a:lnSpc>
                <a:spcPct val="100000"/>
              </a:lnSpc>
              <a:spcBef>
                <a:spcPts val="325"/>
              </a:spcBef>
            </a:pPr>
            <a:r>
              <a:rPr sz="2000" b="1" dirty="0">
                <a:latin typeface="Times New Roman"/>
                <a:cs typeface="Times New Roman"/>
              </a:rPr>
              <a:t>System</a:t>
            </a:r>
            <a:r>
              <a:rPr sz="2000" b="1" spc="-30"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sz="2000" b="1" dirty="0">
                <a:latin typeface="Times New Roman"/>
                <a:cs typeface="Times New Roman"/>
              </a:rPr>
              <a:t>Term</a:t>
            </a:r>
            <a:r>
              <a:rPr sz="2000" b="1" spc="-25" dirty="0">
                <a:latin typeface="Times New Roman"/>
                <a:cs typeface="Times New Roman"/>
              </a:rPr>
              <a:t> </a:t>
            </a:r>
            <a:r>
              <a:rPr sz="2000" b="1" spc="-10" dirty="0">
                <a:latin typeface="Times New Roman"/>
                <a:cs typeface="Times New Roman"/>
              </a:rPr>
              <a:t>Server</a:t>
            </a:r>
            <a:endParaRPr sz="2000">
              <a:latin typeface="Times New Roman"/>
              <a:cs typeface="Times New Roman"/>
            </a:endParaRPr>
          </a:p>
        </p:txBody>
      </p:sp>
      <p:pic>
        <p:nvPicPr>
          <p:cNvPr id="5" name="object 5"/>
          <p:cNvPicPr/>
          <p:nvPr/>
        </p:nvPicPr>
        <p:blipFill>
          <a:blip r:embed="rId2" cstate="print"/>
          <a:stretch>
            <a:fillRect/>
          </a:stretch>
        </p:blipFill>
        <p:spPr>
          <a:xfrm>
            <a:off x="1225550" y="615949"/>
            <a:ext cx="6677406" cy="3865626"/>
          </a:xfrm>
          <a:prstGeom prst="rect">
            <a:avLst/>
          </a:prstGeom>
        </p:spPr>
      </p:pic>
      <p:sp>
        <p:nvSpPr>
          <p:cNvPr id="6" name="object 6"/>
          <p:cNvSpPr txBox="1"/>
          <p:nvPr/>
        </p:nvSpPr>
        <p:spPr>
          <a:xfrm>
            <a:off x="353822" y="4566920"/>
            <a:ext cx="8415655" cy="2016760"/>
          </a:xfrm>
          <a:prstGeom prst="rect">
            <a:avLst/>
          </a:prstGeom>
          <a:ln w="9144">
            <a:solidFill>
              <a:srgbClr val="000000"/>
            </a:solidFill>
          </a:ln>
        </p:spPr>
        <p:txBody>
          <a:bodyPr vert="horz" wrap="square" lIns="0" tIns="44450" rIns="0" bIns="0" rtlCol="0">
            <a:spAutoFit/>
          </a:bodyPr>
          <a:lstStyle/>
          <a:p>
            <a:pPr marL="96520" marR="164465">
              <a:lnSpc>
                <a:spcPct val="100000"/>
              </a:lnSpc>
              <a:spcBef>
                <a:spcPts val="350"/>
              </a:spcBef>
            </a:pP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Term</a:t>
            </a:r>
            <a:r>
              <a:rPr sz="1400" spc="-30" dirty="0">
                <a:latin typeface="Times New Roman"/>
                <a:cs typeface="Times New Roman"/>
              </a:rPr>
              <a:t> </a:t>
            </a:r>
            <a:r>
              <a:rPr sz="1400" dirty="0">
                <a:latin typeface="Times New Roman"/>
                <a:cs typeface="Times New Roman"/>
              </a:rPr>
              <a:t>Server</a:t>
            </a:r>
            <a:r>
              <a:rPr sz="1400" spc="-15" dirty="0">
                <a:latin typeface="Times New Roman"/>
                <a:cs typeface="Times New Roman"/>
              </a:rPr>
              <a:t> </a:t>
            </a:r>
            <a:r>
              <a:rPr sz="1400" dirty="0">
                <a:latin typeface="Times New Roman"/>
                <a:cs typeface="Times New Roman"/>
              </a:rPr>
              <a:t>permits</a:t>
            </a:r>
            <a:r>
              <a:rPr sz="1400" spc="-20" dirty="0">
                <a:latin typeface="Times New Roman"/>
                <a:cs typeface="Times New Roman"/>
              </a:rPr>
              <a:t> </a:t>
            </a:r>
            <a:r>
              <a:rPr sz="1400" dirty="0">
                <a:latin typeface="Times New Roman"/>
                <a:cs typeface="Times New Roman"/>
              </a:rPr>
              <a:t>RS-232C</a:t>
            </a:r>
            <a:r>
              <a:rPr sz="1400" spc="-15" dirty="0">
                <a:latin typeface="Times New Roman"/>
                <a:cs typeface="Times New Roman"/>
              </a:rPr>
              <a:t> </a:t>
            </a:r>
            <a:r>
              <a:rPr sz="1400" dirty="0">
                <a:latin typeface="Times New Roman"/>
                <a:cs typeface="Times New Roman"/>
              </a:rPr>
              <a:t>serial</a:t>
            </a:r>
            <a:r>
              <a:rPr sz="1400" spc="-25" dirty="0">
                <a:latin typeface="Times New Roman"/>
                <a:cs typeface="Times New Roman"/>
              </a:rPr>
              <a:t> </a:t>
            </a:r>
            <a:r>
              <a:rPr sz="1400" dirty="0">
                <a:latin typeface="Times New Roman"/>
                <a:cs typeface="Times New Roman"/>
              </a:rPr>
              <a:t>connection</a:t>
            </a:r>
            <a:r>
              <a:rPr sz="1400" spc="-2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each</a:t>
            </a:r>
            <a:r>
              <a:rPr sz="1400" spc="-2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processor</a:t>
            </a:r>
            <a:r>
              <a:rPr sz="1400" spc="-20" dirty="0">
                <a:latin typeface="Times New Roman"/>
                <a:cs typeface="Times New Roman"/>
              </a:rPr>
              <a:t> </a:t>
            </a:r>
            <a:r>
              <a:rPr sz="1400" dirty="0">
                <a:latin typeface="Times New Roman"/>
                <a:cs typeface="Times New Roman"/>
              </a:rPr>
              <a:t>boards</a:t>
            </a:r>
            <a:r>
              <a:rPr sz="1400" spc="-25" dirty="0">
                <a:latin typeface="Times New Roman"/>
                <a:cs typeface="Times New Roman"/>
              </a:rPr>
              <a:t> </a:t>
            </a:r>
            <a:r>
              <a:rPr sz="1400" dirty="0">
                <a:latin typeface="Times New Roman"/>
                <a:cs typeface="Times New Roman"/>
              </a:rPr>
              <a:t>and</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STIF</a:t>
            </a:r>
            <a:r>
              <a:rPr sz="1400" spc="-20" dirty="0">
                <a:latin typeface="Times New Roman"/>
                <a:cs typeface="Times New Roman"/>
              </a:rPr>
              <a:t> </a:t>
            </a:r>
            <a:r>
              <a:rPr sz="1400" dirty="0">
                <a:latin typeface="Times New Roman"/>
                <a:cs typeface="Times New Roman"/>
              </a:rPr>
              <a:t>Board</a:t>
            </a:r>
            <a:r>
              <a:rPr sz="1400" spc="-25" dirty="0">
                <a:latin typeface="Times New Roman"/>
                <a:cs typeface="Times New Roman"/>
              </a:rPr>
              <a:t> by </a:t>
            </a:r>
            <a:r>
              <a:rPr sz="1400" dirty="0">
                <a:latin typeface="Times New Roman"/>
                <a:cs typeface="Times New Roman"/>
              </a:rPr>
              <a:t>utilizing</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existing</a:t>
            </a:r>
            <a:r>
              <a:rPr sz="1400" spc="-25" dirty="0">
                <a:latin typeface="Times New Roman"/>
                <a:cs typeface="Times New Roman"/>
              </a:rPr>
              <a:t> </a:t>
            </a:r>
            <a:r>
              <a:rPr sz="1400" dirty="0">
                <a:latin typeface="Times New Roman"/>
                <a:cs typeface="Times New Roman"/>
              </a:rPr>
              <a:t>Ethernet</a:t>
            </a:r>
            <a:r>
              <a:rPr sz="1400" spc="-25" dirty="0">
                <a:latin typeface="Times New Roman"/>
                <a:cs typeface="Times New Roman"/>
              </a:rPr>
              <a:t> </a:t>
            </a:r>
            <a:r>
              <a:rPr sz="1400" dirty="0">
                <a:latin typeface="Times New Roman"/>
                <a:cs typeface="Times New Roman"/>
              </a:rPr>
              <a:t>link.</a:t>
            </a:r>
            <a:r>
              <a:rPr sz="1400" spc="-20" dirty="0">
                <a:latin typeface="Times New Roman"/>
                <a:cs typeface="Times New Roman"/>
              </a:rPr>
              <a:t> </a:t>
            </a:r>
            <a:r>
              <a:rPr sz="1400" dirty="0">
                <a:latin typeface="Times New Roman"/>
                <a:cs typeface="Times New Roman"/>
              </a:rPr>
              <a:t>Serial</a:t>
            </a:r>
            <a:r>
              <a:rPr sz="1400" spc="-25" dirty="0">
                <a:latin typeface="Times New Roman"/>
                <a:cs typeface="Times New Roman"/>
              </a:rPr>
              <a:t> </a:t>
            </a:r>
            <a:r>
              <a:rPr sz="1400" dirty="0">
                <a:latin typeface="Times New Roman"/>
                <a:cs typeface="Times New Roman"/>
              </a:rPr>
              <a:t>ports</a:t>
            </a:r>
            <a:r>
              <a:rPr sz="1400" spc="-20" dirty="0">
                <a:latin typeface="Times New Roman"/>
                <a:cs typeface="Times New Roman"/>
              </a:rPr>
              <a:t> </a:t>
            </a:r>
            <a:r>
              <a:rPr sz="1400" dirty="0">
                <a:latin typeface="Times New Roman"/>
                <a:cs typeface="Times New Roman"/>
              </a:rPr>
              <a:t>are</a:t>
            </a:r>
            <a:r>
              <a:rPr sz="1400" spc="-20" dirty="0">
                <a:latin typeface="Times New Roman"/>
                <a:cs typeface="Times New Roman"/>
              </a:rPr>
              <a:t> </a:t>
            </a:r>
            <a:r>
              <a:rPr sz="1400" dirty="0">
                <a:latin typeface="Times New Roman"/>
                <a:cs typeface="Times New Roman"/>
              </a:rPr>
              <a:t>selected</a:t>
            </a:r>
            <a:r>
              <a:rPr sz="1400" spc="-25" dirty="0">
                <a:latin typeface="Times New Roman"/>
                <a:cs typeface="Times New Roman"/>
              </a:rPr>
              <a:t> </a:t>
            </a:r>
            <a:r>
              <a:rPr sz="1400" dirty="0">
                <a:latin typeface="Times New Roman"/>
                <a:cs typeface="Times New Roman"/>
              </a:rPr>
              <a:t>at</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Term</a:t>
            </a:r>
            <a:r>
              <a:rPr sz="1400" spc="-30" dirty="0">
                <a:latin typeface="Times New Roman"/>
                <a:cs typeface="Times New Roman"/>
              </a:rPr>
              <a:t> </a:t>
            </a:r>
            <a:r>
              <a:rPr sz="1400" dirty="0">
                <a:latin typeface="Times New Roman"/>
                <a:cs typeface="Times New Roman"/>
              </a:rPr>
              <a:t>Server</a:t>
            </a:r>
            <a:r>
              <a:rPr sz="1400" spc="-20" dirty="0">
                <a:latin typeface="Times New Roman"/>
                <a:cs typeface="Times New Roman"/>
              </a:rPr>
              <a:t> </a:t>
            </a:r>
            <a:r>
              <a:rPr sz="1400" dirty="0">
                <a:latin typeface="Times New Roman"/>
                <a:cs typeface="Times New Roman"/>
              </a:rPr>
              <a:t>based</a:t>
            </a:r>
            <a:r>
              <a:rPr sz="1400" spc="-20" dirty="0">
                <a:latin typeface="Times New Roman"/>
                <a:cs typeface="Times New Roman"/>
              </a:rPr>
              <a:t> </a:t>
            </a:r>
            <a:r>
              <a:rPr sz="1400" dirty="0">
                <a:latin typeface="Times New Roman"/>
                <a:cs typeface="Times New Roman"/>
              </a:rPr>
              <a:t>on</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information</a:t>
            </a:r>
            <a:r>
              <a:rPr sz="1400" spc="-25" dirty="0">
                <a:latin typeface="Times New Roman"/>
                <a:cs typeface="Times New Roman"/>
              </a:rPr>
              <a:t> </a:t>
            </a:r>
            <a:r>
              <a:rPr sz="1400" spc="-10" dirty="0">
                <a:latin typeface="Times New Roman"/>
                <a:cs typeface="Times New Roman"/>
              </a:rPr>
              <a:t>received</a:t>
            </a:r>
            <a:r>
              <a:rPr sz="1400" dirty="0">
                <a:latin typeface="Times New Roman"/>
                <a:cs typeface="Times New Roman"/>
              </a:rPr>
              <a:t> in</a:t>
            </a:r>
            <a:r>
              <a:rPr sz="1400" spc="-3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Ethernet</a:t>
            </a:r>
            <a:r>
              <a:rPr sz="1400" spc="-30" dirty="0">
                <a:latin typeface="Times New Roman"/>
                <a:cs typeface="Times New Roman"/>
              </a:rPr>
              <a:t> </a:t>
            </a:r>
            <a:r>
              <a:rPr sz="1400" dirty="0">
                <a:latin typeface="Times New Roman"/>
                <a:cs typeface="Times New Roman"/>
              </a:rPr>
              <a:t>signal.</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serial</a:t>
            </a:r>
            <a:r>
              <a:rPr sz="1400" spc="-25" dirty="0">
                <a:latin typeface="Times New Roman"/>
                <a:cs typeface="Times New Roman"/>
              </a:rPr>
              <a:t> </a:t>
            </a:r>
            <a:r>
              <a:rPr sz="1400" dirty="0">
                <a:latin typeface="Times New Roman"/>
                <a:cs typeface="Times New Roman"/>
              </a:rPr>
              <a:t>lines</a:t>
            </a:r>
            <a:r>
              <a:rPr sz="1400" spc="-30" dirty="0">
                <a:latin typeface="Times New Roman"/>
                <a:cs typeface="Times New Roman"/>
              </a:rPr>
              <a:t> </a:t>
            </a:r>
            <a:r>
              <a:rPr sz="1400" dirty="0">
                <a:latin typeface="Times New Roman"/>
                <a:cs typeface="Times New Roman"/>
              </a:rPr>
              <a:t>on</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Term</a:t>
            </a:r>
            <a:r>
              <a:rPr sz="1400" spc="-25" dirty="0">
                <a:latin typeface="Times New Roman"/>
                <a:cs typeface="Times New Roman"/>
              </a:rPr>
              <a:t> </a:t>
            </a:r>
            <a:r>
              <a:rPr sz="1400" dirty="0">
                <a:latin typeface="Times New Roman"/>
                <a:cs typeface="Times New Roman"/>
              </a:rPr>
              <a:t>Server</a:t>
            </a:r>
            <a:r>
              <a:rPr sz="1400" spc="-10" dirty="0">
                <a:latin typeface="Times New Roman"/>
                <a:cs typeface="Times New Roman"/>
              </a:rPr>
              <a:t> </a:t>
            </a:r>
            <a:r>
              <a:rPr sz="1400" dirty="0">
                <a:latin typeface="Times New Roman"/>
                <a:cs typeface="Times New Roman"/>
              </a:rPr>
              <a:t>are</a:t>
            </a:r>
            <a:r>
              <a:rPr sz="1400" spc="-20" dirty="0">
                <a:latin typeface="Times New Roman"/>
                <a:cs typeface="Times New Roman"/>
              </a:rPr>
              <a:t> </a:t>
            </a:r>
            <a:r>
              <a:rPr sz="1400" dirty="0">
                <a:latin typeface="Times New Roman"/>
                <a:cs typeface="Times New Roman"/>
              </a:rPr>
              <a:t>connected</a:t>
            </a:r>
            <a:r>
              <a:rPr sz="1400" spc="-25" dirty="0">
                <a:latin typeface="Times New Roman"/>
                <a:cs typeface="Times New Roman"/>
              </a:rPr>
              <a:t> </a:t>
            </a:r>
            <a:r>
              <a:rPr sz="1400" dirty="0">
                <a:latin typeface="Times New Roman"/>
                <a:cs typeface="Times New Roman"/>
              </a:rPr>
              <a:t>as</a:t>
            </a:r>
            <a:r>
              <a:rPr sz="1400" spc="-20" dirty="0">
                <a:latin typeface="Times New Roman"/>
                <a:cs typeface="Times New Roman"/>
              </a:rPr>
              <a:t> </a:t>
            </a:r>
            <a:r>
              <a:rPr sz="1400" dirty="0">
                <a:latin typeface="Times New Roman"/>
                <a:cs typeface="Times New Roman"/>
              </a:rPr>
              <a:t>follows:</a:t>
            </a:r>
            <a:r>
              <a:rPr sz="1400" spc="305" dirty="0">
                <a:latin typeface="Times New Roman"/>
                <a:cs typeface="Times New Roman"/>
              </a:rPr>
              <a:t> </a:t>
            </a:r>
            <a:r>
              <a:rPr sz="1400" dirty="0">
                <a:latin typeface="Times New Roman"/>
                <a:cs typeface="Times New Roman"/>
              </a:rPr>
              <a:t>Port</a:t>
            </a:r>
            <a:r>
              <a:rPr sz="1400" spc="-30" dirty="0">
                <a:latin typeface="Times New Roman"/>
                <a:cs typeface="Times New Roman"/>
              </a:rPr>
              <a:t> </a:t>
            </a:r>
            <a:r>
              <a:rPr sz="1400" dirty="0">
                <a:latin typeface="Times New Roman"/>
                <a:cs typeface="Times New Roman"/>
              </a:rPr>
              <a:t>1</a:t>
            </a:r>
            <a:r>
              <a:rPr sz="1400" spc="-25" dirty="0">
                <a:latin typeface="Times New Roman"/>
                <a:cs typeface="Times New Roman"/>
              </a:rPr>
              <a:t> </a:t>
            </a:r>
            <a:r>
              <a:rPr sz="1400" dirty="0">
                <a:latin typeface="Times New Roman"/>
                <a:cs typeface="Times New Roman"/>
              </a:rPr>
              <a:t>connects</a:t>
            </a:r>
            <a:r>
              <a:rPr sz="1400" spc="-3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spc="-20" dirty="0">
                <a:latin typeface="Times New Roman"/>
                <a:cs typeface="Times New Roman"/>
              </a:rPr>
              <a:t>APS, </a:t>
            </a:r>
            <a:r>
              <a:rPr sz="1400" dirty="0">
                <a:latin typeface="Times New Roman"/>
                <a:cs typeface="Times New Roman"/>
              </a:rPr>
              <a:t>Port</a:t>
            </a:r>
            <a:r>
              <a:rPr sz="1400" spc="-20" dirty="0">
                <a:latin typeface="Times New Roman"/>
                <a:cs typeface="Times New Roman"/>
              </a:rPr>
              <a:t> </a:t>
            </a:r>
            <a:r>
              <a:rPr sz="1400" dirty="0">
                <a:latin typeface="Times New Roman"/>
                <a:cs typeface="Times New Roman"/>
              </a:rPr>
              <a:t>2</a:t>
            </a:r>
            <a:r>
              <a:rPr sz="1400" spc="-20" dirty="0">
                <a:latin typeface="Times New Roman"/>
                <a:cs typeface="Times New Roman"/>
              </a:rPr>
              <a:t> </a:t>
            </a:r>
            <a:r>
              <a:rPr sz="1400" dirty="0">
                <a:latin typeface="Times New Roman"/>
                <a:cs typeface="Times New Roman"/>
              </a:rPr>
              <a:t>connects</a:t>
            </a:r>
            <a:r>
              <a:rPr sz="1400" spc="-15"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AGP,</a:t>
            </a:r>
            <a:r>
              <a:rPr sz="1400" spc="-15" dirty="0">
                <a:latin typeface="Times New Roman"/>
                <a:cs typeface="Times New Roman"/>
              </a:rPr>
              <a:t> </a:t>
            </a:r>
            <a:r>
              <a:rPr sz="1400" dirty="0">
                <a:latin typeface="Times New Roman"/>
                <a:cs typeface="Times New Roman"/>
              </a:rPr>
              <a:t>Port</a:t>
            </a:r>
            <a:r>
              <a:rPr sz="1400" spc="-20" dirty="0">
                <a:latin typeface="Times New Roman"/>
                <a:cs typeface="Times New Roman"/>
              </a:rPr>
              <a:t> </a:t>
            </a:r>
            <a:r>
              <a:rPr sz="1400" dirty="0">
                <a:latin typeface="Times New Roman"/>
                <a:cs typeface="Times New Roman"/>
              </a:rPr>
              <a:t>3</a:t>
            </a:r>
            <a:r>
              <a:rPr sz="1400" spc="-15" dirty="0">
                <a:latin typeface="Times New Roman"/>
                <a:cs typeface="Times New Roman"/>
              </a:rPr>
              <a:t> </a:t>
            </a:r>
            <a:r>
              <a:rPr sz="1400" dirty="0">
                <a:latin typeface="Times New Roman"/>
                <a:cs typeface="Times New Roman"/>
              </a:rPr>
              <a:t>connects</a:t>
            </a:r>
            <a:r>
              <a:rPr sz="1400" spc="-15" dirty="0">
                <a:latin typeface="Times New Roman"/>
                <a:cs typeface="Times New Roman"/>
              </a:rPr>
              <a:t> </a:t>
            </a:r>
            <a:r>
              <a:rPr sz="1400" dirty="0">
                <a:latin typeface="Times New Roman"/>
                <a:cs typeface="Times New Roman"/>
              </a:rPr>
              <a:t>to</a:t>
            </a:r>
            <a:r>
              <a:rPr sz="1400" spc="-15" dirty="0">
                <a:latin typeface="Times New Roman"/>
                <a:cs typeface="Times New Roman"/>
              </a:rPr>
              <a:t> </a:t>
            </a:r>
            <a:r>
              <a:rPr sz="1400" dirty="0">
                <a:latin typeface="Times New Roman"/>
                <a:cs typeface="Times New Roman"/>
              </a:rPr>
              <a:t>the</a:t>
            </a:r>
            <a:r>
              <a:rPr sz="1400" spc="-10" dirty="0">
                <a:latin typeface="Times New Roman"/>
                <a:cs typeface="Times New Roman"/>
              </a:rPr>
              <a:t> </a:t>
            </a:r>
            <a:r>
              <a:rPr sz="1400" dirty="0">
                <a:latin typeface="Times New Roman"/>
                <a:cs typeface="Times New Roman"/>
              </a:rPr>
              <a:t>SCP,</a:t>
            </a:r>
            <a:r>
              <a:rPr sz="1400" spc="-15" dirty="0">
                <a:latin typeface="Times New Roman"/>
                <a:cs typeface="Times New Roman"/>
              </a:rPr>
              <a:t> </a:t>
            </a:r>
            <a:r>
              <a:rPr sz="1400" dirty="0">
                <a:latin typeface="Times New Roman"/>
                <a:cs typeface="Times New Roman"/>
              </a:rPr>
              <a:t>and</a:t>
            </a:r>
            <a:r>
              <a:rPr sz="1400" spc="-15" dirty="0">
                <a:latin typeface="Times New Roman"/>
                <a:cs typeface="Times New Roman"/>
              </a:rPr>
              <a:t> </a:t>
            </a:r>
            <a:r>
              <a:rPr sz="1400" dirty="0">
                <a:latin typeface="Times New Roman"/>
                <a:cs typeface="Times New Roman"/>
              </a:rPr>
              <a:t>Port</a:t>
            </a:r>
            <a:r>
              <a:rPr sz="1400" spc="-15" dirty="0">
                <a:latin typeface="Times New Roman"/>
                <a:cs typeface="Times New Roman"/>
              </a:rPr>
              <a:t> </a:t>
            </a:r>
            <a:r>
              <a:rPr sz="1400" dirty="0">
                <a:latin typeface="Times New Roman"/>
                <a:cs typeface="Times New Roman"/>
              </a:rPr>
              <a:t>4</a:t>
            </a:r>
            <a:r>
              <a:rPr sz="1400" spc="-15" dirty="0">
                <a:latin typeface="Times New Roman"/>
                <a:cs typeface="Times New Roman"/>
              </a:rPr>
              <a:t> </a:t>
            </a:r>
            <a:r>
              <a:rPr sz="1400" dirty="0">
                <a:latin typeface="Times New Roman"/>
                <a:cs typeface="Times New Roman"/>
              </a:rPr>
              <a:t>connects</a:t>
            </a:r>
            <a:r>
              <a:rPr sz="1400" spc="-20" dirty="0">
                <a:latin typeface="Times New Roman"/>
                <a:cs typeface="Times New Roman"/>
              </a:rPr>
              <a:t> </a:t>
            </a:r>
            <a:r>
              <a:rPr sz="1400" dirty="0">
                <a:latin typeface="Times New Roman"/>
                <a:cs typeface="Times New Roman"/>
              </a:rPr>
              <a:t>to</a:t>
            </a:r>
            <a:r>
              <a:rPr sz="1400" spc="-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Host</a:t>
            </a:r>
            <a:r>
              <a:rPr sz="1400" spc="-15" dirty="0">
                <a:latin typeface="Times New Roman"/>
                <a:cs typeface="Times New Roman"/>
              </a:rPr>
              <a:t> </a:t>
            </a:r>
            <a:r>
              <a:rPr sz="1400" dirty="0">
                <a:latin typeface="Times New Roman"/>
                <a:cs typeface="Times New Roman"/>
              </a:rPr>
              <a:t>serial</a:t>
            </a:r>
            <a:r>
              <a:rPr sz="1400" spc="-20" dirty="0">
                <a:latin typeface="Times New Roman"/>
                <a:cs typeface="Times New Roman"/>
              </a:rPr>
              <a:t> </a:t>
            </a:r>
            <a:r>
              <a:rPr sz="1400" dirty="0">
                <a:latin typeface="Times New Roman"/>
                <a:cs typeface="Times New Roman"/>
              </a:rPr>
              <a:t>reset</a:t>
            </a:r>
            <a:r>
              <a:rPr sz="1400" spc="-20" dirty="0">
                <a:latin typeface="Times New Roman"/>
                <a:cs typeface="Times New Roman"/>
              </a:rPr>
              <a:t> </a:t>
            </a:r>
            <a:r>
              <a:rPr sz="1400" dirty="0">
                <a:latin typeface="Times New Roman"/>
                <a:cs typeface="Times New Roman"/>
              </a:rPr>
              <a:t>port</a:t>
            </a:r>
            <a:r>
              <a:rPr sz="1400" spc="-15"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spc="-25" dirty="0">
                <a:latin typeface="Times New Roman"/>
                <a:cs typeface="Times New Roman"/>
              </a:rPr>
              <a:t>the </a:t>
            </a:r>
            <a:r>
              <a:rPr sz="1400" dirty="0">
                <a:latin typeface="Times New Roman"/>
                <a:cs typeface="Times New Roman"/>
              </a:rPr>
              <a:t>STIF</a:t>
            </a:r>
            <a:r>
              <a:rPr sz="1400" spc="-25" dirty="0">
                <a:latin typeface="Times New Roman"/>
                <a:cs typeface="Times New Roman"/>
              </a:rPr>
              <a:t> </a:t>
            </a:r>
            <a:r>
              <a:rPr sz="1400" dirty="0">
                <a:latin typeface="Times New Roman"/>
                <a:cs typeface="Times New Roman"/>
              </a:rPr>
              <a:t>Board.</a:t>
            </a:r>
            <a:r>
              <a:rPr sz="1400" spc="-20" dirty="0">
                <a:latin typeface="Times New Roman"/>
                <a:cs typeface="Times New Roman"/>
              </a:rPr>
              <a:t> </a:t>
            </a:r>
            <a:r>
              <a:rPr sz="1400" dirty="0">
                <a:latin typeface="Times New Roman"/>
                <a:cs typeface="Times New Roman"/>
              </a:rPr>
              <a:t>With</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exception</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Port</a:t>
            </a:r>
            <a:r>
              <a:rPr sz="1400" spc="-20" dirty="0">
                <a:latin typeface="Times New Roman"/>
                <a:cs typeface="Times New Roman"/>
              </a:rPr>
              <a:t> </a:t>
            </a:r>
            <a:r>
              <a:rPr sz="1400" dirty="0">
                <a:latin typeface="Times New Roman"/>
                <a:cs typeface="Times New Roman"/>
              </a:rPr>
              <a:t>4</a:t>
            </a:r>
            <a:r>
              <a:rPr sz="1400" spc="-20" dirty="0">
                <a:latin typeface="Times New Roman"/>
                <a:cs typeface="Times New Roman"/>
              </a:rPr>
              <a:t> </a:t>
            </a:r>
            <a:r>
              <a:rPr sz="1400" spc="-10" dirty="0">
                <a:latin typeface="Times New Roman"/>
                <a:cs typeface="Times New Roman"/>
              </a:rPr>
              <a:t>connection</a:t>
            </a:r>
            <a:r>
              <a:rPr sz="1400" spc="-20"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STIF</a:t>
            </a:r>
            <a:r>
              <a:rPr sz="1400" spc="-20" dirty="0">
                <a:latin typeface="Times New Roman"/>
                <a:cs typeface="Times New Roman"/>
              </a:rPr>
              <a:t> </a:t>
            </a:r>
            <a:r>
              <a:rPr sz="1400" dirty="0">
                <a:latin typeface="Times New Roman"/>
                <a:cs typeface="Times New Roman"/>
              </a:rPr>
              <a:t>Board,</a:t>
            </a:r>
            <a:r>
              <a:rPr sz="1400" spc="-25" dirty="0">
                <a:latin typeface="Times New Roman"/>
                <a:cs typeface="Times New Roman"/>
              </a:rPr>
              <a:t> </a:t>
            </a:r>
            <a:r>
              <a:rPr sz="1400" dirty="0">
                <a:latin typeface="Times New Roman"/>
                <a:cs typeface="Times New Roman"/>
              </a:rPr>
              <a:t>it</a:t>
            </a:r>
            <a:r>
              <a:rPr sz="1400" spc="-20"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not</a:t>
            </a:r>
            <a:r>
              <a:rPr sz="1400" spc="-20" dirty="0">
                <a:latin typeface="Times New Roman"/>
                <a:cs typeface="Times New Roman"/>
              </a:rPr>
              <a:t> </a:t>
            </a:r>
            <a:r>
              <a:rPr sz="1400" dirty="0">
                <a:latin typeface="Times New Roman"/>
                <a:cs typeface="Times New Roman"/>
              </a:rPr>
              <a:t>necessary</a:t>
            </a:r>
            <a:r>
              <a:rPr sz="1400" spc="-25"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dirty="0">
                <a:latin typeface="Times New Roman"/>
                <a:cs typeface="Times New Roman"/>
              </a:rPr>
              <a:t>any</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10" dirty="0">
                <a:latin typeface="Times New Roman"/>
                <a:cs typeface="Times New Roman"/>
              </a:rPr>
              <a:t>other </a:t>
            </a:r>
            <a:r>
              <a:rPr sz="1400" dirty="0">
                <a:latin typeface="Times New Roman"/>
                <a:cs typeface="Times New Roman"/>
              </a:rPr>
              <a:t>serial</a:t>
            </a:r>
            <a:r>
              <a:rPr sz="1400" spc="-20" dirty="0">
                <a:latin typeface="Times New Roman"/>
                <a:cs typeface="Times New Roman"/>
              </a:rPr>
              <a:t> </a:t>
            </a:r>
            <a:r>
              <a:rPr sz="1400" dirty="0">
                <a:latin typeface="Times New Roman"/>
                <a:cs typeface="Times New Roman"/>
              </a:rPr>
              <a:t>ports</a:t>
            </a:r>
            <a:r>
              <a:rPr sz="1400" spc="-15"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be</a:t>
            </a:r>
            <a:r>
              <a:rPr sz="1400" spc="-15" dirty="0">
                <a:latin typeface="Times New Roman"/>
                <a:cs typeface="Times New Roman"/>
              </a:rPr>
              <a:t> </a:t>
            </a:r>
            <a:r>
              <a:rPr sz="1400" dirty="0">
                <a:latin typeface="Times New Roman"/>
                <a:cs typeface="Times New Roman"/>
              </a:rPr>
              <a:t>functional</a:t>
            </a:r>
            <a:r>
              <a:rPr sz="1400" spc="-15" dirty="0">
                <a:latin typeface="Times New Roman"/>
                <a:cs typeface="Times New Roman"/>
              </a:rPr>
              <a:t> </a:t>
            </a:r>
            <a:r>
              <a:rPr sz="1400" dirty="0">
                <a:latin typeface="Times New Roman"/>
                <a:cs typeface="Times New Roman"/>
              </a:rPr>
              <a:t>in</a:t>
            </a:r>
            <a:r>
              <a:rPr sz="1400" spc="-20" dirty="0">
                <a:latin typeface="Times New Roman"/>
                <a:cs typeface="Times New Roman"/>
              </a:rPr>
              <a:t> </a:t>
            </a:r>
            <a:r>
              <a:rPr sz="1400" dirty="0">
                <a:latin typeface="Times New Roman"/>
                <a:cs typeface="Times New Roman"/>
              </a:rPr>
              <a:t>order</a:t>
            </a:r>
            <a:r>
              <a:rPr sz="1400" spc="-10" dirty="0">
                <a:latin typeface="Times New Roman"/>
                <a:cs typeface="Times New Roman"/>
              </a:rPr>
              <a:t> </a:t>
            </a:r>
            <a:r>
              <a:rPr sz="1400" dirty="0">
                <a:latin typeface="Times New Roman"/>
                <a:cs typeface="Times New Roman"/>
              </a:rPr>
              <a:t>for</a:t>
            </a:r>
            <a:r>
              <a:rPr sz="1400" spc="-1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system</a:t>
            </a:r>
            <a:r>
              <a:rPr sz="1400" spc="-10" dirty="0">
                <a:latin typeface="Times New Roman"/>
                <a:cs typeface="Times New Roman"/>
              </a:rPr>
              <a:t> </a:t>
            </a:r>
            <a:r>
              <a:rPr sz="1400" dirty="0">
                <a:latin typeface="Times New Roman"/>
                <a:cs typeface="Times New Roman"/>
              </a:rPr>
              <a:t>to</a:t>
            </a:r>
            <a:r>
              <a:rPr sz="1400" spc="-10" dirty="0">
                <a:latin typeface="Times New Roman"/>
                <a:cs typeface="Times New Roman"/>
              </a:rPr>
              <a:t> </a:t>
            </a:r>
            <a:r>
              <a:rPr sz="1400" dirty="0">
                <a:latin typeface="Times New Roman"/>
                <a:cs typeface="Times New Roman"/>
              </a:rPr>
              <a:t>boot</a:t>
            </a:r>
            <a:r>
              <a:rPr sz="1400" spc="-15" dirty="0">
                <a:latin typeface="Times New Roman"/>
                <a:cs typeface="Times New Roman"/>
              </a:rPr>
              <a:t> </a:t>
            </a:r>
            <a:r>
              <a:rPr sz="1400" dirty="0">
                <a:latin typeface="Times New Roman"/>
                <a:cs typeface="Times New Roman"/>
              </a:rPr>
              <a:t>or</a:t>
            </a:r>
            <a:r>
              <a:rPr sz="1400" spc="-10"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MGD</a:t>
            </a:r>
            <a:r>
              <a:rPr sz="1400" spc="-15"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reset.</a:t>
            </a:r>
            <a:r>
              <a:rPr sz="1400" spc="-15" dirty="0">
                <a:latin typeface="Times New Roman"/>
                <a:cs typeface="Times New Roman"/>
              </a:rPr>
              <a:t> </a:t>
            </a:r>
            <a:r>
              <a:rPr sz="1400" dirty="0">
                <a:latin typeface="Times New Roman"/>
                <a:cs typeface="Times New Roman"/>
              </a:rPr>
              <a:t>If</a:t>
            </a:r>
            <a:r>
              <a:rPr sz="1400" spc="-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Port</a:t>
            </a:r>
            <a:r>
              <a:rPr sz="1400" spc="-15" dirty="0">
                <a:latin typeface="Times New Roman"/>
                <a:cs typeface="Times New Roman"/>
              </a:rPr>
              <a:t> </a:t>
            </a:r>
            <a:r>
              <a:rPr sz="1400" dirty="0">
                <a:latin typeface="Times New Roman"/>
                <a:cs typeface="Times New Roman"/>
              </a:rPr>
              <a:t>4</a:t>
            </a:r>
            <a:r>
              <a:rPr sz="1400" spc="-15" dirty="0">
                <a:latin typeface="Times New Roman"/>
                <a:cs typeface="Times New Roman"/>
              </a:rPr>
              <a:t> </a:t>
            </a:r>
            <a:r>
              <a:rPr sz="1400" dirty="0">
                <a:latin typeface="Times New Roman"/>
                <a:cs typeface="Times New Roman"/>
              </a:rPr>
              <a:t>serial</a:t>
            </a:r>
            <a:r>
              <a:rPr sz="1400" spc="-20" dirty="0">
                <a:latin typeface="Times New Roman"/>
                <a:cs typeface="Times New Roman"/>
              </a:rPr>
              <a:t> </a:t>
            </a:r>
            <a:r>
              <a:rPr sz="1400" spc="-10" dirty="0">
                <a:latin typeface="Times New Roman"/>
                <a:cs typeface="Times New Roman"/>
              </a:rPr>
              <a:t>connection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not</a:t>
            </a:r>
            <a:r>
              <a:rPr sz="1400" spc="-25" dirty="0">
                <a:latin typeface="Times New Roman"/>
                <a:cs typeface="Times New Roman"/>
              </a:rPr>
              <a:t> </a:t>
            </a:r>
            <a:r>
              <a:rPr sz="1400" dirty="0">
                <a:latin typeface="Times New Roman"/>
                <a:cs typeface="Times New Roman"/>
              </a:rPr>
              <a:t>functioning,</a:t>
            </a:r>
            <a:r>
              <a:rPr sz="1400" spc="-25" dirty="0">
                <a:latin typeface="Times New Roman"/>
                <a:cs typeface="Times New Roman"/>
              </a:rPr>
              <a:t> </a:t>
            </a:r>
            <a:r>
              <a:rPr sz="1400" dirty="0">
                <a:latin typeface="Times New Roman"/>
                <a:cs typeface="Times New Roman"/>
              </a:rPr>
              <a:t>it</a:t>
            </a:r>
            <a:r>
              <a:rPr sz="1400" spc="-25" dirty="0">
                <a:latin typeface="Times New Roman"/>
                <a:cs typeface="Times New Roman"/>
              </a:rPr>
              <a:t> </a:t>
            </a:r>
            <a:r>
              <a:rPr sz="1400" dirty="0">
                <a:latin typeface="Times New Roman"/>
                <a:cs typeface="Times New Roman"/>
              </a:rPr>
              <a:t>may</a:t>
            </a:r>
            <a:r>
              <a:rPr sz="1400" spc="-25" dirty="0">
                <a:latin typeface="Times New Roman"/>
                <a:cs typeface="Times New Roman"/>
              </a:rPr>
              <a:t> </a:t>
            </a:r>
            <a:r>
              <a:rPr sz="1400" dirty="0">
                <a:latin typeface="Times New Roman"/>
                <a:cs typeface="Times New Roman"/>
              </a:rPr>
              <a:t>not</a:t>
            </a:r>
            <a:r>
              <a:rPr sz="1400" spc="-20" dirty="0">
                <a:latin typeface="Times New Roman"/>
                <a:cs typeface="Times New Roman"/>
              </a:rPr>
              <a:t> </a:t>
            </a:r>
            <a:r>
              <a:rPr sz="1400" dirty="0">
                <a:latin typeface="Times New Roman"/>
                <a:cs typeface="Times New Roman"/>
              </a:rPr>
              <a:t>be</a:t>
            </a:r>
            <a:r>
              <a:rPr sz="1400" spc="-25" dirty="0">
                <a:latin typeface="Times New Roman"/>
                <a:cs typeface="Times New Roman"/>
              </a:rPr>
              <a:t> </a:t>
            </a:r>
            <a:r>
              <a:rPr sz="1400" dirty="0">
                <a:latin typeface="Times New Roman"/>
                <a:cs typeface="Times New Roman"/>
              </a:rPr>
              <a:t>possible</a:t>
            </a:r>
            <a:r>
              <a:rPr sz="1400" spc="-2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complete</a:t>
            </a:r>
            <a:r>
              <a:rPr sz="1400" spc="-15"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dirty="0">
                <a:latin typeface="Times New Roman"/>
                <a:cs typeface="Times New Roman"/>
              </a:rPr>
              <a:t>TPS</a:t>
            </a:r>
            <a:r>
              <a:rPr sz="1400" spc="-25" dirty="0">
                <a:latin typeface="Times New Roman"/>
                <a:cs typeface="Times New Roman"/>
              </a:rPr>
              <a:t> </a:t>
            </a:r>
            <a:r>
              <a:rPr sz="1400" dirty="0">
                <a:latin typeface="Times New Roman"/>
                <a:cs typeface="Times New Roman"/>
              </a:rPr>
              <a:t>Reset</a:t>
            </a:r>
            <a:r>
              <a:rPr sz="1400" spc="-20" dirty="0">
                <a:latin typeface="Times New Roman"/>
                <a:cs typeface="Times New Roman"/>
              </a:rPr>
              <a:t> </a:t>
            </a:r>
            <a:r>
              <a:rPr sz="1400" dirty="0">
                <a:latin typeface="Times New Roman"/>
                <a:cs typeface="Times New Roman"/>
              </a:rPr>
              <a:t>from</a:t>
            </a:r>
            <a:r>
              <a:rPr sz="1400" spc="-2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Host.</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Ethernet</a:t>
            </a:r>
            <a:r>
              <a:rPr sz="1400" spc="-25" dirty="0">
                <a:latin typeface="Times New Roman"/>
                <a:cs typeface="Times New Roman"/>
              </a:rPr>
              <a:t> </a:t>
            </a:r>
            <a:r>
              <a:rPr sz="1400" dirty="0">
                <a:latin typeface="Times New Roman"/>
                <a:cs typeface="Times New Roman"/>
              </a:rPr>
              <a:t>cable</a:t>
            </a:r>
            <a:r>
              <a:rPr sz="1400" spc="-20" dirty="0">
                <a:latin typeface="Times New Roman"/>
                <a:cs typeface="Times New Roman"/>
              </a:rPr>
              <a:t> </a:t>
            </a:r>
            <a:r>
              <a:rPr sz="1400" dirty="0">
                <a:latin typeface="Times New Roman"/>
                <a:cs typeface="Times New Roman"/>
              </a:rPr>
              <a:t>from</a:t>
            </a:r>
            <a:r>
              <a:rPr sz="1400" spc="-25" dirty="0">
                <a:latin typeface="Times New Roman"/>
                <a:cs typeface="Times New Roman"/>
              </a:rPr>
              <a:t> the</a:t>
            </a:r>
            <a:r>
              <a:rPr sz="1400" spc="500" dirty="0">
                <a:latin typeface="Times New Roman"/>
                <a:cs typeface="Times New Roman"/>
              </a:rPr>
              <a:t> </a:t>
            </a:r>
            <a:r>
              <a:rPr sz="1400" dirty="0">
                <a:latin typeface="Times New Roman"/>
                <a:cs typeface="Times New Roman"/>
              </a:rPr>
              <a:t>Term</a:t>
            </a:r>
            <a:r>
              <a:rPr sz="1400" spc="-15" dirty="0">
                <a:latin typeface="Times New Roman"/>
                <a:cs typeface="Times New Roman"/>
              </a:rPr>
              <a:t> </a:t>
            </a:r>
            <a:r>
              <a:rPr sz="1400" dirty="0">
                <a:latin typeface="Times New Roman"/>
                <a:cs typeface="Times New Roman"/>
              </a:rPr>
              <a:t>Server</a:t>
            </a:r>
            <a:r>
              <a:rPr sz="1400" spc="-15" dirty="0">
                <a:latin typeface="Times New Roman"/>
                <a:cs typeface="Times New Roman"/>
              </a:rPr>
              <a:t> </a:t>
            </a:r>
            <a:r>
              <a:rPr sz="1400" dirty="0">
                <a:latin typeface="Times New Roman"/>
                <a:cs typeface="Times New Roman"/>
              </a:rPr>
              <a:t>can</a:t>
            </a:r>
            <a:r>
              <a:rPr sz="1400" spc="-15" dirty="0">
                <a:latin typeface="Times New Roman"/>
                <a:cs typeface="Times New Roman"/>
              </a:rPr>
              <a:t> </a:t>
            </a:r>
            <a:r>
              <a:rPr sz="1400" dirty="0">
                <a:latin typeface="Times New Roman"/>
                <a:cs typeface="Times New Roman"/>
              </a:rPr>
              <a:t>connect</a:t>
            </a:r>
            <a:r>
              <a:rPr sz="1400" spc="-15" dirty="0">
                <a:latin typeface="Times New Roman"/>
                <a:cs typeface="Times New Roman"/>
              </a:rPr>
              <a:t> </a:t>
            </a:r>
            <a:r>
              <a:rPr sz="1400" dirty="0">
                <a:latin typeface="Times New Roman"/>
                <a:cs typeface="Times New Roman"/>
              </a:rPr>
              <a:t>to</a:t>
            </a:r>
            <a:r>
              <a:rPr sz="1400" spc="-15" dirty="0">
                <a:latin typeface="Times New Roman"/>
                <a:cs typeface="Times New Roman"/>
              </a:rPr>
              <a:t> </a:t>
            </a:r>
            <a:r>
              <a:rPr sz="1400" dirty="0">
                <a:latin typeface="Times New Roman"/>
                <a:cs typeface="Times New Roman"/>
              </a:rPr>
              <a:t>any</a:t>
            </a:r>
            <a:r>
              <a:rPr sz="1400" spc="-20" dirty="0">
                <a:latin typeface="Times New Roman"/>
                <a:cs typeface="Times New Roman"/>
              </a:rPr>
              <a:t> </a:t>
            </a:r>
            <a:r>
              <a:rPr sz="1400" dirty="0">
                <a:latin typeface="Times New Roman"/>
                <a:cs typeface="Times New Roman"/>
              </a:rPr>
              <a:t>open</a:t>
            </a:r>
            <a:r>
              <a:rPr sz="1400" spc="-20" dirty="0">
                <a:latin typeface="Times New Roman"/>
                <a:cs typeface="Times New Roman"/>
              </a:rPr>
              <a:t> </a:t>
            </a:r>
            <a:r>
              <a:rPr sz="1400" dirty="0">
                <a:latin typeface="Times New Roman"/>
                <a:cs typeface="Times New Roman"/>
              </a:rPr>
              <a:t>port</a:t>
            </a:r>
            <a:r>
              <a:rPr sz="1400" spc="-15"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Ethernet</a:t>
            </a:r>
            <a:r>
              <a:rPr sz="1400" spc="-20" dirty="0">
                <a:latin typeface="Times New Roman"/>
                <a:cs typeface="Times New Roman"/>
              </a:rPr>
              <a:t> </a:t>
            </a:r>
            <a:r>
              <a:rPr sz="1400" dirty="0">
                <a:latin typeface="Times New Roman"/>
                <a:cs typeface="Times New Roman"/>
              </a:rPr>
              <a:t>Switch.</a:t>
            </a:r>
            <a:r>
              <a:rPr sz="1400" spc="-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Term</a:t>
            </a:r>
            <a:r>
              <a:rPr sz="1400" spc="-35" dirty="0">
                <a:latin typeface="Times New Roman"/>
                <a:cs typeface="Times New Roman"/>
              </a:rPr>
              <a:t> </a:t>
            </a:r>
            <a:r>
              <a:rPr sz="1400" dirty="0">
                <a:latin typeface="Times New Roman"/>
                <a:cs typeface="Times New Roman"/>
              </a:rPr>
              <a:t>Server</a:t>
            </a:r>
            <a:r>
              <a:rPr sz="1400" spc="-15"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physically</a:t>
            </a:r>
            <a:r>
              <a:rPr sz="1400" spc="-20" dirty="0">
                <a:latin typeface="Times New Roman"/>
                <a:cs typeface="Times New Roman"/>
              </a:rPr>
              <a:t> </a:t>
            </a:r>
            <a:r>
              <a:rPr sz="1400" dirty="0">
                <a:latin typeface="Times New Roman"/>
                <a:cs typeface="Times New Roman"/>
              </a:rPr>
              <a:t>located</a:t>
            </a:r>
            <a:r>
              <a:rPr sz="1400" spc="-20" dirty="0">
                <a:latin typeface="Times New Roman"/>
                <a:cs typeface="Times New Roman"/>
              </a:rPr>
              <a:t> </a:t>
            </a:r>
            <a:r>
              <a:rPr sz="1400" dirty="0">
                <a:latin typeface="Times New Roman"/>
                <a:cs typeface="Times New Roman"/>
              </a:rPr>
              <a:t>next</a:t>
            </a:r>
            <a:r>
              <a:rPr sz="1400" spc="-15" dirty="0">
                <a:latin typeface="Times New Roman"/>
                <a:cs typeface="Times New Roman"/>
              </a:rPr>
              <a:t> </a:t>
            </a:r>
            <a:r>
              <a:rPr sz="1400" spc="-25" dirty="0">
                <a:latin typeface="Times New Roman"/>
                <a:cs typeface="Times New Roman"/>
              </a:rPr>
              <a:t>to </a:t>
            </a: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Ethernet</a:t>
            </a:r>
            <a:r>
              <a:rPr sz="1400" spc="-35" dirty="0">
                <a:latin typeface="Times New Roman"/>
                <a:cs typeface="Times New Roman"/>
              </a:rPr>
              <a:t> </a:t>
            </a:r>
            <a:r>
              <a:rPr sz="1400" spc="-10" dirty="0">
                <a:latin typeface="Times New Roman"/>
                <a:cs typeface="Times New Roman"/>
              </a:rPr>
              <a:t>Switch.</a:t>
            </a:r>
            <a:endParaRPr sz="140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a:solidFill>
                  <a:schemeClr val="accent1">
                    <a:lumMod val="75000"/>
                  </a:schemeClr>
                </a:solidFill>
              </a:rPr>
              <a:t>Term Server</a:t>
            </a:r>
          </a:p>
        </p:txBody>
      </p:sp>
      <p:pic>
        <p:nvPicPr>
          <p:cNvPr id="2050" name="Picture 2" descr="C:\Users\ruben.beltran\Google Drive\MR Training\Pictures\20150824_215117440_iOS.jpg"/>
          <p:cNvPicPr>
            <a:picLocks noGrp="1" noChangeAspect="1" noChangeArrowheads="1"/>
          </p:cNvPicPr>
          <p:nvPr>
            <p:ph sz="half" idx="2"/>
          </p:nvPr>
        </p:nvPicPr>
        <p:blipFill>
          <a:blip r:embed="rId2" cstate="print"/>
          <a:srcRect/>
          <a:stretch>
            <a:fillRect/>
          </a:stretch>
        </p:blipFill>
        <p:spPr bwMode="auto">
          <a:xfrm rot="5400000">
            <a:off x="2838497" y="1138767"/>
            <a:ext cx="5870975" cy="4403231"/>
          </a:xfrm>
          <a:prstGeom prst="rect">
            <a:avLst/>
          </a:prstGeom>
          <a:noFill/>
        </p:spPr>
      </p:pic>
      <p:sp>
        <p:nvSpPr>
          <p:cNvPr id="7" name="Oval 6"/>
          <p:cNvSpPr/>
          <p:nvPr/>
        </p:nvSpPr>
        <p:spPr>
          <a:xfrm>
            <a:off x="4862971" y="3492218"/>
            <a:ext cx="2353451" cy="3036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4"/>
          <p:cNvSpPr>
            <a:spLocks noGrp="1"/>
          </p:cNvSpPr>
          <p:nvPr>
            <p:ph sz="half" idx="2"/>
          </p:nvPr>
        </p:nvSpPr>
        <p:spPr>
          <a:xfrm>
            <a:off x="156069" y="683260"/>
            <a:ext cx="3340382" cy="5314244"/>
          </a:xfrm>
        </p:spPr>
        <p:txBody>
          <a:bodyPr>
            <a:noAutofit/>
          </a:bodyPr>
          <a:lstStyle/>
          <a:p>
            <a:pPr>
              <a:buNone/>
            </a:pPr>
            <a:r>
              <a:rPr lang="en-US" sz="2391" dirty="0">
                <a:solidFill>
                  <a:schemeClr val="tx2">
                    <a:lumMod val="60000"/>
                    <a:lumOff val="40000"/>
                  </a:schemeClr>
                </a:solidFill>
              </a:rPr>
              <a:t>Alternative IP Address:</a:t>
            </a:r>
          </a:p>
          <a:p>
            <a:pPr>
              <a:buNone/>
            </a:pPr>
            <a:r>
              <a:rPr lang="en-US" sz="2391" dirty="0">
                <a:solidFill>
                  <a:schemeClr val="tx2">
                    <a:lumMod val="60000"/>
                    <a:lumOff val="40000"/>
                  </a:schemeClr>
                </a:solidFill>
              </a:rPr>
              <a:t>10.0.x</a:t>
            </a:r>
          </a:p>
          <a:p>
            <a:pPr>
              <a:buNone/>
            </a:pPr>
            <a:r>
              <a:rPr lang="en-US" sz="2391" dirty="0">
                <a:solidFill>
                  <a:schemeClr val="tx2">
                    <a:lumMod val="60000"/>
                    <a:lumOff val="40000"/>
                  </a:schemeClr>
                </a:solidFill>
              </a:rPr>
              <a:t>192.168.x</a:t>
            </a:r>
          </a:p>
          <a:p>
            <a:pPr>
              <a:buNone/>
            </a:pPr>
            <a:r>
              <a:rPr lang="en-US" sz="2391" dirty="0">
                <a:solidFill>
                  <a:schemeClr val="tx2">
                    <a:lumMod val="60000"/>
                    <a:lumOff val="40000"/>
                  </a:schemeClr>
                </a:solidFill>
              </a:rPr>
              <a:t>10.47.x</a:t>
            </a:r>
          </a:p>
          <a:p>
            <a:pPr>
              <a:buNone/>
            </a:pPr>
            <a:r>
              <a:rPr lang="en-US" sz="2391" dirty="0">
                <a:solidFill>
                  <a:schemeClr val="tx2">
                    <a:lumMod val="60000"/>
                    <a:lumOff val="40000"/>
                  </a:schemeClr>
                </a:solidFill>
              </a:rPr>
              <a:t>10.121.x</a:t>
            </a:r>
          </a:p>
          <a:p>
            <a:pPr>
              <a:buNone/>
            </a:pPr>
            <a:r>
              <a:rPr lang="en-US" sz="2391" dirty="0">
                <a:solidFill>
                  <a:schemeClr val="tx2">
                    <a:lumMod val="60000"/>
                    <a:lumOff val="40000"/>
                  </a:schemeClr>
                </a:solidFill>
              </a:rPr>
              <a:t>10.217.x</a:t>
            </a:r>
          </a:p>
          <a:p>
            <a:pPr>
              <a:buNone/>
            </a:pPr>
            <a:r>
              <a:rPr lang="en-US" sz="2391" dirty="0">
                <a:solidFill>
                  <a:schemeClr val="tx2">
                    <a:lumMod val="60000"/>
                    <a:lumOff val="40000"/>
                  </a:schemeClr>
                </a:solidFill>
              </a:rPr>
              <a:t>172.22.x </a:t>
            </a:r>
          </a:p>
        </p:txBody>
      </p:sp>
      <p:sp>
        <p:nvSpPr>
          <p:cNvPr id="3" name="Slide Number Placeholder 2"/>
          <p:cNvSpPr>
            <a:spLocks noGrp="1"/>
          </p:cNvSpPr>
          <p:nvPr>
            <p:ph type="sldNum" sz="quarter" idx="12"/>
          </p:nvPr>
        </p:nvSpPr>
        <p:spPr/>
        <p:txBody>
          <a:bodyPr/>
          <a:lstStyle/>
          <a:p>
            <a:fld id="{A96FCAC1-F539-4436-A8D9-9E19D1673FCA}"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48447" y="0"/>
            <a:ext cx="1470660" cy="271780"/>
          </a:xfrm>
          <a:custGeom>
            <a:avLst/>
            <a:gdLst/>
            <a:ahLst/>
            <a:cxnLst/>
            <a:rect l="l" t="t" r="r" b="b"/>
            <a:pathLst>
              <a:path w="1470659" h="271780">
                <a:moveTo>
                  <a:pt x="0" y="0"/>
                </a:moveTo>
                <a:lnTo>
                  <a:pt x="0" y="271525"/>
                </a:lnTo>
                <a:lnTo>
                  <a:pt x="1470152" y="271525"/>
                </a:lnTo>
              </a:path>
            </a:pathLst>
          </a:custGeom>
          <a:ln w="9144">
            <a:solidFill>
              <a:srgbClr val="000000"/>
            </a:solidFill>
          </a:ln>
        </p:spPr>
        <p:txBody>
          <a:bodyPr wrap="square" lIns="0" tIns="0" rIns="0" bIns="0" rtlCol="0"/>
          <a:lstStyle/>
          <a:p>
            <a:endParaRPr/>
          </a:p>
        </p:txBody>
      </p:sp>
      <p:sp>
        <p:nvSpPr>
          <p:cNvPr id="3" name="object 3"/>
          <p:cNvSpPr txBox="1"/>
          <p:nvPr/>
        </p:nvSpPr>
        <p:spPr>
          <a:xfrm>
            <a:off x="8178292"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
        <p:nvSpPr>
          <p:cNvPr id="4" name="object 4"/>
          <p:cNvSpPr txBox="1">
            <a:spLocks noGrp="1"/>
          </p:cNvSpPr>
          <p:nvPr>
            <p:ph type="title"/>
          </p:nvPr>
        </p:nvSpPr>
        <p:spPr>
          <a:xfrm>
            <a:off x="2601722" y="87122"/>
            <a:ext cx="3943350" cy="407034"/>
          </a:xfrm>
          <a:prstGeom prst="rect">
            <a:avLst/>
          </a:prstGeom>
          <a:ln w="9144">
            <a:solidFill>
              <a:srgbClr val="000000"/>
            </a:solidFill>
          </a:ln>
        </p:spPr>
        <p:txBody>
          <a:bodyPr vert="horz" wrap="square" lIns="0" tIns="41275" rIns="0" bIns="0" rtlCol="0">
            <a:spAutoFit/>
          </a:bodyPr>
          <a:lstStyle/>
          <a:p>
            <a:pPr marL="96520">
              <a:lnSpc>
                <a:spcPct val="100000"/>
              </a:lnSpc>
              <a:spcBef>
                <a:spcPts val="325"/>
              </a:spcBef>
            </a:pPr>
            <a:r>
              <a:rPr sz="2000" b="1" dirty="0">
                <a:latin typeface="Times New Roman"/>
                <a:cs typeface="Times New Roman"/>
              </a:rPr>
              <a:t>System</a:t>
            </a:r>
            <a:r>
              <a:rPr sz="2000" b="1" spc="-30" dirty="0">
                <a:latin typeface="Times New Roman"/>
                <a:cs typeface="Times New Roman"/>
              </a:rPr>
              <a:t> </a:t>
            </a:r>
            <a:r>
              <a:rPr sz="2000" b="1" dirty="0">
                <a:latin typeface="Times New Roman"/>
                <a:cs typeface="Times New Roman"/>
              </a:rPr>
              <a:t>Cabinet</a:t>
            </a:r>
            <a:r>
              <a:rPr sz="2000" b="1" spc="-25" dirty="0">
                <a:latin typeface="Times New Roman"/>
                <a:cs typeface="Times New Roman"/>
              </a:rPr>
              <a:t> </a:t>
            </a:r>
            <a:r>
              <a:rPr sz="2000" b="1" dirty="0">
                <a:latin typeface="Times New Roman"/>
                <a:cs typeface="Times New Roman"/>
              </a:rPr>
              <a:t>–</a:t>
            </a:r>
            <a:r>
              <a:rPr sz="2000" b="1" spc="-30" dirty="0">
                <a:latin typeface="Times New Roman"/>
                <a:cs typeface="Times New Roman"/>
              </a:rPr>
              <a:t> </a:t>
            </a:r>
            <a:r>
              <a:rPr sz="2000" b="1" dirty="0">
                <a:latin typeface="Times New Roman"/>
                <a:cs typeface="Times New Roman"/>
              </a:rPr>
              <a:t>Network</a:t>
            </a:r>
            <a:r>
              <a:rPr sz="2000" b="1" spc="-25" dirty="0">
                <a:latin typeface="Times New Roman"/>
                <a:cs typeface="Times New Roman"/>
              </a:rPr>
              <a:t> </a:t>
            </a:r>
            <a:r>
              <a:rPr sz="2000" b="1" spc="-10" dirty="0">
                <a:latin typeface="Times New Roman"/>
                <a:cs typeface="Times New Roman"/>
              </a:rPr>
              <a:t>Switch</a:t>
            </a:r>
            <a:endParaRPr sz="2000">
              <a:latin typeface="Times New Roman"/>
              <a:cs typeface="Times New Roman"/>
            </a:endParaRPr>
          </a:p>
        </p:txBody>
      </p:sp>
      <p:grpSp>
        <p:nvGrpSpPr>
          <p:cNvPr id="5" name="object 5"/>
          <p:cNvGrpSpPr/>
          <p:nvPr/>
        </p:nvGrpSpPr>
        <p:grpSpPr>
          <a:xfrm>
            <a:off x="387350" y="755396"/>
            <a:ext cx="8415655" cy="5793105"/>
            <a:chOff x="387350" y="755396"/>
            <a:chExt cx="8415655" cy="5793105"/>
          </a:xfrm>
        </p:grpSpPr>
        <p:pic>
          <p:nvPicPr>
            <p:cNvPr id="6" name="object 6"/>
            <p:cNvPicPr/>
            <p:nvPr/>
          </p:nvPicPr>
          <p:blipFill>
            <a:blip r:embed="rId2" cstate="print"/>
            <a:stretch>
              <a:fillRect/>
            </a:stretch>
          </p:blipFill>
          <p:spPr>
            <a:xfrm>
              <a:off x="520700" y="755396"/>
              <a:ext cx="7722869" cy="5792723"/>
            </a:xfrm>
            <a:prstGeom prst="rect">
              <a:avLst/>
            </a:prstGeom>
          </p:spPr>
        </p:pic>
        <p:sp>
          <p:nvSpPr>
            <p:cNvPr id="7" name="object 7"/>
            <p:cNvSpPr/>
            <p:nvPr/>
          </p:nvSpPr>
          <p:spPr>
            <a:xfrm>
              <a:off x="387350" y="4560823"/>
              <a:ext cx="8415655" cy="1165225"/>
            </a:xfrm>
            <a:custGeom>
              <a:avLst/>
              <a:gdLst/>
              <a:ahLst/>
              <a:cxnLst/>
              <a:rect l="l" t="t" r="r" b="b"/>
              <a:pathLst>
                <a:path w="8415655" h="1165225">
                  <a:moveTo>
                    <a:pt x="8415528" y="1165098"/>
                  </a:moveTo>
                  <a:lnTo>
                    <a:pt x="8415528" y="0"/>
                  </a:lnTo>
                  <a:lnTo>
                    <a:pt x="0" y="0"/>
                  </a:lnTo>
                  <a:lnTo>
                    <a:pt x="0" y="1165098"/>
                  </a:lnTo>
                  <a:lnTo>
                    <a:pt x="8415528" y="1165098"/>
                  </a:lnTo>
                  <a:close/>
                </a:path>
              </a:pathLst>
            </a:custGeom>
            <a:solidFill>
              <a:srgbClr val="FFFFFF"/>
            </a:solidFill>
          </p:spPr>
          <p:txBody>
            <a:bodyPr wrap="square" lIns="0" tIns="0" rIns="0" bIns="0" rtlCol="0"/>
            <a:lstStyle/>
            <a:p>
              <a:endParaRPr/>
            </a:p>
          </p:txBody>
        </p:sp>
      </p:grpSp>
      <p:sp>
        <p:nvSpPr>
          <p:cNvPr id="8" name="object 8"/>
          <p:cNvSpPr txBox="1"/>
          <p:nvPr/>
        </p:nvSpPr>
        <p:spPr>
          <a:xfrm>
            <a:off x="387350" y="4560823"/>
            <a:ext cx="8415655" cy="1165225"/>
          </a:xfrm>
          <a:prstGeom prst="rect">
            <a:avLst/>
          </a:prstGeom>
          <a:ln w="9144">
            <a:solidFill>
              <a:srgbClr val="000000"/>
            </a:solidFill>
          </a:ln>
        </p:spPr>
        <p:txBody>
          <a:bodyPr vert="horz" wrap="square" lIns="0" tIns="44450" rIns="0" bIns="0" rtlCol="0">
            <a:spAutoFit/>
          </a:bodyPr>
          <a:lstStyle/>
          <a:p>
            <a:pPr marL="96520" marR="129539">
              <a:lnSpc>
                <a:spcPct val="100000"/>
              </a:lnSpc>
              <a:spcBef>
                <a:spcPts val="350"/>
              </a:spcBef>
            </a:pP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Network</a:t>
            </a:r>
            <a:r>
              <a:rPr sz="1400" spc="-15" dirty="0">
                <a:latin typeface="Times New Roman"/>
                <a:cs typeface="Times New Roman"/>
              </a:rPr>
              <a:t> </a:t>
            </a:r>
            <a:r>
              <a:rPr sz="1400" dirty="0">
                <a:latin typeface="Times New Roman"/>
                <a:cs typeface="Times New Roman"/>
              </a:rPr>
              <a:t>Switch</a:t>
            </a:r>
            <a:r>
              <a:rPr sz="1400" spc="-15" dirty="0">
                <a:latin typeface="Times New Roman"/>
                <a:cs typeface="Times New Roman"/>
              </a:rPr>
              <a:t> </a:t>
            </a:r>
            <a:r>
              <a:rPr sz="1400" dirty="0">
                <a:latin typeface="Times New Roman"/>
                <a:cs typeface="Times New Roman"/>
              </a:rPr>
              <a:t>is</a:t>
            </a:r>
            <a:r>
              <a:rPr sz="1400" spc="-15" dirty="0">
                <a:latin typeface="Times New Roman"/>
                <a:cs typeface="Times New Roman"/>
              </a:rPr>
              <a:t> </a:t>
            </a:r>
            <a:r>
              <a:rPr sz="1400" dirty="0">
                <a:latin typeface="Times New Roman"/>
                <a:cs typeface="Times New Roman"/>
              </a:rPr>
              <a:t>either</a:t>
            </a:r>
            <a:r>
              <a:rPr sz="1400" spc="-1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16</a:t>
            </a:r>
            <a:r>
              <a:rPr sz="1400" spc="-20" dirty="0">
                <a:latin typeface="Times New Roman"/>
                <a:cs typeface="Times New Roman"/>
              </a:rPr>
              <a:t> </a:t>
            </a:r>
            <a:r>
              <a:rPr sz="1400" dirty="0">
                <a:latin typeface="Times New Roman"/>
                <a:cs typeface="Times New Roman"/>
              </a:rPr>
              <a:t>or</a:t>
            </a:r>
            <a:r>
              <a:rPr sz="1400" spc="-20" dirty="0">
                <a:latin typeface="Times New Roman"/>
                <a:cs typeface="Times New Roman"/>
              </a:rPr>
              <a:t> </a:t>
            </a:r>
            <a:r>
              <a:rPr sz="1400" dirty="0">
                <a:latin typeface="Times New Roman"/>
                <a:cs typeface="Times New Roman"/>
              </a:rPr>
              <a:t>24</a:t>
            </a:r>
            <a:r>
              <a:rPr sz="1400" spc="-15" dirty="0">
                <a:latin typeface="Times New Roman"/>
                <a:cs typeface="Times New Roman"/>
              </a:rPr>
              <a:t> </a:t>
            </a:r>
            <a:r>
              <a:rPr sz="1400" dirty="0">
                <a:latin typeface="Times New Roman"/>
                <a:cs typeface="Times New Roman"/>
              </a:rPr>
              <a:t>port</a:t>
            </a:r>
            <a:r>
              <a:rPr sz="1400" spc="-20" dirty="0">
                <a:latin typeface="Times New Roman"/>
                <a:cs typeface="Times New Roman"/>
              </a:rPr>
              <a:t> </a:t>
            </a:r>
            <a:r>
              <a:rPr sz="1400" dirty="0">
                <a:latin typeface="Times New Roman"/>
                <a:cs typeface="Times New Roman"/>
              </a:rPr>
              <a:t>Gigabit</a:t>
            </a:r>
            <a:r>
              <a:rPr sz="1400" spc="-20" dirty="0">
                <a:latin typeface="Times New Roman"/>
                <a:cs typeface="Times New Roman"/>
              </a:rPr>
              <a:t> </a:t>
            </a:r>
            <a:r>
              <a:rPr sz="1400" dirty="0">
                <a:latin typeface="Times New Roman"/>
                <a:cs typeface="Times New Roman"/>
              </a:rPr>
              <a:t>Ethernet</a:t>
            </a:r>
            <a:r>
              <a:rPr sz="1400" spc="-20" dirty="0">
                <a:latin typeface="Times New Roman"/>
                <a:cs typeface="Times New Roman"/>
              </a:rPr>
              <a:t> </a:t>
            </a:r>
            <a:r>
              <a:rPr sz="1400" dirty="0">
                <a:latin typeface="Times New Roman"/>
                <a:cs typeface="Times New Roman"/>
              </a:rPr>
              <a:t>switch.</a:t>
            </a:r>
            <a:r>
              <a:rPr sz="1400" spc="3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status</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each</a:t>
            </a:r>
            <a:r>
              <a:rPr sz="1400" spc="-20" dirty="0">
                <a:latin typeface="Times New Roman"/>
                <a:cs typeface="Times New Roman"/>
              </a:rPr>
              <a:t> </a:t>
            </a:r>
            <a:r>
              <a:rPr sz="1400" dirty="0">
                <a:latin typeface="Times New Roman"/>
                <a:cs typeface="Times New Roman"/>
              </a:rPr>
              <a:t>port</a:t>
            </a:r>
            <a:r>
              <a:rPr sz="1400" spc="-20" dirty="0">
                <a:latin typeface="Times New Roman"/>
                <a:cs typeface="Times New Roman"/>
              </a:rPr>
              <a:t>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indicated</a:t>
            </a:r>
            <a:r>
              <a:rPr sz="1400" spc="-15" dirty="0">
                <a:latin typeface="Times New Roman"/>
                <a:cs typeface="Times New Roman"/>
              </a:rPr>
              <a:t> </a:t>
            </a:r>
            <a:r>
              <a:rPr sz="1400" dirty="0">
                <a:latin typeface="Times New Roman"/>
                <a:cs typeface="Times New Roman"/>
              </a:rPr>
              <a:t>by</a:t>
            </a:r>
            <a:r>
              <a:rPr sz="1400" spc="-2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spc="-25" dirty="0">
                <a:latin typeface="Times New Roman"/>
                <a:cs typeface="Times New Roman"/>
              </a:rPr>
              <a:t>set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LEDs</a:t>
            </a:r>
            <a:r>
              <a:rPr sz="1400" spc="-20" dirty="0">
                <a:latin typeface="Times New Roman"/>
                <a:cs typeface="Times New Roman"/>
              </a:rPr>
              <a:t> </a:t>
            </a:r>
            <a:r>
              <a:rPr sz="1400" spc="-10" dirty="0">
                <a:latin typeface="Times New Roman"/>
                <a:cs typeface="Times New Roman"/>
              </a:rPr>
              <a:t>viewable</a:t>
            </a:r>
            <a:r>
              <a:rPr sz="1400" spc="-20" dirty="0">
                <a:latin typeface="Times New Roman"/>
                <a:cs typeface="Times New Roman"/>
              </a:rPr>
              <a:t> </a:t>
            </a:r>
            <a:r>
              <a:rPr sz="1400" dirty="0">
                <a:latin typeface="Times New Roman"/>
                <a:cs typeface="Times New Roman"/>
              </a:rPr>
              <a:t>on</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front</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the</a:t>
            </a:r>
            <a:r>
              <a:rPr sz="1400" spc="5" dirty="0">
                <a:latin typeface="Times New Roman"/>
                <a:cs typeface="Times New Roman"/>
              </a:rPr>
              <a:t> </a:t>
            </a:r>
            <a:r>
              <a:rPr sz="1400" dirty="0">
                <a:latin typeface="Times New Roman"/>
                <a:cs typeface="Times New Roman"/>
              </a:rPr>
              <a:t>switch.</a:t>
            </a:r>
            <a:r>
              <a:rPr sz="1400" spc="31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LEDs</a:t>
            </a:r>
            <a:r>
              <a:rPr sz="1400" spc="-20" dirty="0">
                <a:latin typeface="Times New Roman"/>
                <a:cs typeface="Times New Roman"/>
              </a:rPr>
              <a:t> </a:t>
            </a:r>
            <a:r>
              <a:rPr sz="1400" dirty="0">
                <a:latin typeface="Times New Roman"/>
                <a:cs typeface="Times New Roman"/>
              </a:rPr>
              <a:t>indicate</a:t>
            </a:r>
            <a:r>
              <a:rPr sz="1400" spc="-15" dirty="0">
                <a:latin typeface="Times New Roman"/>
                <a:cs typeface="Times New Roman"/>
              </a:rPr>
              <a:t> </a:t>
            </a:r>
            <a:r>
              <a:rPr sz="1400" dirty="0">
                <a:latin typeface="Times New Roman"/>
                <a:cs typeface="Times New Roman"/>
              </a:rPr>
              <a:t>link</a:t>
            </a:r>
            <a:r>
              <a:rPr sz="1400" spc="-20" dirty="0">
                <a:latin typeface="Times New Roman"/>
                <a:cs typeface="Times New Roman"/>
              </a:rPr>
              <a:t> </a:t>
            </a:r>
            <a:r>
              <a:rPr sz="1400" dirty="0">
                <a:latin typeface="Times New Roman"/>
                <a:cs typeface="Times New Roman"/>
              </a:rPr>
              <a:t>activity,</a:t>
            </a:r>
            <a:r>
              <a:rPr sz="1400" spc="-15" dirty="0">
                <a:latin typeface="Times New Roman"/>
                <a:cs typeface="Times New Roman"/>
              </a:rPr>
              <a:t> </a:t>
            </a:r>
            <a:r>
              <a:rPr sz="1400" dirty="0">
                <a:latin typeface="Times New Roman"/>
                <a:cs typeface="Times New Roman"/>
              </a:rPr>
              <a:t>and</a:t>
            </a:r>
            <a:r>
              <a:rPr sz="1400" spc="-15" dirty="0">
                <a:latin typeface="Times New Roman"/>
                <a:cs typeface="Times New Roman"/>
              </a:rPr>
              <a:t> </a:t>
            </a:r>
            <a:r>
              <a:rPr sz="1400" dirty="0">
                <a:latin typeface="Times New Roman"/>
                <a:cs typeface="Times New Roman"/>
              </a:rPr>
              <a:t>link</a:t>
            </a:r>
            <a:r>
              <a:rPr sz="1400" spc="-15" dirty="0">
                <a:latin typeface="Times New Roman"/>
                <a:cs typeface="Times New Roman"/>
              </a:rPr>
              <a:t> </a:t>
            </a:r>
            <a:r>
              <a:rPr sz="1400" dirty="0">
                <a:latin typeface="Times New Roman"/>
                <a:cs typeface="Times New Roman"/>
              </a:rPr>
              <a:t>speed.</a:t>
            </a:r>
            <a:r>
              <a:rPr sz="1400" spc="315" dirty="0">
                <a:latin typeface="Times New Roman"/>
                <a:cs typeface="Times New Roman"/>
              </a:rPr>
              <a:t> </a:t>
            </a:r>
            <a:r>
              <a:rPr sz="1400" dirty="0">
                <a:latin typeface="Times New Roman"/>
                <a:cs typeface="Times New Roman"/>
              </a:rPr>
              <a:t>Some</a:t>
            </a:r>
            <a:r>
              <a:rPr sz="1400" spc="-15" dirty="0">
                <a:latin typeface="Times New Roman"/>
                <a:cs typeface="Times New Roman"/>
              </a:rPr>
              <a:t> </a:t>
            </a:r>
            <a:r>
              <a:rPr sz="1400" dirty="0">
                <a:latin typeface="Times New Roman"/>
                <a:cs typeface="Times New Roman"/>
              </a:rPr>
              <a:t>models</a:t>
            </a:r>
            <a:r>
              <a:rPr sz="1400" spc="-15" dirty="0">
                <a:latin typeface="Times New Roman"/>
                <a:cs typeface="Times New Roman"/>
              </a:rPr>
              <a:t> </a:t>
            </a:r>
            <a:r>
              <a:rPr sz="1400" spc="-20" dirty="0">
                <a:latin typeface="Times New Roman"/>
                <a:cs typeface="Times New Roman"/>
              </a:rPr>
              <a:t>also </a:t>
            </a:r>
            <a:r>
              <a:rPr sz="1400" dirty="0">
                <a:latin typeface="Times New Roman"/>
                <a:cs typeface="Times New Roman"/>
              </a:rPr>
              <a:t>show</a:t>
            </a:r>
            <a:r>
              <a:rPr sz="1400" spc="-20" dirty="0">
                <a:latin typeface="Times New Roman"/>
                <a:cs typeface="Times New Roman"/>
              </a:rPr>
              <a:t> </a:t>
            </a:r>
            <a:r>
              <a:rPr sz="1400" dirty="0">
                <a:latin typeface="Times New Roman"/>
                <a:cs typeface="Times New Roman"/>
              </a:rPr>
              <a:t>whether</a:t>
            </a:r>
            <a:r>
              <a:rPr sz="1400" spc="-1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communication</a:t>
            </a:r>
            <a:r>
              <a:rPr sz="1400" spc="-20" dirty="0">
                <a:latin typeface="Times New Roman"/>
                <a:cs typeface="Times New Roman"/>
              </a:rPr>
              <a:t>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full</a:t>
            </a:r>
            <a:r>
              <a:rPr sz="1400" spc="-20" dirty="0">
                <a:latin typeface="Times New Roman"/>
                <a:cs typeface="Times New Roman"/>
              </a:rPr>
              <a:t> </a:t>
            </a:r>
            <a:r>
              <a:rPr sz="1400" dirty="0">
                <a:latin typeface="Times New Roman"/>
                <a:cs typeface="Times New Roman"/>
              </a:rPr>
              <a:t>or</a:t>
            </a:r>
            <a:r>
              <a:rPr sz="1400" spc="-20" dirty="0">
                <a:latin typeface="Times New Roman"/>
                <a:cs typeface="Times New Roman"/>
              </a:rPr>
              <a:t> </a:t>
            </a:r>
            <a:r>
              <a:rPr sz="1400" dirty="0">
                <a:latin typeface="Times New Roman"/>
                <a:cs typeface="Times New Roman"/>
              </a:rPr>
              <a:t>half</a:t>
            </a:r>
            <a:r>
              <a:rPr sz="1400" spc="-20" dirty="0">
                <a:latin typeface="Times New Roman"/>
                <a:cs typeface="Times New Roman"/>
              </a:rPr>
              <a:t> </a:t>
            </a:r>
            <a:r>
              <a:rPr sz="1400" dirty="0">
                <a:latin typeface="Times New Roman"/>
                <a:cs typeface="Times New Roman"/>
              </a:rPr>
              <a:t>duplex.</a:t>
            </a:r>
            <a:r>
              <a:rPr sz="1400" spc="310" dirty="0">
                <a:latin typeface="Times New Roman"/>
                <a:cs typeface="Times New Roman"/>
              </a:rPr>
              <a:t> </a:t>
            </a:r>
            <a:r>
              <a:rPr sz="1400" dirty="0">
                <a:latin typeface="Times New Roman"/>
                <a:cs typeface="Times New Roman"/>
              </a:rPr>
              <a:t>In</a:t>
            </a:r>
            <a:r>
              <a:rPr sz="1400" spc="-20" dirty="0">
                <a:latin typeface="Times New Roman"/>
                <a:cs typeface="Times New Roman"/>
              </a:rPr>
              <a:t> </a:t>
            </a:r>
            <a:r>
              <a:rPr sz="1400" dirty="0">
                <a:latin typeface="Times New Roman"/>
                <a:cs typeface="Times New Roman"/>
              </a:rPr>
              <a:t>normal</a:t>
            </a:r>
            <a:r>
              <a:rPr sz="1400" spc="-20" dirty="0">
                <a:latin typeface="Times New Roman"/>
                <a:cs typeface="Times New Roman"/>
              </a:rPr>
              <a:t> </a:t>
            </a:r>
            <a:r>
              <a:rPr sz="1400" dirty="0">
                <a:latin typeface="Times New Roman"/>
                <a:cs typeface="Times New Roman"/>
              </a:rPr>
              <a:t>operation,</a:t>
            </a:r>
            <a:r>
              <a:rPr sz="1400" spc="-20" dirty="0">
                <a:latin typeface="Times New Roman"/>
                <a:cs typeface="Times New Roman"/>
              </a:rPr>
              <a:t> </a:t>
            </a:r>
            <a:r>
              <a:rPr sz="1400" dirty="0">
                <a:latin typeface="Times New Roman"/>
                <a:cs typeface="Times New Roman"/>
              </a:rPr>
              <a:t>each</a:t>
            </a:r>
            <a:r>
              <a:rPr sz="1400" spc="-20" dirty="0">
                <a:latin typeface="Times New Roman"/>
                <a:cs typeface="Times New Roman"/>
              </a:rPr>
              <a:t> </a:t>
            </a:r>
            <a:r>
              <a:rPr sz="1400" dirty="0">
                <a:latin typeface="Times New Roman"/>
                <a:cs typeface="Times New Roman"/>
              </a:rPr>
              <a:t>link</a:t>
            </a:r>
            <a:r>
              <a:rPr sz="1400" spc="-25" dirty="0">
                <a:latin typeface="Times New Roman"/>
                <a:cs typeface="Times New Roman"/>
              </a:rPr>
              <a:t> </a:t>
            </a:r>
            <a:r>
              <a:rPr sz="1400" dirty="0">
                <a:latin typeface="Times New Roman"/>
                <a:cs typeface="Times New Roman"/>
              </a:rPr>
              <a:t>with</a:t>
            </a:r>
            <a:r>
              <a:rPr sz="1400" spc="-2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dirty="0">
                <a:latin typeface="Times New Roman"/>
                <a:cs typeface="Times New Roman"/>
              </a:rPr>
              <a:t>Ethernet</a:t>
            </a:r>
            <a:r>
              <a:rPr sz="1400" spc="-20" dirty="0">
                <a:latin typeface="Times New Roman"/>
                <a:cs typeface="Times New Roman"/>
              </a:rPr>
              <a:t> </a:t>
            </a:r>
            <a:r>
              <a:rPr sz="1400" spc="-10" dirty="0">
                <a:latin typeface="Times New Roman"/>
                <a:cs typeface="Times New Roman"/>
              </a:rPr>
              <a:t>cable </a:t>
            </a:r>
            <a:r>
              <a:rPr sz="1400" dirty="0">
                <a:latin typeface="Times New Roman"/>
                <a:cs typeface="Times New Roman"/>
              </a:rPr>
              <a:t>connected</a:t>
            </a:r>
            <a:r>
              <a:rPr sz="1400" spc="-30" dirty="0">
                <a:latin typeface="Times New Roman"/>
                <a:cs typeface="Times New Roman"/>
              </a:rPr>
              <a:t> </a:t>
            </a:r>
            <a:r>
              <a:rPr sz="1400" dirty="0">
                <a:latin typeface="Times New Roman"/>
                <a:cs typeface="Times New Roman"/>
              </a:rPr>
              <a:t>should</a:t>
            </a:r>
            <a:r>
              <a:rPr sz="1400" spc="-30" dirty="0">
                <a:latin typeface="Times New Roman"/>
                <a:cs typeface="Times New Roman"/>
              </a:rPr>
              <a:t> </a:t>
            </a:r>
            <a:r>
              <a:rPr sz="1400" dirty="0">
                <a:latin typeface="Times New Roman"/>
                <a:cs typeface="Times New Roman"/>
              </a:rPr>
              <a:t>show</a:t>
            </a:r>
            <a:r>
              <a:rPr sz="1400" spc="-25" dirty="0">
                <a:latin typeface="Times New Roman"/>
                <a:cs typeface="Times New Roman"/>
              </a:rPr>
              <a:t> </a:t>
            </a:r>
            <a:r>
              <a:rPr sz="1400" dirty="0">
                <a:latin typeface="Times New Roman"/>
                <a:cs typeface="Times New Roman"/>
              </a:rPr>
              <a:t>Link</a:t>
            </a:r>
            <a:r>
              <a:rPr sz="1400" spc="-30" dirty="0">
                <a:latin typeface="Times New Roman"/>
                <a:cs typeface="Times New Roman"/>
              </a:rPr>
              <a:t> </a:t>
            </a:r>
            <a:r>
              <a:rPr sz="1400" dirty="0">
                <a:latin typeface="Times New Roman"/>
                <a:cs typeface="Times New Roman"/>
              </a:rPr>
              <a:t>Activity</a:t>
            </a:r>
            <a:r>
              <a:rPr sz="1400" spc="-2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Power</a:t>
            </a:r>
            <a:r>
              <a:rPr sz="1400" spc="-25" dirty="0">
                <a:latin typeface="Times New Roman"/>
                <a:cs typeface="Times New Roman"/>
              </a:rPr>
              <a:t> </a:t>
            </a:r>
            <a:r>
              <a:rPr sz="1400" dirty="0">
                <a:latin typeface="Times New Roman"/>
                <a:cs typeface="Times New Roman"/>
              </a:rPr>
              <a:t>LED</a:t>
            </a:r>
            <a:r>
              <a:rPr sz="1400" spc="-30" dirty="0">
                <a:latin typeface="Times New Roman"/>
                <a:cs typeface="Times New Roman"/>
              </a:rPr>
              <a:t> </a:t>
            </a:r>
            <a:r>
              <a:rPr sz="1400" dirty="0">
                <a:latin typeface="Times New Roman"/>
                <a:cs typeface="Times New Roman"/>
              </a:rPr>
              <a:t>should</a:t>
            </a:r>
            <a:r>
              <a:rPr sz="1400" spc="-25" dirty="0">
                <a:latin typeface="Times New Roman"/>
                <a:cs typeface="Times New Roman"/>
              </a:rPr>
              <a:t> </a:t>
            </a:r>
            <a:r>
              <a:rPr sz="1400" dirty="0">
                <a:latin typeface="Times New Roman"/>
                <a:cs typeface="Times New Roman"/>
              </a:rPr>
              <a:t>be</a:t>
            </a:r>
            <a:r>
              <a:rPr sz="1400" spc="-30" dirty="0">
                <a:latin typeface="Times New Roman"/>
                <a:cs typeface="Times New Roman"/>
              </a:rPr>
              <a:t> </a:t>
            </a:r>
            <a:r>
              <a:rPr sz="1400" dirty="0">
                <a:latin typeface="Times New Roman"/>
                <a:cs typeface="Times New Roman"/>
              </a:rPr>
              <a:t>lit/active.</a:t>
            </a:r>
            <a:r>
              <a:rPr sz="1400" spc="-3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Ethernet</a:t>
            </a:r>
            <a:r>
              <a:rPr sz="1400" spc="-25" dirty="0">
                <a:latin typeface="Times New Roman"/>
                <a:cs typeface="Times New Roman"/>
              </a:rPr>
              <a:t> </a:t>
            </a:r>
            <a:r>
              <a:rPr sz="1400" dirty="0">
                <a:latin typeface="Times New Roman"/>
                <a:cs typeface="Times New Roman"/>
              </a:rPr>
              <a:t>lines</a:t>
            </a:r>
            <a:r>
              <a:rPr sz="1400" spc="-25" dirty="0">
                <a:latin typeface="Times New Roman"/>
                <a:cs typeface="Times New Roman"/>
              </a:rPr>
              <a:t> </a:t>
            </a:r>
            <a:r>
              <a:rPr sz="1400" dirty="0">
                <a:latin typeface="Times New Roman"/>
                <a:cs typeface="Times New Roman"/>
              </a:rPr>
              <a:t>can</a:t>
            </a:r>
            <a:r>
              <a:rPr sz="1400" spc="-20" dirty="0">
                <a:latin typeface="Times New Roman"/>
                <a:cs typeface="Times New Roman"/>
              </a:rPr>
              <a:t> </a:t>
            </a:r>
            <a:r>
              <a:rPr sz="1400" dirty="0">
                <a:latin typeface="Times New Roman"/>
                <a:cs typeface="Times New Roman"/>
              </a:rPr>
              <a:t>be</a:t>
            </a:r>
            <a:r>
              <a:rPr sz="1400" spc="-25" dirty="0">
                <a:latin typeface="Times New Roman"/>
                <a:cs typeface="Times New Roman"/>
              </a:rPr>
              <a:t> </a:t>
            </a:r>
            <a:r>
              <a:rPr sz="1400" spc="-10" dirty="0">
                <a:latin typeface="Times New Roman"/>
                <a:cs typeface="Times New Roman"/>
              </a:rPr>
              <a:t>connected </a:t>
            </a:r>
            <a:r>
              <a:rPr sz="1400" dirty="0">
                <a:latin typeface="Times New Roman"/>
                <a:cs typeface="Times New Roman"/>
              </a:rPr>
              <a:t>to</a:t>
            </a:r>
            <a:r>
              <a:rPr sz="1400" spc="-25" dirty="0">
                <a:latin typeface="Times New Roman"/>
                <a:cs typeface="Times New Roman"/>
              </a:rPr>
              <a:t> </a:t>
            </a:r>
            <a:r>
              <a:rPr sz="1400" dirty="0">
                <a:latin typeface="Times New Roman"/>
                <a:cs typeface="Times New Roman"/>
              </a:rPr>
              <a:t>any</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ports</a:t>
            </a:r>
            <a:r>
              <a:rPr sz="1400" spc="-20" dirty="0">
                <a:latin typeface="Times New Roman"/>
                <a:cs typeface="Times New Roman"/>
              </a:rPr>
              <a:t> </a:t>
            </a:r>
            <a:r>
              <a:rPr sz="1400" dirty="0">
                <a:latin typeface="Times New Roman"/>
                <a:cs typeface="Times New Roman"/>
              </a:rPr>
              <a:t>in</a:t>
            </a:r>
            <a:r>
              <a:rPr sz="1400" spc="-25" dirty="0">
                <a:latin typeface="Times New Roman"/>
                <a:cs typeface="Times New Roman"/>
              </a:rPr>
              <a:t> </a:t>
            </a:r>
            <a:r>
              <a:rPr sz="1400" dirty="0">
                <a:latin typeface="Times New Roman"/>
                <a:cs typeface="Times New Roman"/>
              </a:rPr>
              <a:t>any</a:t>
            </a:r>
            <a:r>
              <a:rPr sz="1400" spc="-20" dirty="0">
                <a:latin typeface="Times New Roman"/>
                <a:cs typeface="Times New Roman"/>
              </a:rPr>
              <a:t> </a:t>
            </a:r>
            <a:r>
              <a:rPr sz="1400" dirty="0">
                <a:latin typeface="Times New Roman"/>
                <a:cs typeface="Times New Roman"/>
              </a:rPr>
              <a:t>order.</a:t>
            </a:r>
            <a:r>
              <a:rPr sz="1400" spc="305" dirty="0">
                <a:latin typeface="Times New Roman"/>
                <a:cs typeface="Times New Roman"/>
              </a:rPr>
              <a:t> </a:t>
            </a:r>
            <a:r>
              <a:rPr sz="1400" dirty="0">
                <a:latin typeface="Times New Roman"/>
                <a:cs typeface="Times New Roman"/>
              </a:rPr>
              <a:t>Connections</a:t>
            </a:r>
            <a:r>
              <a:rPr sz="1400" spc="-15" dirty="0">
                <a:latin typeface="Times New Roman"/>
                <a:cs typeface="Times New Roman"/>
              </a:rPr>
              <a:t> </a:t>
            </a:r>
            <a:r>
              <a:rPr sz="1400" dirty="0">
                <a:latin typeface="Times New Roman"/>
                <a:cs typeface="Times New Roman"/>
              </a:rPr>
              <a:t>can</a:t>
            </a:r>
            <a:r>
              <a:rPr sz="1400" spc="-15" dirty="0">
                <a:latin typeface="Times New Roman"/>
                <a:cs typeface="Times New Roman"/>
              </a:rPr>
              <a:t> </a:t>
            </a:r>
            <a:r>
              <a:rPr sz="1400" dirty="0">
                <a:latin typeface="Times New Roman"/>
                <a:cs typeface="Times New Roman"/>
              </a:rPr>
              <a:t>be</a:t>
            </a:r>
            <a:r>
              <a:rPr sz="1400" spc="-20" dirty="0">
                <a:latin typeface="Times New Roman"/>
                <a:cs typeface="Times New Roman"/>
              </a:rPr>
              <a:t> </a:t>
            </a:r>
            <a:r>
              <a:rPr sz="1400" dirty="0">
                <a:latin typeface="Times New Roman"/>
                <a:cs typeface="Times New Roman"/>
              </a:rPr>
              <a:t>swapped</a:t>
            </a:r>
            <a:r>
              <a:rPr sz="1400" spc="-15" dirty="0">
                <a:latin typeface="Times New Roman"/>
                <a:cs typeface="Times New Roman"/>
              </a:rPr>
              <a:t> </a:t>
            </a:r>
            <a:r>
              <a:rPr sz="1400" dirty="0">
                <a:latin typeface="Times New Roman"/>
                <a:cs typeface="Times New Roman"/>
              </a:rPr>
              <a:t>between</a:t>
            </a:r>
            <a:r>
              <a:rPr sz="1400" spc="-15" dirty="0">
                <a:latin typeface="Times New Roman"/>
                <a:cs typeface="Times New Roman"/>
              </a:rPr>
              <a:t> </a:t>
            </a:r>
            <a:r>
              <a:rPr sz="1400" dirty="0">
                <a:latin typeface="Times New Roman"/>
                <a:cs typeface="Times New Roman"/>
              </a:rPr>
              <a:t>any</a:t>
            </a:r>
            <a:r>
              <a:rPr sz="1400" spc="-2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dirty="0">
                <a:latin typeface="Times New Roman"/>
                <a:cs typeface="Times New Roman"/>
              </a:rPr>
              <a:t>ports</a:t>
            </a:r>
            <a:r>
              <a:rPr sz="1400" spc="-25" dirty="0">
                <a:latin typeface="Times New Roman"/>
                <a:cs typeface="Times New Roman"/>
              </a:rPr>
              <a:t> </a:t>
            </a:r>
            <a:r>
              <a:rPr sz="1400" dirty="0">
                <a:latin typeface="Times New Roman"/>
                <a:cs typeface="Times New Roman"/>
              </a:rPr>
              <a:t>for</a:t>
            </a:r>
            <a:r>
              <a:rPr sz="1400" spc="-20" dirty="0">
                <a:latin typeface="Times New Roman"/>
                <a:cs typeface="Times New Roman"/>
              </a:rPr>
              <a:t> </a:t>
            </a:r>
            <a:r>
              <a:rPr sz="1400" spc="-10" dirty="0">
                <a:latin typeface="Times New Roman"/>
                <a:cs typeface="Times New Roman"/>
              </a:rPr>
              <a:t>troubleshooting.</a:t>
            </a:r>
            <a:endParaRPr sz="1400">
              <a:latin typeface="Times New Roman"/>
              <a:cs typeface="Times New Roman"/>
            </a:endParaRPr>
          </a:p>
        </p:txBody>
      </p:sp>
      <p:sp>
        <p:nvSpPr>
          <p:cNvPr id="9" name="object 9"/>
          <p:cNvSpPr txBox="1"/>
          <p:nvPr/>
        </p:nvSpPr>
        <p:spPr>
          <a:xfrm>
            <a:off x="4297171" y="3708146"/>
            <a:ext cx="3689985" cy="314960"/>
          </a:xfrm>
          <a:prstGeom prst="rect">
            <a:avLst/>
          </a:prstGeom>
          <a:solidFill>
            <a:srgbClr val="FFFFFF"/>
          </a:solidFill>
          <a:ln w="9144">
            <a:solidFill>
              <a:srgbClr val="000000"/>
            </a:solidFill>
          </a:ln>
        </p:spPr>
        <p:txBody>
          <a:bodyPr vert="horz" wrap="square" lIns="0" tIns="44450" rIns="0" bIns="0" rtlCol="0">
            <a:spAutoFit/>
          </a:bodyPr>
          <a:lstStyle/>
          <a:p>
            <a:pPr marL="96520">
              <a:lnSpc>
                <a:spcPct val="100000"/>
              </a:lnSpc>
              <a:spcBef>
                <a:spcPts val="350"/>
              </a:spcBef>
            </a:pPr>
            <a:r>
              <a:rPr sz="1400" b="1" dirty="0">
                <a:latin typeface="Times New Roman"/>
                <a:cs typeface="Times New Roman"/>
              </a:rPr>
              <a:t>Network</a:t>
            </a:r>
            <a:r>
              <a:rPr sz="1400" b="1" spc="-60" dirty="0">
                <a:latin typeface="Times New Roman"/>
                <a:cs typeface="Times New Roman"/>
              </a:rPr>
              <a:t> </a:t>
            </a:r>
            <a:r>
              <a:rPr sz="1400" b="1" spc="-10" dirty="0">
                <a:latin typeface="Times New Roman"/>
                <a:cs typeface="Times New Roman"/>
              </a:rPr>
              <a:t>switch</a:t>
            </a:r>
            <a:endParaRPr sz="1400">
              <a:latin typeface="Times New Roman"/>
              <a:cs typeface="Times New Roman"/>
            </a:endParaRPr>
          </a:p>
        </p:txBody>
      </p:sp>
      <p:grpSp>
        <p:nvGrpSpPr>
          <p:cNvPr id="10" name="object 10"/>
          <p:cNvGrpSpPr/>
          <p:nvPr/>
        </p:nvGrpSpPr>
        <p:grpSpPr>
          <a:xfrm>
            <a:off x="3384296" y="3228848"/>
            <a:ext cx="929005" cy="626110"/>
            <a:chOff x="3384296" y="3228848"/>
            <a:chExt cx="929005" cy="626110"/>
          </a:xfrm>
        </p:grpSpPr>
        <p:sp>
          <p:nvSpPr>
            <p:cNvPr id="11" name="object 11"/>
            <p:cNvSpPr/>
            <p:nvPr/>
          </p:nvSpPr>
          <p:spPr>
            <a:xfrm>
              <a:off x="3512312" y="3313430"/>
              <a:ext cx="784860" cy="525145"/>
            </a:xfrm>
            <a:custGeom>
              <a:avLst/>
              <a:gdLst/>
              <a:ahLst/>
              <a:cxnLst/>
              <a:rect l="l" t="t" r="r" b="b"/>
              <a:pathLst>
                <a:path w="784860" h="525145">
                  <a:moveTo>
                    <a:pt x="784860" y="525018"/>
                  </a:moveTo>
                  <a:lnTo>
                    <a:pt x="0" y="0"/>
                  </a:lnTo>
                </a:path>
              </a:pathLst>
            </a:custGeom>
            <a:ln w="32004">
              <a:solidFill>
                <a:srgbClr val="C0C0C0"/>
              </a:solidFill>
            </a:ln>
          </p:spPr>
          <p:txBody>
            <a:bodyPr wrap="square" lIns="0" tIns="0" rIns="0" bIns="0" rtlCol="0"/>
            <a:lstStyle/>
            <a:p>
              <a:endParaRPr/>
            </a:p>
          </p:txBody>
        </p:sp>
        <p:sp>
          <p:nvSpPr>
            <p:cNvPr id="12" name="object 12"/>
            <p:cNvSpPr/>
            <p:nvPr/>
          </p:nvSpPr>
          <p:spPr>
            <a:xfrm>
              <a:off x="3384296" y="3228848"/>
              <a:ext cx="173355" cy="151765"/>
            </a:xfrm>
            <a:custGeom>
              <a:avLst/>
              <a:gdLst/>
              <a:ahLst/>
              <a:cxnLst/>
              <a:rect l="l" t="t" r="r" b="b"/>
              <a:pathLst>
                <a:path w="173354" h="151764">
                  <a:moveTo>
                    <a:pt x="172974" y="22098"/>
                  </a:moveTo>
                  <a:lnTo>
                    <a:pt x="0" y="0"/>
                  </a:lnTo>
                  <a:lnTo>
                    <a:pt x="86867" y="151637"/>
                  </a:lnTo>
                  <a:lnTo>
                    <a:pt x="172974" y="22098"/>
                  </a:lnTo>
                  <a:close/>
                </a:path>
              </a:pathLst>
            </a:custGeom>
            <a:solidFill>
              <a:srgbClr val="C0C0C0"/>
            </a:solidFill>
          </p:spPr>
          <p:txBody>
            <a:bodyPr wrap="square" lIns="0" tIns="0" rIns="0" bIns="0" rtlCol="0"/>
            <a:lstStyle/>
            <a:p>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48447" y="0"/>
            <a:ext cx="1470660" cy="271780"/>
          </a:xfrm>
          <a:custGeom>
            <a:avLst/>
            <a:gdLst/>
            <a:ahLst/>
            <a:cxnLst/>
            <a:rect l="l" t="t" r="r" b="b"/>
            <a:pathLst>
              <a:path w="1470659" h="271780">
                <a:moveTo>
                  <a:pt x="0" y="0"/>
                </a:moveTo>
                <a:lnTo>
                  <a:pt x="0" y="271525"/>
                </a:lnTo>
                <a:lnTo>
                  <a:pt x="1470152" y="271525"/>
                </a:lnTo>
              </a:path>
            </a:pathLst>
          </a:custGeom>
          <a:ln w="9144">
            <a:solidFill>
              <a:srgbClr val="000000"/>
            </a:solidFill>
          </a:ln>
        </p:spPr>
        <p:txBody>
          <a:bodyPr wrap="square" lIns="0" tIns="0" rIns="0" bIns="0" rtlCol="0"/>
          <a:lstStyle/>
          <a:p>
            <a:endParaRPr/>
          </a:p>
        </p:txBody>
      </p:sp>
      <p:sp>
        <p:nvSpPr>
          <p:cNvPr id="3" name="object 3"/>
          <p:cNvSpPr txBox="1"/>
          <p:nvPr/>
        </p:nvSpPr>
        <p:spPr>
          <a:xfrm>
            <a:off x="8178292" y="18795"/>
            <a:ext cx="4235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Rev.</a:t>
            </a:r>
            <a:r>
              <a:rPr sz="1200" spc="-45" dirty="0">
                <a:latin typeface="Times New Roman"/>
                <a:cs typeface="Times New Roman"/>
              </a:rPr>
              <a:t> </a:t>
            </a:r>
            <a:r>
              <a:rPr sz="1200" spc="-50" dirty="0">
                <a:latin typeface="Times New Roman"/>
                <a:cs typeface="Times New Roman"/>
              </a:rPr>
              <a:t>1</a:t>
            </a:r>
            <a:endParaRPr sz="1200">
              <a:latin typeface="Times New Roman"/>
              <a:cs typeface="Times New Roman"/>
            </a:endParaRPr>
          </a:p>
        </p:txBody>
      </p:sp>
      <p:sp>
        <p:nvSpPr>
          <p:cNvPr id="4" name="object 4"/>
          <p:cNvSpPr txBox="1">
            <a:spLocks noGrp="1"/>
          </p:cNvSpPr>
          <p:nvPr>
            <p:ph type="title"/>
          </p:nvPr>
        </p:nvSpPr>
        <p:spPr>
          <a:xfrm>
            <a:off x="2347976" y="87122"/>
            <a:ext cx="4083050" cy="407034"/>
          </a:xfrm>
          <a:prstGeom prst="rect">
            <a:avLst/>
          </a:prstGeom>
          <a:ln w="9144">
            <a:solidFill>
              <a:srgbClr val="000000"/>
            </a:solidFill>
          </a:ln>
        </p:spPr>
        <p:txBody>
          <a:bodyPr vert="horz" wrap="square" lIns="0" tIns="41275" rIns="0" bIns="0" rtlCol="0">
            <a:spAutoFit/>
          </a:bodyPr>
          <a:lstStyle/>
          <a:p>
            <a:pPr marL="207010">
              <a:lnSpc>
                <a:spcPct val="100000"/>
              </a:lnSpc>
              <a:spcBef>
                <a:spcPts val="325"/>
              </a:spcBef>
            </a:pPr>
            <a:r>
              <a:rPr sz="2000" b="1" dirty="0">
                <a:latin typeface="Times New Roman"/>
                <a:cs typeface="Times New Roman"/>
              </a:rPr>
              <a:t>System</a:t>
            </a:r>
            <a:r>
              <a:rPr sz="2000" b="1" spc="-35" dirty="0">
                <a:latin typeface="Times New Roman"/>
                <a:cs typeface="Times New Roman"/>
              </a:rPr>
              <a:t> </a:t>
            </a:r>
            <a:r>
              <a:rPr sz="2000" b="1" dirty="0">
                <a:latin typeface="Times New Roman"/>
                <a:cs typeface="Times New Roman"/>
              </a:rPr>
              <a:t>Cabinet</a:t>
            </a:r>
            <a:r>
              <a:rPr sz="2000" b="1" spc="-30" dirty="0">
                <a:latin typeface="Times New Roman"/>
                <a:cs typeface="Times New Roman"/>
              </a:rPr>
              <a:t> </a:t>
            </a:r>
            <a:r>
              <a:rPr sz="2000" b="1" dirty="0">
                <a:latin typeface="Times New Roman"/>
                <a:cs typeface="Times New Roman"/>
              </a:rPr>
              <a:t>–</a:t>
            </a:r>
            <a:r>
              <a:rPr sz="2000" b="1" spc="-35" dirty="0">
                <a:latin typeface="Times New Roman"/>
                <a:cs typeface="Times New Roman"/>
              </a:rPr>
              <a:t> </a:t>
            </a:r>
            <a:r>
              <a:rPr sz="2000" b="1" dirty="0">
                <a:latin typeface="Times New Roman"/>
                <a:cs typeface="Times New Roman"/>
              </a:rPr>
              <a:t>VRE</a:t>
            </a:r>
            <a:r>
              <a:rPr sz="2000" b="1" spc="-30" dirty="0">
                <a:latin typeface="Times New Roman"/>
                <a:cs typeface="Times New Roman"/>
              </a:rPr>
              <a:t> </a:t>
            </a:r>
            <a:r>
              <a:rPr sz="2000" b="1" spc="-10" dirty="0">
                <a:latin typeface="Times New Roman"/>
                <a:cs typeface="Times New Roman"/>
              </a:rPr>
              <a:t>subsystem</a:t>
            </a:r>
            <a:endParaRPr sz="2000">
              <a:latin typeface="Times New Roman"/>
              <a:cs typeface="Times New Roman"/>
            </a:endParaRPr>
          </a:p>
        </p:txBody>
      </p:sp>
      <p:pic>
        <p:nvPicPr>
          <p:cNvPr id="5" name="object 5"/>
          <p:cNvPicPr/>
          <p:nvPr/>
        </p:nvPicPr>
        <p:blipFill>
          <a:blip r:embed="rId2" cstate="print"/>
          <a:stretch>
            <a:fillRect/>
          </a:stretch>
        </p:blipFill>
        <p:spPr>
          <a:xfrm>
            <a:off x="520700" y="755396"/>
            <a:ext cx="7722869" cy="5792723"/>
          </a:xfrm>
          <a:prstGeom prst="rect">
            <a:avLst/>
          </a:prstGeom>
        </p:spPr>
      </p:pic>
      <p:sp>
        <p:nvSpPr>
          <p:cNvPr id="6" name="object 6"/>
          <p:cNvSpPr txBox="1"/>
          <p:nvPr/>
        </p:nvSpPr>
        <p:spPr>
          <a:xfrm>
            <a:off x="3111500" y="5424170"/>
            <a:ext cx="5054600" cy="527685"/>
          </a:xfrm>
          <a:prstGeom prst="rect">
            <a:avLst/>
          </a:prstGeom>
          <a:solidFill>
            <a:srgbClr val="FFFFFF"/>
          </a:solidFill>
          <a:ln w="9144">
            <a:solidFill>
              <a:srgbClr val="000000"/>
            </a:solidFill>
          </a:ln>
        </p:spPr>
        <p:txBody>
          <a:bodyPr vert="horz" wrap="square" lIns="0" tIns="44450" rIns="0" bIns="0" rtlCol="0">
            <a:spAutoFit/>
          </a:bodyPr>
          <a:lstStyle/>
          <a:p>
            <a:pPr marL="96520" marR="89535">
              <a:lnSpc>
                <a:spcPct val="100000"/>
              </a:lnSpc>
              <a:spcBef>
                <a:spcPts val="350"/>
              </a:spcBef>
            </a:pP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VRE</a:t>
            </a:r>
            <a:r>
              <a:rPr sz="1400" spc="-35" dirty="0">
                <a:latin typeface="Times New Roman"/>
                <a:cs typeface="Times New Roman"/>
              </a:rPr>
              <a:t> </a:t>
            </a:r>
            <a:r>
              <a:rPr sz="1400" dirty="0">
                <a:latin typeface="Times New Roman"/>
                <a:cs typeface="Times New Roman"/>
              </a:rPr>
              <a:t>consists</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Infiniband</a:t>
            </a:r>
            <a:r>
              <a:rPr sz="1400" spc="-25" dirty="0">
                <a:latin typeface="Times New Roman"/>
                <a:cs typeface="Times New Roman"/>
              </a:rPr>
              <a:t> </a:t>
            </a:r>
            <a:r>
              <a:rPr sz="1400" dirty="0">
                <a:latin typeface="Times New Roman"/>
                <a:cs typeface="Times New Roman"/>
              </a:rPr>
              <a:t>Board,</a:t>
            </a:r>
            <a:r>
              <a:rPr sz="1400" spc="-3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Network</a:t>
            </a:r>
            <a:r>
              <a:rPr sz="1400" spc="-30" dirty="0">
                <a:latin typeface="Times New Roman"/>
                <a:cs typeface="Times New Roman"/>
              </a:rPr>
              <a:t> </a:t>
            </a:r>
            <a:r>
              <a:rPr sz="1400" dirty="0">
                <a:latin typeface="Times New Roman"/>
                <a:cs typeface="Times New Roman"/>
              </a:rPr>
              <a:t>Switch,</a:t>
            </a:r>
            <a:r>
              <a:rPr sz="1400" spc="-35" dirty="0">
                <a:latin typeface="Times New Roman"/>
                <a:cs typeface="Times New Roman"/>
              </a:rPr>
              <a:t> </a:t>
            </a:r>
            <a:r>
              <a:rPr sz="1400" spc="-25" dirty="0">
                <a:latin typeface="Times New Roman"/>
                <a:cs typeface="Times New Roman"/>
              </a:rPr>
              <a:t>and </a:t>
            </a:r>
            <a:r>
              <a:rPr sz="1400" dirty="0">
                <a:latin typeface="Times New Roman"/>
                <a:cs typeface="Times New Roman"/>
              </a:rPr>
              <a:t>2</a:t>
            </a:r>
            <a:r>
              <a:rPr sz="1400" spc="-15" dirty="0">
                <a:latin typeface="Times New Roman"/>
                <a:cs typeface="Times New Roman"/>
              </a:rPr>
              <a:t> </a:t>
            </a:r>
            <a:r>
              <a:rPr sz="1400" dirty="0">
                <a:latin typeface="Times New Roman"/>
                <a:cs typeface="Times New Roman"/>
              </a:rPr>
              <a:t>or</a:t>
            </a:r>
            <a:r>
              <a:rPr sz="1400" spc="-10" dirty="0">
                <a:latin typeface="Times New Roman"/>
                <a:cs typeface="Times New Roman"/>
              </a:rPr>
              <a:t> </a:t>
            </a:r>
            <a:r>
              <a:rPr sz="1400" dirty="0">
                <a:latin typeface="Times New Roman"/>
                <a:cs typeface="Times New Roman"/>
              </a:rPr>
              <a:t>4</a:t>
            </a:r>
            <a:r>
              <a:rPr sz="1400" spc="-10" dirty="0">
                <a:latin typeface="Times New Roman"/>
                <a:cs typeface="Times New Roman"/>
              </a:rPr>
              <a:t> </a:t>
            </a:r>
            <a:r>
              <a:rPr sz="1400" dirty="0">
                <a:latin typeface="Times New Roman"/>
                <a:cs typeface="Times New Roman"/>
              </a:rPr>
              <a:t>ICN</a:t>
            </a:r>
            <a:r>
              <a:rPr sz="1400" spc="-10" dirty="0">
                <a:latin typeface="Times New Roman"/>
                <a:cs typeface="Times New Roman"/>
              </a:rPr>
              <a:t> chassis</a:t>
            </a:r>
            <a:endParaRPr sz="1400">
              <a:latin typeface="Times New Roman"/>
              <a:cs typeface="Times New Roman"/>
            </a:endParaRPr>
          </a:p>
        </p:txBody>
      </p:sp>
      <p:grpSp>
        <p:nvGrpSpPr>
          <p:cNvPr id="7" name="object 7"/>
          <p:cNvGrpSpPr/>
          <p:nvPr/>
        </p:nvGrpSpPr>
        <p:grpSpPr>
          <a:xfrm>
            <a:off x="4311459" y="3419157"/>
            <a:ext cx="1997710" cy="324485"/>
            <a:chOff x="4311459" y="3419157"/>
            <a:chExt cx="1997710" cy="324485"/>
          </a:xfrm>
        </p:grpSpPr>
        <p:sp>
          <p:nvSpPr>
            <p:cNvPr id="8" name="object 8"/>
            <p:cNvSpPr/>
            <p:nvPr/>
          </p:nvSpPr>
          <p:spPr>
            <a:xfrm>
              <a:off x="4316221" y="3423920"/>
              <a:ext cx="1988185" cy="314960"/>
            </a:xfrm>
            <a:custGeom>
              <a:avLst/>
              <a:gdLst/>
              <a:ahLst/>
              <a:cxnLst/>
              <a:rect l="l" t="t" r="r" b="b"/>
              <a:pathLst>
                <a:path w="1988185" h="314960">
                  <a:moveTo>
                    <a:pt x="1988057" y="314705"/>
                  </a:moveTo>
                  <a:lnTo>
                    <a:pt x="1988057" y="0"/>
                  </a:lnTo>
                  <a:lnTo>
                    <a:pt x="0" y="0"/>
                  </a:lnTo>
                  <a:lnTo>
                    <a:pt x="0" y="314706"/>
                  </a:lnTo>
                  <a:lnTo>
                    <a:pt x="1988057" y="314705"/>
                  </a:lnTo>
                  <a:close/>
                </a:path>
              </a:pathLst>
            </a:custGeom>
            <a:solidFill>
              <a:srgbClr val="FFFFFF"/>
            </a:solidFill>
          </p:spPr>
          <p:txBody>
            <a:bodyPr wrap="square" lIns="0" tIns="0" rIns="0" bIns="0" rtlCol="0"/>
            <a:lstStyle/>
            <a:p>
              <a:endParaRPr/>
            </a:p>
          </p:txBody>
        </p:sp>
        <p:sp>
          <p:nvSpPr>
            <p:cNvPr id="9" name="object 9"/>
            <p:cNvSpPr/>
            <p:nvPr/>
          </p:nvSpPr>
          <p:spPr>
            <a:xfrm>
              <a:off x="4316221" y="3423920"/>
              <a:ext cx="1988185" cy="314960"/>
            </a:xfrm>
            <a:custGeom>
              <a:avLst/>
              <a:gdLst/>
              <a:ahLst/>
              <a:cxnLst/>
              <a:rect l="l" t="t" r="r" b="b"/>
              <a:pathLst>
                <a:path w="1988185" h="314960">
                  <a:moveTo>
                    <a:pt x="1988057" y="314705"/>
                  </a:moveTo>
                  <a:lnTo>
                    <a:pt x="1988057" y="0"/>
                  </a:lnTo>
                  <a:lnTo>
                    <a:pt x="0" y="0"/>
                  </a:lnTo>
                  <a:lnTo>
                    <a:pt x="0" y="314706"/>
                  </a:lnTo>
                  <a:lnTo>
                    <a:pt x="1988057" y="314705"/>
                  </a:lnTo>
                  <a:close/>
                </a:path>
              </a:pathLst>
            </a:custGeom>
            <a:ln w="9144">
              <a:solidFill>
                <a:srgbClr val="000000"/>
              </a:solidFill>
            </a:ln>
          </p:spPr>
          <p:txBody>
            <a:bodyPr wrap="square" lIns="0" tIns="0" rIns="0" bIns="0" rtlCol="0"/>
            <a:lstStyle/>
            <a:p>
              <a:endParaRPr/>
            </a:p>
          </p:txBody>
        </p:sp>
      </p:grpSp>
      <p:sp>
        <p:nvSpPr>
          <p:cNvPr id="10" name="object 10"/>
          <p:cNvSpPr txBox="1"/>
          <p:nvPr/>
        </p:nvSpPr>
        <p:spPr>
          <a:xfrm>
            <a:off x="4400296" y="3456177"/>
            <a:ext cx="971550"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ICN</a:t>
            </a:r>
            <a:r>
              <a:rPr sz="1400" b="1" spc="-35" dirty="0">
                <a:latin typeface="Times New Roman"/>
                <a:cs typeface="Times New Roman"/>
              </a:rPr>
              <a:t> </a:t>
            </a:r>
            <a:r>
              <a:rPr sz="1400" b="1" spc="-10" dirty="0">
                <a:latin typeface="Times New Roman"/>
                <a:cs typeface="Times New Roman"/>
              </a:rPr>
              <a:t>Chassis</a:t>
            </a:r>
            <a:endParaRPr sz="1400">
              <a:latin typeface="Times New Roman"/>
              <a:cs typeface="Times New Roman"/>
            </a:endParaRPr>
          </a:p>
        </p:txBody>
      </p:sp>
      <p:grpSp>
        <p:nvGrpSpPr>
          <p:cNvPr id="11" name="object 11"/>
          <p:cNvGrpSpPr/>
          <p:nvPr/>
        </p:nvGrpSpPr>
        <p:grpSpPr>
          <a:xfrm>
            <a:off x="2503423" y="2598483"/>
            <a:ext cx="3826510" cy="1905000"/>
            <a:chOff x="2503423" y="2598483"/>
            <a:chExt cx="3826510" cy="1905000"/>
          </a:xfrm>
        </p:grpSpPr>
        <p:sp>
          <p:nvSpPr>
            <p:cNvPr id="12" name="object 12"/>
            <p:cNvSpPr/>
            <p:nvPr/>
          </p:nvSpPr>
          <p:spPr>
            <a:xfrm>
              <a:off x="3023107" y="3615943"/>
              <a:ext cx="1240790" cy="226695"/>
            </a:xfrm>
            <a:custGeom>
              <a:avLst/>
              <a:gdLst/>
              <a:ahLst/>
              <a:cxnLst/>
              <a:rect l="l" t="t" r="r" b="b"/>
              <a:pathLst>
                <a:path w="1240789" h="226695">
                  <a:moveTo>
                    <a:pt x="1240536" y="0"/>
                  </a:moveTo>
                  <a:lnTo>
                    <a:pt x="0" y="226313"/>
                  </a:lnTo>
                </a:path>
              </a:pathLst>
            </a:custGeom>
            <a:ln w="32004">
              <a:solidFill>
                <a:srgbClr val="C0C0C0"/>
              </a:solidFill>
            </a:ln>
          </p:spPr>
          <p:txBody>
            <a:bodyPr wrap="square" lIns="0" tIns="0" rIns="0" bIns="0" rtlCol="0"/>
            <a:lstStyle/>
            <a:p>
              <a:endParaRPr/>
            </a:p>
          </p:txBody>
        </p:sp>
        <p:sp>
          <p:nvSpPr>
            <p:cNvPr id="13" name="object 13"/>
            <p:cNvSpPr/>
            <p:nvPr/>
          </p:nvSpPr>
          <p:spPr>
            <a:xfrm>
              <a:off x="2872231" y="3766057"/>
              <a:ext cx="167005" cy="153670"/>
            </a:xfrm>
            <a:custGeom>
              <a:avLst/>
              <a:gdLst/>
              <a:ahLst/>
              <a:cxnLst/>
              <a:rect l="l" t="t" r="r" b="b"/>
              <a:pathLst>
                <a:path w="167005" h="153670">
                  <a:moveTo>
                    <a:pt x="166877" y="153162"/>
                  </a:moveTo>
                  <a:lnTo>
                    <a:pt x="138683" y="0"/>
                  </a:lnTo>
                  <a:lnTo>
                    <a:pt x="0" y="104393"/>
                  </a:lnTo>
                  <a:lnTo>
                    <a:pt x="166877" y="153162"/>
                  </a:lnTo>
                  <a:close/>
                </a:path>
              </a:pathLst>
            </a:custGeom>
            <a:solidFill>
              <a:srgbClr val="C0C0C0"/>
            </a:solidFill>
          </p:spPr>
          <p:txBody>
            <a:bodyPr wrap="square" lIns="0" tIns="0" rIns="0" bIns="0" rtlCol="0"/>
            <a:lstStyle/>
            <a:p>
              <a:endParaRPr/>
            </a:p>
          </p:txBody>
        </p:sp>
        <p:sp>
          <p:nvSpPr>
            <p:cNvPr id="14" name="object 14"/>
            <p:cNvSpPr/>
            <p:nvPr/>
          </p:nvSpPr>
          <p:spPr>
            <a:xfrm>
              <a:off x="2642107" y="3612895"/>
              <a:ext cx="1690370" cy="820419"/>
            </a:xfrm>
            <a:custGeom>
              <a:avLst/>
              <a:gdLst/>
              <a:ahLst/>
              <a:cxnLst/>
              <a:rect l="l" t="t" r="r" b="b"/>
              <a:pathLst>
                <a:path w="1690370" h="820420">
                  <a:moveTo>
                    <a:pt x="1690115" y="0"/>
                  </a:moveTo>
                  <a:lnTo>
                    <a:pt x="0" y="819912"/>
                  </a:lnTo>
                </a:path>
              </a:pathLst>
            </a:custGeom>
            <a:ln w="32004">
              <a:solidFill>
                <a:srgbClr val="C0C0C0"/>
              </a:solidFill>
            </a:ln>
          </p:spPr>
          <p:txBody>
            <a:bodyPr wrap="square" lIns="0" tIns="0" rIns="0" bIns="0" rtlCol="0"/>
            <a:lstStyle/>
            <a:p>
              <a:endParaRPr/>
            </a:p>
          </p:txBody>
        </p:sp>
        <p:sp>
          <p:nvSpPr>
            <p:cNvPr id="15" name="object 15"/>
            <p:cNvSpPr/>
            <p:nvPr/>
          </p:nvSpPr>
          <p:spPr>
            <a:xfrm>
              <a:off x="2503423" y="4363466"/>
              <a:ext cx="174625" cy="139700"/>
            </a:xfrm>
            <a:custGeom>
              <a:avLst/>
              <a:gdLst/>
              <a:ahLst/>
              <a:cxnLst/>
              <a:rect l="l" t="t" r="r" b="b"/>
              <a:pathLst>
                <a:path w="174625" h="139700">
                  <a:moveTo>
                    <a:pt x="174498" y="139446"/>
                  </a:moveTo>
                  <a:lnTo>
                    <a:pt x="106680" y="0"/>
                  </a:lnTo>
                  <a:lnTo>
                    <a:pt x="0" y="137922"/>
                  </a:lnTo>
                  <a:lnTo>
                    <a:pt x="174498" y="139446"/>
                  </a:lnTo>
                  <a:close/>
                </a:path>
              </a:pathLst>
            </a:custGeom>
            <a:solidFill>
              <a:srgbClr val="C0C0C0"/>
            </a:solidFill>
          </p:spPr>
          <p:txBody>
            <a:bodyPr wrap="square" lIns="0" tIns="0" rIns="0" bIns="0" rtlCol="0"/>
            <a:lstStyle/>
            <a:p>
              <a:endParaRPr/>
            </a:p>
          </p:txBody>
        </p:sp>
        <p:sp>
          <p:nvSpPr>
            <p:cNvPr id="16" name="object 16"/>
            <p:cNvSpPr/>
            <p:nvPr/>
          </p:nvSpPr>
          <p:spPr>
            <a:xfrm>
              <a:off x="4336795" y="2603245"/>
              <a:ext cx="1988185" cy="314960"/>
            </a:xfrm>
            <a:custGeom>
              <a:avLst/>
              <a:gdLst/>
              <a:ahLst/>
              <a:cxnLst/>
              <a:rect l="l" t="t" r="r" b="b"/>
              <a:pathLst>
                <a:path w="1988185" h="314960">
                  <a:moveTo>
                    <a:pt x="1988057" y="314705"/>
                  </a:moveTo>
                  <a:lnTo>
                    <a:pt x="1988057" y="0"/>
                  </a:lnTo>
                  <a:lnTo>
                    <a:pt x="0" y="0"/>
                  </a:lnTo>
                  <a:lnTo>
                    <a:pt x="0" y="314706"/>
                  </a:lnTo>
                  <a:lnTo>
                    <a:pt x="1988057" y="314705"/>
                  </a:lnTo>
                  <a:close/>
                </a:path>
              </a:pathLst>
            </a:custGeom>
            <a:solidFill>
              <a:srgbClr val="FFFFFF"/>
            </a:solidFill>
          </p:spPr>
          <p:txBody>
            <a:bodyPr wrap="square" lIns="0" tIns="0" rIns="0" bIns="0" rtlCol="0"/>
            <a:lstStyle/>
            <a:p>
              <a:endParaRPr/>
            </a:p>
          </p:txBody>
        </p:sp>
        <p:sp>
          <p:nvSpPr>
            <p:cNvPr id="17" name="object 17"/>
            <p:cNvSpPr/>
            <p:nvPr/>
          </p:nvSpPr>
          <p:spPr>
            <a:xfrm>
              <a:off x="4336795" y="2603245"/>
              <a:ext cx="1988185" cy="314960"/>
            </a:xfrm>
            <a:custGeom>
              <a:avLst/>
              <a:gdLst/>
              <a:ahLst/>
              <a:cxnLst/>
              <a:rect l="l" t="t" r="r" b="b"/>
              <a:pathLst>
                <a:path w="1988185" h="314960">
                  <a:moveTo>
                    <a:pt x="1988057" y="314705"/>
                  </a:moveTo>
                  <a:lnTo>
                    <a:pt x="1988057" y="0"/>
                  </a:lnTo>
                  <a:lnTo>
                    <a:pt x="0" y="0"/>
                  </a:lnTo>
                  <a:lnTo>
                    <a:pt x="0" y="314706"/>
                  </a:lnTo>
                  <a:lnTo>
                    <a:pt x="1988057" y="314705"/>
                  </a:lnTo>
                  <a:close/>
                </a:path>
              </a:pathLst>
            </a:custGeom>
            <a:ln w="9144">
              <a:solidFill>
                <a:srgbClr val="000000"/>
              </a:solidFill>
            </a:ln>
          </p:spPr>
          <p:txBody>
            <a:bodyPr wrap="square" lIns="0" tIns="0" rIns="0" bIns="0" rtlCol="0"/>
            <a:lstStyle/>
            <a:p>
              <a:endParaRPr/>
            </a:p>
          </p:txBody>
        </p:sp>
      </p:grpSp>
      <p:sp>
        <p:nvSpPr>
          <p:cNvPr id="18" name="object 18"/>
          <p:cNvSpPr txBox="1"/>
          <p:nvPr/>
        </p:nvSpPr>
        <p:spPr>
          <a:xfrm>
            <a:off x="4420870" y="2635504"/>
            <a:ext cx="1352550"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Infiniband</a:t>
            </a:r>
            <a:r>
              <a:rPr sz="1400" b="1" spc="-50" dirty="0">
                <a:latin typeface="Times New Roman"/>
                <a:cs typeface="Times New Roman"/>
              </a:rPr>
              <a:t> </a:t>
            </a:r>
            <a:r>
              <a:rPr sz="1400" b="1" spc="-10" dirty="0">
                <a:latin typeface="Times New Roman"/>
                <a:cs typeface="Times New Roman"/>
              </a:rPr>
              <a:t>Board</a:t>
            </a:r>
            <a:endParaRPr sz="1400">
              <a:latin typeface="Times New Roman"/>
              <a:cs typeface="Times New Roman"/>
            </a:endParaRPr>
          </a:p>
        </p:txBody>
      </p:sp>
      <p:grpSp>
        <p:nvGrpSpPr>
          <p:cNvPr id="19" name="object 19"/>
          <p:cNvGrpSpPr/>
          <p:nvPr/>
        </p:nvGrpSpPr>
        <p:grpSpPr>
          <a:xfrm>
            <a:off x="1624075" y="1012952"/>
            <a:ext cx="2751455" cy="1741805"/>
            <a:chOff x="1624075" y="1012952"/>
            <a:chExt cx="2751455" cy="1741805"/>
          </a:xfrm>
        </p:grpSpPr>
        <p:sp>
          <p:nvSpPr>
            <p:cNvPr id="20" name="object 20"/>
            <p:cNvSpPr/>
            <p:nvPr/>
          </p:nvSpPr>
          <p:spPr>
            <a:xfrm>
              <a:off x="1861057" y="1161542"/>
              <a:ext cx="2433320" cy="1527810"/>
            </a:xfrm>
            <a:custGeom>
              <a:avLst/>
              <a:gdLst/>
              <a:ahLst/>
              <a:cxnLst/>
              <a:rect l="l" t="t" r="r" b="b"/>
              <a:pathLst>
                <a:path w="2433320" h="1527810">
                  <a:moveTo>
                    <a:pt x="2433066" y="1527809"/>
                  </a:moveTo>
                  <a:lnTo>
                    <a:pt x="0" y="0"/>
                  </a:lnTo>
                </a:path>
              </a:pathLst>
            </a:custGeom>
            <a:ln w="82296">
              <a:solidFill>
                <a:srgbClr val="FFFFFF"/>
              </a:solidFill>
            </a:ln>
          </p:spPr>
          <p:txBody>
            <a:bodyPr wrap="square" lIns="0" tIns="0" rIns="0" bIns="0" rtlCol="0"/>
            <a:lstStyle/>
            <a:p>
              <a:endParaRPr/>
            </a:p>
          </p:txBody>
        </p:sp>
        <p:sp>
          <p:nvSpPr>
            <p:cNvPr id="21" name="object 21"/>
            <p:cNvSpPr/>
            <p:nvPr/>
          </p:nvSpPr>
          <p:spPr>
            <a:xfrm>
              <a:off x="1624075" y="1012952"/>
              <a:ext cx="314960" cy="270510"/>
            </a:xfrm>
            <a:custGeom>
              <a:avLst/>
              <a:gdLst/>
              <a:ahLst/>
              <a:cxnLst/>
              <a:rect l="l" t="t" r="r" b="b"/>
              <a:pathLst>
                <a:path w="314960" h="270509">
                  <a:moveTo>
                    <a:pt x="314706" y="31241"/>
                  </a:moveTo>
                  <a:lnTo>
                    <a:pt x="0" y="0"/>
                  </a:lnTo>
                  <a:lnTo>
                    <a:pt x="164592" y="270510"/>
                  </a:lnTo>
                  <a:lnTo>
                    <a:pt x="314706" y="31241"/>
                  </a:lnTo>
                  <a:close/>
                </a:path>
              </a:pathLst>
            </a:custGeom>
            <a:solidFill>
              <a:srgbClr val="FFFFFF"/>
            </a:solidFill>
          </p:spPr>
          <p:txBody>
            <a:bodyPr wrap="square" lIns="0" tIns="0" rIns="0" bIns="0" rtlCol="0"/>
            <a:lstStyle/>
            <a:p>
              <a:endParaRPr/>
            </a:p>
          </p:txBody>
        </p:sp>
        <p:sp>
          <p:nvSpPr>
            <p:cNvPr id="22" name="object 22"/>
            <p:cNvSpPr/>
            <p:nvPr/>
          </p:nvSpPr>
          <p:spPr>
            <a:xfrm>
              <a:off x="1819147" y="1142492"/>
              <a:ext cx="2540000" cy="1595755"/>
            </a:xfrm>
            <a:custGeom>
              <a:avLst/>
              <a:gdLst/>
              <a:ahLst/>
              <a:cxnLst/>
              <a:rect l="l" t="t" r="r" b="b"/>
              <a:pathLst>
                <a:path w="2540000" h="1595755">
                  <a:moveTo>
                    <a:pt x="2539746" y="1595627"/>
                  </a:moveTo>
                  <a:lnTo>
                    <a:pt x="0" y="0"/>
                  </a:lnTo>
                </a:path>
              </a:pathLst>
            </a:custGeom>
            <a:ln w="32004">
              <a:solidFill>
                <a:srgbClr val="000000"/>
              </a:solidFill>
            </a:ln>
          </p:spPr>
          <p:txBody>
            <a:bodyPr wrap="square" lIns="0" tIns="0" rIns="0" bIns="0" rtlCol="0"/>
            <a:lstStyle/>
            <a:p>
              <a:endParaRPr/>
            </a:p>
          </p:txBody>
        </p:sp>
        <p:sp>
          <p:nvSpPr>
            <p:cNvPr id="23" name="object 23"/>
            <p:cNvSpPr/>
            <p:nvPr/>
          </p:nvSpPr>
          <p:spPr>
            <a:xfrm>
              <a:off x="1689607" y="1061720"/>
              <a:ext cx="173355" cy="148590"/>
            </a:xfrm>
            <a:custGeom>
              <a:avLst/>
              <a:gdLst/>
              <a:ahLst/>
              <a:cxnLst/>
              <a:rect l="l" t="t" r="r" b="b"/>
              <a:pathLst>
                <a:path w="173355" h="148590">
                  <a:moveTo>
                    <a:pt x="172974" y="16764"/>
                  </a:moveTo>
                  <a:lnTo>
                    <a:pt x="0" y="0"/>
                  </a:lnTo>
                  <a:lnTo>
                    <a:pt x="90678" y="148590"/>
                  </a:lnTo>
                  <a:lnTo>
                    <a:pt x="172974" y="16764"/>
                  </a:lnTo>
                  <a:close/>
                </a:path>
              </a:pathLst>
            </a:custGeom>
            <a:solidFill>
              <a:srgbClr val="000000"/>
            </a:solidFill>
          </p:spPr>
          <p:txBody>
            <a:bodyPr wrap="square" lIns="0" tIns="0" rIns="0" bIns="0" rtlCol="0"/>
            <a:lstStyle/>
            <a:p>
              <a:endParaRPr/>
            </a:p>
          </p:txBody>
        </p:sp>
      </p:grpSp>
      <p:sp>
        <p:nvSpPr>
          <p:cNvPr id="24" name="object 24"/>
          <p:cNvSpPr txBox="1"/>
          <p:nvPr/>
        </p:nvSpPr>
        <p:spPr>
          <a:xfrm>
            <a:off x="4326128" y="3045205"/>
            <a:ext cx="1976755" cy="314325"/>
          </a:xfrm>
          <a:prstGeom prst="rect">
            <a:avLst/>
          </a:prstGeom>
          <a:solidFill>
            <a:srgbClr val="FFFFFF"/>
          </a:solidFill>
          <a:ln w="9144">
            <a:solidFill>
              <a:srgbClr val="000000"/>
            </a:solidFill>
          </a:ln>
        </p:spPr>
        <p:txBody>
          <a:bodyPr vert="horz" wrap="square" lIns="0" tIns="43815" rIns="0" bIns="0" rtlCol="0">
            <a:spAutoFit/>
          </a:bodyPr>
          <a:lstStyle/>
          <a:p>
            <a:pPr marL="96520">
              <a:lnSpc>
                <a:spcPct val="100000"/>
              </a:lnSpc>
              <a:spcBef>
                <a:spcPts val="345"/>
              </a:spcBef>
            </a:pPr>
            <a:r>
              <a:rPr sz="1400" b="1" dirty="0">
                <a:latin typeface="Times New Roman"/>
                <a:cs typeface="Times New Roman"/>
              </a:rPr>
              <a:t>Network</a:t>
            </a:r>
            <a:r>
              <a:rPr sz="1400" b="1" spc="-60" dirty="0">
                <a:latin typeface="Times New Roman"/>
                <a:cs typeface="Times New Roman"/>
              </a:rPr>
              <a:t> </a:t>
            </a:r>
            <a:r>
              <a:rPr sz="1400" b="1" spc="-10" dirty="0">
                <a:latin typeface="Times New Roman"/>
                <a:cs typeface="Times New Roman"/>
              </a:rPr>
              <a:t>switch</a:t>
            </a:r>
            <a:endParaRPr sz="1400">
              <a:latin typeface="Times New Roman"/>
              <a:cs typeface="Times New Roman"/>
            </a:endParaRPr>
          </a:p>
        </p:txBody>
      </p:sp>
      <p:grpSp>
        <p:nvGrpSpPr>
          <p:cNvPr id="25" name="object 25"/>
          <p:cNvGrpSpPr/>
          <p:nvPr/>
        </p:nvGrpSpPr>
        <p:grpSpPr>
          <a:xfrm>
            <a:off x="3442208" y="3095498"/>
            <a:ext cx="900430" cy="156210"/>
            <a:chOff x="3442208" y="3095498"/>
            <a:chExt cx="900430" cy="156210"/>
          </a:xfrm>
        </p:grpSpPr>
        <p:sp>
          <p:nvSpPr>
            <p:cNvPr id="26" name="object 26"/>
            <p:cNvSpPr/>
            <p:nvPr/>
          </p:nvSpPr>
          <p:spPr>
            <a:xfrm>
              <a:off x="3595370" y="3173222"/>
              <a:ext cx="730885" cy="1905"/>
            </a:xfrm>
            <a:custGeom>
              <a:avLst/>
              <a:gdLst/>
              <a:ahLst/>
              <a:cxnLst/>
              <a:rect l="l" t="t" r="r" b="b"/>
              <a:pathLst>
                <a:path w="730885" h="1905">
                  <a:moveTo>
                    <a:pt x="730757" y="1524"/>
                  </a:moveTo>
                  <a:lnTo>
                    <a:pt x="0" y="0"/>
                  </a:lnTo>
                </a:path>
              </a:pathLst>
            </a:custGeom>
            <a:ln w="32004">
              <a:solidFill>
                <a:srgbClr val="C0C0C0"/>
              </a:solidFill>
            </a:ln>
          </p:spPr>
          <p:txBody>
            <a:bodyPr wrap="square" lIns="0" tIns="0" rIns="0" bIns="0" rtlCol="0"/>
            <a:lstStyle/>
            <a:p>
              <a:endParaRPr/>
            </a:p>
          </p:txBody>
        </p:sp>
        <p:sp>
          <p:nvSpPr>
            <p:cNvPr id="27" name="object 27"/>
            <p:cNvSpPr/>
            <p:nvPr/>
          </p:nvSpPr>
          <p:spPr>
            <a:xfrm>
              <a:off x="3442208" y="3095498"/>
              <a:ext cx="155575" cy="156210"/>
            </a:xfrm>
            <a:custGeom>
              <a:avLst/>
              <a:gdLst/>
              <a:ahLst/>
              <a:cxnLst/>
              <a:rect l="l" t="t" r="r" b="b"/>
              <a:pathLst>
                <a:path w="155575" h="156210">
                  <a:moveTo>
                    <a:pt x="155447" y="156210"/>
                  </a:moveTo>
                  <a:lnTo>
                    <a:pt x="155447" y="0"/>
                  </a:lnTo>
                  <a:lnTo>
                    <a:pt x="0" y="78486"/>
                  </a:lnTo>
                  <a:lnTo>
                    <a:pt x="155447" y="156210"/>
                  </a:lnTo>
                  <a:close/>
                </a:path>
              </a:pathLst>
            </a:custGeom>
            <a:solidFill>
              <a:srgbClr val="C0C0C0"/>
            </a:solidFill>
          </p:spPr>
          <p:txBody>
            <a:bodyPr wrap="square" lIns="0" tIns="0" rIns="0" bIns="0" rtlCol="0"/>
            <a:lstStyle/>
            <a:p>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F36A21-2434-8145-77A9-ADDC0D460BF9}"/>
              </a:ext>
            </a:extLst>
          </p:cNvPr>
          <p:cNvPicPr>
            <a:picLocks noChangeAspect="1"/>
          </p:cNvPicPr>
          <p:nvPr/>
        </p:nvPicPr>
        <p:blipFill>
          <a:blip r:embed="rId2"/>
          <a:stretch>
            <a:fillRect/>
          </a:stretch>
        </p:blipFill>
        <p:spPr>
          <a:xfrm>
            <a:off x="599599" y="457870"/>
            <a:ext cx="7388701" cy="6374729"/>
          </a:xfrm>
          <a:prstGeom prst="rect">
            <a:avLst/>
          </a:prstGeom>
        </p:spPr>
      </p:pic>
    </p:spTree>
    <p:extLst>
      <p:ext uri="{BB962C8B-B14F-4D97-AF65-F5344CB8AC3E}">
        <p14:creationId xmlns:p14="http://schemas.microsoft.com/office/powerpoint/2010/main" val="981914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806</TotalTime>
  <Words>4809</Words>
  <Application>Microsoft Office PowerPoint</Application>
  <PresentationFormat>Custom</PresentationFormat>
  <Paragraphs>326</Paragraphs>
  <Slides>38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38</vt:i4>
      </vt:variant>
    </vt:vector>
  </HeadingPairs>
  <TitlesOfParts>
    <vt:vector size="45" baseType="lpstr">
      <vt:lpstr>Aptos</vt:lpstr>
      <vt:lpstr>Arial</vt:lpstr>
      <vt:lpstr>Arial Rounded MT Bold</vt:lpstr>
      <vt:lpstr>Calibri</vt:lpstr>
      <vt:lpstr>Times New Roman</vt:lpstr>
      <vt:lpstr>Office Theme</vt:lpstr>
      <vt:lpstr>1_Office Theme</vt:lpstr>
      <vt:lpstr>GE MRI  SIGNA EXCITE HDxt</vt:lpstr>
      <vt:lpstr>Objectives:</vt:lpstr>
      <vt:lpstr>Excite Platform Changes</vt:lpstr>
      <vt:lpstr>Typical Room Layout</vt:lpstr>
      <vt:lpstr>System Picture</vt:lpstr>
      <vt:lpstr>Phantom Cart </vt:lpstr>
      <vt:lpstr>RF Subsystem</vt:lpstr>
      <vt:lpstr>SRFD2 (Scalable RF Driver 2)</vt:lpstr>
      <vt:lpstr>ACGD (Advance Control Gradient Driver)</vt:lpstr>
      <vt:lpstr>TEAL PDU</vt:lpstr>
      <vt:lpstr>MRU or ERU</vt:lpstr>
      <vt:lpstr>Main Disconnect Control Panel (MDCP)</vt:lpstr>
      <vt:lpstr>System Cabinet – Contents</vt:lpstr>
      <vt:lpstr>Upgrades vs Forward production</vt:lpstr>
      <vt:lpstr>Communication Paths</vt:lpstr>
      <vt:lpstr>Systems Cabinet</vt:lpstr>
      <vt:lpstr>System Cabinet – MGD Chassis (Front view)</vt:lpstr>
      <vt:lpstr>System Cabinet – MGD Chassis Front</vt:lpstr>
      <vt:lpstr>System Cabinet – MGD Chassis Front</vt:lpstr>
      <vt:lpstr>Digital Receive Filter DRF2 board</vt:lpstr>
      <vt:lpstr>System Cabinet – MGD Chassis Front</vt:lpstr>
      <vt:lpstr>System Cabinet – MGD Chassis Front</vt:lpstr>
      <vt:lpstr>System Cabinet – MGD Chassis Front</vt:lpstr>
      <vt:lpstr>System Cabinet – MGD Chassis Front</vt:lpstr>
      <vt:lpstr>System Cabinet – MGD Chassis Front</vt:lpstr>
      <vt:lpstr>MGD Troubleshooting</vt:lpstr>
      <vt:lpstr>System Cabinet – MGD Chassis Rear</vt:lpstr>
      <vt:lpstr>System Cabinet – MGD Chassis Rear</vt:lpstr>
      <vt:lpstr>System Cabinet – MGD Chassis Rear</vt:lpstr>
      <vt:lpstr>SRI (Scan Room Interface)</vt:lpstr>
      <vt:lpstr>PAC (Physiological Acquisition Controller)</vt:lpstr>
      <vt:lpstr>System Cabinet – CAM Chassis Differences</vt:lpstr>
      <vt:lpstr>System Cabinet – CAM Chassis Slot Definitions</vt:lpstr>
      <vt:lpstr>System Cabinet – Term Server</vt:lpstr>
      <vt:lpstr>Term Server</vt:lpstr>
      <vt:lpstr>System Cabinet – Network Switch</vt:lpstr>
      <vt:lpstr>System Cabinet – VRE subsystem</vt:lpstr>
      <vt:lpstr>PowerPoint Presentation</vt:lpstr>
    </vt:vector>
  </TitlesOfParts>
  <Company>G.E Medical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 Medical Systems</dc:creator>
  <cp:lastModifiedBy>Mike J</cp:lastModifiedBy>
  <cp:revision>2</cp:revision>
  <dcterms:created xsi:type="dcterms:W3CDTF">2024-05-15T14:08:37Z</dcterms:created>
  <dcterms:modified xsi:type="dcterms:W3CDTF">2024-05-21T14:26:03Z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2007-10-10T00:00:00Z</vt:filetime>
  </property>
  <property fmtid="{D5CDD505-2E9C-101B-9397-08002B2CF9AE}" pid="3" name="Creator">
    <vt:lpwstr>Acrobat PDFMaker 6.0 for PowerPoint</vt:lpwstr>
  </property>
  <property fmtid="{D5CDD505-2E9C-101B-9397-08002B2CF9AE}" pid="4" name="LastSaved">
    <vt:filetime>2024-05-15T00:00:00Z</vt:filetime>
  </property>
  <property fmtid="{D5CDD505-2E9C-101B-9397-08002B2CF9AE}" pid="5" name="Producer">
    <vt:lpwstr>3-Heights(TM) PDF Security Shell 4.8.25.2 (http://www.pdf-tools.com)</vt:lpwstr>
  </property>
</Properties>
</file>