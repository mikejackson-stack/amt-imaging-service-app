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8" r:id="rId3"/>
    <p:sldId id="269" r:id="rId4"/>
    <p:sldId id="270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7" r:id="rId26"/>
    <p:sldId id="298" r:id="rId27"/>
    <p:sldId id="299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77F818-F6D0-4D62-9743-351518046F7F}" v="3" dt="2024-05-08T01:20:43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652" autoAdjust="0"/>
  </p:normalViewPr>
  <p:slideViewPr>
    <p:cSldViewPr>
      <p:cViewPr varScale="1">
        <p:scale>
          <a:sx n="98" d="100"/>
          <a:sy n="98" d="100"/>
        </p:scale>
        <p:origin x="76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J" userId="22cf0bdf11e74b3e" providerId="LiveId" clId="{4977F818-F6D0-4D62-9743-351518046F7F}"/>
    <pc:docChg chg="custSel delSld modSld">
      <pc:chgData name="Mike J" userId="22cf0bdf11e74b3e" providerId="LiveId" clId="{4977F818-F6D0-4D62-9743-351518046F7F}" dt="2024-05-11T15:23:05.021" v="263" actId="20577"/>
      <pc:docMkLst>
        <pc:docMk/>
      </pc:docMkLst>
      <pc:sldChg chg="delSp mod">
        <pc:chgData name="Mike J" userId="22cf0bdf11e74b3e" providerId="LiveId" clId="{4977F818-F6D0-4D62-9743-351518046F7F}" dt="2024-05-08T01:20:00.199" v="0" actId="478"/>
        <pc:sldMkLst>
          <pc:docMk/>
          <pc:sldMk cId="0" sldId="256"/>
        </pc:sldMkLst>
        <pc:picChg chg="del">
          <ac:chgData name="Mike J" userId="22cf0bdf11e74b3e" providerId="LiveId" clId="{4977F818-F6D0-4D62-9743-351518046F7F}" dt="2024-05-08T01:20:00.199" v="0" actId="478"/>
          <ac:picMkLst>
            <pc:docMk/>
            <pc:sldMk cId="0" sldId="256"/>
            <ac:picMk id="7" creationId="{00000000-0000-0000-0000-000000000000}"/>
          </ac:picMkLst>
        </pc:picChg>
      </pc:sldChg>
      <pc:sldChg chg="del">
        <pc:chgData name="Mike J" userId="22cf0bdf11e74b3e" providerId="LiveId" clId="{4977F818-F6D0-4D62-9743-351518046F7F}" dt="2024-05-08T01:35:58.163" v="252" actId="47"/>
        <pc:sldMkLst>
          <pc:docMk/>
          <pc:sldMk cId="0" sldId="257"/>
        </pc:sldMkLst>
      </pc:sldChg>
      <pc:sldChg chg="modSp mod">
        <pc:chgData name="Mike J" userId="22cf0bdf11e74b3e" providerId="LiveId" clId="{4977F818-F6D0-4D62-9743-351518046F7F}" dt="2024-05-08T01:22:04.602" v="101" actId="20577"/>
        <pc:sldMkLst>
          <pc:docMk/>
          <pc:sldMk cId="1845353230" sldId="268"/>
        </pc:sldMkLst>
        <pc:spChg chg="mod">
          <ac:chgData name="Mike J" userId="22cf0bdf11e74b3e" providerId="LiveId" clId="{4977F818-F6D0-4D62-9743-351518046F7F}" dt="2024-05-08T01:22:04.602" v="101" actId="20577"/>
          <ac:spMkLst>
            <pc:docMk/>
            <pc:sldMk cId="1845353230" sldId="268"/>
            <ac:spMk id="7" creationId="{00000000-0000-0000-0000-000000000000}"/>
          </ac:spMkLst>
        </pc:spChg>
      </pc:sldChg>
      <pc:sldChg chg="modSp mod">
        <pc:chgData name="Mike J" userId="22cf0bdf11e74b3e" providerId="LiveId" clId="{4977F818-F6D0-4D62-9743-351518046F7F}" dt="2024-05-08T01:23:30.230" v="136" actId="20577"/>
        <pc:sldMkLst>
          <pc:docMk/>
          <pc:sldMk cId="184131299" sldId="269"/>
        </pc:sldMkLst>
        <pc:spChg chg="mod">
          <ac:chgData name="Mike J" userId="22cf0bdf11e74b3e" providerId="LiveId" clId="{4977F818-F6D0-4D62-9743-351518046F7F}" dt="2024-05-08T01:23:30.230" v="136" actId="20577"/>
          <ac:spMkLst>
            <pc:docMk/>
            <pc:sldMk cId="184131299" sldId="269"/>
            <ac:spMk id="5" creationId="{00000000-0000-0000-0000-000000000000}"/>
          </ac:spMkLst>
        </pc:spChg>
      </pc:sldChg>
      <pc:sldChg chg="modSp mod">
        <pc:chgData name="Mike J" userId="22cf0bdf11e74b3e" providerId="LiveId" clId="{4977F818-F6D0-4D62-9743-351518046F7F}" dt="2024-05-11T15:21:59.135" v="261" actId="20577"/>
        <pc:sldMkLst>
          <pc:docMk/>
          <pc:sldMk cId="1303770675" sldId="270"/>
        </pc:sldMkLst>
        <pc:spChg chg="mod">
          <ac:chgData name="Mike J" userId="22cf0bdf11e74b3e" providerId="LiveId" clId="{4977F818-F6D0-4D62-9743-351518046F7F}" dt="2024-05-11T15:21:59.135" v="261" actId="20577"/>
          <ac:spMkLst>
            <pc:docMk/>
            <pc:sldMk cId="1303770675" sldId="270"/>
            <ac:spMk id="2" creationId="{00000000-0000-0000-0000-000000000000}"/>
          </ac:spMkLst>
        </pc:spChg>
        <pc:spChg chg="mod">
          <ac:chgData name="Mike J" userId="22cf0bdf11e74b3e" providerId="LiveId" clId="{4977F818-F6D0-4D62-9743-351518046F7F}" dt="2024-05-08T01:24:05.982" v="166" actId="20577"/>
          <ac:spMkLst>
            <pc:docMk/>
            <pc:sldMk cId="1303770675" sldId="270"/>
            <ac:spMk id="3" creationId="{00000000-0000-0000-0000-000000000000}"/>
          </ac:spMkLst>
        </pc:spChg>
      </pc:sldChg>
      <pc:sldChg chg="del">
        <pc:chgData name="Mike J" userId="22cf0bdf11e74b3e" providerId="LiveId" clId="{4977F818-F6D0-4D62-9743-351518046F7F}" dt="2024-05-08T01:24:41.098" v="167" actId="47"/>
        <pc:sldMkLst>
          <pc:docMk/>
          <pc:sldMk cId="4095374490" sldId="271"/>
        </pc:sldMkLst>
      </pc:sldChg>
      <pc:sldChg chg="del">
        <pc:chgData name="Mike J" userId="22cf0bdf11e74b3e" providerId="LiveId" clId="{4977F818-F6D0-4D62-9743-351518046F7F}" dt="2024-05-08T01:24:44.384" v="168" actId="47"/>
        <pc:sldMkLst>
          <pc:docMk/>
          <pc:sldMk cId="2043982415" sldId="272"/>
        </pc:sldMkLst>
      </pc:sldChg>
      <pc:sldChg chg="modSp mod">
        <pc:chgData name="Mike J" userId="22cf0bdf11e74b3e" providerId="LiveId" clId="{4977F818-F6D0-4D62-9743-351518046F7F}" dt="2024-05-11T15:23:05.021" v="263" actId="20577"/>
        <pc:sldMkLst>
          <pc:docMk/>
          <pc:sldMk cId="3655584032" sldId="277"/>
        </pc:sldMkLst>
        <pc:spChg chg="mod">
          <ac:chgData name="Mike J" userId="22cf0bdf11e74b3e" providerId="LiveId" clId="{4977F818-F6D0-4D62-9743-351518046F7F}" dt="2024-05-11T15:23:05.021" v="263" actId="20577"/>
          <ac:spMkLst>
            <pc:docMk/>
            <pc:sldMk cId="3655584032" sldId="277"/>
            <ac:spMk id="3" creationId="{00000000-0000-0000-0000-000000000000}"/>
          </ac:spMkLst>
        </pc:spChg>
      </pc:sldChg>
      <pc:sldChg chg="modSp mod">
        <pc:chgData name="Mike J" userId="22cf0bdf11e74b3e" providerId="LiveId" clId="{4977F818-F6D0-4D62-9743-351518046F7F}" dt="2024-05-08T01:25:47.681" v="169" actId="313"/>
        <pc:sldMkLst>
          <pc:docMk/>
          <pc:sldMk cId="1996817378" sldId="279"/>
        </pc:sldMkLst>
        <pc:spChg chg="mod">
          <ac:chgData name="Mike J" userId="22cf0bdf11e74b3e" providerId="LiveId" clId="{4977F818-F6D0-4D62-9743-351518046F7F}" dt="2024-05-08T01:25:47.681" v="169" actId="313"/>
          <ac:spMkLst>
            <pc:docMk/>
            <pc:sldMk cId="1996817378" sldId="279"/>
            <ac:spMk id="4" creationId="{00000000-0000-0000-0000-000000000000}"/>
          </ac:spMkLst>
        </pc:spChg>
      </pc:sldChg>
      <pc:sldChg chg="modSp mod">
        <pc:chgData name="Mike J" userId="22cf0bdf11e74b3e" providerId="LiveId" clId="{4977F818-F6D0-4D62-9743-351518046F7F}" dt="2024-05-08T01:26:36.399" v="172" actId="20577"/>
        <pc:sldMkLst>
          <pc:docMk/>
          <pc:sldMk cId="4013639104" sldId="281"/>
        </pc:sldMkLst>
        <pc:spChg chg="mod">
          <ac:chgData name="Mike J" userId="22cf0bdf11e74b3e" providerId="LiveId" clId="{4977F818-F6D0-4D62-9743-351518046F7F}" dt="2024-05-08T01:26:36.399" v="172" actId="20577"/>
          <ac:spMkLst>
            <pc:docMk/>
            <pc:sldMk cId="4013639104" sldId="281"/>
            <ac:spMk id="7" creationId="{00000000-0000-0000-0000-000000000000}"/>
          </ac:spMkLst>
        </pc:spChg>
      </pc:sldChg>
      <pc:sldChg chg="modSp mod">
        <pc:chgData name="Mike J" userId="22cf0bdf11e74b3e" providerId="LiveId" clId="{4977F818-F6D0-4D62-9743-351518046F7F}" dt="2024-05-08T01:27:55.627" v="206" actId="20577"/>
        <pc:sldMkLst>
          <pc:docMk/>
          <pc:sldMk cId="4036982774" sldId="283"/>
        </pc:sldMkLst>
        <pc:spChg chg="mod">
          <ac:chgData name="Mike J" userId="22cf0bdf11e74b3e" providerId="LiveId" clId="{4977F818-F6D0-4D62-9743-351518046F7F}" dt="2024-05-08T01:27:55.627" v="206" actId="20577"/>
          <ac:spMkLst>
            <pc:docMk/>
            <pc:sldMk cId="4036982774" sldId="283"/>
            <ac:spMk id="6" creationId="{00000000-0000-0000-0000-000000000000}"/>
          </ac:spMkLst>
        </pc:spChg>
      </pc:sldChg>
      <pc:sldChg chg="modSp mod">
        <pc:chgData name="Mike J" userId="22cf0bdf11e74b3e" providerId="LiveId" clId="{4977F818-F6D0-4D62-9743-351518046F7F}" dt="2024-05-08T01:29:45.197" v="222" actId="20577"/>
        <pc:sldMkLst>
          <pc:docMk/>
          <pc:sldMk cId="964783709" sldId="286"/>
        </pc:sldMkLst>
        <pc:spChg chg="mod">
          <ac:chgData name="Mike J" userId="22cf0bdf11e74b3e" providerId="LiveId" clId="{4977F818-F6D0-4D62-9743-351518046F7F}" dt="2024-05-08T01:29:45.197" v="222" actId="20577"/>
          <ac:spMkLst>
            <pc:docMk/>
            <pc:sldMk cId="964783709" sldId="286"/>
            <ac:spMk id="4" creationId="{00000000-0000-0000-0000-000000000000}"/>
          </ac:spMkLst>
        </pc:spChg>
      </pc:sldChg>
      <pc:sldChg chg="modSp mod">
        <pc:chgData name="Mike J" userId="22cf0bdf11e74b3e" providerId="LiveId" clId="{4977F818-F6D0-4D62-9743-351518046F7F}" dt="2024-05-08T01:30:41.001" v="250" actId="20577"/>
        <pc:sldMkLst>
          <pc:docMk/>
          <pc:sldMk cId="1817490595" sldId="289"/>
        </pc:sldMkLst>
        <pc:spChg chg="mod">
          <ac:chgData name="Mike J" userId="22cf0bdf11e74b3e" providerId="LiveId" clId="{4977F818-F6D0-4D62-9743-351518046F7F}" dt="2024-05-08T01:30:41.001" v="250" actId="20577"/>
          <ac:spMkLst>
            <pc:docMk/>
            <pc:sldMk cId="1817490595" sldId="289"/>
            <ac:spMk id="4" creationId="{00000000-0000-0000-0000-000000000000}"/>
          </ac:spMkLst>
        </pc:spChg>
      </pc:sldChg>
      <pc:sldChg chg="modSp mod">
        <pc:chgData name="Mike J" userId="22cf0bdf11e74b3e" providerId="LiveId" clId="{4977F818-F6D0-4D62-9743-351518046F7F}" dt="2024-05-08T01:32:16.753" v="251" actId="33524"/>
        <pc:sldMkLst>
          <pc:docMk/>
          <pc:sldMk cId="2540911141" sldId="292"/>
        </pc:sldMkLst>
        <pc:spChg chg="mod">
          <ac:chgData name="Mike J" userId="22cf0bdf11e74b3e" providerId="LiveId" clId="{4977F818-F6D0-4D62-9743-351518046F7F}" dt="2024-05-08T01:32:16.753" v="251" actId="33524"/>
          <ac:spMkLst>
            <pc:docMk/>
            <pc:sldMk cId="2540911141" sldId="292"/>
            <ac:spMk id="5" creationId="{00000000-0000-0000-0000-000000000000}"/>
          </ac:spMkLst>
        </pc:spChg>
      </pc:sldChg>
      <pc:sldChg chg="del">
        <pc:chgData name="Mike J" userId="22cf0bdf11e74b3e" providerId="LiveId" clId="{4977F818-F6D0-4D62-9743-351518046F7F}" dt="2024-05-11T15:21:04.986" v="254" actId="47"/>
        <pc:sldMkLst>
          <pc:docMk/>
          <pc:sldMk cId="3978380622" sldId="293"/>
        </pc:sldMkLst>
      </pc:sldChg>
      <pc:sldChg chg="del">
        <pc:chgData name="Mike J" userId="22cf0bdf11e74b3e" providerId="LiveId" clId="{4977F818-F6D0-4D62-9743-351518046F7F}" dt="2024-05-11T15:21:09.932" v="255" actId="47"/>
        <pc:sldMkLst>
          <pc:docMk/>
          <pc:sldMk cId="3062631719" sldId="294"/>
        </pc:sldMkLst>
      </pc:sldChg>
      <pc:sldChg chg="del">
        <pc:chgData name="Mike J" userId="22cf0bdf11e74b3e" providerId="LiveId" clId="{4977F818-F6D0-4D62-9743-351518046F7F}" dt="2024-05-11T15:21:11.793" v="256" actId="47"/>
        <pc:sldMkLst>
          <pc:docMk/>
          <pc:sldMk cId="935228833" sldId="295"/>
        </pc:sldMkLst>
      </pc:sldChg>
      <pc:sldChg chg="del">
        <pc:chgData name="Mike J" userId="22cf0bdf11e74b3e" providerId="LiveId" clId="{4977F818-F6D0-4D62-9743-351518046F7F}" dt="2024-05-11T15:21:12.586" v="257" actId="47"/>
        <pc:sldMkLst>
          <pc:docMk/>
          <pc:sldMk cId="1331287920" sldId="296"/>
        </pc:sldMkLst>
      </pc:sldChg>
      <pc:sldChg chg="del">
        <pc:chgData name="Mike J" userId="22cf0bdf11e74b3e" providerId="LiveId" clId="{4977F818-F6D0-4D62-9743-351518046F7F}" dt="2024-05-11T15:20:26.181" v="253" actId="47"/>
        <pc:sldMkLst>
          <pc:docMk/>
          <pc:sldMk cId="2008975452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8F450-DE6C-4663-AAB7-BE98778311CB}" type="datetimeFigureOut">
              <a:rPr lang="en-US" smtClean="0"/>
              <a:pPr/>
              <a:t>5/11/2024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C5DB-33AA-4ACF-912B-D8E7E874F0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4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DC5DB-33AA-4ACF-912B-D8E7E874F07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990600"/>
            <a:ext cx="88392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 descr="RETHINK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6199" y="6360651"/>
            <a:ext cx="2895601" cy="456675"/>
          </a:xfrm>
          <a:prstGeom prst="rect">
            <a:avLst/>
          </a:prstGeom>
        </p:spPr>
      </p:pic>
      <p:pic>
        <p:nvPicPr>
          <p:cNvPr id="9" name="Picture 8" descr="BC logo 2014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934200" y="6264695"/>
            <a:ext cx="2023699" cy="5933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3.gehealthcare.com/en/products/categories/magnetic_resonance_imaging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3.gehealthcare.com/en/products/categories/magnetic_resonance_imaging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10400" y="6211669"/>
            <a:ext cx="2133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76200"/>
            <a:ext cx="4572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2014 Leadership Meeting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001000" cy="147002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GE MRI </a:t>
            </a:r>
            <a:br>
              <a:rPr lang="en-US" sz="44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</a:br>
            <a:r>
              <a:rPr lang="en-US" sz="44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SYSTEM NAMES AND HISTORY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2400" y="228600"/>
            <a:ext cx="9144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Objectives: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04800" y="1143000"/>
            <a:ext cx="88392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 understand the system names and be able to locate them in time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Understand the differences between family names, software platform, magnet types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Be able to identify and narrow down the system we are working on</a:t>
            </a:r>
          </a:p>
        </p:txBody>
      </p:sp>
    </p:spTree>
    <p:extLst>
      <p:ext uri="{BB962C8B-B14F-4D97-AF65-F5344CB8AC3E}">
        <p14:creationId xmlns:p14="http://schemas.microsoft.com/office/powerpoint/2010/main" val="184535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GE MRI Families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1295400"/>
            <a:ext cx="749808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SIGNA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SIGNA HORIZON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SIGNA EXCITE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DVMR/DISCOVERY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OPEN SYSTEMS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JAPANESE/CHINESE SYSTEMS </a:t>
            </a:r>
          </a:p>
        </p:txBody>
      </p:sp>
    </p:spTree>
    <p:extLst>
      <p:ext uri="{BB962C8B-B14F-4D97-AF65-F5344CB8AC3E}">
        <p14:creationId xmlns:p14="http://schemas.microsoft.com/office/powerpoint/2010/main" val="18413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Signa 1983 - 2017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1066800"/>
          </a:xfrm>
        </p:spPr>
        <p:txBody>
          <a:bodyPr/>
          <a:lstStyle/>
          <a:p>
            <a:pPr marL="0" indent="0">
              <a:buNone/>
            </a:pPr>
            <a:r>
              <a:rPr lang="es-ES_tradnl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1X,2X,3X,4X, 5X, 8X, 9X… </a:t>
            </a:r>
            <a:r>
              <a:rPr lang="es-ES_tradnl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you</a:t>
            </a:r>
            <a:r>
              <a:rPr lang="es-ES_tradnl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s-ES_tradnl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get</a:t>
            </a:r>
            <a:r>
              <a:rPr lang="es-ES_tradnl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s-ES_tradnl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the</a:t>
            </a:r>
            <a:r>
              <a:rPr lang="es-ES_tradnl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idea… 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18507" t="41895" r="18854" b="7407"/>
          <a:stretch>
            <a:fillRect/>
          </a:stretch>
        </p:blipFill>
        <p:spPr bwMode="auto">
          <a:xfrm>
            <a:off x="609600" y="1729153"/>
            <a:ext cx="8153400" cy="5072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03770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LCC Magnet with no He consumption is introduced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Unix systems with Octane computer. It also has a separate windows PC and monitor for scan time and patient vital signs only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Big reduction in equipment room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Gradients start getting powerful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LX-9x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065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cdn.dotmed.com/images/auctionpics/8620/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19200"/>
            <a:ext cx="3251200" cy="243840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://cdn.dotmed.com/images/auctionpics/8620/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2" y="4100146"/>
            <a:ext cx="1371600" cy="18288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ttp://cdn.dotmed.com/images/auctionpics/8620/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114800"/>
            <a:ext cx="1371600" cy="182880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http://cdn.dotmed.com/images/auctionpics/8620/8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138" y="4103077"/>
            <a:ext cx="2438400" cy="18288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http://cdn.dotmed.com/images/auctionpics/27502/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28817"/>
            <a:ext cx="3276600" cy="245745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LX-9x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11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Excite: 10x, 11x,12x,14x,15x,16x,23x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Linux computers are introduced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Two monitors and one HP computer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MGD chassis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Advance signal and image processing using new processors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plastic covers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Introduces ICN engines for image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1330863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www.medimagingsales.com/staticfiles/customcms/files/102/ge-signa-excite-3.0t-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77" y="457200"/>
            <a:ext cx="3435246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://images.cdn.fotopedia.com/flickr-2367938705-h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505200"/>
            <a:ext cx="4000500" cy="266700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49" t="35942" r="15842" b="15023"/>
          <a:stretch/>
        </p:blipFill>
        <p:spPr bwMode="auto">
          <a:xfrm>
            <a:off x="4648200" y="883455"/>
            <a:ext cx="4191000" cy="2576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Excite: 10x, 11x,12x,14x,15x,16x,23x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800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Reduction of cabinets 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Gradients get extremely powerful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Big development of options and applications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16x it’s a purchasable option that introduces many cardiac options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16x had many software issues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HDxt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: 15x,16x,23x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584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4800600" cy="4983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23x it’s introduced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Mostly software changes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Brings the Discovery software to the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HDXt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platform and fixes many of the problems that 16 and 16V2 had introduced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 l="16912" t="20000" r="21588" b="4000"/>
          <a:stretch>
            <a:fillRect/>
          </a:stretch>
        </p:blipFill>
        <p:spPr bwMode="auto">
          <a:xfrm>
            <a:off x="5257800" y="3276600"/>
            <a:ext cx="30480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l="41975" t="30513" r="13581" b="34156"/>
          <a:stretch>
            <a:fillRect/>
          </a:stretch>
        </p:blipFill>
        <p:spPr bwMode="auto">
          <a:xfrm>
            <a:off x="4800600" y="685800"/>
            <a:ext cx="41148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HDxt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: 15x,16x,23x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105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2009 THE DVMR ERA STARTS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upgrade path is no longer possible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Introduces around 3000 new parts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All new documentation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Change in many calibration procedures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software look with openSUSE as OS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20x,21x,22x,24x,25x 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table, coils, coil connectors, magnets, gradient coils. Everything is pretty much redesign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Fiber optic image transfer and reconstruction gets done in the magnet room.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Higher water and room requirements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Cabling is routed through the ceiling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Water cooled gradients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16 or 32 Channels architecture but can support up to 128 channels.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817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 descr="- XINAO MDT - Microsoft Internet Explorer"/>
          <p:cNvPicPr>
            <a:picLocks noGrp="1" noChangeAspect="1"/>
          </p:cNvPicPr>
          <p:nvPr>
            <p:ph sz="half" idx="4294967295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66" t="25634" r="2280" b="13801"/>
          <a:stretch/>
        </p:blipFill>
        <p:spPr>
          <a:xfrm>
            <a:off x="5855559" y="3976623"/>
            <a:ext cx="2688608" cy="1829816"/>
          </a:xfrm>
          <a:prstGeom prst="rect">
            <a:avLst/>
          </a:prstGeom>
        </p:spPr>
      </p:pic>
      <p:sp>
        <p:nvSpPr>
          <p:cNvPr id="5" name="Text Placeholder 2"/>
          <p:cNvSpPr txBox="1">
            <a:spLocks/>
          </p:cNvSpPr>
          <p:nvPr/>
        </p:nvSpPr>
        <p:spPr>
          <a:xfrm>
            <a:off x="1292467" y="596370"/>
            <a:ext cx="2451100" cy="55245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 algn="ctr">
              <a:buNone/>
            </a:pPr>
            <a:r>
              <a:rPr lang="es-ES" sz="3600" dirty="0"/>
              <a:t>DISCOVERY</a:t>
            </a:r>
            <a:endParaRPr lang="en-US" sz="3600" dirty="0"/>
          </a:p>
        </p:txBody>
      </p:sp>
      <p:pic>
        <p:nvPicPr>
          <p:cNvPr id="6" name="Content Placeholder 26"/>
          <p:cNvPicPr>
            <a:picLocks noGrp="1" noChangeAspect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396" y="1499388"/>
            <a:ext cx="2265362" cy="2265362"/>
          </a:xfrm>
          <a:prstGeom prst="rect">
            <a:avLst/>
          </a:prstGeom>
        </p:spPr>
      </p:pic>
      <p:sp>
        <p:nvSpPr>
          <p:cNvPr id="7" name="Text Placeholder 2"/>
          <p:cNvSpPr txBox="1">
            <a:spLocks/>
          </p:cNvSpPr>
          <p:nvPr/>
        </p:nvSpPr>
        <p:spPr>
          <a:xfrm>
            <a:off x="3404504" y="1859735"/>
            <a:ext cx="2451100" cy="55245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 algn="ctr">
              <a:buNone/>
            </a:pPr>
            <a:r>
              <a:rPr lang="es-ES" sz="3600" dirty="0"/>
              <a:t>OPTIMA</a:t>
            </a:r>
            <a:endParaRPr lang="en-US" sz="3600" dirty="0"/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5495528" y="2948944"/>
            <a:ext cx="2451100" cy="55245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 algn="ctr">
              <a:buNone/>
            </a:pPr>
            <a:r>
              <a:rPr lang="es-ES" sz="3600" dirty="0"/>
              <a:t>BRIVO</a:t>
            </a:r>
            <a:endParaRPr lang="en-US" sz="3600" dirty="0"/>
          </a:p>
        </p:txBody>
      </p:sp>
      <p:sp>
        <p:nvSpPr>
          <p:cNvPr id="9" name="Up Arrow 8"/>
          <p:cNvSpPr/>
          <p:nvPr/>
        </p:nvSpPr>
        <p:spPr bwMode="auto">
          <a:xfrm>
            <a:off x="1165278" y="865442"/>
            <a:ext cx="368489" cy="4217158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E Inspira Pitch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 rot="5400000">
            <a:off x="7499547" y="2650856"/>
            <a:ext cx="159530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6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Price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-994720" y="2650856"/>
            <a:ext cx="380104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6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PERFORMANCE</a:t>
            </a:r>
          </a:p>
        </p:txBody>
      </p:sp>
      <p:sp>
        <p:nvSpPr>
          <p:cNvPr id="12" name="Down Arrow 11"/>
          <p:cNvSpPr/>
          <p:nvPr/>
        </p:nvSpPr>
        <p:spPr bwMode="auto">
          <a:xfrm>
            <a:off x="7660140" y="892738"/>
            <a:ext cx="368489" cy="416256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E Inspira Pitch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51" t="28546" r="22271" b="25727"/>
          <a:stretch/>
        </p:blipFill>
        <p:spPr bwMode="auto">
          <a:xfrm>
            <a:off x="3530247" y="2572297"/>
            <a:ext cx="2499320" cy="1858191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35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  <p:bldP spid="8" grpId="0" build="p"/>
      <p:bldP spid="9" grpId="0" animBg="1"/>
      <p:bldP spid="10" grpId="0"/>
      <p:bldP spid="11" grpId="0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Discovery 450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49200" t="34222" r="23467" b="36148"/>
          <a:stretch>
            <a:fillRect/>
          </a:stretch>
        </p:blipFill>
        <p:spPr bwMode="auto">
          <a:xfrm>
            <a:off x="4492101" y="533400"/>
            <a:ext cx="3657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93709" y="914400"/>
            <a:ext cx="4126992" cy="2667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Uses the 1.5T LCC magnet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XRMB gradient coil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16 or 32 channels</a:t>
            </a:r>
          </a:p>
        </p:txBody>
      </p:sp>
      <p:pic>
        <p:nvPicPr>
          <p:cNvPr id="6" name="Picture 5" descr="450(3)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0909" y="3505200"/>
            <a:ext cx="3794761" cy="2519958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4026408" y="3505200"/>
            <a:ext cx="4126992" cy="26670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In room display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Patient information can be entered at the magnet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Optional touch-and-go landmark</a:t>
            </a:r>
          </a:p>
        </p:txBody>
      </p:sp>
    </p:spTree>
    <p:extLst>
      <p:ext uri="{BB962C8B-B14F-4D97-AF65-F5344CB8AC3E}">
        <p14:creationId xmlns:p14="http://schemas.microsoft.com/office/powerpoint/2010/main" val="4013639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Discovery 750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 l="47917" t="26829" r="15625" b="54201"/>
          <a:stretch>
            <a:fillRect/>
          </a:stretch>
        </p:blipFill>
        <p:spPr bwMode="auto">
          <a:xfrm>
            <a:off x="914400" y="3200400"/>
            <a:ext cx="7086600" cy="283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52400" y="838200"/>
            <a:ext cx="7391400" cy="26670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Uses the 3T LCC300 magnet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Combines passive and active shimming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XRMB gradient coil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16 or 32 channels</a:t>
            </a:r>
          </a:p>
        </p:txBody>
      </p:sp>
    </p:spTree>
    <p:extLst>
      <p:ext uri="{BB962C8B-B14F-4D97-AF65-F5344CB8AC3E}">
        <p14:creationId xmlns:p14="http://schemas.microsoft.com/office/powerpoint/2010/main" val="192109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Optima 450W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7498080" cy="2133600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70cm bore</a:t>
            </a:r>
          </a:p>
          <a:p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16 or 32 Channels</a:t>
            </a:r>
          </a:p>
          <a:p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RF body coil needs adjustment by soldering dielectric material if out of spec or coil replacement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4" r="15034"/>
          <a:stretch/>
        </p:blipFill>
        <p:spPr>
          <a:xfrm>
            <a:off x="4464728" y="3124200"/>
            <a:ext cx="3071675" cy="2476500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52400" y="2895600"/>
            <a:ext cx="4191000" cy="31242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1.5T magnet</a:t>
            </a:r>
          </a:p>
          <a:p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</a:t>
            </a:r>
            <a:r>
              <a:rPr lang="en-US" sz="3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XRMw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gradient coil</a:t>
            </a:r>
          </a:p>
          <a:p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Only passive shimming</a:t>
            </a:r>
          </a:p>
          <a:p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GE recommend </a:t>
            </a:r>
            <a:r>
              <a:rPr lang="en-US" sz="3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reshimming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every 12-18 months</a:t>
            </a:r>
          </a:p>
          <a:p>
            <a:pPr marL="82296" indent="0">
              <a:buNone/>
            </a:pP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982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GEM (</a:t>
            </a:r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Geometry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Embracing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Method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4191000" cy="3429000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Introduces new covers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GEM Express coil – embedded coil in the table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coils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IPAD capabilities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11427" t="10811" r="10659" b="8108"/>
          <a:stretch>
            <a:fillRect/>
          </a:stretch>
        </p:blipFill>
        <p:spPr bwMode="auto">
          <a:xfrm>
            <a:off x="4495800" y="838200"/>
            <a:ext cx="4038600" cy="3230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1" t="50571" r="12293" b="14861"/>
          <a:stretch/>
        </p:blipFill>
        <p:spPr bwMode="auto">
          <a:xfrm>
            <a:off x="1143000" y="4267200"/>
            <a:ext cx="7055528" cy="1953838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6965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8565" t="15916" r="11907" b="-269"/>
          <a:stretch>
            <a:fillRect/>
          </a:stretch>
        </p:blipFill>
        <p:spPr bwMode="auto">
          <a:xfrm>
            <a:off x="762000" y="0"/>
            <a:ext cx="7772400" cy="633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94153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Discovery 750W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33400" y="914400"/>
            <a:ext cx="3657600" cy="4968240"/>
          </a:xfrm>
        </p:spPr>
        <p:txBody>
          <a:bodyPr>
            <a:normAutofit fontScale="77500" lnSpcReduction="20000"/>
          </a:bodyPr>
          <a:lstStyle/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750w is only sold as GEM and 32 channels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3TLC magnet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Only passive shimming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STET tool to drive in and out shim trays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New dual drive RF amplifier for better homogeneity and to reduce shading 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RF Body coil needs calibration in the field when replaced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4305284" y="4114800"/>
            <a:ext cx="3657600" cy="184404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Adjustable capacitors for fine tuning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Rough tuning dielectric material does not need soldering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9" t="21416" r="30515" b="16037"/>
          <a:stretch/>
        </p:blipFill>
        <p:spPr bwMode="auto">
          <a:xfrm>
            <a:off x="4508731" y="914400"/>
            <a:ext cx="3250706" cy="2942948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4783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Optima 430S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89" t="16505" r="19155" b="34822"/>
          <a:stretch/>
        </p:blipFill>
        <p:spPr bwMode="auto">
          <a:xfrm>
            <a:off x="5298736" y="838200"/>
            <a:ext cx="3083264" cy="3034835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521208" y="762000"/>
            <a:ext cx="4812792" cy="327660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Specialty MR – extremities only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Company called ONI bought out by GE in 2009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Superconducting magnet with 50l  of liquid He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Passive shimming only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High field 1.5T (some old ONI 1T still out there)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Small foot print between 222 and 250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sqft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typically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533400" y="3885022"/>
            <a:ext cx="7511357" cy="2299165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High power with 70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mT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/m and a 300 T/m/s of slew rate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6 different coils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Comparable or in some cases better image quality than whole body systems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About 30% of exams done in a whole body system are extremities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411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9525" y="2362200"/>
            <a:ext cx="9144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CHINA BASED SYSTEMS</a:t>
            </a:r>
            <a:endParaRPr lang="es-ES_tradnl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373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HDe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Content Placeholder 4"/>
          <p:cNvSpPr>
            <a:spLocks noGrp="1"/>
          </p:cNvSpPr>
          <p:nvPr>
            <p:ph sz="half" idx="1"/>
          </p:nvPr>
        </p:nvSpPr>
        <p:spPr>
          <a:xfrm>
            <a:off x="152400" y="762000"/>
            <a:ext cx="4800600" cy="4663440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Uses the same technology as the Excite technology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Develop by the Chinese/Japanese to reduce space and cost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Combines all the electronics and penetration panel into one cabinet	</a:t>
            </a:r>
          </a:p>
        </p:txBody>
      </p:sp>
      <p:pic>
        <p:nvPicPr>
          <p:cNvPr id="5" name="Picture 4" descr="hd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00600" y="1066800"/>
            <a:ext cx="3939953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90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55" t="23833" r="16778" b="20628"/>
          <a:stretch/>
        </p:blipFill>
        <p:spPr bwMode="auto">
          <a:xfrm>
            <a:off x="4038600" y="1371600"/>
            <a:ext cx="4600466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" y="838200"/>
            <a:ext cx="3212592" cy="53340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Only 4 channel capability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Small gradients with only 23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mT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/m and 50T/m/s of slew rate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HDe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051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Optima 360 &amp; </a:t>
            </a:r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Brivo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 355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27" t="40980" r="17546" b="8471"/>
          <a:stretch/>
        </p:blipFill>
        <p:spPr bwMode="auto">
          <a:xfrm>
            <a:off x="4724400" y="1295400"/>
            <a:ext cx="3654641" cy="2388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8200"/>
            <a:ext cx="44958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Replaces the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HDe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Follows the same installation layout as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HDe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Based on the DVMR technology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Uses FO and reconstruction engine inside the magnet room.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Up to 8 channels</a:t>
            </a: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Improved gradients 50mT/m and 150T/m/s of slew rate</a:t>
            </a:r>
          </a:p>
        </p:txBody>
      </p:sp>
    </p:spTree>
    <p:extLst>
      <p:ext uri="{BB962C8B-B14F-4D97-AF65-F5344CB8AC3E}">
        <p14:creationId xmlns:p14="http://schemas.microsoft.com/office/powerpoint/2010/main" val="1035864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51" t="28546" r="22271" b="25727"/>
          <a:stretch/>
        </p:blipFill>
        <p:spPr bwMode="auto">
          <a:xfrm>
            <a:off x="4734097" y="3200400"/>
            <a:ext cx="4117918" cy="3061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7498080" cy="32004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Optional embedded coil in the table if fix table option is purchased (most systems sold with this configuration)</a:t>
            </a:r>
          </a:p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Optima 360 can have fixed or detachable table, but </a:t>
            </a:r>
            <a:r>
              <a:rPr lang="en-US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Brivo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355 can only have fixed table</a:t>
            </a:r>
          </a:p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difference between the </a:t>
            </a:r>
            <a:r>
              <a:rPr lang="en-US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Brivo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and the Optima is only options and customer can buy the upgrade which consist of only option installation and does not require any hardware changes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3810000"/>
            <a:ext cx="4800600" cy="2763177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It is also possible to upgrade from </a:t>
            </a:r>
            <a:r>
              <a:rPr lang="en-US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HDe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to Optima 360 </a:t>
            </a:r>
          </a:p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Uses 20x software with same user interface as the DVMR platform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Optima 360 &amp; </a:t>
            </a:r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Brivo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 355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911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Present -1.5T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7" t="29231" r="24730" b="8688"/>
          <a:stretch/>
        </p:blipFill>
        <p:spPr bwMode="auto">
          <a:xfrm>
            <a:off x="304801" y="685801"/>
            <a:ext cx="8305800" cy="5413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514600" y="5637702"/>
            <a:ext cx="63627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http://www3.gehealthcare.com/en/products/categories/magnetic_resonance_imaging#tabs/tabC05A5EC71691403AB6E068118D80BDEB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657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Present -3T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8" t="29457" r="24681" b="36108"/>
          <a:stretch/>
        </p:blipFill>
        <p:spPr bwMode="auto">
          <a:xfrm>
            <a:off x="63388" y="1447801"/>
            <a:ext cx="9080612" cy="3276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28600" y="5105400"/>
            <a:ext cx="8763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http://www3.gehealthcare.com/en/products/categories/magnetic_resonance_imaging#tabs/tabBB20FB1CC2684944AF3AC59867514D34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826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Possible combinations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" y="2040636"/>
          <a:ext cx="8839200" cy="2883090"/>
        </p:xfrm>
        <a:graphic>
          <a:graphicData uri="http://schemas.openxmlformats.org/drawingml/2006/table">
            <a:tbl>
              <a:tblPr/>
              <a:tblGrid>
                <a:gridCol w="488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29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82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16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82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82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82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47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47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152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0152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32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4429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2091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384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56901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3841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654756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201832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63" marR="7763" marT="7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63" marR="7763" marT="7763" marB="0" anchor="b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SYSTEMS</a:t>
                      </a:r>
                    </a:p>
                  </a:txBody>
                  <a:tcPr marL="7763" marR="7763" marT="7763" marB="0" vert="vert27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SIGNA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DV/DVApps/DVMR/TNT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China Systems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018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63" marR="7763" marT="7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63" marR="7763" marT="7763" marB="0" anchor="b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Signa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Optima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Discovery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GEM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HDE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Brivo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Optima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255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63" marR="7763" marT="7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63" marR="7763" marT="7763" marB="0" anchor="b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Horizon LX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Excite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HD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HDx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HDxt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450W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450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750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750W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450W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750W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355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355 Inspire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360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360 Advance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018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63" marR="7763" marT="7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63" marR="7763" marT="7763" marB="0" anchor="b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9"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SOFTWARE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832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MAGNETS</a:t>
                      </a:r>
                    </a:p>
                  </a:txBody>
                  <a:tcPr marL="7763" marR="7763" marT="7763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22x/24X/25X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22x/24X/25X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22x/24x/25X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22x/24x/25X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24X/25X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24X/25X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11x-15x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06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1.5T</a:t>
                      </a:r>
                    </a:p>
                  </a:txBody>
                  <a:tcPr marL="7763" marR="7763" marT="7763" marB="0" vert="vert27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Cx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0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SII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0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SIII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0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SIV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0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SV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1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LCC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0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450W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17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3T</a:t>
                      </a:r>
                    </a:p>
                  </a:txBody>
                  <a:tcPr marL="7763" marR="7763" marT="7763" marB="0" vert="vert27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3T/940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40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LCC300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8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750W</a:t>
                      </a:r>
                    </a:p>
                  </a:txBody>
                  <a:tcPr marL="7763" marR="7763" marT="7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61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9C0006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7763" marR="7763" marT="7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007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2414</TotalTime>
  <Words>1171</Words>
  <Application>Microsoft Office PowerPoint</Application>
  <PresentationFormat>On-screen Show (4:3)</PresentationFormat>
  <Paragraphs>389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Arial Rounded MT Bold</vt:lpstr>
      <vt:lpstr>Calibri</vt:lpstr>
      <vt:lpstr>GE Inspira Pitch</vt:lpstr>
      <vt:lpstr>Office Theme</vt:lpstr>
      <vt:lpstr>GE MRI  SYSTEM NAMES AND HISTORY</vt:lpstr>
      <vt:lpstr>PowerPoint Presentation</vt:lpstr>
      <vt:lpstr>GE MRI Families</vt:lpstr>
      <vt:lpstr>Signa 1983 - 2017</vt:lpstr>
      <vt:lpstr>LX-9x</vt:lpstr>
      <vt:lpstr>LX-9x</vt:lpstr>
      <vt:lpstr>Excite: 10x, 11x,12x,14x,15x,16x,23x</vt:lpstr>
      <vt:lpstr>Excite: 10x, 11x,12x,14x,15x,16x,23x</vt:lpstr>
      <vt:lpstr>HDxt: 15x,16x,23x</vt:lpstr>
      <vt:lpstr>HDxt: 15x,16x,23x</vt:lpstr>
      <vt:lpstr>2009 THE DVMR ERA STARTS</vt:lpstr>
      <vt:lpstr>PowerPoint Presentation</vt:lpstr>
      <vt:lpstr>Discovery 450</vt:lpstr>
      <vt:lpstr>Discovery 750</vt:lpstr>
      <vt:lpstr>Optima 450W</vt:lpstr>
      <vt:lpstr>GEM (Geometry Embracing Method)</vt:lpstr>
      <vt:lpstr>PowerPoint Presentation</vt:lpstr>
      <vt:lpstr>Discovery 750W</vt:lpstr>
      <vt:lpstr>Optima 430S</vt:lpstr>
      <vt:lpstr>CHINA BASED SYSTEMS</vt:lpstr>
      <vt:lpstr>HDe</vt:lpstr>
      <vt:lpstr>HDe</vt:lpstr>
      <vt:lpstr>Optima 360 &amp; Brivo 355</vt:lpstr>
      <vt:lpstr>Optima 360 &amp; Brivo 355</vt:lpstr>
      <vt:lpstr>Present -1.5T</vt:lpstr>
      <vt:lpstr>Present -3T</vt:lpstr>
      <vt:lpstr>Possible combinations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alicia.bostic</dc:creator>
  <cp:lastModifiedBy>Mike J</cp:lastModifiedBy>
  <cp:revision>48</cp:revision>
  <dcterms:created xsi:type="dcterms:W3CDTF">2013-11-14T01:22:54Z</dcterms:created>
  <dcterms:modified xsi:type="dcterms:W3CDTF">2024-05-11T15:23:13Z</dcterms:modified>
</cp:coreProperties>
</file>