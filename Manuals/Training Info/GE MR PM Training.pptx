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68" r:id="rId3"/>
    <p:sldId id="269" r:id="rId4"/>
    <p:sldId id="271" r:id="rId5"/>
    <p:sldId id="270" r:id="rId6"/>
    <p:sldId id="272" r:id="rId7"/>
    <p:sldId id="274" r:id="rId8"/>
    <p:sldId id="273" r:id="rId9"/>
    <p:sldId id="276" r:id="rId10"/>
    <p:sldId id="275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8" r:id="rId21"/>
    <p:sldId id="287" r:id="rId22"/>
    <p:sldId id="286" r:id="rId23"/>
    <p:sldId id="290" r:id="rId24"/>
    <p:sldId id="289" r:id="rId25"/>
    <p:sldId id="291" r:id="rId26"/>
    <p:sldId id="292" r:id="rId27"/>
    <p:sldId id="293" r:id="rId28"/>
    <p:sldId id="294" r:id="rId29"/>
    <p:sldId id="295" r:id="rId30"/>
    <p:sldId id="297" r:id="rId31"/>
    <p:sldId id="296" r:id="rId32"/>
    <p:sldId id="298" r:id="rId33"/>
    <p:sldId id="299" r:id="rId34"/>
    <p:sldId id="300" r:id="rId35"/>
    <p:sldId id="301" r:id="rId36"/>
    <p:sldId id="302" r:id="rId37"/>
    <p:sldId id="303" r:id="rId38"/>
    <p:sldId id="305" r:id="rId39"/>
    <p:sldId id="304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45DAF2-6BBE-4470-BFEF-34BDAC8D63F9}" v="3" dt="2024-05-15T16:21:44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652" autoAdjust="0"/>
  </p:normalViewPr>
  <p:slideViewPr>
    <p:cSldViewPr>
      <p:cViewPr varScale="1">
        <p:scale>
          <a:sx n="98" d="100"/>
          <a:sy n="98" d="100"/>
        </p:scale>
        <p:origin x="76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 J" userId="22cf0bdf11e74b3e" providerId="LiveId" clId="{4945DAF2-6BBE-4470-BFEF-34BDAC8D63F9}"/>
    <pc:docChg chg="custSel delSld modSld">
      <pc:chgData name="Mike J" userId="22cf0bdf11e74b3e" providerId="LiveId" clId="{4945DAF2-6BBE-4470-BFEF-34BDAC8D63F9}" dt="2024-05-15T16:47:02.211" v="1" actId="47"/>
      <pc:docMkLst>
        <pc:docMk/>
      </pc:docMkLst>
      <pc:sldChg chg="delSp mod">
        <pc:chgData name="Mike J" userId="22cf0bdf11e74b3e" providerId="LiveId" clId="{4945DAF2-6BBE-4470-BFEF-34BDAC8D63F9}" dt="2024-05-15T16:20:41.991" v="0" actId="478"/>
        <pc:sldMkLst>
          <pc:docMk/>
          <pc:sldMk cId="0" sldId="256"/>
        </pc:sldMkLst>
        <pc:picChg chg="del">
          <ac:chgData name="Mike J" userId="22cf0bdf11e74b3e" providerId="LiveId" clId="{4945DAF2-6BBE-4470-BFEF-34BDAC8D63F9}" dt="2024-05-15T16:20:41.991" v="0" actId="478"/>
          <ac:picMkLst>
            <pc:docMk/>
            <pc:sldMk cId="0" sldId="256"/>
            <ac:picMk id="7" creationId="{00000000-0000-0000-0000-000000000000}"/>
          </ac:picMkLst>
        </pc:picChg>
      </pc:sldChg>
      <pc:sldChg chg="del">
        <pc:chgData name="Mike J" userId="22cf0bdf11e74b3e" providerId="LiveId" clId="{4945DAF2-6BBE-4470-BFEF-34BDAC8D63F9}" dt="2024-05-15T16:47:02.211" v="1" actId="47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C8F450-DE6C-4663-AAB7-BE98778311CB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DC5DB-33AA-4ACF-912B-D8E7E874F07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43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6DC5DB-33AA-4ACF-912B-D8E7E874F07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96FCAC1-F539-4436-A8D9-9E19D1673FC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990600"/>
            <a:ext cx="8839200" cy="4983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pic>
        <p:nvPicPr>
          <p:cNvPr id="8" name="Picture 7" descr="RETHINK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76199" y="6360651"/>
            <a:ext cx="2895601" cy="456675"/>
          </a:xfrm>
          <a:prstGeom prst="rect">
            <a:avLst/>
          </a:prstGeom>
        </p:spPr>
      </p:pic>
      <p:pic>
        <p:nvPicPr>
          <p:cNvPr id="9" name="Picture 8" descr="BC logo 2014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6934200" y="6264695"/>
            <a:ext cx="2023699" cy="59330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10400" y="6211669"/>
            <a:ext cx="21336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0" y="76200"/>
            <a:ext cx="45720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2014 Leadership Meeting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24000" y="2514600"/>
            <a:ext cx="63528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70C0"/>
                </a:solidFill>
              </a:rPr>
              <a:t>GE MR PM Procedure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GE MR PM Procedure 9.x – 12.x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en-US" u="sng" dirty="0"/>
              <a:t>Objective</a:t>
            </a:r>
          </a:p>
          <a:p>
            <a:pPr algn="ctr">
              <a:buNone/>
            </a:pPr>
            <a:r>
              <a:rPr lang="en-US" sz="2400" dirty="0"/>
              <a:t>Build upon your current basic knowledge and perform a standard PM on a GE MRI system</a:t>
            </a:r>
          </a:p>
          <a:p>
            <a:pPr algn="ctr">
              <a:buNone/>
            </a:pPr>
            <a:endParaRPr lang="en-US" sz="2400" dirty="0"/>
          </a:p>
          <a:p>
            <a:pPr algn="ctr">
              <a:buNone/>
            </a:pPr>
            <a:r>
              <a:rPr lang="en-US" u="sng" dirty="0"/>
              <a:t>Materials Needed</a:t>
            </a:r>
          </a:p>
          <a:p>
            <a:pPr algn="ctr">
              <a:buNone/>
            </a:pPr>
            <a:r>
              <a:rPr lang="en-US" sz="2400" dirty="0"/>
              <a:t>“GE MR PM Protocols 9to12” Word Document</a:t>
            </a:r>
          </a:p>
          <a:p>
            <a:pPr algn="ctr">
              <a:buNone/>
            </a:pPr>
            <a:r>
              <a:rPr lang="en-US" sz="2400" dirty="0"/>
              <a:t>GE Documentation for your system</a:t>
            </a:r>
          </a:p>
          <a:p>
            <a:pPr algn="ctr">
              <a:buNone/>
            </a:pPr>
            <a:r>
              <a:rPr lang="en-US" sz="2400" dirty="0"/>
              <a:t>Basic system and scanning knowledge</a:t>
            </a:r>
          </a:p>
          <a:p>
            <a:pPr algn="ctr">
              <a:buNone/>
            </a:pPr>
            <a:r>
              <a:rPr lang="en-US" sz="2400" dirty="0"/>
              <a:t>Vacuum</a:t>
            </a:r>
          </a:p>
          <a:p>
            <a:pPr algn="ctr">
              <a:buNone/>
            </a:pPr>
            <a:r>
              <a:rPr lang="en-US" sz="2400" dirty="0"/>
              <a:t>Flat blade screwdriver</a:t>
            </a:r>
          </a:p>
          <a:p>
            <a:pPr algn="ctr">
              <a:buNone/>
            </a:pPr>
            <a:r>
              <a:rPr lang="en-US" sz="2400" dirty="0"/>
              <a:t>Philips screwdriver</a:t>
            </a:r>
          </a:p>
          <a:p>
            <a:pPr algn="ctr">
              <a:buNone/>
            </a:pPr>
            <a:r>
              <a:rPr lang="en-US" sz="2400" dirty="0"/>
              <a:t>PM checklist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53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First Things First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Preliminary system checks and backups</a:t>
            </a:r>
          </a:p>
          <a:p>
            <a:pPr lvl="1"/>
            <a:r>
              <a:rPr lang="en-US" dirty="0"/>
              <a:t>Before you get started tearing into the system it’s a good idea to see where your at and get the software backed up.</a:t>
            </a:r>
          </a:p>
          <a:p>
            <a:pPr lvl="1"/>
            <a:r>
              <a:rPr lang="en-US" dirty="0"/>
              <a:t>Create a Save Info (next slide)</a:t>
            </a:r>
          </a:p>
          <a:p>
            <a:pPr lvl="1"/>
            <a:r>
              <a:rPr lang="en-US" dirty="0"/>
              <a:t>Check the error log for any glaring issues</a:t>
            </a:r>
          </a:p>
          <a:p>
            <a:pPr lvl="1"/>
            <a:r>
              <a:rPr lang="en-US" dirty="0"/>
              <a:t>Ask the Technologist(s) if they have had any reoccurring issues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35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Save Info/GI</a:t>
            </a:r>
          </a:p>
        </p:txBody>
      </p:sp>
      <p:pic>
        <p:nvPicPr>
          <p:cNvPr id="4" name="Content Placeholder 3" descr="IMG_256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990600"/>
            <a:ext cx="6644217" cy="4983163"/>
          </a:xfrm>
          <a:noFill/>
          <a:ln>
            <a:noFill/>
          </a:ln>
        </p:spPr>
      </p:pic>
      <p:sp>
        <p:nvSpPr>
          <p:cNvPr id="6" name="Oval 5"/>
          <p:cNvSpPr/>
          <p:nvPr/>
        </p:nvSpPr>
        <p:spPr>
          <a:xfrm>
            <a:off x="1524000" y="3505200"/>
            <a:ext cx="6096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219200" y="3657600"/>
            <a:ext cx="8382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86000" y="3276600"/>
            <a:ext cx="9144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447800" y="2057400"/>
            <a:ext cx="3810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909093" y="1371600"/>
            <a:ext cx="23601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do a Save Info: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Select the Tools page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Select “Guided Install”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Select “FE mode”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Type in the password</a:t>
            </a:r>
          </a:p>
          <a:p>
            <a:r>
              <a:rPr lang="en-US" dirty="0"/>
              <a:t>   and hit enter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Save Info Page 2</a:t>
            </a:r>
          </a:p>
        </p:txBody>
      </p:sp>
      <p:pic>
        <p:nvPicPr>
          <p:cNvPr id="4" name="Content Placeholder 3" descr="IMG_257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1066800"/>
            <a:ext cx="6644217" cy="4983163"/>
          </a:xfrm>
        </p:spPr>
      </p:pic>
      <p:sp>
        <p:nvSpPr>
          <p:cNvPr id="5" name="TextBox 4"/>
          <p:cNvSpPr txBox="1"/>
          <p:nvPr/>
        </p:nvSpPr>
        <p:spPr>
          <a:xfrm>
            <a:off x="7162800" y="1524000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Wait…….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Save Info Page 3</a:t>
            </a:r>
          </a:p>
        </p:txBody>
      </p:sp>
      <p:pic>
        <p:nvPicPr>
          <p:cNvPr id="4" name="Content Placeholder 3" descr="IMG_2573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990600"/>
            <a:ext cx="6644217" cy="4983163"/>
          </a:xfrm>
        </p:spPr>
      </p:pic>
      <p:sp>
        <p:nvSpPr>
          <p:cNvPr id="5" name="TextBox 4"/>
          <p:cNvSpPr txBox="1"/>
          <p:nvPr/>
        </p:nvSpPr>
        <p:spPr>
          <a:xfrm>
            <a:off x="6934200" y="1295400"/>
            <a:ext cx="20746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Select the </a:t>
            </a:r>
          </a:p>
          <a:p>
            <a:r>
              <a:rPr lang="en-US" dirty="0"/>
              <a:t>  “Save/Restore” tab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Select “Save</a:t>
            </a:r>
          </a:p>
          <a:p>
            <a:r>
              <a:rPr lang="en-US" dirty="0"/>
              <a:t>   Information”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Wait a few minutes</a:t>
            </a:r>
          </a:p>
          <a:p>
            <a:r>
              <a:rPr lang="en-US" dirty="0"/>
              <a:t>  for it to complete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1752600"/>
            <a:ext cx="6858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19400" y="2743200"/>
            <a:ext cx="6858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Save Info Page 4</a:t>
            </a:r>
          </a:p>
        </p:txBody>
      </p:sp>
      <p:pic>
        <p:nvPicPr>
          <p:cNvPr id="4" name="Content Placeholder 3" descr="IMG_2575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990600"/>
            <a:ext cx="6644217" cy="4983163"/>
          </a:xfrm>
        </p:spPr>
      </p:pic>
      <p:sp>
        <p:nvSpPr>
          <p:cNvPr id="5" name="TextBox 4"/>
          <p:cNvSpPr txBox="1"/>
          <p:nvPr/>
        </p:nvSpPr>
        <p:spPr>
          <a:xfrm>
            <a:off x="7086600" y="1219200"/>
            <a:ext cx="206896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the save is </a:t>
            </a:r>
          </a:p>
          <a:p>
            <a:r>
              <a:rPr lang="en-US" dirty="0"/>
              <a:t>complete, select file</a:t>
            </a:r>
          </a:p>
          <a:p>
            <a:r>
              <a:rPr lang="en-US" dirty="0"/>
              <a:t>in the upper left </a:t>
            </a:r>
          </a:p>
          <a:p>
            <a:r>
              <a:rPr lang="en-US" dirty="0"/>
              <a:t>corner and select</a:t>
            </a:r>
          </a:p>
          <a:p>
            <a:r>
              <a:rPr lang="en-US" dirty="0"/>
              <a:t>“Save GI</a:t>
            </a:r>
          </a:p>
          <a:p>
            <a:r>
              <a:rPr lang="en-US" dirty="0"/>
              <a:t>Configuration to </a:t>
            </a:r>
          </a:p>
          <a:p>
            <a:r>
              <a:rPr lang="en-US" dirty="0"/>
              <a:t>MOD”</a:t>
            </a:r>
          </a:p>
        </p:txBody>
      </p:sp>
      <p:sp>
        <p:nvSpPr>
          <p:cNvPr id="6" name="Oval 5"/>
          <p:cNvSpPr/>
          <p:nvPr/>
        </p:nvSpPr>
        <p:spPr>
          <a:xfrm>
            <a:off x="1295400" y="1524000"/>
            <a:ext cx="12192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System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u="sng" dirty="0"/>
              <a:t>What scans are we going to do?</a:t>
            </a:r>
          </a:p>
          <a:p>
            <a:pPr algn="ctr"/>
            <a:r>
              <a:rPr lang="en-US" sz="2800" dirty="0"/>
              <a:t>LV Shim</a:t>
            </a:r>
          </a:p>
          <a:p>
            <a:pPr algn="ctr"/>
            <a:r>
              <a:rPr lang="en-US" sz="2800" dirty="0"/>
              <a:t>DQA Z </a:t>
            </a:r>
            <a:r>
              <a:rPr lang="en-US" sz="2800" dirty="0" err="1"/>
              <a:t>Iso</a:t>
            </a:r>
            <a:endParaRPr lang="en-US" sz="2800" dirty="0"/>
          </a:p>
          <a:p>
            <a:pPr algn="ctr"/>
            <a:r>
              <a:rPr lang="en-US" sz="2800" dirty="0"/>
              <a:t>Grad </a:t>
            </a:r>
            <a:r>
              <a:rPr lang="en-US" sz="2800" dirty="0" err="1"/>
              <a:t>Cals</a:t>
            </a:r>
            <a:endParaRPr lang="en-US" sz="2800" dirty="0"/>
          </a:p>
          <a:p>
            <a:pPr algn="ctr"/>
            <a:r>
              <a:rPr lang="en-US" sz="2800" dirty="0"/>
              <a:t>Head and Body SNR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first need to set up a new patient to begin your PM scanning.</a:t>
            </a:r>
          </a:p>
          <a:p>
            <a:r>
              <a:rPr lang="en-US" dirty="0"/>
              <a:t>Type “</a:t>
            </a:r>
            <a:r>
              <a:rPr lang="en-US" dirty="0" err="1"/>
              <a:t>geservice</a:t>
            </a:r>
            <a:r>
              <a:rPr lang="en-US" dirty="0"/>
              <a:t>” in the Patient ID box and hit enter </a:t>
            </a:r>
            <a:r>
              <a:rPr lang="en-US" dirty="0">
                <a:sym typeface="Wingdings" pitchFamily="2" charset="2"/>
              </a:rPr>
              <a:t> very important</a:t>
            </a:r>
            <a:endParaRPr lang="en-US" dirty="0"/>
          </a:p>
          <a:p>
            <a:r>
              <a:rPr lang="en-US" dirty="0"/>
              <a:t>Type something like “AHAUGPM2016” in the Patient Name box</a:t>
            </a:r>
          </a:p>
          <a:p>
            <a:r>
              <a:rPr lang="en-US" dirty="0"/>
              <a:t>Type 300 in the weight box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LV Shim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ctr">
              <a:buNone/>
            </a:pPr>
            <a:r>
              <a:rPr lang="en-US" b="1" u="sng" dirty="0"/>
              <a:t>LV Shim</a:t>
            </a:r>
            <a:endParaRPr lang="en-US" b="1" dirty="0"/>
          </a:p>
          <a:p>
            <a:pPr algn="ctr">
              <a:buNone/>
            </a:pPr>
            <a:r>
              <a:rPr lang="en-US" dirty="0"/>
              <a:t>Series Description – </a:t>
            </a:r>
            <a:r>
              <a:rPr lang="en-US" b="1" dirty="0"/>
              <a:t>LV Shim</a:t>
            </a:r>
            <a:endParaRPr lang="en-US" dirty="0"/>
          </a:p>
          <a:p>
            <a:pPr algn="ctr">
              <a:buNone/>
            </a:pPr>
            <a:r>
              <a:rPr lang="en-US" dirty="0"/>
              <a:t>Patient Position - </a:t>
            </a:r>
            <a:r>
              <a:rPr lang="en-US" b="1" dirty="0"/>
              <a:t>Supine</a:t>
            </a:r>
            <a:endParaRPr lang="en-US" dirty="0"/>
          </a:p>
          <a:p>
            <a:pPr algn="ctr">
              <a:buNone/>
            </a:pPr>
            <a:r>
              <a:rPr lang="en-US" dirty="0"/>
              <a:t>Patient Entry - </a:t>
            </a:r>
            <a:r>
              <a:rPr lang="en-US" b="1" dirty="0"/>
              <a:t>Head First</a:t>
            </a:r>
            <a:endParaRPr lang="en-US" dirty="0"/>
          </a:p>
          <a:p>
            <a:pPr algn="ctr">
              <a:buNone/>
            </a:pPr>
            <a:r>
              <a:rPr lang="en-US" dirty="0"/>
              <a:t>Coil - </a:t>
            </a:r>
            <a:r>
              <a:rPr lang="en-US" b="1" dirty="0"/>
              <a:t>Body </a:t>
            </a:r>
            <a:endParaRPr lang="en-US" dirty="0"/>
          </a:p>
          <a:p>
            <a:pPr algn="ctr">
              <a:buNone/>
            </a:pPr>
            <a:r>
              <a:rPr lang="en-US" dirty="0"/>
              <a:t>Plane - </a:t>
            </a:r>
            <a:r>
              <a:rPr lang="en-US" b="1" dirty="0"/>
              <a:t>Axial</a:t>
            </a:r>
            <a:endParaRPr lang="en-US" dirty="0"/>
          </a:p>
          <a:p>
            <a:pPr algn="ctr">
              <a:buNone/>
            </a:pPr>
            <a:r>
              <a:rPr lang="en-US" dirty="0"/>
              <a:t>Mode - </a:t>
            </a:r>
            <a:r>
              <a:rPr lang="en-US" b="1" dirty="0"/>
              <a:t>2D</a:t>
            </a:r>
            <a:endParaRPr lang="en-US" dirty="0"/>
          </a:p>
          <a:p>
            <a:pPr algn="ctr">
              <a:buNone/>
            </a:pPr>
            <a:r>
              <a:rPr lang="en-US" dirty="0"/>
              <a:t>Pulse </a:t>
            </a:r>
            <a:r>
              <a:rPr lang="en-US" dirty="0" err="1"/>
              <a:t>Seq</a:t>
            </a:r>
            <a:r>
              <a:rPr lang="en-US" dirty="0"/>
              <a:t> - </a:t>
            </a:r>
            <a:r>
              <a:rPr lang="en-US" b="1" dirty="0"/>
              <a:t>Spin Echo</a:t>
            </a:r>
            <a:endParaRPr lang="en-US" dirty="0"/>
          </a:p>
          <a:p>
            <a:pPr algn="ctr">
              <a:buNone/>
            </a:pPr>
            <a:r>
              <a:rPr lang="en-US" dirty="0" err="1"/>
              <a:t>Psd</a:t>
            </a:r>
            <a:r>
              <a:rPr lang="en-US" dirty="0"/>
              <a:t> Name – </a:t>
            </a:r>
            <a:r>
              <a:rPr lang="en-US" b="1" dirty="0" err="1"/>
              <a:t>LVshim</a:t>
            </a:r>
            <a:r>
              <a:rPr lang="en-US" b="1" dirty="0"/>
              <a:t> </a:t>
            </a:r>
            <a:r>
              <a:rPr lang="en-US" dirty="0"/>
              <a:t>(must be named this)</a:t>
            </a:r>
          </a:p>
          <a:p>
            <a:pPr algn="ctr">
              <a:buNone/>
            </a:pPr>
            <a:r>
              <a:rPr lang="en-US" dirty="0"/>
              <a:t>User CV’s – </a:t>
            </a:r>
            <a:r>
              <a:rPr lang="en-US" b="1" dirty="0"/>
              <a:t>200Hz</a:t>
            </a:r>
            <a:endParaRPr lang="en-US" dirty="0"/>
          </a:p>
          <a:p>
            <a:pPr algn="ctr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LV Shim Phantom Setup</a:t>
            </a:r>
          </a:p>
        </p:txBody>
      </p:sp>
      <p:pic>
        <p:nvPicPr>
          <p:cNvPr id="4" name="Content Placeholder 3" descr="20151112_184426741_iO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990600"/>
            <a:ext cx="6644217" cy="4983163"/>
          </a:xfrm>
        </p:spPr>
      </p:pic>
      <p:sp>
        <p:nvSpPr>
          <p:cNvPr id="5" name="TextBox 4"/>
          <p:cNvSpPr txBox="1"/>
          <p:nvPr/>
        </p:nvSpPr>
        <p:spPr>
          <a:xfrm>
            <a:off x="7010400" y="1219200"/>
            <a:ext cx="21436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Advance to scan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Save Series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Scan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Record the TG value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LV Shim Sample Images</a:t>
            </a:r>
          </a:p>
        </p:txBody>
      </p:sp>
      <p:pic>
        <p:nvPicPr>
          <p:cNvPr id="4" name="Content Placeholder 3" descr="lvshimfirstset.jpe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71600" y="990600"/>
            <a:ext cx="6166035" cy="498316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LV Shim Analysis</a:t>
            </a:r>
          </a:p>
        </p:txBody>
      </p:sp>
      <p:pic>
        <p:nvPicPr>
          <p:cNvPr id="4" name="Content Placeholder 3" descr="IMG_2449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990600"/>
            <a:ext cx="6644217" cy="4983163"/>
          </a:xfrm>
        </p:spPr>
      </p:pic>
      <p:sp>
        <p:nvSpPr>
          <p:cNvPr id="5" name="Oval 4"/>
          <p:cNvSpPr/>
          <p:nvPr/>
        </p:nvSpPr>
        <p:spPr>
          <a:xfrm>
            <a:off x="2590800" y="1905000"/>
            <a:ext cx="10668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4478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982062" y="1295400"/>
            <a:ext cx="22366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the Tools Desktop,</a:t>
            </a:r>
          </a:p>
          <a:p>
            <a:r>
              <a:rPr lang="en-US" dirty="0"/>
              <a:t>select “Cal/Checks”</a:t>
            </a:r>
          </a:p>
          <a:p>
            <a:r>
              <a:rPr lang="en-US" dirty="0"/>
              <a:t>then “LV Shim” to </a:t>
            </a:r>
          </a:p>
          <a:p>
            <a:r>
              <a:rPr lang="en-US" dirty="0"/>
              <a:t>start the tool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LV Shim Analysis Page 2</a:t>
            </a:r>
          </a:p>
        </p:txBody>
      </p:sp>
      <p:pic>
        <p:nvPicPr>
          <p:cNvPr id="4" name="Content Placeholder 3" descr="lvshimtool3.jpe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990600"/>
            <a:ext cx="5515961" cy="4983163"/>
          </a:xfrm>
        </p:spPr>
      </p:pic>
      <p:sp>
        <p:nvSpPr>
          <p:cNvPr id="5" name="Oval 4"/>
          <p:cNvSpPr/>
          <p:nvPr/>
        </p:nvSpPr>
        <p:spPr>
          <a:xfrm>
            <a:off x="609600" y="1752600"/>
            <a:ext cx="21336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254641" y="666025"/>
            <a:ext cx="2667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#1 selection is the Shim Type:</a:t>
            </a:r>
          </a:p>
          <a:p>
            <a:endParaRPr lang="en-US" dirty="0"/>
          </a:p>
          <a:p>
            <a:r>
              <a:rPr lang="en-US" dirty="0"/>
              <a:t>If you opened the tool after completing the first scan, all settings should be correct here and, after confirming all values, you can just hit the enter key.</a:t>
            </a:r>
          </a:p>
          <a:p>
            <a:r>
              <a:rPr lang="en-US" dirty="0"/>
              <a:t>If you need to change it. Pressing the corresponding number toggles through the setting.</a:t>
            </a:r>
          </a:p>
          <a:p>
            <a:r>
              <a:rPr lang="en-US" dirty="0"/>
              <a:t>i.e.: Toggle through “Shim Type” by </a:t>
            </a:r>
          </a:p>
          <a:p>
            <a:r>
              <a:rPr lang="en-US" dirty="0"/>
              <a:t>typing in “1” and hitting </a:t>
            </a:r>
          </a:p>
          <a:p>
            <a:r>
              <a:rPr lang="en-US" dirty="0"/>
              <a:t>enter repeatedly until Gradient is the one selected.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LV Shim Analysis Page 3</a:t>
            </a:r>
          </a:p>
        </p:txBody>
      </p:sp>
      <p:pic>
        <p:nvPicPr>
          <p:cNvPr id="4" name="Content Placeholder 3" descr="lvshimtool3.jpe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990600"/>
            <a:ext cx="5515961" cy="4983163"/>
          </a:xfrm>
        </p:spPr>
      </p:pic>
      <p:sp>
        <p:nvSpPr>
          <p:cNvPr id="5" name="Oval 4"/>
          <p:cNvSpPr/>
          <p:nvPr/>
        </p:nvSpPr>
        <p:spPr>
          <a:xfrm>
            <a:off x="609600" y="2057400"/>
            <a:ext cx="1905000" cy="304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963386" y="838200"/>
            <a:ext cx="3180614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#5 selection is the calibration</a:t>
            </a:r>
          </a:p>
          <a:p>
            <a:r>
              <a:rPr lang="en-US" dirty="0"/>
              <a:t>file:</a:t>
            </a:r>
          </a:p>
          <a:p>
            <a:endParaRPr lang="en-US" dirty="0"/>
          </a:p>
          <a:p>
            <a:r>
              <a:rPr lang="en-US" dirty="0"/>
              <a:t>On 9.x, change it to 22 </a:t>
            </a:r>
            <a:r>
              <a:rPr lang="en-US" dirty="0" err="1"/>
              <a:t>dsv</a:t>
            </a:r>
            <a:endParaRPr lang="en-US" dirty="0"/>
          </a:p>
          <a:p>
            <a:endParaRPr lang="en-US" dirty="0"/>
          </a:p>
          <a:p>
            <a:r>
              <a:rPr lang="en-US" dirty="0"/>
              <a:t>On 11.x and above change</a:t>
            </a:r>
          </a:p>
          <a:p>
            <a:r>
              <a:rPr lang="en-US" dirty="0"/>
              <a:t>it to 45dsv, most likely the </a:t>
            </a:r>
          </a:p>
          <a:p>
            <a:r>
              <a:rPr lang="en-US" dirty="0"/>
              <a:t>Default</a:t>
            </a:r>
          </a:p>
          <a:p>
            <a:endParaRPr lang="en-US" dirty="0"/>
          </a:p>
          <a:p>
            <a:r>
              <a:rPr lang="en-US" dirty="0"/>
              <a:t>Enter “0” to accept the settings</a:t>
            </a:r>
          </a:p>
          <a:p>
            <a:endParaRPr lang="en-US" dirty="0"/>
          </a:p>
          <a:p>
            <a:r>
              <a:rPr lang="en-US" dirty="0"/>
              <a:t>It will analyze the images and </a:t>
            </a:r>
          </a:p>
          <a:p>
            <a:r>
              <a:rPr lang="en-US" dirty="0"/>
              <a:t>give you a read out.  You are </a:t>
            </a:r>
          </a:p>
          <a:p>
            <a:r>
              <a:rPr lang="en-US" dirty="0"/>
              <a:t>looking for the Inhomogeneity </a:t>
            </a:r>
          </a:p>
          <a:p>
            <a:r>
              <a:rPr lang="en-US" dirty="0"/>
              <a:t>number.</a:t>
            </a:r>
          </a:p>
          <a:p>
            <a:r>
              <a:rPr lang="en-US" dirty="0"/>
              <a:t>Spec:</a:t>
            </a:r>
          </a:p>
          <a:p>
            <a:r>
              <a:rPr lang="en-US" dirty="0"/>
              <a:t>9.X = less than 6hz</a:t>
            </a:r>
          </a:p>
          <a:p>
            <a:r>
              <a:rPr lang="en-US" dirty="0"/>
              <a:t>11.X and above = less than 80hz</a:t>
            </a:r>
          </a:p>
          <a:p>
            <a:endParaRPr lang="en-US" dirty="0"/>
          </a:p>
          <a:p>
            <a:r>
              <a:rPr lang="en-US" dirty="0"/>
              <a:t>Hit Enter twice</a:t>
            </a:r>
          </a:p>
        </p:txBody>
      </p:sp>
      <p:sp>
        <p:nvSpPr>
          <p:cNvPr id="7" name="Oval 6"/>
          <p:cNvSpPr/>
          <p:nvPr/>
        </p:nvSpPr>
        <p:spPr>
          <a:xfrm>
            <a:off x="533400" y="3505200"/>
            <a:ext cx="22098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lvshimtool4.jpe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990600"/>
            <a:ext cx="5515961" cy="4983163"/>
          </a:xfr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LV Shim Analysis Page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9126" y="1143000"/>
            <a:ext cx="3441263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 the bottom you will see</a:t>
            </a:r>
          </a:p>
          <a:p>
            <a:r>
              <a:rPr lang="en-US" dirty="0"/>
              <a:t> “Shim Current Settings”, if the </a:t>
            </a:r>
          </a:p>
          <a:p>
            <a:r>
              <a:rPr lang="en-US" dirty="0"/>
              <a:t>numbers look reasonable accept </a:t>
            </a:r>
          </a:p>
          <a:p>
            <a:r>
              <a:rPr lang="en-US" dirty="0"/>
              <a:t>the new currents.</a:t>
            </a:r>
          </a:p>
          <a:p>
            <a:r>
              <a:rPr lang="en-US" dirty="0"/>
              <a:t>If you have deltas higher than 1 or</a:t>
            </a:r>
          </a:p>
          <a:p>
            <a:r>
              <a:rPr lang="en-US" dirty="0"/>
              <a:t>-1 then do not exit and proceed to</a:t>
            </a:r>
          </a:p>
          <a:p>
            <a:r>
              <a:rPr lang="en-US" dirty="0"/>
              <a:t>hit the scan button on the scan </a:t>
            </a:r>
          </a:p>
          <a:p>
            <a:r>
              <a:rPr lang="en-US" dirty="0"/>
              <a:t>page to start another series </a:t>
            </a:r>
          </a:p>
          <a:p>
            <a:r>
              <a:rPr lang="en-US" dirty="0"/>
              <a:t>of images.  When the scan is </a:t>
            </a:r>
          </a:p>
          <a:p>
            <a:r>
              <a:rPr lang="en-US" dirty="0"/>
              <a:t>done, come back to this screen </a:t>
            </a:r>
          </a:p>
          <a:p>
            <a:r>
              <a:rPr lang="en-US" dirty="0"/>
              <a:t>and hit enter.  It will take you back </a:t>
            </a:r>
          </a:p>
          <a:p>
            <a:r>
              <a:rPr lang="en-US" dirty="0"/>
              <a:t>to the beginning of the shim </a:t>
            </a:r>
          </a:p>
          <a:p>
            <a:r>
              <a:rPr lang="en-US" dirty="0"/>
              <a:t>analysis program.  Continue until </a:t>
            </a:r>
          </a:p>
          <a:p>
            <a:r>
              <a:rPr lang="en-US" dirty="0"/>
              <a:t>the Inhomogeneity is in spec, if </a:t>
            </a:r>
          </a:p>
          <a:p>
            <a:r>
              <a:rPr lang="en-US" dirty="0"/>
              <a:t>that never happens, call support.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0" y="5029200"/>
            <a:ext cx="2438400" cy="1219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DQA Z ISO Procedure</a:t>
            </a:r>
          </a:p>
        </p:txBody>
      </p:sp>
      <p:pic>
        <p:nvPicPr>
          <p:cNvPr id="4" name="Content Placeholder 3" descr="20151112_200408491_iO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04800" y="990600"/>
            <a:ext cx="6644217" cy="4983163"/>
          </a:xfrm>
        </p:spPr>
      </p:pic>
      <p:sp>
        <p:nvSpPr>
          <p:cNvPr id="5" name="TextBox 4"/>
          <p:cNvSpPr txBox="1"/>
          <p:nvPr/>
        </p:nvSpPr>
        <p:spPr>
          <a:xfrm>
            <a:off x="6934200" y="1066800"/>
            <a:ext cx="23621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 up the Head Coil </a:t>
            </a:r>
          </a:p>
          <a:p>
            <a:r>
              <a:rPr lang="en-US" dirty="0"/>
              <a:t>and DQA III Phantom</a:t>
            </a:r>
          </a:p>
          <a:p>
            <a:r>
              <a:rPr lang="en-US" dirty="0"/>
              <a:t>like this and landmark </a:t>
            </a:r>
          </a:p>
          <a:p>
            <a:r>
              <a:rPr lang="en-US" dirty="0"/>
              <a:t>on the center, advance</a:t>
            </a:r>
          </a:p>
          <a:p>
            <a:r>
              <a:rPr lang="en-US" dirty="0"/>
              <a:t>to scan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DQA Z ISO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algn="ctr">
              <a:buNone/>
            </a:pPr>
            <a:r>
              <a:rPr lang="en-US" b="1" u="sng" dirty="0" err="1"/>
              <a:t>Isoz</a:t>
            </a:r>
            <a:r>
              <a:rPr lang="en-US" b="1" u="sng" dirty="0"/>
              <a:t> cal</a:t>
            </a:r>
            <a:endParaRPr lang="en-US" b="1" dirty="0"/>
          </a:p>
          <a:p>
            <a:pPr algn="ctr">
              <a:buNone/>
            </a:pPr>
            <a:r>
              <a:rPr lang="en-US" dirty="0"/>
              <a:t>Series Description - </a:t>
            </a:r>
            <a:r>
              <a:rPr lang="en-US" b="1" dirty="0" err="1"/>
              <a:t>dqa</a:t>
            </a:r>
            <a:r>
              <a:rPr lang="en-US" b="1" dirty="0"/>
              <a:t> </a:t>
            </a:r>
            <a:r>
              <a:rPr lang="en-US" b="1" dirty="0" err="1"/>
              <a:t>isoz</a:t>
            </a:r>
            <a:r>
              <a:rPr lang="en-US" b="1" dirty="0"/>
              <a:t> cal </a:t>
            </a:r>
            <a:r>
              <a:rPr lang="en-US" dirty="0"/>
              <a:t>(must be named this)</a:t>
            </a:r>
          </a:p>
          <a:p>
            <a:pPr algn="ctr">
              <a:buNone/>
            </a:pPr>
            <a:r>
              <a:rPr lang="en-US" dirty="0"/>
              <a:t>Patient Position – </a:t>
            </a:r>
            <a:r>
              <a:rPr lang="en-US" b="1" dirty="0"/>
              <a:t>Supine</a:t>
            </a:r>
            <a:endParaRPr lang="en-US" dirty="0"/>
          </a:p>
          <a:p>
            <a:pPr algn="ctr">
              <a:buNone/>
            </a:pPr>
            <a:r>
              <a:rPr lang="en-US" dirty="0"/>
              <a:t>Patient Entry - </a:t>
            </a:r>
            <a:r>
              <a:rPr lang="en-US" b="1" dirty="0"/>
              <a:t>Head First</a:t>
            </a:r>
            <a:endParaRPr lang="en-US" dirty="0"/>
          </a:p>
          <a:p>
            <a:pPr algn="ctr">
              <a:buNone/>
            </a:pPr>
            <a:r>
              <a:rPr lang="en-US" dirty="0"/>
              <a:t>Coil - </a:t>
            </a:r>
            <a:r>
              <a:rPr lang="en-US" b="1" dirty="0"/>
              <a:t>Head</a:t>
            </a:r>
            <a:endParaRPr lang="en-US" dirty="0"/>
          </a:p>
          <a:p>
            <a:pPr algn="ctr">
              <a:buNone/>
            </a:pPr>
            <a:r>
              <a:rPr lang="en-US" dirty="0"/>
              <a:t>Plane - </a:t>
            </a:r>
            <a:r>
              <a:rPr lang="en-US" b="1" dirty="0"/>
              <a:t>Axial</a:t>
            </a:r>
            <a:endParaRPr lang="en-US" dirty="0"/>
          </a:p>
          <a:p>
            <a:pPr algn="ctr">
              <a:buNone/>
            </a:pPr>
            <a:r>
              <a:rPr lang="en-US" dirty="0"/>
              <a:t>Mode - </a:t>
            </a:r>
            <a:r>
              <a:rPr lang="en-US" b="1" dirty="0"/>
              <a:t>2D</a:t>
            </a:r>
            <a:endParaRPr lang="en-US" dirty="0"/>
          </a:p>
          <a:p>
            <a:pPr algn="ctr">
              <a:buNone/>
            </a:pPr>
            <a:r>
              <a:rPr lang="en-US" dirty="0"/>
              <a:t>Pulse </a:t>
            </a:r>
            <a:r>
              <a:rPr lang="en-US" dirty="0" err="1"/>
              <a:t>Seq</a:t>
            </a:r>
            <a:r>
              <a:rPr lang="en-US" dirty="0"/>
              <a:t> - </a:t>
            </a:r>
            <a:r>
              <a:rPr lang="en-US" b="1" dirty="0"/>
              <a:t>Spin Echo</a:t>
            </a:r>
            <a:endParaRPr lang="en-US" dirty="0"/>
          </a:p>
          <a:p>
            <a:pPr algn="ctr">
              <a:buNone/>
            </a:pPr>
            <a:r>
              <a:rPr lang="en-US" dirty="0"/>
              <a:t># of Echoes 1 (default)</a:t>
            </a:r>
          </a:p>
          <a:p>
            <a:pPr algn="ctr">
              <a:buNone/>
            </a:pPr>
            <a:r>
              <a:rPr lang="en-US" dirty="0"/>
              <a:t>TE </a:t>
            </a:r>
            <a:r>
              <a:rPr lang="en-US" b="1" dirty="0"/>
              <a:t>[25]</a:t>
            </a:r>
            <a:endParaRPr lang="en-US" dirty="0"/>
          </a:p>
          <a:p>
            <a:pPr algn="ctr">
              <a:buNone/>
            </a:pPr>
            <a:r>
              <a:rPr lang="en-US" dirty="0"/>
              <a:t>TR </a:t>
            </a:r>
            <a:r>
              <a:rPr lang="en-US" b="1" dirty="0"/>
              <a:t>[300]</a:t>
            </a:r>
            <a:endParaRPr lang="en-US" dirty="0"/>
          </a:p>
          <a:p>
            <a:pPr algn="ctr">
              <a:buNone/>
            </a:pPr>
            <a:r>
              <a:rPr lang="en-US" dirty="0"/>
              <a:t>Bandwidth </a:t>
            </a:r>
            <a:r>
              <a:rPr lang="en-US" b="1" dirty="0"/>
              <a:t>[15.63] </a:t>
            </a:r>
            <a:r>
              <a:rPr lang="en-US" dirty="0"/>
              <a:t>(default)</a:t>
            </a:r>
          </a:p>
          <a:p>
            <a:pPr algn="ctr">
              <a:buNone/>
            </a:pPr>
            <a:r>
              <a:rPr lang="en-US" dirty="0"/>
              <a:t>FOV </a:t>
            </a:r>
            <a:r>
              <a:rPr lang="en-US" b="1" dirty="0"/>
              <a:t>[24]</a:t>
            </a:r>
            <a:endParaRPr lang="en-US" dirty="0"/>
          </a:p>
          <a:p>
            <a:pPr algn="ctr">
              <a:buNone/>
            </a:pPr>
            <a:r>
              <a:rPr lang="en-US" dirty="0"/>
              <a:t>Slice Thickness </a:t>
            </a:r>
            <a:r>
              <a:rPr lang="en-US" b="1" dirty="0"/>
              <a:t>[3.0]</a:t>
            </a:r>
            <a:endParaRPr lang="en-US" dirty="0"/>
          </a:p>
          <a:p>
            <a:pPr algn="ctr">
              <a:buNone/>
            </a:pPr>
            <a:r>
              <a:rPr lang="en-US" dirty="0"/>
              <a:t>Spacing </a:t>
            </a:r>
            <a:r>
              <a:rPr lang="en-US" b="1" dirty="0"/>
              <a:t>[1.5]</a:t>
            </a:r>
            <a:endParaRPr lang="en-US" dirty="0"/>
          </a:p>
          <a:p>
            <a:pPr algn="ctr">
              <a:buNone/>
            </a:pPr>
            <a:r>
              <a:rPr lang="en-US" dirty="0"/>
              <a:t>S/I Start </a:t>
            </a:r>
            <a:r>
              <a:rPr lang="en-US" b="1" dirty="0"/>
              <a:t>0</a:t>
            </a:r>
            <a:endParaRPr lang="en-US" dirty="0"/>
          </a:p>
          <a:p>
            <a:pPr algn="ctr">
              <a:buNone/>
            </a:pPr>
            <a:r>
              <a:rPr lang="en-US" dirty="0"/>
              <a:t>S/I End </a:t>
            </a:r>
            <a:r>
              <a:rPr lang="en-US" b="1" dirty="0"/>
              <a:t>0</a:t>
            </a:r>
            <a:endParaRPr lang="en-US" dirty="0"/>
          </a:p>
          <a:p>
            <a:pPr algn="ctr">
              <a:buNone/>
            </a:pPr>
            <a:r>
              <a:rPr lang="en-US" dirty="0"/>
              <a:t># of Slices 1 (default)</a:t>
            </a:r>
          </a:p>
          <a:p>
            <a:pPr algn="ctr">
              <a:buNone/>
            </a:pPr>
            <a:r>
              <a:rPr lang="en-US" dirty="0"/>
              <a:t>Freq </a:t>
            </a:r>
            <a:r>
              <a:rPr lang="en-US" b="1" dirty="0"/>
              <a:t>[512]</a:t>
            </a:r>
            <a:endParaRPr lang="en-US" dirty="0"/>
          </a:p>
          <a:p>
            <a:pPr algn="ctr">
              <a:buNone/>
            </a:pPr>
            <a:r>
              <a:rPr lang="en-US" dirty="0"/>
              <a:t>Phase </a:t>
            </a:r>
            <a:r>
              <a:rPr lang="en-US" b="1" dirty="0"/>
              <a:t>[256]</a:t>
            </a:r>
            <a:endParaRPr lang="en-US" dirty="0"/>
          </a:p>
          <a:p>
            <a:pPr algn="ctr">
              <a:buNone/>
            </a:pPr>
            <a:r>
              <a:rPr lang="en-US" dirty="0"/>
              <a:t>NEX </a:t>
            </a:r>
            <a:r>
              <a:rPr lang="en-US" b="1" dirty="0"/>
              <a:t>[1] </a:t>
            </a:r>
            <a:r>
              <a:rPr lang="en-US" dirty="0"/>
              <a:t>(1:20)</a:t>
            </a:r>
          </a:p>
          <a:p>
            <a:pPr algn="ctr">
              <a:buNone/>
            </a:pPr>
            <a:r>
              <a:rPr lang="en-US" dirty="0"/>
              <a:t>Phase FOV 1.00 (default)</a:t>
            </a:r>
          </a:p>
          <a:p>
            <a:pPr algn="ctr">
              <a:buNone/>
            </a:pPr>
            <a:r>
              <a:rPr lang="en-US" dirty="0"/>
              <a:t>Freq Dir </a:t>
            </a:r>
            <a:r>
              <a:rPr lang="en-US" b="1" dirty="0"/>
              <a:t>[A/P]</a:t>
            </a:r>
            <a:endParaRPr lang="en-US" dirty="0"/>
          </a:p>
          <a:p>
            <a:pPr algn="ctr">
              <a:buNone/>
            </a:pPr>
            <a:r>
              <a:rPr lang="en-US" dirty="0"/>
              <a:t>Auto Center Freq </a:t>
            </a:r>
            <a:r>
              <a:rPr lang="en-US" b="1" dirty="0"/>
              <a:t>[Peak]</a:t>
            </a:r>
            <a:endParaRPr lang="en-US" dirty="0"/>
          </a:p>
          <a:p>
            <a:pPr algn="ctr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DQA Z ISO</a:t>
            </a:r>
          </a:p>
        </p:txBody>
      </p:sp>
      <p:pic>
        <p:nvPicPr>
          <p:cNvPr id="6" name="Content Placeholder 5" descr="iso4.jpe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52400" y="990600"/>
            <a:ext cx="6166035" cy="4983163"/>
          </a:xfrm>
        </p:spPr>
      </p:pic>
      <p:sp>
        <p:nvSpPr>
          <p:cNvPr id="7" name="TextBox 6"/>
          <p:cNvSpPr txBox="1"/>
          <p:nvPr/>
        </p:nvSpPr>
        <p:spPr>
          <a:xfrm>
            <a:off x="6477000" y="1219200"/>
            <a:ext cx="25935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Your image should look </a:t>
            </a:r>
          </a:p>
          <a:p>
            <a:r>
              <a:rPr lang="en-US" dirty="0"/>
              <a:t>like this.  Also, record the </a:t>
            </a:r>
          </a:p>
          <a:p>
            <a:r>
              <a:rPr lang="en-US" dirty="0"/>
              <a:t>TG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QA Z ISO Page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295400"/>
            <a:ext cx="2438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the Service Desktop,</a:t>
            </a:r>
          </a:p>
          <a:p>
            <a:r>
              <a:rPr lang="en-US" dirty="0"/>
              <a:t>select “Calibration”</a:t>
            </a:r>
          </a:p>
          <a:p>
            <a:r>
              <a:rPr lang="en-US" dirty="0"/>
              <a:t>then “DQA Calibration”</a:t>
            </a:r>
          </a:p>
          <a:p>
            <a:r>
              <a:rPr lang="en-US" dirty="0"/>
              <a:t>Then “click here to start this tool” or “DQA”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1" name="Content Placeholder 1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34" y="990600"/>
            <a:ext cx="6644217" cy="4983163"/>
          </a:xfrm>
        </p:spPr>
      </p:pic>
      <p:sp>
        <p:nvSpPr>
          <p:cNvPr id="12" name="Oval 11"/>
          <p:cNvSpPr/>
          <p:nvPr/>
        </p:nvSpPr>
        <p:spPr>
          <a:xfrm>
            <a:off x="1447800" y="1524000"/>
            <a:ext cx="3810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 rot="5400000">
            <a:off x="820093" y="1485900"/>
            <a:ext cx="304800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1752600" y="2133600"/>
            <a:ext cx="228600" cy="381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DQA Z ISO Page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7400" y="1400462"/>
            <a:ext cx="3124200" cy="20313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/>
              <a:t>In the window, hit enter to select </a:t>
            </a:r>
            <a:r>
              <a:rPr lang="en-US" dirty="0" err="1"/>
              <a:t>thecurrent</a:t>
            </a:r>
            <a:r>
              <a:rPr lang="en-US" dirty="0"/>
              <a:t> exam, series, </a:t>
            </a:r>
          </a:p>
          <a:p>
            <a:r>
              <a:rPr lang="en-US" dirty="0"/>
              <a:t>and image.  If the </a:t>
            </a:r>
          </a:p>
          <a:p>
            <a:r>
              <a:rPr lang="en-US" dirty="0"/>
              <a:t>information is wrong,</a:t>
            </a:r>
          </a:p>
          <a:p>
            <a:r>
              <a:rPr lang="en-US" dirty="0"/>
              <a:t>choose the correct</a:t>
            </a:r>
          </a:p>
          <a:p>
            <a:r>
              <a:rPr lang="en-US" dirty="0"/>
              <a:t>one.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45" r="16722"/>
          <a:stretch/>
        </p:blipFill>
        <p:spPr>
          <a:xfrm rot="5400000">
            <a:off x="692795" y="831093"/>
            <a:ext cx="472059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DQA Z ISO Page 3</a:t>
            </a:r>
          </a:p>
        </p:txBody>
      </p:sp>
      <p:pic>
        <p:nvPicPr>
          <p:cNvPr id="4" name="Content Placeholder 3" descr="ISOZ result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981200" y="762000"/>
            <a:ext cx="4972050" cy="2352675"/>
          </a:xfrm>
        </p:spPr>
      </p:pic>
      <p:sp>
        <p:nvSpPr>
          <p:cNvPr id="5" name="TextBox 4"/>
          <p:cNvSpPr txBox="1"/>
          <p:nvPr/>
        </p:nvSpPr>
        <p:spPr>
          <a:xfrm>
            <a:off x="152400" y="3581400"/>
            <a:ext cx="8991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the </a:t>
            </a:r>
            <a:r>
              <a:rPr lang="en-US" dirty="0" err="1"/>
              <a:t>Isocenter</a:t>
            </a:r>
            <a:r>
              <a:rPr lang="en-US" dirty="0"/>
              <a:t> calibration is good then you will see this above.  </a:t>
            </a:r>
          </a:p>
          <a:p>
            <a:endParaRPr lang="en-US" dirty="0"/>
          </a:p>
          <a:p>
            <a:r>
              <a:rPr lang="en-US" dirty="0"/>
              <a:t>If it is not, it will ask you if you want to update the Mrconfig.cfg.  You can say yes but the new </a:t>
            </a:r>
          </a:p>
          <a:p>
            <a:r>
              <a:rPr lang="en-US" dirty="0"/>
              <a:t>calibration will not take effect until you do a TPS reset.  It is recommended that if the value is </a:t>
            </a:r>
          </a:p>
          <a:p>
            <a:r>
              <a:rPr lang="en-US" dirty="0"/>
              <a:t>changed that you do a TPS reset and scan the ISO scan again to see if it analyzed and </a:t>
            </a:r>
          </a:p>
          <a:p>
            <a:r>
              <a:rPr lang="en-US" dirty="0"/>
              <a:t>updated it correctly.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Gradient Calibration (Grad 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X, Y and Z Grad Cal are all done with the same procedure just different protocols.  They also use the same analysis program that Z ISO used and same phantom in the same position.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pPr algn="ctr"/>
            <a:r>
              <a:rPr lang="en-US" dirty="0"/>
              <a:t>Grad Cal Protocols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2895600" cy="4983163"/>
          </a:xfrm>
        </p:spPr>
        <p:txBody>
          <a:bodyPr>
            <a:normAutofit fontScale="40000" lnSpcReduction="20000"/>
          </a:bodyPr>
          <a:lstStyle/>
          <a:p>
            <a:r>
              <a:rPr lang="en-US" b="1" u="sng" dirty="0"/>
              <a:t>X Grad Cal</a:t>
            </a:r>
            <a:endParaRPr lang="en-US" b="1" dirty="0"/>
          </a:p>
          <a:p>
            <a:r>
              <a:rPr lang="en-US" dirty="0"/>
              <a:t>Series Description - </a:t>
            </a:r>
            <a:r>
              <a:rPr lang="en-US" b="1" dirty="0" err="1"/>
              <a:t>dqa</a:t>
            </a:r>
            <a:r>
              <a:rPr lang="en-US" b="1" dirty="0"/>
              <a:t> </a:t>
            </a:r>
            <a:r>
              <a:rPr lang="en-US" b="1" dirty="0" err="1"/>
              <a:t>xfield</a:t>
            </a:r>
            <a:r>
              <a:rPr lang="en-US" b="1" dirty="0"/>
              <a:t> cal (must be named this)</a:t>
            </a:r>
            <a:endParaRPr lang="en-US" dirty="0"/>
          </a:p>
          <a:p>
            <a:r>
              <a:rPr lang="en-US" dirty="0"/>
              <a:t>Patient Position – </a:t>
            </a:r>
            <a:r>
              <a:rPr lang="en-US" b="1" dirty="0"/>
              <a:t>Supine</a:t>
            </a:r>
            <a:endParaRPr lang="en-US" dirty="0"/>
          </a:p>
          <a:p>
            <a:r>
              <a:rPr lang="en-US" dirty="0"/>
              <a:t>Patient Entry - </a:t>
            </a:r>
            <a:r>
              <a:rPr lang="en-US" b="1" dirty="0"/>
              <a:t>Head First</a:t>
            </a:r>
            <a:endParaRPr lang="en-US" dirty="0"/>
          </a:p>
          <a:p>
            <a:r>
              <a:rPr lang="en-US" dirty="0"/>
              <a:t>Coil - </a:t>
            </a:r>
            <a:r>
              <a:rPr lang="en-US" b="1" dirty="0"/>
              <a:t>Head</a:t>
            </a:r>
            <a:endParaRPr lang="en-US" dirty="0"/>
          </a:p>
          <a:p>
            <a:r>
              <a:rPr lang="en-US" dirty="0"/>
              <a:t>Plane - </a:t>
            </a:r>
            <a:r>
              <a:rPr lang="en-US" b="1" dirty="0"/>
              <a:t>Coronal</a:t>
            </a:r>
            <a:endParaRPr lang="en-US" dirty="0"/>
          </a:p>
          <a:p>
            <a:r>
              <a:rPr lang="en-US" dirty="0"/>
              <a:t>Mode - </a:t>
            </a:r>
            <a:r>
              <a:rPr lang="en-US" b="1" dirty="0"/>
              <a:t>2D</a:t>
            </a:r>
            <a:endParaRPr lang="en-US" dirty="0"/>
          </a:p>
          <a:p>
            <a:r>
              <a:rPr lang="en-US" dirty="0"/>
              <a:t>Pulse </a:t>
            </a:r>
            <a:r>
              <a:rPr lang="en-US" dirty="0" err="1"/>
              <a:t>Seq</a:t>
            </a:r>
            <a:r>
              <a:rPr lang="en-US" dirty="0"/>
              <a:t> - </a:t>
            </a:r>
            <a:r>
              <a:rPr lang="en-US" b="1" dirty="0"/>
              <a:t>Spin Echo</a:t>
            </a:r>
            <a:endParaRPr lang="en-US" dirty="0"/>
          </a:p>
          <a:p>
            <a:r>
              <a:rPr lang="en-US" dirty="0"/>
              <a:t># of Echoes 1 (default)</a:t>
            </a:r>
          </a:p>
          <a:p>
            <a:r>
              <a:rPr lang="en-US" dirty="0"/>
              <a:t>TE </a:t>
            </a:r>
            <a:r>
              <a:rPr lang="en-US" b="1" dirty="0"/>
              <a:t>[25]</a:t>
            </a:r>
            <a:endParaRPr lang="en-US" dirty="0"/>
          </a:p>
          <a:p>
            <a:r>
              <a:rPr lang="en-US" dirty="0"/>
              <a:t>TR </a:t>
            </a:r>
            <a:r>
              <a:rPr lang="en-US" b="1" dirty="0"/>
              <a:t>[300]</a:t>
            </a:r>
            <a:endParaRPr lang="en-US" dirty="0"/>
          </a:p>
          <a:p>
            <a:r>
              <a:rPr lang="en-US" dirty="0"/>
              <a:t>Bandwidth </a:t>
            </a:r>
            <a:r>
              <a:rPr lang="en-US" b="1" dirty="0"/>
              <a:t>[15.63] </a:t>
            </a:r>
            <a:r>
              <a:rPr lang="en-US" dirty="0"/>
              <a:t>(default)</a:t>
            </a:r>
          </a:p>
          <a:p>
            <a:r>
              <a:rPr lang="en-US" dirty="0"/>
              <a:t>FOV </a:t>
            </a:r>
            <a:r>
              <a:rPr lang="en-US" b="1" dirty="0"/>
              <a:t>[24]</a:t>
            </a:r>
            <a:endParaRPr lang="en-US" dirty="0"/>
          </a:p>
          <a:p>
            <a:r>
              <a:rPr lang="en-US" dirty="0"/>
              <a:t>Slice Thickness </a:t>
            </a:r>
            <a:r>
              <a:rPr lang="en-US" b="1" dirty="0"/>
              <a:t>[3.0]</a:t>
            </a:r>
            <a:endParaRPr lang="en-US" dirty="0"/>
          </a:p>
          <a:p>
            <a:r>
              <a:rPr lang="en-US" dirty="0"/>
              <a:t>Spacing </a:t>
            </a:r>
            <a:r>
              <a:rPr lang="en-US" b="1" dirty="0"/>
              <a:t>[1.5]</a:t>
            </a:r>
            <a:endParaRPr lang="en-US" dirty="0"/>
          </a:p>
          <a:p>
            <a:r>
              <a:rPr lang="en-US" dirty="0"/>
              <a:t>S/I Start </a:t>
            </a:r>
            <a:r>
              <a:rPr lang="en-US" b="1" dirty="0"/>
              <a:t>0</a:t>
            </a:r>
            <a:endParaRPr lang="en-US" dirty="0"/>
          </a:p>
          <a:p>
            <a:r>
              <a:rPr lang="en-US" dirty="0"/>
              <a:t>S/I End </a:t>
            </a:r>
            <a:r>
              <a:rPr lang="en-US" b="1" dirty="0"/>
              <a:t>0</a:t>
            </a:r>
            <a:endParaRPr lang="en-US" dirty="0"/>
          </a:p>
          <a:p>
            <a:r>
              <a:rPr lang="en-US" dirty="0"/>
              <a:t># of Slices 1 (default)</a:t>
            </a:r>
          </a:p>
          <a:p>
            <a:r>
              <a:rPr lang="en-US" dirty="0"/>
              <a:t>Freq </a:t>
            </a:r>
            <a:r>
              <a:rPr lang="en-US" b="1" dirty="0"/>
              <a:t>[512]</a:t>
            </a:r>
            <a:endParaRPr lang="en-US" dirty="0"/>
          </a:p>
          <a:p>
            <a:r>
              <a:rPr lang="en-US" dirty="0"/>
              <a:t>Phase </a:t>
            </a:r>
            <a:r>
              <a:rPr lang="en-US" b="1" dirty="0"/>
              <a:t>[256]</a:t>
            </a:r>
            <a:endParaRPr lang="en-US" dirty="0"/>
          </a:p>
          <a:p>
            <a:r>
              <a:rPr lang="en-US" dirty="0"/>
              <a:t>NEX </a:t>
            </a:r>
            <a:r>
              <a:rPr lang="en-US" b="1" dirty="0"/>
              <a:t>[1] </a:t>
            </a:r>
            <a:r>
              <a:rPr lang="en-US" dirty="0"/>
              <a:t>(1:20)</a:t>
            </a:r>
          </a:p>
          <a:p>
            <a:r>
              <a:rPr lang="en-US" dirty="0"/>
              <a:t>Phase FOV 1.00 (default)</a:t>
            </a:r>
          </a:p>
          <a:p>
            <a:r>
              <a:rPr lang="en-US" dirty="0"/>
              <a:t>Freq Dir </a:t>
            </a:r>
            <a:r>
              <a:rPr lang="en-US" b="1" dirty="0"/>
              <a:t>[R/L]</a:t>
            </a:r>
            <a:endParaRPr lang="en-US" dirty="0"/>
          </a:p>
          <a:p>
            <a:r>
              <a:rPr lang="en-US" dirty="0"/>
              <a:t>Auto Center Freq </a:t>
            </a:r>
            <a:r>
              <a:rPr lang="en-US" b="1" dirty="0"/>
              <a:t>[Peak]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200400" y="990600"/>
            <a:ext cx="2895600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300" b="1" u="sng" dirty="0"/>
              <a:t>Y Grad Cal</a:t>
            </a:r>
            <a:endParaRPr lang="en-US" sz="1300" b="1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Series Description - </a:t>
            </a:r>
            <a:r>
              <a:rPr lang="en-US" sz="1300" b="1" dirty="0" err="1"/>
              <a:t>dqa</a:t>
            </a:r>
            <a:r>
              <a:rPr lang="en-US" sz="1300" b="1" dirty="0"/>
              <a:t> </a:t>
            </a:r>
            <a:r>
              <a:rPr lang="en-US" sz="1300" b="1" dirty="0" err="1"/>
              <a:t>yfield</a:t>
            </a:r>
            <a:r>
              <a:rPr lang="en-US" sz="1300" b="1" dirty="0"/>
              <a:t> cal (must be named this)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Patient Position – </a:t>
            </a:r>
            <a:r>
              <a:rPr lang="en-US" sz="1300" b="1" dirty="0"/>
              <a:t>Supine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Patient Entry - </a:t>
            </a:r>
            <a:r>
              <a:rPr lang="en-US" sz="1300" b="1" dirty="0"/>
              <a:t>Head First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Coil - </a:t>
            </a:r>
            <a:r>
              <a:rPr lang="en-US" sz="1300" b="1" dirty="0"/>
              <a:t>Head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Plane - </a:t>
            </a:r>
            <a:r>
              <a:rPr lang="en-US" sz="1300" b="1" dirty="0"/>
              <a:t>Axial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Mode - </a:t>
            </a:r>
            <a:r>
              <a:rPr lang="en-US" sz="1300" b="1" dirty="0"/>
              <a:t>2D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Pulse </a:t>
            </a:r>
            <a:r>
              <a:rPr lang="en-US" sz="1300" dirty="0" err="1"/>
              <a:t>Seq</a:t>
            </a:r>
            <a:r>
              <a:rPr lang="en-US" sz="1300" dirty="0"/>
              <a:t> - </a:t>
            </a:r>
            <a:r>
              <a:rPr lang="en-US" sz="1300" b="1" dirty="0"/>
              <a:t>Spin Echo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# of Echoes 1 (default)</a:t>
            </a:r>
          </a:p>
          <a:p>
            <a:pPr>
              <a:buFont typeface="Arial" pitchFamily="34" charset="0"/>
              <a:buChar char="•"/>
            </a:pPr>
            <a:r>
              <a:rPr lang="en-US" sz="1300" dirty="0"/>
              <a:t>TE </a:t>
            </a:r>
            <a:r>
              <a:rPr lang="en-US" sz="1300" b="1" dirty="0"/>
              <a:t>[25]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TR </a:t>
            </a:r>
            <a:r>
              <a:rPr lang="en-US" sz="1300" b="1" dirty="0"/>
              <a:t>[300]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Bandwidth </a:t>
            </a:r>
            <a:r>
              <a:rPr lang="en-US" sz="1300" b="1" dirty="0"/>
              <a:t>[15.63] </a:t>
            </a:r>
            <a:r>
              <a:rPr lang="en-US" sz="1300" dirty="0"/>
              <a:t>(default)</a:t>
            </a:r>
          </a:p>
          <a:p>
            <a:pPr>
              <a:buFont typeface="Arial" pitchFamily="34" charset="0"/>
              <a:buChar char="•"/>
            </a:pPr>
            <a:r>
              <a:rPr lang="en-US" sz="1300" dirty="0"/>
              <a:t>FOV </a:t>
            </a:r>
            <a:r>
              <a:rPr lang="en-US" sz="1300" b="1" dirty="0"/>
              <a:t>[24]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Slice Thickness </a:t>
            </a:r>
            <a:r>
              <a:rPr lang="en-US" sz="1300" b="1" dirty="0"/>
              <a:t>[3.0]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Spacing </a:t>
            </a:r>
            <a:r>
              <a:rPr lang="en-US" sz="1300" b="1" dirty="0"/>
              <a:t>[1.5]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S/I Start </a:t>
            </a:r>
            <a:r>
              <a:rPr lang="en-US" sz="1300" b="1" dirty="0"/>
              <a:t>0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S/I End </a:t>
            </a:r>
            <a:r>
              <a:rPr lang="en-US" sz="1300" b="1" dirty="0"/>
              <a:t>0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# of Slices 1 (default)</a:t>
            </a:r>
          </a:p>
          <a:p>
            <a:pPr>
              <a:buFont typeface="Arial" pitchFamily="34" charset="0"/>
              <a:buChar char="•"/>
            </a:pPr>
            <a:r>
              <a:rPr lang="en-US" sz="1300" dirty="0"/>
              <a:t>Freq </a:t>
            </a:r>
            <a:r>
              <a:rPr lang="en-US" sz="1300" b="1" dirty="0"/>
              <a:t>[512]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Phase </a:t>
            </a:r>
            <a:r>
              <a:rPr lang="en-US" sz="1300" b="1" dirty="0"/>
              <a:t>[256]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NEX </a:t>
            </a:r>
            <a:r>
              <a:rPr lang="en-US" sz="1300" b="1" dirty="0"/>
              <a:t>[1] </a:t>
            </a:r>
            <a:r>
              <a:rPr lang="en-US" sz="1300" dirty="0"/>
              <a:t>(1:20)</a:t>
            </a:r>
          </a:p>
          <a:p>
            <a:pPr>
              <a:buFont typeface="Arial" pitchFamily="34" charset="0"/>
              <a:buChar char="•"/>
            </a:pPr>
            <a:r>
              <a:rPr lang="en-US" sz="1300" dirty="0"/>
              <a:t>Phase FOV 1.00 (default)</a:t>
            </a:r>
          </a:p>
          <a:p>
            <a:pPr>
              <a:buFont typeface="Arial" pitchFamily="34" charset="0"/>
              <a:buChar char="•"/>
            </a:pPr>
            <a:r>
              <a:rPr lang="en-US" sz="1300" dirty="0"/>
              <a:t>Freq Dir </a:t>
            </a:r>
            <a:r>
              <a:rPr lang="en-US" sz="1300" b="1" dirty="0"/>
              <a:t>[A/P]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Auto Center Freq </a:t>
            </a:r>
            <a:r>
              <a:rPr lang="en-US" sz="1300" b="1" dirty="0"/>
              <a:t>[Peak]</a:t>
            </a:r>
            <a:endParaRPr lang="en-US" sz="13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0" y="990600"/>
            <a:ext cx="2895600" cy="49831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300" b="1" u="sng" dirty="0"/>
              <a:t>Z Grad Cal</a:t>
            </a:r>
            <a:endParaRPr lang="en-US" sz="1300" b="1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Series Description - </a:t>
            </a:r>
            <a:r>
              <a:rPr lang="en-US" sz="1300" b="1" dirty="0" err="1"/>
              <a:t>dqa</a:t>
            </a:r>
            <a:r>
              <a:rPr lang="en-US" sz="1300" b="1" dirty="0"/>
              <a:t> </a:t>
            </a:r>
            <a:r>
              <a:rPr lang="en-US" sz="1300" b="1" dirty="0" err="1"/>
              <a:t>zfield</a:t>
            </a:r>
            <a:r>
              <a:rPr lang="en-US" sz="1300" b="1" dirty="0"/>
              <a:t> cal (must be named this)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Patient Position – </a:t>
            </a:r>
            <a:r>
              <a:rPr lang="en-US" sz="1300" b="1" dirty="0"/>
              <a:t>Supine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Patient Entry - </a:t>
            </a:r>
            <a:r>
              <a:rPr lang="en-US" sz="1300" b="1" dirty="0"/>
              <a:t>Head First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 Coil - </a:t>
            </a:r>
            <a:r>
              <a:rPr lang="en-US" sz="1300" b="1" dirty="0"/>
              <a:t>Head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Plane - </a:t>
            </a:r>
            <a:r>
              <a:rPr lang="en-US" sz="1300" b="1" dirty="0"/>
              <a:t>Coronal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Mode - </a:t>
            </a:r>
            <a:r>
              <a:rPr lang="en-US" sz="1300" b="1" dirty="0"/>
              <a:t>2D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Pulse </a:t>
            </a:r>
            <a:r>
              <a:rPr lang="en-US" sz="1300" dirty="0" err="1"/>
              <a:t>Seq</a:t>
            </a:r>
            <a:r>
              <a:rPr lang="en-US" sz="1300" dirty="0"/>
              <a:t> - </a:t>
            </a:r>
            <a:r>
              <a:rPr lang="en-US" sz="1300" b="1" dirty="0"/>
              <a:t>Spin Echo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# of Echoes 1 (default)</a:t>
            </a:r>
          </a:p>
          <a:p>
            <a:pPr>
              <a:buFont typeface="Arial" pitchFamily="34" charset="0"/>
              <a:buChar char="•"/>
            </a:pPr>
            <a:r>
              <a:rPr lang="en-US" sz="1300" dirty="0"/>
              <a:t>TE </a:t>
            </a:r>
            <a:r>
              <a:rPr lang="en-US" sz="1300" b="1" dirty="0"/>
              <a:t>[25]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TR </a:t>
            </a:r>
            <a:r>
              <a:rPr lang="en-US" sz="1300" b="1" dirty="0"/>
              <a:t>[300]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Bandwidth </a:t>
            </a:r>
            <a:r>
              <a:rPr lang="en-US" sz="1300" b="1" dirty="0"/>
              <a:t>[15.63] </a:t>
            </a:r>
            <a:r>
              <a:rPr lang="en-US" sz="1300" dirty="0"/>
              <a:t>(default)</a:t>
            </a:r>
          </a:p>
          <a:p>
            <a:pPr>
              <a:buFont typeface="Arial" pitchFamily="34" charset="0"/>
              <a:buChar char="•"/>
            </a:pPr>
            <a:r>
              <a:rPr lang="en-US" sz="1300" dirty="0"/>
              <a:t>FOV </a:t>
            </a:r>
            <a:r>
              <a:rPr lang="en-US" sz="1300" b="1" dirty="0"/>
              <a:t>[24]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Slice Thickness </a:t>
            </a:r>
            <a:r>
              <a:rPr lang="en-US" sz="1300" b="1" dirty="0"/>
              <a:t>[3.0]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Spacing </a:t>
            </a:r>
            <a:r>
              <a:rPr lang="en-US" sz="1300" b="1" dirty="0"/>
              <a:t>[1.5]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S/I Start </a:t>
            </a:r>
            <a:r>
              <a:rPr lang="en-US" sz="1300" b="1" dirty="0"/>
              <a:t>0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S/I End </a:t>
            </a:r>
            <a:r>
              <a:rPr lang="en-US" sz="1300" b="1" dirty="0"/>
              <a:t>0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# of Slices 1 (default)</a:t>
            </a:r>
          </a:p>
          <a:p>
            <a:pPr>
              <a:buFont typeface="Arial" pitchFamily="34" charset="0"/>
              <a:buChar char="•"/>
            </a:pPr>
            <a:r>
              <a:rPr lang="en-US" sz="1300" dirty="0"/>
              <a:t>Freq </a:t>
            </a:r>
            <a:r>
              <a:rPr lang="en-US" sz="1300" b="1" dirty="0"/>
              <a:t>[512]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Phase </a:t>
            </a:r>
            <a:r>
              <a:rPr lang="en-US" sz="1300" b="1" dirty="0"/>
              <a:t>[256]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NEX </a:t>
            </a:r>
            <a:r>
              <a:rPr lang="en-US" sz="1300" b="1" dirty="0"/>
              <a:t>[1] </a:t>
            </a:r>
            <a:r>
              <a:rPr lang="en-US" sz="1300" dirty="0"/>
              <a:t>(1:20)</a:t>
            </a:r>
          </a:p>
          <a:p>
            <a:pPr>
              <a:buFont typeface="Arial" pitchFamily="34" charset="0"/>
              <a:buChar char="•"/>
            </a:pPr>
            <a:r>
              <a:rPr lang="en-US" sz="1300" dirty="0"/>
              <a:t>Phase FOV 1.00 (default)</a:t>
            </a:r>
          </a:p>
          <a:p>
            <a:pPr>
              <a:buFont typeface="Arial" pitchFamily="34" charset="0"/>
              <a:buChar char="•"/>
            </a:pPr>
            <a:r>
              <a:rPr lang="en-US" sz="1300" dirty="0"/>
              <a:t>Freq Dir </a:t>
            </a:r>
            <a:r>
              <a:rPr lang="en-US" sz="1300" b="1" dirty="0"/>
              <a:t>[S/I]</a:t>
            </a:r>
            <a:endParaRPr lang="en-US" sz="1300" dirty="0"/>
          </a:p>
          <a:p>
            <a:pPr>
              <a:buFont typeface="Arial" pitchFamily="34" charset="0"/>
              <a:buChar char="•"/>
            </a:pPr>
            <a:r>
              <a:rPr lang="en-US" sz="1300" dirty="0"/>
              <a:t>Auto Center Freq </a:t>
            </a:r>
            <a:r>
              <a:rPr lang="en-US" sz="1300" b="1" dirty="0"/>
              <a:t>[Peak]</a:t>
            </a:r>
            <a:endParaRPr lang="en-US" sz="1300"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609600"/>
            <a:ext cx="563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Please note the minute differences between the protocols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Grad Cal Procedure</a:t>
            </a:r>
          </a:p>
        </p:txBody>
      </p:sp>
      <p:pic>
        <p:nvPicPr>
          <p:cNvPr id="4" name="Content Placeholder 3" descr="20151215_150206834_iO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990600"/>
            <a:ext cx="6644217" cy="4983163"/>
          </a:xfrm>
        </p:spPr>
      </p:pic>
      <p:sp>
        <p:nvSpPr>
          <p:cNvPr id="5" name="TextBox 4"/>
          <p:cNvSpPr txBox="1"/>
          <p:nvPr/>
        </p:nvSpPr>
        <p:spPr>
          <a:xfrm>
            <a:off x="6845807" y="990600"/>
            <a:ext cx="22981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2 possible </a:t>
            </a:r>
          </a:p>
          <a:p>
            <a:r>
              <a:rPr lang="en-US" dirty="0"/>
              <a:t>out comes to the </a:t>
            </a:r>
          </a:p>
          <a:p>
            <a:r>
              <a:rPr lang="en-US" dirty="0"/>
              <a:t>analysis of the images.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09800"/>
            <a:ext cx="231326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It says “No </a:t>
            </a:r>
          </a:p>
          <a:p>
            <a:pPr marL="342900" indent="-342900"/>
            <a:r>
              <a:rPr lang="en-US" dirty="0"/>
              <a:t>Adjustment Required”</a:t>
            </a:r>
          </a:p>
          <a:p>
            <a:pPr marL="342900" indent="-342900"/>
            <a:r>
              <a:rPr lang="en-US" dirty="0"/>
              <a:t>In which case you are </a:t>
            </a:r>
          </a:p>
          <a:p>
            <a:pPr marL="342900" indent="-342900"/>
            <a:r>
              <a:rPr lang="en-US" dirty="0"/>
              <a:t>done with the </a:t>
            </a:r>
          </a:p>
          <a:p>
            <a:pPr marL="342900" indent="-342900"/>
            <a:r>
              <a:rPr lang="en-US" dirty="0"/>
              <a:t>calibration on that axis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810000"/>
            <a:ext cx="242694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You will get a screen </a:t>
            </a:r>
          </a:p>
          <a:p>
            <a:r>
              <a:rPr lang="en-US" dirty="0"/>
              <a:t>like you see here.  </a:t>
            </a:r>
          </a:p>
          <a:p>
            <a:r>
              <a:rPr lang="en-US" dirty="0"/>
              <a:t>In that case we need to </a:t>
            </a:r>
          </a:p>
          <a:p>
            <a:r>
              <a:rPr lang="en-US" dirty="0"/>
              <a:t>modify a CV on the </a:t>
            </a:r>
          </a:p>
          <a:p>
            <a:r>
              <a:rPr lang="en-US" dirty="0"/>
              <a:t>scan page and rescan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Grad Cal Procedure Page 2</a:t>
            </a:r>
          </a:p>
        </p:txBody>
      </p:sp>
      <p:pic>
        <p:nvPicPr>
          <p:cNvPr id="4" name="Content Placeholder 3" descr="IMG_2446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7583" y="914400"/>
            <a:ext cx="6644217" cy="4983163"/>
          </a:xfrm>
        </p:spPr>
      </p:pic>
      <p:sp>
        <p:nvSpPr>
          <p:cNvPr id="5" name="Oval 4"/>
          <p:cNvSpPr/>
          <p:nvPr/>
        </p:nvSpPr>
        <p:spPr>
          <a:xfrm>
            <a:off x="1981200" y="5257800"/>
            <a:ext cx="990600" cy="609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81800" y="671691"/>
            <a:ext cx="2482411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/>
              <a:t>Left</a:t>
            </a:r>
            <a:r>
              <a:rPr lang="en-US" sz="1700" dirty="0"/>
              <a:t> click on Research </a:t>
            </a:r>
          </a:p>
          <a:p>
            <a:r>
              <a:rPr lang="en-US" sz="1700" dirty="0"/>
              <a:t>Operations and choose </a:t>
            </a:r>
          </a:p>
          <a:p>
            <a:r>
              <a:rPr lang="en-US" sz="1700" dirty="0"/>
              <a:t>Modify CV’s.  In the </a:t>
            </a:r>
          </a:p>
          <a:p>
            <a:r>
              <a:rPr lang="en-US" sz="1700" dirty="0"/>
              <a:t>window that comes up </a:t>
            </a:r>
          </a:p>
          <a:p>
            <a:r>
              <a:rPr lang="en-US" sz="1700" dirty="0"/>
              <a:t>you have to type in the </a:t>
            </a:r>
          </a:p>
          <a:p>
            <a:r>
              <a:rPr lang="en-US" sz="1700" dirty="0"/>
              <a:t>proper CV name </a:t>
            </a:r>
          </a:p>
          <a:p>
            <a:r>
              <a:rPr lang="en-US" sz="1700" dirty="0"/>
              <a:t>depending on the cal </a:t>
            </a:r>
          </a:p>
          <a:p>
            <a:r>
              <a:rPr lang="en-US" sz="1700" dirty="0"/>
              <a:t>you’re doing.</a:t>
            </a:r>
          </a:p>
          <a:p>
            <a:endParaRPr lang="en-US" sz="1700" dirty="0"/>
          </a:p>
          <a:p>
            <a:r>
              <a:rPr lang="en-US" sz="1700" dirty="0"/>
              <a:t>X= </a:t>
            </a:r>
            <a:r>
              <a:rPr lang="en-US" sz="1700" dirty="0" err="1"/>
              <a:t>cfxfull</a:t>
            </a:r>
            <a:endParaRPr lang="en-US" sz="1700" dirty="0"/>
          </a:p>
          <a:p>
            <a:r>
              <a:rPr lang="en-US" sz="1700" dirty="0"/>
              <a:t>Y= </a:t>
            </a:r>
            <a:r>
              <a:rPr lang="en-US" sz="1700" dirty="0" err="1"/>
              <a:t>cfyfull</a:t>
            </a:r>
            <a:endParaRPr lang="en-US" sz="1700" dirty="0"/>
          </a:p>
          <a:p>
            <a:r>
              <a:rPr lang="en-US" sz="1700" dirty="0"/>
              <a:t>Z= </a:t>
            </a:r>
            <a:r>
              <a:rPr lang="en-US" sz="1700" dirty="0" err="1"/>
              <a:t>cfzfull</a:t>
            </a:r>
            <a:endParaRPr lang="en-US" sz="1700" dirty="0"/>
          </a:p>
          <a:p>
            <a:endParaRPr lang="en-US" sz="1700" dirty="0"/>
          </a:p>
          <a:p>
            <a:r>
              <a:rPr lang="en-US" sz="1700" dirty="0"/>
              <a:t>And then enter the new </a:t>
            </a:r>
          </a:p>
          <a:p>
            <a:r>
              <a:rPr lang="en-US" sz="1700" dirty="0"/>
              <a:t>value given in the </a:t>
            </a:r>
          </a:p>
          <a:p>
            <a:r>
              <a:rPr lang="en-US" sz="1700" dirty="0"/>
              <a:t>analysis and rescan and </a:t>
            </a:r>
          </a:p>
          <a:p>
            <a:r>
              <a:rPr lang="en-US" sz="1700" dirty="0"/>
              <a:t>then go back to the </a:t>
            </a:r>
          </a:p>
          <a:p>
            <a:r>
              <a:rPr lang="en-US" sz="1700" dirty="0"/>
              <a:t>analysis program and </a:t>
            </a:r>
          </a:p>
          <a:p>
            <a:r>
              <a:rPr lang="en-US" sz="1700" dirty="0"/>
              <a:t>hit enter to analyze the </a:t>
            </a:r>
          </a:p>
          <a:p>
            <a:r>
              <a:rPr lang="en-US" sz="1700" dirty="0"/>
              <a:t>new image. Continue </a:t>
            </a:r>
          </a:p>
          <a:p>
            <a:r>
              <a:rPr lang="en-US" sz="1700" dirty="0"/>
              <a:t>until it says “No </a:t>
            </a:r>
          </a:p>
          <a:p>
            <a:r>
              <a:rPr lang="en-US" sz="1700" dirty="0"/>
              <a:t>Adjustment Required”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Head and Body SNR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Head and Body SNR scans are very similar.  They use very similar Protocols and Phantoms.</a:t>
            </a:r>
          </a:p>
          <a:p>
            <a:pPr>
              <a:buNone/>
            </a:pPr>
            <a:r>
              <a:rPr lang="en-US" dirty="0"/>
              <a:t>The SNR numbers obtained are subjective and are specific to your machine.  We can use numbers from other scanners to get a range that your machine should be within.  The SNR number are mainly used to detect a trending issue but can be use for troubleshooting.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Head and Body SNR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2971800" cy="54864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1400" b="1" u="sng" dirty="0"/>
              <a:t>Head SNR</a:t>
            </a:r>
            <a:endParaRPr lang="en-US" sz="1400" b="1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Series Description – </a:t>
            </a:r>
            <a:r>
              <a:rPr lang="en-US" sz="1400" b="1" dirty="0"/>
              <a:t>Head SNR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Patient Position – </a:t>
            </a:r>
            <a:r>
              <a:rPr lang="en-US" sz="1400" b="1" dirty="0"/>
              <a:t>Supine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Patient Entry - </a:t>
            </a:r>
            <a:r>
              <a:rPr lang="en-US" sz="1400" b="1" dirty="0"/>
              <a:t>Head First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Coil - </a:t>
            </a:r>
            <a:r>
              <a:rPr lang="en-US" sz="1400" b="1" dirty="0"/>
              <a:t>Head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Plane - </a:t>
            </a:r>
            <a:r>
              <a:rPr lang="en-US" sz="1400" b="1" dirty="0"/>
              <a:t>Axial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Mode - </a:t>
            </a:r>
            <a:r>
              <a:rPr lang="en-US" sz="1400" b="1" dirty="0"/>
              <a:t>2D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Pulse </a:t>
            </a:r>
            <a:r>
              <a:rPr lang="en-US" sz="1400" dirty="0" err="1"/>
              <a:t>Seq</a:t>
            </a:r>
            <a:r>
              <a:rPr lang="en-US" sz="1400" dirty="0"/>
              <a:t> - </a:t>
            </a:r>
            <a:r>
              <a:rPr lang="en-US" sz="1400" b="1" dirty="0"/>
              <a:t>Spin Echo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# of Echoes 1 (default)</a:t>
            </a:r>
          </a:p>
          <a:p>
            <a:pPr marL="0" indent="0">
              <a:spcBef>
                <a:spcPts val="0"/>
              </a:spcBef>
            </a:pPr>
            <a:r>
              <a:rPr lang="en-US" sz="1400" dirty="0"/>
              <a:t>TE </a:t>
            </a:r>
            <a:r>
              <a:rPr lang="en-US" sz="1400" b="1" dirty="0"/>
              <a:t>[20]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TR </a:t>
            </a:r>
            <a:r>
              <a:rPr lang="en-US" sz="1400" b="1" dirty="0"/>
              <a:t>[500]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FOV </a:t>
            </a:r>
            <a:r>
              <a:rPr lang="en-US" sz="1400" b="1" dirty="0"/>
              <a:t>[24]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Slice Thickness </a:t>
            </a:r>
            <a:r>
              <a:rPr lang="en-US" sz="1400" b="1" dirty="0"/>
              <a:t>[3]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Spacing </a:t>
            </a:r>
            <a:r>
              <a:rPr lang="en-US" sz="1400" b="1" dirty="0"/>
              <a:t>[1.5]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Start </a:t>
            </a:r>
            <a:r>
              <a:rPr lang="en-US" sz="1400" b="1" dirty="0"/>
              <a:t>0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End </a:t>
            </a:r>
            <a:r>
              <a:rPr lang="en-US" sz="1400" b="1" dirty="0"/>
              <a:t>0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# of Slices 1 (default)</a:t>
            </a:r>
          </a:p>
          <a:p>
            <a:pPr marL="0" indent="0">
              <a:spcBef>
                <a:spcPts val="0"/>
              </a:spcBef>
            </a:pPr>
            <a:r>
              <a:rPr lang="en-US" sz="1400" dirty="0"/>
              <a:t>L/R Center 0 (default)</a:t>
            </a:r>
          </a:p>
          <a:p>
            <a:pPr marL="0" indent="0">
              <a:spcBef>
                <a:spcPts val="0"/>
              </a:spcBef>
            </a:pPr>
            <a:r>
              <a:rPr lang="en-US" sz="1400" dirty="0"/>
              <a:t>P/A Center 0 (default)</a:t>
            </a:r>
          </a:p>
          <a:p>
            <a:pPr marL="0" indent="0">
              <a:spcBef>
                <a:spcPts val="0"/>
              </a:spcBef>
            </a:pPr>
            <a:r>
              <a:rPr lang="en-US" sz="1400" dirty="0"/>
              <a:t>Freq </a:t>
            </a:r>
            <a:r>
              <a:rPr lang="en-US" sz="1400" b="1" dirty="0"/>
              <a:t>[256]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Phase </a:t>
            </a:r>
            <a:r>
              <a:rPr lang="en-US" sz="1400" b="1" dirty="0"/>
              <a:t>[256]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NEX </a:t>
            </a:r>
            <a:r>
              <a:rPr lang="en-US" sz="1400" b="1" dirty="0"/>
              <a:t>[1]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Phase FOV 1.00 (default)</a:t>
            </a:r>
          </a:p>
          <a:p>
            <a:pPr marL="0" indent="0">
              <a:spcBef>
                <a:spcPts val="0"/>
              </a:spcBef>
            </a:pPr>
            <a:r>
              <a:rPr lang="en-US" sz="1400" dirty="0"/>
              <a:t>Freq Dir </a:t>
            </a:r>
            <a:r>
              <a:rPr lang="en-US" sz="1400" b="1" dirty="0"/>
              <a:t>[A/P]</a:t>
            </a:r>
            <a:endParaRPr lang="en-US" sz="1400" dirty="0"/>
          </a:p>
          <a:p>
            <a:pPr marL="0" indent="0">
              <a:spcBef>
                <a:spcPts val="0"/>
              </a:spcBef>
            </a:pPr>
            <a:r>
              <a:rPr lang="en-US" sz="1400" dirty="0"/>
              <a:t>Auto Center Freq </a:t>
            </a:r>
            <a:r>
              <a:rPr lang="en-US" sz="1400" b="1" dirty="0"/>
              <a:t>[Peak]</a:t>
            </a:r>
            <a:endParaRPr lang="en-US" sz="1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791200" y="685800"/>
            <a:ext cx="2438400" cy="5486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1400" b="1" u="sng" dirty="0"/>
              <a:t>Body SNR</a:t>
            </a:r>
            <a:endParaRPr lang="en-US" sz="1400" b="1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Series Description - </a:t>
            </a:r>
            <a:r>
              <a:rPr lang="en-US" sz="1400" b="1" dirty="0"/>
              <a:t>Body SNR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Patient Position – </a:t>
            </a:r>
            <a:r>
              <a:rPr lang="en-US" sz="1400" b="1" dirty="0"/>
              <a:t>Supine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Patient Entry - </a:t>
            </a:r>
            <a:r>
              <a:rPr lang="en-US" sz="1400" b="1" dirty="0"/>
              <a:t>Head First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Coil - </a:t>
            </a:r>
            <a:r>
              <a:rPr lang="en-US" sz="1400" b="1" dirty="0"/>
              <a:t>Body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Plane - </a:t>
            </a:r>
            <a:r>
              <a:rPr lang="en-US" sz="1400" b="1" dirty="0"/>
              <a:t>Axial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Mode - </a:t>
            </a:r>
            <a:r>
              <a:rPr lang="en-US" sz="1400" b="1" dirty="0"/>
              <a:t>2D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Pulse </a:t>
            </a:r>
            <a:r>
              <a:rPr lang="en-US" sz="1400" dirty="0" err="1"/>
              <a:t>Seq</a:t>
            </a:r>
            <a:r>
              <a:rPr lang="en-US" sz="1400" dirty="0"/>
              <a:t> - </a:t>
            </a:r>
            <a:r>
              <a:rPr lang="en-US" sz="1400" b="1" dirty="0"/>
              <a:t>Spin Echo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# of Echoes 1 (default)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TE </a:t>
            </a:r>
            <a:r>
              <a:rPr lang="en-US" sz="1400" b="1" dirty="0"/>
              <a:t>[20]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TR </a:t>
            </a:r>
            <a:r>
              <a:rPr lang="en-US" sz="1400" b="1" dirty="0"/>
              <a:t>[500]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FOV </a:t>
            </a:r>
            <a:r>
              <a:rPr lang="en-US" sz="1400" b="1" dirty="0"/>
              <a:t>[48]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Slice Thickness </a:t>
            </a:r>
            <a:r>
              <a:rPr lang="en-US" sz="1400" b="1" dirty="0"/>
              <a:t>[3]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Spacing </a:t>
            </a:r>
            <a:r>
              <a:rPr lang="en-US" sz="1400" b="1" dirty="0"/>
              <a:t>[1.5]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Start </a:t>
            </a:r>
            <a:r>
              <a:rPr lang="en-US" sz="1400" b="1" dirty="0"/>
              <a:t>0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End </a:t>
            </a:r>
            <a:r>
              <a:rPr lang="en-US" sz="1400" b="1" dirty="0"/>
              <a:t>0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# of Slices 1 (default)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L/R Center 0 (default)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P/A Center 0 (default)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Freq </a:t>
            </a:r>
            <a:r>
              <a:rPr lang="en-US" sz="1400" b="1" dirty="0"/>
              <a:t>[256]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Phase </a:t>
            </a:r>
            <a:r>
              <a:rPr lang="en-US" sz="1400" b="1" dirty="0"/>
              <a:t>[256]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NEX </a:t>
            </a:r>
            <a:r>
              <a:rPr lang="en-US" sz="1400" b="1" dirty="0"/>
              <a:t>[1]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Phase FOV 1.00 (default)</a:t>
            </a:r>
          </a:p>
          <a:p>
            <a:pPr>
              <a:buFont typeface="Arial" pitchFamily="34" charset="0"/>
              <a:buChar char="•"/>
            </a:pPr>
            <a:r>
              <a:rPr lang="en-US" sz="1400" dirty="0"/>
              <a:t>Freq Dir </a:t>
            </a:r>
            <a:r>
              <a:rPr lang="en-US" sz="1400" b="1" dirty="0"/>
              <a:t>[A/P]</a:t>
            </a:r>
            <a:endParaRPr lang="en-US" sz="1400" dirty="0"/>
          </a:p>
          <a:p>
            <a:pPr>
              <a:buFont typeface="Arial" pitchFamily="34" charset="0"/>
              <a:buChar char="•"/>
            </a:pPr>
            <a:r>
              <a:rPr lang="en-US" sz="1400" dirty="0"/>
              <a:t>Auto Center Freq </a:t>
            </a:r>
            <a:r>
              <a:rPr lang="en-US" sz="1400" b="1" dirty="0"/>
              <a:t>[Peak]</a:t>
            </a:r>
            <a:endParaRPr lang="en-US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Head SNR Procedure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8006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</a:t>
            </a:r>
            <a:r>
              <a:rPr lang="en-US" dirty="0" err="1"/>
              <a:t>pic</a:t>
            </a:r>
            <a:r>
              <a:rPr lang="en-US" dirty="0"/>
              <a:t> of Head TLT in the head coil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7400" y="1600200"/>
            <a:ext cx="3024546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Put the Head TLT phantom </a:t>
            </a:r>
          </a:p>
          <a:p>
            <a:r>
              <a:rPr lang="en-US" dirty="0"/>
              <a:t>in to the head coil at the </a:t>
            </a:r>
          </a:p>
          <a:p>
            <a:r>
              <a:rPr lang="en-US" dirty="0"/>
              <a:t>same spot that the DQA </a:t>
            </a:r>
          </a:p>
          <a:p>
            <a:r>
              <a:rPr lang="en-US" dirty="0"/>
              <a:t>phantom was.</a:t>
            </a:r>
          </a:p>
          <a:p>
            <a:endParaRPr lang="en-US" dirty="0"/>
          </a:p>
          <a:p>
            <a:r>
              <a:rPr lang="en-US" dirty="0"/>
              <a:t>Scan.  When the scan is done, </a:t>
            </a:r>
          </a:p>
          <a:p>
            <a:r>
              <a:rPr lang="en-US" dirty="0"/>
              <a:t>hit the Scan button again, do </a:t>
            </a:r>
          </a:p>
          <a:p>
            <a:r>
              <a:rPr lang="en-US" dirty="0"/>
              <a:t>not </a:t>
            </a:r>
            <a:r>
              <a:rPr lang="en-US" dirty="0" err="1"/>
              <a:t>autoprescan</a:t>
            </a:r>
            <a:r>
              <a:rPr lang="en-US" dirty="0"/>
              <a:t> or start a </a:t>
            </a:r>
          </a:p>
          <a:p>
            <a:r>
              <a:rPr lang="en-US" dirty="0"/>
              <a:t>new series.  You should have </a:t>
            </a:r>
          </a:p>
          <a:p>
            <a:r>
              <a:rPr lang="en-US" dirty="0"/>
              <a:t>2 images that look identical.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1" name="Content Placeholder 3" descr="Untitle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1600200"/>
            <a:ext cx="4038600" cy="2838450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Head SNR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990600"/>
            <a:ext cx="22366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the Tools Desktop,</a:t>
            </a:r>
          </a:p>
          <a:p>
            <a:r>
              <a:rPr lang="en-US" dirty="0"/>
              <a:t>select “Cal/Checks”</a:t>
            </a:r>
          </a:p>
          <a:p>
            <a:r>
              <a:rPr lang="en-US" dirty="0"/>
              <a:t>then “Image Quality </a:t>
            </a:r>
          </a:p>
          <a:p>
            <a:r>
              <a:rPr lang="en-US" dirty="0"/>
              <a:t>(NEMA)” to start the </a:t>
            </a:r>
          </a:p>
          <a:p>
            <a:r>
              <a:rPr lang="en-US" dirty="0"/>
              <a:t>tool.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34" y="990600"/>
            <a:ext cx="6644217" cy="4983163"/>
          </a:xfrm>
        </p:spPr>
      </p:pic>
      <p:sp>
        <p:nvSpPr>
          <p:cNvPr id="5" name="Oval 4"/>
          <p:cNvSpPr/>
          <p:nvPr/>
        </p:nvSpPr>
        <p:spPr>
          <a:xfrm>
            <a:off x="1447800" y="1524000"/>
            <a:ext cx="381000" cy="45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5400000">
            <a:off x="820093" y="1485900"/>
            <a:ext cx="304800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Head SNR Analysis Page 2</a:t>
            </a:r>
          </a:p>
        </p:txBody>
      </p:sp>
      <p:pic>
        <p:nvPicPr>
          <p:cNvPr id="4" name="Content Placeholder 3" descr="20151112_203141840_iOS.jpg"/>
          <p:cNvPicPr>
            <a:picLocks noGrp="1" noChangeAspect="1"/>
          </p:cNvPicPr>
          <p:nvPr>
            <p:ph idx="1"/>
          </p:nvPr>
        </p:nvPicPr>
        <p:blipFill rotWithShape="1">
          <a:blip r:embed="rId2" cstate="print"/>
          <a:srcRect l="24084" t="12233" r="10545" b="6722"/>
          <a:stretch/>
        </p:blipFill>
        <p:spPr>
          <a:xfrm>
            <a:off x="381000" y="1066800"/>
            <a:ext cx="4343401" cy="4038600"/>
          </a:xfrm>
        </p:spPr>
      </p:pic>
      <p:sp>
        <p:nvSpPr>
          <p:cNvPr id="5" name="TextBox 4"/>
          <p:cNvSpPr txBox="1"/>
          <p:nvPr/>
        </p:nvSpPr>
        <p:spPr>
          <a:xfrm>
            <a:off x="5094839" y="1752600"/>
            <a:ext cx="358139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option 1.</a:t>
            </a:r>
          </a:p>
          <a:p>
            <a:r>
              <a:rPr lang="en-US" dirty="0"/>
              <a:t>You will need to select the right information for image 1 and then select X for execute.  Then select the right information for image 2 and X for execute. It might ask you another question, use the default </a:t>
            </a:r>
          </a:p>
          <a:p>
            <a:r>
              <a:rPr lang="en-US" dirty="0"/>
              <a:t>value.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Head SNR Analysis Page 2</a:t>
            </a:r>
          </a:p>
        </p:txBody>
      </p:sp>
      <p:pic>
        <p:nvPicPr>
          <p:cNvPr id="4" name="Content Placeholder 3" descr="20151215_152154246_iOS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1383" y="838200"/>
            <a:ext cx="6644217" cy="4983163"/>
          </a:xfrm>
        </p:spPr>
      </p:pic>
      <p:sp>
        <p:nvSpPr>
          <p:cNvPr id="5" name="TextBox 4"/>
          <p:cNvSpPr txBox="1"/>
          <p:nvPr/>
        </p:nvSpPr>
        <p:spPr>
          <a:xfrm>
            <a:off x="6705600" y="1066800"/>
            <a:ext cx="249908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Record all 3 values.  </a:t>
            </a:r>
          </a:p>
          <a:p>
            <a:endParaRPr lang="en-US" dirty="0"/>
          </a:p>
          <a:p>
            <a:r>
              <a:rPr lang="en-US" dirty="0"/>
              <a:t>9.X is typically 80 to 100</a:t>
            </a:r>
          </a:p>
          <a:p>
            <a:endParaRPr lang="en-US" dirty="0"/>
          </a:p>
          <a:p>
            <a:r>
              <a:rPr lang="en-US" dirty="0"/>
              <a:t>11.X and above is </a:t>
            </a:r>
          </a:p>
          <a:p>
            <a:r>
              <a:rPr lang="en-US" dirty="0"/>
              <a:t>typically higher than 100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Body SNR </a:t>
            </a:r>
          </a:p>
        </p:txBody>
      </p:sp>
      <p:pic>
        <p:nvPicPr>
          <p:cNvPr id="4" name="Content Placeholder 3" descr="Untitled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1600200"/>
            <a:ext cx="4038600" cy="2838450"/>
          </a:xfrm>
        </p:spPr>
      </p:pic>
      <p:sp>
        <p:nvSpPr>
          <p:cNvPr id="5" name="TextBox 4"/>
          <p:cNvSpPr txBox="1"/>
          <p:nvPr/>
        </p:nvSpPr>
        <p:spPr>
          <a:xfrm>
            <a:off x="1371600" y="4953000"/>
            <a:ext cx="2527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Pic</a:t>
            </a:r>
            <a:r>
              <a:rPr lang="en-US" dirty="0"/>
              <a:t> of the Body TLT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0" y="1524000"/>
            <a:ext cx="26961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Body SNR is performed </a:t>
            </a:r>
          </a:p>
          <a:p>
            <a:r>
              <a:rPr lang="en-US" dirty="0"/>
              <a:t>the same way as the Head </a:t>
            </a:r>
          </a:p>
          <a:p>
            <a:r>
              <a:rPr lang="en-US" dirty="0"/>
              <a:t>but with the Body </a:t>
            </a:r>
          </a:p>
          <a:p>
            <a:r>
              <a:rPr lang="en-US" dirty="0"/>
              <a:t>Phantom.  Scan and </a:t>
            </a:r>
          </a:p>
          <a:p>
            <a:r>
              <a:rPr lang="en-US" dirty="0"/>
              <a:t>analyze with the head </a:t>
            </a:r>
          </a:p>
          <a:p>
            <a:r>
              <a:rPr lang="en-US" dirty="0"/>
              <a:t>instructions.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pPr algn="ctr"/>
            <a:r>
              <a:rPr lang="en-US" dirty="0"/>
              <a:t>Safety and Regulatory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0" y="990601"/>
            <a:ext cx="5867400" cy="434340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Check O2 Monitor Operation (if applicable)</a:t>
            </a:r>
          </a:p>
          <a:p>
            <a:r>
              <a:rPr lang="en-US" dirty="0"/>
              <a:t>Check Peripheral Pulse Gating Cable</a:t>
            </a:r>
          </a:p>
          <a:p>
            <a:r>
              <a:rPr lang="en-US" dirty="0"/>
              <a:t>Check Patient Pneumatic Alert System</a:t>
            </a:r>
          </a:p>
          <a:p>
            <a:r>
              <a:rPr lang="en-US" dirty="0"/>
              <a:t>Check RF Power Output</a:t>
            </a:r>
          </a:p>
          <a:p>
            <a:r>
              <a:rPr lang="en-US" dirty="0"/>
              <a:t>Check Emergency Release of Cradle</a:t>
            </a:r>
          </a:p>
          <a:p>
            <a:r>
              <a:rPr lang="en-US" dirty="0"/>
              <a:t>Check Emergency Release of Patient Transport</a:t>
            </a:r>
          </a:p>
          <a:p>
            <a:r>
              <a:rPr lang="en-US" dirty="0"/>
              <a:t>Check Patient Transport Casters</a:t>
            </a:r>
          </a:p>
          <a:p>
            <a:r>
              <a:rPr lang="en-US" dirty="0"/>
              <a:t>Check Patient </a:t>
            </a:r>
            <a:r>
              <a:rPr lang="en-US" dirty="0" err="1"/>
              <a:t>Armboard</a:t>
            </a:r>
            <a:r>
              <a:rPr lang="en-US" dirty="0"/>
              <a:t> Setscrews</a:t>
            </a:r>
          </a:p>
          <a:p>
            <a:r>
              <a:rPr lang="en-US" dirty="0"/>
              <a:t>Verify That Cradle Must Be At Home To Lower Table</a:t>
            </a:r>
          </a:p>
          <a:p>
            <a:r>
              <a:rPr lang="en-US" dirty="0"/>
              <a:t>Check Cradle Longitudinal Drive Clutch</a:t>
            </a:r>
          </a:p>
          <a:p>
            <a:r>
              <a:rPr lang="en-US" dirty="0"/>
              <a:t>Check All Cradle and Carriage Wheels</a:t>
            </a:r>
          </a:p>
          <a:p>
            <a:r>
              <a:rPr lang="en-US" dirty="0"/>
              <a:t>Check Emergency Off Circuits</a:t>
            </a:r>
          </a:p>
          <a:p>
            <a:r>
              <a:rPr lang="en-US" dirty="0"/>
              <a:t>Check Power Monitor Functional Test</a:t>
            </a:r>
          </a:p>
          <a:p>
            <a:r>
              <a:rPr lang="en-US" dirty="0"/>
              <a:t>Check Magnet Run Down Unit (ERU, MRU)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81000" y="914400"/>
            <a:ext cx="3886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Not Applicable</a:t>
            </a:r>
          </a:p>
          <a:p>
            <a:pPr algn="r"/>
            <a:r>
              <a:rPr lang="en-US" sz="2000" dirty="0"/>
              <a:t>Under System Level Procedures</a:t>
            </a:r>
          </a:p>
          <a:p>
            <a:pPr algn="r"/>
            <a:r>
              <a:rPr lang="en-US" sz="2000" dirty="0"/>
              <a:t>Squeeze the Patient alert bulb</a:t>
            </a:r>
          </a:p>
          <a:p>
            <a:pPr algn="r"/>
            <a:r>
              <a:rPr lang="en-US" sz="2000" dirty="0"/>
              <a:t>TG Values written down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System Level Procedures</a:t>
            </a:r>
          </a:p>
          <a:p>
            <a:pPr algn="r"/>
            <a:r>
              <a:rPr lang="en-US" sz="2000" dirty="0"/>
              <a:t>Under RF Cabinet, Select yours</a:t>
            </a:r>
          </a:p>
          <a:p>
            <a:pPr algn="r"/>
            <a:r>
              <a:rPr lang="en-US" sz="2000" dirty="0"/>
              <a:t>See GE MRI </a:t>
            </a:r>
            <a:r>
              <a:rPr lang="en-US" sz="2000" dirty="0" err="1"/>
              <a:t>Signa</a:t>
            </a:r>
            <a:r>
              <a:rPr lang="en-US" sz="2000" dirty="0"/>
              <a:t> LX training PPT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pPr algn="ctr"/>
            <a:r>
              <a:rPr lang="en-US" dirty="0"/>
              <a:t>Other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5200" y="914400"/>
            <a:ext cx="5791200" cy="12954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2000" dirty="0"/>
              <a:t>Check Gradient Coil Cooling Unit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Check Dock Pedal Springs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Check Patient Transport Hydraulic Fluid Level 	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Check Patient Alignment Lights 	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81000" y="914400"/>
            <a:ext cx="38862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Under Blowers and Chillers  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Patient Table</a:t>
            </a:r>
          </a:p>
          <a:p>
            <a:pPr algn="r"/>
            <a:r>
              <a:rPr lang="en-US" sz="2000" dirty="0"/>
              <a:t>Under Magnet Enclosures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</a:pPr>
            <a:r>
              <a:rPr lang="en-US" dirty="0"/>
              <a:t>Delete Error Log and Remove Excess "core"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Delete the Error Log:</a:t>
            </a:r>
          </a:p>
          <a:p>
            <a:pPr lvl="1"/>
            <a:r>
              <a:rPr lang="en-US" dirty="0"/>
              <a:t>In a c-shell type </a:t>
            </a:r>
            <a:r>
              <a:rPr lang="en-US" dirty="0" err="1"/>
              <a:t>storelog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Remove core files:</a:t>
            </a:r>
          </a:p>
          <a:p>
            <a:pPr>
              <a:buNone/>
            </a:pPr>
            <a:r>
              <a:rPr lang="en-US" dirty="0"/>
              <a:t>In a c-shell type </a:t>
            </a:r>
            <a:r>
              <a:rPr lang="en-US" dirty="0" err="1"/>
              <a:t>cd</a:t>
            </a:r>
            <a:r>
              <a:rPr lang="en-US" dirty="0"/>
              <a:t> /</a:t>
            </a:r>
            <a:r>
              <a:rPr lang="en-US" dirty="0" err="1"/>
              <a:t>usr</a:t>
            </a:r>
            <a:r>
              <a:rPr lang="en-US" dirty="0"/>
              <a:t>/g/service/log &lt;enter&gt;</a:t>
            </a:r>
          </a:p>
          <a:p>
            <a:pPr>
              <a:buNone/>
            </a:pPr>
            <a:r>
              <a:rPr lang="en-US" dirty="0"/>
              <a:t>Type </a:t>
            </a:r>
            <a:r>
              <a:rPr lang="en-US" dirty="0" err="1"/>
              <a:t>rm</a:t>
            </a:r>
            <a:r>
              <a:rPr lang="en-US" dirty="0"/>
              <a:t> –</a:t>
            </a:r>
            <a:r>
              <a:rPr lang="en-US" dirty="0" err="1"/>
              <a:t>rf</a:t>
            </a:r>
            <a:r>
              <a:rPr lang="en-US" dirty="0"/>
              <a:t> *core*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Run IPG, CERD and MECAM Diagnostics</a:t>
            </a:r>
          </a:p>
        </p:txBody>
      </p:sp>
      <p:pic>
        <p:nvPicPr>
          <p:cNvPr id="4" name="Content Placeholder 3" descr="IMG_267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" y="914400"/>
            <a:ext cx="6644217" cy="4983163"/>
          </a:xfrm>
        </p:spPr>
      </p:pic>
      <p:sp>
        <p:nvSpPr>
          <p:cNvPr id="6" name="TextBox 5"/>
          <p:cNvSpPr txBox="1"/>
          <p:nvPr/>
        </p:nvSpPr>
        <p:spPr>
          <a:xfrm>
            <a:off x="6860067" y="914400"/>
            <a:ext cx="240521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Select the Tools page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Select “Diagnostics”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Run all diagnostic tests</a:t>
            </a:r>
          </a:p>
          <a:p>
            <a:r>
              <a:rPr lang="en-US" dirty="0"/>
              <a:t>  under CERD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Run all “MDS” and </a:t>
            </a:r>
          </a:p>
          <a:p>
            <a:r>
              <a:rPr lang="en-US" dirty="0"/>
              <a:t>  “BLD” under IPG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Run all under </a:t>
            </a:r>
          </a:p>
          <a:p>
            <a:r>
              <a:rPr lang="en-US" dirty="0"/>
              <a:t>  “MEDCAM”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Image Database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876800" y="1067593"/>
            <a:ext cx="4247584" cy="498316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If you are having patient browser issues or regularly on 9x.</a:t>
            </a:r>
          </a:p>
          <a:p>
            <a:r>
              <a:rPr lang="en-US" dirty="0"/>
              <a:t>Delete all browser patient images (make sure to communicate with your customer you are going to delete all the studies, no way to recover them after)</a:t>
            </a:r>
          </a:p>
          <a:p>
            <a:r>
              <a:rPr lang="en-US" dirty="0"/>
              <a:t>Restart system and log in as “root”, password “operator” and prompt.</a:t>
            </a:r>
          </a:p>
          <a:p>
            <a:r>
              <a:rPr lang="en-US" dirty="0"/>
              <a:t>When asked if you want to invoke the Guided Install say yes.</a:t>
            </a:r>
          </a:p>
          <a:p>
            <a:r>
              <a:rPr lang="en-US" dirty="0"/>
              <a:t>Navigate to the Reset Image/Error DB tab and hit “Reset Image Database”.</a:t>
            </a:r>
          </a:p>
          <a:p>
            <a:r>
              <a:rPr lang="en-US" dirty="0"/>
              <a:t>If the browser was empty should just take a few minutes. If you forget to empty the browser you’ll wait for hours.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3" t="11111" r="35000" b="22222"/>
          <a:stretch/>
        </p:blipFill>
        <p:spPr>
          <a:xfrm>
            <a:off x="774826" y="1067593"/>
            <a:ext cx="3810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188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9144000" cy="685800"/>
          </a:xfrm>
        </p:spPr>
        <p:txBody>
          <a:bodyPr/>
          <a:lstStyle/>
          <a:p>
            <a:pPr algn="ctr"/>
            <a:r>
              <a:rPr lang="en-US" dirty="0"/>
              <a:t>Magnet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3800" y="914400"/>
            <a:ext cx="5334000" cy="19812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 sz="2000" dirty="0"/>
              <a:t>Record Magnet Pressure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/>
          </a:p>
          <a:p>
            <a:pPr marL="0" indent="0">
              <a:spcBef>
                <a:spcPts val="0"/>
              </a:spcBef>
            </a:pPr>
            <a:r>
              <a:rPr lang="en-US" sz="2000" dirty="0"/>
              <a:t>Record Shield Cooler Hours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Calculate Lost Hours of Shield Cooler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Record Helium Level</a:t>
            </a:r>
          </a:p>
          <a:p>
            <a:pPr marL="0" indent="0">
              <a:spcBef>
                <a:spcPts val="0"/>
              </a:spcBef>
            </a:pPr>
            <a:r>
              <a:rPr lang="en-US" sz="2000" dirty="0"/>
              <a:t>Record Static Shield Cooler Compressor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914400"/>
            <a:ext cx="365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Check the gauge on the magnet and the Magnet Monitor</a:t>
            </a:r>
          </a:p>
          <a:p>
            <a:pPr algn="r"/>
            <a:r>
              <a:rPr lang="en-US" sz="2000" dirty="0"/>
              <a:t>On the front of the Shield Cooler</a:t>
            </a:r>
          </a:p>
          <a:p>
            <a:pPr algn="r"/>
            <a:r>
              <a:rPr lang="en-US" sz="2000" dirty="0"/>
              <a:t>See below</a:t>
            </a:r>
          </a:p>
          <a:p>
            <a:pPr algn="r"/>
            <a:r>
              <a:rPr lang="en-US" sz="2000" dirty="0"/>
              <a:t>On the Magnet Monitor</a:t>
            </a:r>
          </a:p>
          <a:p>
            <a:pPr algn="r"/>
            <a:r>
              <a:rPr lang="en-US" sz="2000" dirty="0"/>
              <a:t>Gauge on the Shield Cooler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0" y="3048000"/>
            <a:ext cx="91440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Calculate Lost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Hours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3400" y="3733800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the hours you recorded on the last PM and subtract them from the hours on this PM.  That will give you a total minutes lost.  Divide by 60 to get the total hours.  If there has been a helium loss since the last PM, this could account for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2800" y="609600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values get recorded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6FCAC1-F539-4436-A8D9-9E19D1673FCA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4072</TotalTime>
  <Words>2584</Words>
  <Application>Microsoft Office PowerPoint</Application>
  <PresentationFormat>On-screen Show (4:3)</PresentationFormat>
  <Paragraphs>493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Calibri</vt:lpstr>
      <vt:lpstr>Wingdings</vt:lpstr>
      <vt:lpstr>Office Theme</vt:lpstr>
      <vt:lpstr>PowerPoint Presentation</vt:lpstr>
      <vt:lpstr>Basic GE MR PM Procedure 9.x – 12.x</vt:lpstr>
      <vt:lpstr>First Things First</vt:lpstr>
      <vt:lpstr>Save Info/GI</vt:lpstr>
      <vt:lpstr>Save Info Page 2</vt:lpstr>
      <vt:lpstr>Save Info Page 3</vt:lpstr>
      <vt:lpstr>Save Info Page 4</vt:lpstr>
      <vt:lpstr>System Scanning</vt:lpstr>
      <vt:lpstr>Exam Setup</vt:lpstr>
      <vt:lpstr>LV Shim Protocol</vt:lpstr>
      <vt:lpstr>LV Shim Phantom Setup</vt:lpstr>
      <vt:lpstr>LV Shim Sample Images</vt:lpstr>
      <vt:lpstr>LV Shim Analysis</vt:lpstr>
      <vt:lpstr>LV Shim Analysis Page 2</vt:lpstr>
      <vt:lpstr>LV Shim Analysis Page 3</vt:lpstr>
      <vt:lpstr>LV Shim Analysis Page 4</vt:lpstr>
      <vt:lpstr>DQA Z ISO Procedure</vt:lpstr>
      <vt:lpstr>DQA Z ISO Protocol</vt:lpstr>
      <vt:lpstr>DQA Z ISO</vt:lpstr>
      <vt:lpstr>QA Z ISO Page 2</vt:lpstr>
      <vt:lpstr>DQA Z ISO Page 3</vt:lpstr>
      <vt:lpstr>DQA Z ISO Page 3</vt:lpstr>
      <vt:lpstr>Gradient Calibration (Grad Cal)</vt:lpstr>
      <vt:lpstr>Grad Cal Protocols</vt:lpstr>
      <vt:lpstr>Grad Cal Procedure</vt:lpstr>
      <vt:lpstr>Grad Cal Procedure Page 2</vt:lpstr>
      <vt:lpstr>Head and Body SNR</vt:lpstr>
      <vt:lpstr>Head and Body SNR Protocol</vt:lpstr>
      <vt:lpstr>Head SNR Procedure</vt:lpstr>
      <vt:lpstr>Head SNR Analysis</vt:lpstr>
      <vt:lpstr>Head SNR Analysis Page 2</vt:lpstr>
      <vt:lpstr>Head SNR Analysis Page 2</vt:lpstr>
      <vt:lpstr>Body SNR </vt:lpstr>
      <vt:lpstr>Safety and Regulatory Checks</vt:lpstr>
      <vt:lpstr>Other Checks</vt:lpstr>
      <vt:lpstr>Delete Error Log and Remove Excess "core" Files</vt:lpstr>
      <vt:lpstr>Run IPG, CERD and MECAM Diagnostics</vt:lpstr>
      <vt:lpstr>Image Database</vt:lpstr>
      <vt:lpstr>Magnet Checks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alicia.bostic</dc:creator>
  <cp:lastModifiedBy>Mike J</cp:lastModifiedBy>
  <cp:revision>120</cp:revision>
  <dcterms:created xsi:type="dcterms:W3CDTF">2013-11-14T01:22:54Z</dcterms:created>
  <dcterms:modified xsi:type="dcterms:W3CDTF">2024-05-15T16:47:05Z</dcterms:modified>
</cp:coreProperties>
</file>