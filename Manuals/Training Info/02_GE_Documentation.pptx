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69" r:id="rId2"/>
    <p:sldId id="270" r:id="rId3"/>
    <p:sldId id="268"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4" r:id="rId27"/>
    <p:sldId id="295" r:id="rId28"/>
    <p:sldId id="293" r:id="rId29"/>
    <p:sldId id="296" r:id="rId30"/>
    <p:sldId id="297" r:id="rId31"/>
    <p:sldId id="298" r:id="rId32"/>
    <p:sldId id="299" r:id="rId33"/>
    <p:sldId id="300" r:id="rId34"/>
    <p:sldId id="301" r:id="rId35"/>
    <p:sldId id="302" r:id="rId36"/>
    <p:sldId id="303" r:id="rId37"/>
    <p:sldId id="304" r:id="rId38"/>
    <p:sldId id="305" r:id="rId39"/>
    <p:sldId id="257"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52" autoAdjust="0"/>
  </p:normalViewPr>
  <p:slideViewPr>
    <p:cSldViewPr>
      <p:cViewPr varScale="1">
        <p:scale>
          <a:sx n="72" d="100"/>
          <a:sy n="72" d="100"/>
        </p:scale>
        <p:origin x="-1920"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theme" Target="theme/theme1.xml"/><Relationship Id="rId47"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printerSettings" Target="printerSettings/printerSettings1.bin"/><Relationship Id="rId44" Type="http://schemas.openxmlformats.org/officeDocument/2006/relationships/presProps" Target="presProps.xml"/><Relationship Id="rId4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E75BAAF-8469-3841-8BC2-1CA227C6E064}" type="datetimeFigureOut">
              <a:rPr lang="en-US" smtClean="0"/>
              <a:t>1/9/17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4860602-7664-FD44-AB70-F7D32CA14192}" type="slidenum">
              <a:rPr lang="en-US" smtClean="0"/>
              <a:t>‹#›</a:t>
            </a:fld>
            <a:endParaRPr lang="en-US"/>
          </a:p>
        </p:txBody>
      </p:sp>
    </p:spTree>
    <p:extLst>
      <p:ext uri="{BB962C8B-B14F-4D97-AF65-F5344CB8AC3E}">
        <p14:creationId xmlns:p14="http://schemas.microsoft.com/office/powerpoint/2010/main" val="14001462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C8F450-DE6C-4663-AAB7-BE98778311CB}" type="datetimeFigureOut">
              <a:rPr lang="en-US" smtClean="0"/>
              <a:pPr/>
              <a:t>1/9/17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6DC5DB-33AA-4ACF-912B-D8E7E874F07B}" type="slidenum">
              <a:rPr lang="en-US" smtClean="0"/>
              <a:pPr/>
              <a:t>‹#›</a:t>
            </a:fld>
            <a:endParaRPr lang="en-US"/>
          </a:p>
        </p:txBody>
      </p:sp>
    </p:spTree>
    <p:extLst>
      <p:ext uri="{BB962C8B-B14F-4D97-AF65-F5344CB8AC3E}">
        <p14:creationId xmlns:p14="http://schemas.microsoft.com/office/powerpoint/2010/main" val="86584343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26DC5DB-33AA-4ACF-912B-D8E7E874F07B}"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p:txBody>
          <a:bodyPr/>
          <a:lstStyle/>
          <a:p>
            <a:r>
              <a:rPr lang="en-US" smtClean="0"/>
              <a:t>Created by Ruben Beltran Rev1 01Sep2016</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Created by Ruben Beltran Rev1 01Sep2016</a:t>
            </a: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smtClean="0"/>
              <a:t>Created by Ruben Beltran Rev1 01Sep2016</a:t>
            </a: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smtClean="0"/>
              <a:t>Created by Ruben Beltran Rev1 01Sep2016</a:t>
            </a: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Created by Ruben Beltran Rev1 01Sep2016</a:t>
            </a: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smtClean="0"/>
              <a:t>Created by Ruben Beltran Rev1 01Sep2016</a:t>
            </a: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96FCAC1-F539-4436-A8D9-9E19D1673FC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685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52400" y="990600"/>
            <a:ext cx="8839200" cy="49831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Created by Ruben Beltran Rev1 01Sep2016</a:t>
            </a:r>
            <a:endParaRPr lang="en-US"/>
          </a:p>
        </p:txBody>
      </p:sp>
      <p:pic>
        <p:nvPicPr>
          <p:cNvPr id="8" name="Picture 7" descr="RETHINK.png"/>
          <p:cNvPicPr>
            <a:picLocks noChangeAspect="1"/>
          </p:cNvPicPr>
          <p:nvPr userDrawn="1"/>
        </p:nvPicPr>
        <p:blipFill>
          <a:blip r:embed="rId13" cstate="print"/>
          <a:stretch>
            <a:fillRect/>
          </a:stretch>
        </p:blipFill>
        <p:spPr>
          <a:xfrm>
            <a:off x="76199" y="6360651"/>
            <a:ext cx="2895601" cy="456675"/>
          </a:xfrm>
          <a:prstGeom prst="rect">
            <a:avLst/>
          </a:prstGeom>
        </p:spPr>
      </p:pic>
      <p:pic>
        <p:nvPicPr>
          <p:cNvPr id="9" name="Picture 8" descr="BC logo 2014.png"/>
          <p:cNvPicPr>
            <a:picLocks noChangeAspect="1"/>
          </p:cNvPicPr>
          <p:nvPr userDrawn="1"/>
        </p:nvPicPr>
        <p:blipFill>
          <a:blip r:embed="rId14" cstate="print"/>
          <a:stretch>
            <a:fillRect/>
          </a:stretch>
        </p:blipFill>
        <p:spPr>
          <a:xfrm>
            <a:off x="6934200" y="6264695"/>
            <a:ext cx="2023699" cy="59330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hyperlink" Target="http://www3.gehealthcare.com/en/suppor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3.gehealthcare.com/en/support/site_planning" TargetMode="Externa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3.gehealthcare.com/en/support/support_documentation_library" TargetMode="Externa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apps.gehealthcare.com/servlet/ClientServlet?REQ=RNEW&amp;MODALITY=MR" TargetMode="Externa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10400" y="6211669"/>
            <a:ext cx="2133600" cy="646331"/>
          </a:xfrm>
          <a:prstGeom prst="rect">
            <a:avLst/>
          </a:prstGeom>
          <a:solidFill>
            <a:schemeClr val="bg1"/>
          </a:solidFill>
        </p:spPr>
        <p:txBody>
          <a:bodyPr wrap="square" rtlCol="0">
            <a:spAutoFit/>
          </a:bodyPr>
          <a:lstStyle/>
          <a:p>
            <a:endParaRPr lang="en-US" dirty="0" smtClean="0"/>
          </a:p>
          <a:p>
            <a:endParaRPr lang="en-US" dirty="0"/>
          </a:p>
        </p:txBody>
      </p:sp>
      <p:sp>
        <p:nvSpPr>
          <p:cNvPr id="4" name="TextBox 3"/>
          <p:cNvSpPr txBox="1"/>
          <p:nvPr/>
        </p:nvSpPr>
        <p:spPr>
          <a:xfrm>
            <a:off x="4572000" y="76200"/>
            <a:ext cx="4572000" cy="861774"/>
          </a:xfrm>
          <a:prstGeom prst="rect">
            <a:avLst/>
          </a:prstGeom>
          <a:noFill/>
        </p:spPr>
        <p:txBody>
          <a:bodyPr wrap="square" rtlCol="0">
            <a:spAutoFit/>
          </a:bodyPr>
          <a:lstStyle/>
          <a:p>
            <a:r>
              <a:rPr lang="en-US" sz="3200" b="1" dirty="0">
                <a:solidFill>
                  <a:schemeClr val="bg1"/>
                </a:solidFill>
              </a:rPr>
              <a:t>2014 Leadership Meeting</a:t>
            </a:r>
          </a:p>
          <a:p>
            <a:endParaRPr lang="en-US" dirty="0"/>
          </a:p>
        </p:txBody>
      </p:sp>
      <p:pic>
        <p:nvPicPr>
          <p:cNvPr id="7" name="Picture 6" descr="BC logo 2014.png"/>
          <p:cNvPicPr>
            <a:picLocks noChangeAspect="1"/>
          </p:cNvPicPr>
          <p:nvPr/>
        </p:nvPicPr>
        <p:blipFill>
          <a:blip r:embed="rId3" cstate="print"/>
          <a:stretch>
            <a:fillRect/>
          </a:stretch>
        </p:blipFill>
        <p:spPr>
          <a:xfrm>
            <a:off x="0" y="0"/>
            <a:ext cx="4199797" cy="1231290"/>
          </a:xfrm>
          <a:prstGeom prst="rect">
            <a:avLst/>
          </a:prstGeom>
        </p:spPr>
      </p:pic>
      <p:sp>
        <p:nvSpPr>
          <p:cNvPr id="5" name="Title 1"/>
          <p:cNvSpPr>
            <a:spLocks noGrp="1"/>
          </p:cNvSpPr>
          <p:nvPr>
            <p:ph type="ctrTitle"/>
          </p:nvPr>
        </p:nvSpPr>
        <p:spPr>
          <a:xfrm>
            <a:off x="685800" y="2130425"/>
            <a:ext cx="7772400" cy="1470025"/>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ctr"/>
            <a:r>
              <a:rPr lang="en-US" sz="4400" b="1" dirty="0" smtClean="0">
                <a:solidFill>
                  <a:srgbClr val="0070C0"/>
                </a:solidFill>
                <a:latin typeface="Arial Rounded MT Bold" panose="020F0704030504030204" pitchFamily="34" charset="0"/>
              </a:rPr>
              <a:t>GE DOCUMENTATION</a:t>
            </a:r>
            <a:endParaRPr lang="en-US" sz="4400" b="1" dirty="0">
              <a:solidFill>
                <a:srgbClr val="0070C0"/>
              </a:solidFill>
              <a:latin typeface="Arial Rounded MT Bold" panose="020F0704030504030204" pitchFamily="34" charset="0"/>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dirty="0"/>
          </a:p>
        </p:txBody>
      </p:sp>
    </p:spTree>
    <p:extLst>
      <p:ext uri="{BB962C8B-B14F-4D97-AF65-F5344CB8AC3E}">
        <p14:creationId xmlns:p14="http://schemas.microsoft.com/office/powerpoint/2010/main" val="430488576"/>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accent1">
                    <a:lumMod val="75000"/>
                  </a:schemeClr>
                </a:solidFill>
              </a:rPr>
              <a:t>Objectives:</a:t>
            </a:r>
            <a:endParaRPr lang="en-US" dirty="0">
              <a:solidFill>
                <a:schemeClr val="accent1">
                  <a:lumMod val="75000"/>
                </a:schemeClr>
              </a:solidFill>
            </a:endParaRPr>
          </a:p>
        </p:txBody>
      </p:sp>
      <p:sp>
        <p:nvSpPr>
          <p:cNvPr id="3" name="Content Placeholder 2"/>
          <p:cNvSpPr>
            <a:spLocks noGrp="1"/>
          </p:cNvSpPr>
          <p:nvPr>
            <p:ph idx="1"/>
          </p:nvPr>
        </p:nvSpPr>
        <p:spPr/>
        <p:txBody>
          <a:bodyPr/>
          <a:lstStyle/>
          <a:p>
            <a:r>
              <a:rPr lang="en-US" dirty="0" smtClean="0">
                <a:solidFill>
                  <a:schemeClr val="tx2">
                    <a:lumMod val="60000"/>
                    <a:lumOff val="40000"/>
                  </a:schemeClr>
                </a:solidFill>
              </a:rPr>
              <a:t>To be able to locate and download GE documentation into your PC</a:t>
            </a:r>
          </a:p>
          <a:p>
            <a:r>
              <a:rPr lang="en-US" dirty="0" smtClean="0">
                <a:solidFill>
                  <a:schemeClr val="tx2">
                    <a:lumMod val="60000"/>
                    <a:lumOff val="40000"/>
                  </a:schemeClr>
                </a:solidFill>
              </a:rPr>
              <a:t>Understand how GE documents are organized and how to look for information</a:t>
            </a:r>
          </a:p>
          <a:p>
            <a:r>
              <a:rPr lang="en-US" dirty="0" smtClean="0">
                <a:solidFill>
                  <a:schemeClr val="tx2">
                    <a:lumMod val="60000"/>
                    <a:lumOff val="40000"/>
                  </a:schemeClr>
                </a:solidFill>
              </a:rPr>
              <a:t>Learn how to find the acronyms list</a:t>
            </a:r>
          </a:p>
          <a:p>
            <a:r>
              <a:rPr lang="en-US" dirty="0" smtClean="0">
                <a:solidFill>
                  <a:schemeClr val="tx2">
                    <a:lumMod val="60000"/>
                    <a:lumOff val="40000"/>
                  </a:schemeClr>
                </a:solidFill>
              </a:rPr>
              <a:t>Become familiar with the parts manual</a:t>
            </a:r>
          </a:p>
          <a:p>
            <a:r>
              <a:rPr lang="en-US" dirty="0" smtClean="0">
                <a:solidFill>
                  <a:schemeClr val="tx2">
                    <a:lumMod val="60000"/>
                    <a:lumOff val="40000"/>
                  </a:schemeClr>
                </a:solidFill>
              </a:rPr>
              <a:t>To gain a basic knowledge of the magnet documentation</a:t>
            </a:r>
            <a:endParaRPr lang="en-US" dirty="0">
              <a:solidFill>
                <a:schemeClr val="tx2">
                  <a:lumMod val="60000"/>
                  <a:lumOff val="40000"/>
                </a:schemeClr>
              </a:solidFill>
            </a:endParaRPr>
          </a:p>
        </p:txBody>
      </p:sp>
      <p:sp>
        <p:nvSpPr>
          <p:cNvPr id="4" name="Footer Placeholder 3"/>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2</a:t>
            </a:fld>
            <a:endParaRPr lang="en-US"/>
          </a:p>
        </p:txBody>
      </p:sp>
    </p:spTree>
    <p:extLst>
      <p:ext uri="{BB962C8B-B14F-4D97-AF65-F5344CB8AC3E}">
        <p14:creationId xmlns:p14="http://schemas.microsoft.com/office/powerpoint/2010/main" val="1931629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1">
                    <a:lumMod val="75000"/>
                  </a:schemeClr>
                </a:solidFill>
              </a:rPr>
              <a:t>GE support website</a:t>
            </a:r>
            <a:endParaRPr lang="en-US" dirty="0">
              <a:solidFill>
                <a:schemeClr val="accent1">
                  <a:lumMod val="75000"/>
                </a:schemeClr>
              </a:solidFill>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219200"/>
            <a:ext cx="7455877"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407951" y="762000"/>
            <a:ext cx="4316374" cy="369332"/>
          </a:xfrm>
          <a:prstGeom prst="rect">
            <a:avLst/>
          </a:prstGeom>
        </p:spPr>
        <p:txBody>
          <a:bodyPr wrap="none">
            <a:spAutoFit/>
          </a:bodyPr>
          <a:lstStyle/>
          <a:p>
            <a:r>
              <a:rPr lang="en-US" dirty="0">
                <a:hlinkClick r:id="rId3"/>
              </a:rPr>
              <a:t>http://www3.gehealthcare.com/en/support</a:t>
            </a:r>
            <a:endParaRPr lang="en-US" dirty="0"/>
          </a:p>
        </p:txBody>
      </p:sp>
      <p:sp>
        <p:nvSpPr>
          <p:cNvPr id="3" name="Footer Placeholder 2"/>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3</a:t>
            </a:fld>
            <a:endParaRPr lang="en-US"/>
          </a:p>
        </p:txBody>
      </p:sp>
    </p:spTree>
    <p:extLst>
      <p:ext uri="{BB962C8B-B14F-4D97-AF65-F5344CB8AC3E}">
        <p14:creationId xmlns:p14="http://schemas.microsoft.com/office/powerpoint/2010/main" val="184535323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75000"/>
                  </a:schemeClr>
                </a:solidFill>
              </a:rPr>
              <a:t>Pre-installation Manuals</a:t>
            </a:r>
            <a:endParaRPr lang="en-US" dirty="0">
              <a:solidFill>
                <a:schemeClr val="accent1">
                  <a:lumMod val="75000"/>
                </a:schemeClr>
              </a:solidFill>
            </a:endParaRPr>
          </a:p>
        </p:txBody>
      </p:sp>
      <p:sp>
        <p:nvSpPr>
          <p:cNvPr id="3" name="Content Placeholder 2"/>
          <p:cNvSpPr>
            <a:spLocks noGrp="1"/>
          </p:cNvSpPr>
          <p:nvPr>
            <p:ph idx="1"/>
          </p:nvPr>
        </p:nvSpPr>
        <p:spPr>
          <a:xfrm>
            <a:off x="152400" y="990601"/>
            <a:ext cx="8839200" cy="1219200"/>
          </a:xfrm>
        </p:spPr>
        <p:txBody>
          <a:bodyPr/>
          <a:lstStyle/>
          <a:p>
            <a:pPr marL="0" indent="0">
              <a:buNone/>
            </a:pPr>
            <a:r>
              <a:rPr lang="en-US" dirty="0" smtClean="0">
                <a:solidFill>
                  <a:schemeClr val="tx2">
                    <a:lumMod val="60000"/>
                    <a:lumOff val="40000"/>
                  </a:schemeClr>
                </a:solidFill>
              </a:rPr>
              <a:t>Selecting the site planning we can find all the manuals for installation and facility requirements.</a:t>
            </a:r>
            <a:endParaRPr lang="en-US" dirty="0">
              <a:solidFill>
                <a:schemeClr val="tx2">
                  <a:lumMod val="60000"/>
                  <a:lumOff val="40000"/>
                </a:schemeClr>
              </a:solidFill>
            </a:endParaRPr>
          </a:p>
        </p:txBody>
      </p:sp>
      <p:pic>
        <p:nvPicPr>
          <p:cNvPr id="2050" name="Picture 2">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157" t="22263" r="24804" b="32012"/>
          <a:stretch/>
        </p:blipFill>
        <p:spPr bwMode="auto">
          <a:xfrm>
            <a:off x="2133600" y="2133600"/>
            <a:ext cx="4365812" cy="385648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ooter Placeholder 3"/>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4</a:t>
            </a:fld>
            <a:endParaRPr lang="en-US"/>
          </a:p>
        </p:txBody>
      </p:sp>
    </p:spTree>
    <p:extLst>
      <p:ext uri="{BB962C8B-B14F-4D97-AF65-F5344CB8AC3E}">
        <p14:creationId xmlns:p14="http://schemas.microsoft.com/office/powerpoint/2010/main" val="2090312100"/>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761999"/>
          </a:xfrm>
        </p:spPr>
        <p:txBody>
          <a:bodyPr>
            <a:normAutofit fontScale="70000" lnSpcReduction="20000"/>
          </a:bodyPr>
          <a:lstStyle/>
          <a:p>
            <a:r>
              <a:rPr lang="en-US" dirty="0" smtClean="0">
                <a:solidFill>
                  <a:schemeClr val="tx2">
                    <a:lumMod val="60000"/>
                    <a:lumOff val="40000"/>
                  </a:schemeClr>
                </a:solidFill>
              </a:rPr>
              <a:t>Click in the Magnetic Resonance section to unfold the list of MR systems. </a:t>
            </a:r>
          </a:p>
          <a:p>
            <a:r>
              <a:rPr lang="en-US" dirty="0" smtClean="0">
                <a:solidFill>
                  <a:schemeClr val="tx2">
                    <a:lumMod val="60000"/>
                    <a:lumOff val="40000"/>
                  </a:schemeClr>
                </a:solidFill>
              </a:rPr>
              <a:t>Click on the desired manual</a:t>
            </a:r>
            <a:endParaRPr lang="en-US" dirty="0">
              <a:solidFill>
                <a:schemeClr val="tx2">
                  <a:lumMod val="60000"/>
                  <a:lumOff val="40000"/>
                </a:schemeClr>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676400"/>
            <a:ext cx="8423031" cy="456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p:txBody>
          <a:bodyPr/>
          <a:lstStyle/>
          <a:p>
            <a:r>
              <a:rPr lang="en-US" dirty="0" smtClean="0">
                <a:solidFill>
                  <a:schemeClr val="accent1">
                    <a:lumMod val="75000"/>
                  </a:schemeClr>
                </a:solidFill>
              </a:rPr>
              <a:t>Pre-installation Manuals</a:t>
            </a:r>
            <a:endParaRPr lang="en-US" dirty="0">
              <a:solidFill>
                <a:schemeClr val="accent1">
                  <a:lumMod val="75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5</a:t>
            </a:fld>
            <a:endParaRPr lang="en-US"/>
          </a:p>
        </p:txBody>
      </p:sp>
    </p:spTree>
    <p:extLst>
      <p:ext uri="{BB962C8B-B14F-4D97-AF65-F5344CB8AC3E}">
        <p14:creationId xmlns:p14="http://schemas.microsoft.com/office/powerpoint/2010/main" val="276290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371599"/>
          </a:xfrm>
        </p:spPr>
        <p:txBody>
          <a:bodyPr>
            <a:normAutofit fontScale="70000" lnSpcReduction="20000"/>
          </a:bodyPr>
          <a:lstStyle/>
          <a:p>
            <a:r>
              <a:rPr lang="en-US" dirty="0" smtClean="0">
                <a:solidFill>
                  <a:schemeClr val="tx2">
                    <a:lumMod val="60000"/>
                    <a:lumOff val="40000"/>
                  </a:schemeClr>
                </a:solidFill>
              </a:rPr>
              <a:t>Select a folder to save the download or it might download to a default folder depending on the browser you are using and configuration.</a:t>
            </a:r>
          </a:p>
          <a:p>
            <a:r>
              <a:rPr lang="en-US" dirty="0" smtClean="0">
                <a:solidFill>
                  <a:schemeClr val="tx2">
                    <a:lumMod val="60000"/>
                    <a:lumOff val="40000"/>
                  </a:schemeClr>
                </a:solidFill>
              </a:rPr>
              <a:t>It will download a compressed folder in zip format.</a:t>
            </a:r>
          </a:p>
          <a:p>
            <a:r>
              <a:rPr lang="en-US" dirty="0" smtClean="0">
                <a:solidFill>
                  <a:schemeClr val="tx2">
                    <a:lumMod val="60000"/>
                    <a:lumOff val="40000"/>
                  </a:schemeClr>
                </a:solidFill>
              </a:rPr>
              <a:t>Unzip it using windows at the same location or a different desired folder</a:t>
            </a:r>
          </a:p>
          <a:p>
            <a:endParaRPr lang="en-US" dirty="0">
              <a:solidFill>
                <a:schemeClr val="tx2">
                  <a:lumMod val="60000"/>
                  <a:lumOff val="40000"/>
                </a:schemeClr>
              </a:solidFill>
            </a:endParaRPr>
          </a:p>
        </p:txBody>
      </p:sp>
      <p:pic>
        <p:nvPicPr>
          <p:cNvPr id="410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514600"/>
            <a:ext cx="5370686" cy="33547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p:txBody>
          <a:bodyPr/>
          <a:lstStyle/>
          <a:p>
            <a:r>
              <a:rPr lang="en-US" dirty="0" smtClean="0">
                <a:solidFill>
                  <a:schemeClr val="accent1">
                    <a:lumMod val="75000"/>
                  </a:schemeClr>
                </a:solidFill>
              </a:rPr>
              <a:t>Pre-installation Manuals</a:t>
            </a:r>
            <a:endParaRPr lang="en-US" dirty="0">
              <a:solidFill>
                <a:schemeClr val="accent1">
                  <a:lumMod val="75000"/>
                </a:schemeClr>
              </a:solidFill>
            </a:endParaRPr>
          </a:p>
        </p:txBody>
      </p:sp>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819400"/>
            <a:ext cx="3198909"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6</a:t>
            </a:fld>
            <a:endParaRPr lang="en-US"/>
          </a:p>
        </p:txBody>
      </p:sp>
    </p:spTree>
    <p:extLst>
      <p:ext uri="{BB962C8B-B14F-4D97-AF65-F5344CB8AC3E}">
        <p14:creationId xmlns:p14="http://schemas.microsoft.com/office/powerpoint/2010/main" val="4273933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371600"/>
          </a:xfrm>
        </p:spPr>
        <p:txBody>
          <a:bodyPr>
            <a:normAutofit fontScale="77500" lnSpcReduction="20000"/>
          </a:bodyPr>
          <a:lstStyle/>
          <a:p>
            <a:r>
              <a:rPr lang="en-US" dirty="0" smtClean="0">
                <a:solidFill>
                  <a:schemeClr val="tx2">
                    <a:lumMod val="60000"/>
                    <a:lumOff val="40000"/>
                  </a:schemeClr>
                </a:solidFill>
              </a:rPr>
              <a:t>It will create an unzipped folder with the contents downloaded inside</a:t>
            </a:r>
          </a:p>
          <a:p>
            <a:r>
              <a:rPr lang="en-US" dirty="0" smtClean="0">
                <a:solidFill>
                  <a:schemeClr val="tx2">
                    <a:lumMod val="60000"/>
                    <a:lumOff val="40000"/>
                  </a:schemeClr>
                </a:solidFill>
              </a:rPr>
              <a:t>You can now open the files or rename and relocate as desired.</a:t>
            </a:r>
            <a:endParaRPr lang="en-US" dirty="0">
              <a:solidFill>
                <a:schemeClr val="tx2">
                  <a:lumMod val="60000"/>
                  <a:lumOff val="40000"/>
                </a:schemeClr>
              </a:solidFill>
            </a:endParaRP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2285999"/>
            <a:ext cx="4114800" cy="25702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p:txBody>
          <a:bodyPr/>
          <a:lstStyle/>
          <a:p>
            <a:r>
              <a:rPr lang="en-US" dirty="0" smtClean="0">
                <a:solidFill>
                  <a:schemeClr val="accent1">
                    <a:lumMod val="75000"/>
                  </a:schemeClr>
                </a:solidFill>
              </a:rPr>
              <a:t>Pre-installation Manuals</a:t>
            </a:r>
            <a:endParaRPr lang="en-US" dirty="0">
              <a:solidFill>
                <a:schemeClr val="accent1">
                  <a:lumMod val="75000"/>
                </a:schemeClr>
              </a:solidFill>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200" y="2232121"/>
            <a:ext cx="4201055" cy="2624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7</a:t>
            </a:fld>
            <a:endParaRPr lang="en-US"/>
          </a:p>
        </p:txBody>
      </p:sp>
    </p:spTree>
    <p:extLst>
      <p:ext uri="{BB962C8B-B14F-4D97-AF65-F5344CB8AC3E}">
        <p14:creationId xmlns:p14="http://schemas.microsoft.com/office/powerpoint/2010/main" val="2386991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a:buNone/>
            </a:pPr>
            <a:r>
              <a:rPr lang="en-US" dirty="0" smtClean="0">
                <a:solidFill>
                  <a:schemeClr val="tx2">
                    <a:lumMod val="60000"/>
                    <a:lumOff val="40000"/>
                  </a:schemeClr>
                </a:solidFill>
              </a:rPr>
              <a:t>All information regarding:</a:t>
            </a:r>
          </a:p>
          <a:p>
            <a:r>
              <a:rPr lang="en-US" dirty="0" smtClean="0">
                <a:solidFill>
                  <a:schemeClr val="tx2">
                    <a:lumMod val="60000"/>
                    <a:lumOff val="40000"/>
                  </a:schemeClr>
                </a:solidFill>
              </a:rPr>
              <a:t>Site dimensions</a:t>
            </a:r>
          </a:p>
          <a:p>
            <a:r>
              <a:rPr lang="en-US" dirty="0" smtClean="0">
                <a:solidFill>
                  <a:schemeClr val="tx2">
                    <a:lumMod val="60000"/>
                    <a:lumOff val="40000"/>
                  </a:schemeClr>
                </a:solidFill>
              </a:rPr>
              <a:t>Power requirements</a:t>
            </a:r>
          </a:p>
          <a:p>
            <a:r>
              <a:rPr lang="en-US" dirty="0" smtClean="0">
                <a:solidFill>
                  <a:schemeClr val="tx2">
                    <a:lumMod val="60000"/>
                    <a:lumOff val="40000"/>
                  </a:schemeClr>
                </a:solidFill>
              </a:rPr>
              <a:t>Temperature and humidity requirements</a:t>
            </a:r>
          </a:p>
          <a:p>
            <a:r>
              <a:rPr lang="en-US" dirty="0" smtClean="0">
                <a:solidFill>
                  <a:schemeClr val="tx2">
                    <a:lumMod val="60000"/>
                    <a:lumOff val="40000"/>
                  </a:schemeClr>
                </a:solidFill>
              </a:rPr>
              <a:t>Safety requirements</a:t>
            </a:r>
          </a:p>
          <a:p>
            <a:r>
              <a:rPr lang="en-US" dirty="0" smtClean="0">
                <a:solidFill>
                  <a:schemeClr val="tx2">
                    <a:lumMod val="60000"/>
                    <a:lumOff val="40000"/>
                  </a:schemeClr>
                </a:solidFill>
              </a:rPr>
              <a:t>Fringe field</a:t>
            </a:r>
          </a:p>
          <a:p>
            <a:r>
              <a:rPr lang="en-US" dirty="0" smtClean="0">
                <a:solidFill>
                  <a:schemeClr val="tx2">
                    <a:lumMod val="60000"/>
                    <a:lumOff val="40000"/>
                  </a:schemeClr>
                </a:solidFill>
              </a:rPr>
              <a:t>And others</a:t>
            </a:r>
          </a:p>
          <a:p>
            <a:pPr marL="0" indent="0">
              <a:buNone/>
            </a:pPr>
            <a:r>
              <a:rPr lang="en-US" dirty="0" smtClean="0">
                <a:solidFill>
                  <a:schemeClr val="tx2">
                    <a:lumMod val="60000"/>
                    <a:lumOff val="40000"/>
                  </a:schemeClr>
                </a:solidFill>
              </a:rPr>
              <a:t>can be found in this manual.</a:t>
            </a:r>
          </a:p>
          <a:p>
            <a:pPr marL="0" indent="0">
              <a:buNone/>
            </a:pPr>
            <a:r>
              <a:rPr lang="en-US" sz="2200" dirty="0" smtClean="0">
                <a:solidFill>
                  <a:schemeClr val="tx2">
                    <a:lumMod val="60000"/>
                    <a:lumOff val="40000"/>
                  </a:schemeClr>
                </a:solidFill>
              </a:rPr>
              <a:t>NOTE: Some of the pre-installation manuals can be found in the Service Methods CD-ROM but GE has been taking out the pdf files from there and referring you to download it separately.</a:t>
            </a:r>
            <a:endParaRPr lang="en-US" sz="2200"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Pre-installation Manuals</a:t>
            </a:r>
            <a:endParaRPr lang="en-US" dirty="0">
              <a:solidFill>
                <a:schemeClr val="accent1">
                  <a:lumMod val="75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8</a:t>
            </a:fld>
            <a:endParaRPr lang="en-US"/>
          </a:p>
        </p:txBody>
      </p:sp>
    </p:spTree>
    <p:extLst>
      <p:ext uri="{BB962C8B-B14F-4D97-AF65-F5344CB8AC3E}">
        <p14:creationId xmlns:p14="http://schemas.microsoft.com/office/powerpoint/2010/main" val="3826816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761999"/>
          </a:xfrm>
        </p:spPr>
        <p:txBody>
          <a:bodyPr>
            <a:normAutofit fontScale="77500" lnSpcReduction="20000"/>
          </a:bodyPr>
          <a:lstStyle/>
          <a:p>
            <a:pPr marL="0" indent="0">
              <a:buNone/>
            </a:pPr>
            <a:r>
              <a:rPr lang="en-US" dirty="0" smtClean="0">
                <a:solidFill>
                  <a:schemeClr val="tx2">
                    <a:lumMod val="60000"/>
                    <a:lumOff val="40000"/>
                  </a:schemeClr>
                </a:solidFill>
              </a:rPr>
              <a:t>Selecting Support Documentation Library in the first Support link we are sent to the CDL or Common Documentation Library</a:t>
            </a:r>
            <a:endParaRPr lang="en-US" dirty="0">
              <a:solidFill>
                <a:schemeClr val="tx2">
                  <a:lumMod val="60000"/>
                  <a:lumOff val="40000"/>
                </a:schemeClr>
              </a:solidFill>
            </a:endParaRPr>
          </a:p>
        </p:txBody>
      </p:sp>
      <p:pic>
        <p:nvPicPr>
          <p:cNvPr id="6146" name="Picture 2">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558" t="38190" r="27206" b="18733"/>
          <a:stretch/>
        </p:blipFill>
        <p:spPr bwMode="auto">
          <a:xfrm>
            <a:off x="2514600" y="1981200"/>
            <a:ext cx="3581400" cy="3596511"/>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9</a:t>
            </a:fld>
            <a:endParaRPr lang="en-US"/>
          </a:p>
        </p:txBody>
      </p:sp>
    </p:spTree>
    <p:extLst>
      <p:ext uri="{BB962C8B-B14F-4D97-AF65-F5344CB8AC3E}">
        <p14:creationId xmlns:p14="http://schemas.microsoft.com/office/powerpoint/2010/main" val="833972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990599"/>
          </a:xfrm>
        </p:spPr>
        <p:txBody>
          <a:bodyPr>
            <a:normAutofit fontScale="85000" lnSpcReduction="10000"/>
          </a:bodyPr>
          <a:lstStyle/>
          <a:p>
            <a:r>
              <a:rPr lang="en-US" dirty="0" smtClean="0">
                <a:solidFill>
                  <a:schemeClr val="tx2">
                    <a:lumMod val="60000"/>
                    <a:lumOff val="40000"/>
                  </a:schemeClr>
                </a:solidFill>
              </a:rPr>
              <a:t>We can find the link to the library for all the modalities.</a:t>
            </a:r>
          </a:p>
          <a:p>
            <a:r>
              <a:rPr lang="en-US" dirty="0" smtClean="0">
                <a:solidFill>
                  <a:schemeClr val="tx2">
                    <a:lumMod val="60000"/>
                    <a:lumOff val="40000"/>
                  </a:schemeClr>
                </a:solidFill>
              </a:rPr>
              <a:t>We select MR</a:t>
            </a:r>
            <a:endParaRPr lang="en-US"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7170" name="Picture 2">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1981200"/>
            <a:ext cx="7455877" cy="4038600"/>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10</a:t>
            </a:fld>
            <a:endParaRPr lang="en-US"/>
          </a:p>
        </p:txBody>
      </p:sp>
    </p:spTree>
    <p:extLst>
      <p:ext uri="{BB962C8B-B14F-4D97-AF65-F5344CB8AC3E}">
        <p14:creationId xmlns:p14="http://schemas.microsoft.com/office/powerpoint/2010/main" val="545363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solidFill>
                  <a:schemeClr val="tx2">
                    <a:lumMod val="60000"/>
                    <a:lumOff val="40000"/>
                  </a:schemeClr>
                </a:solidFill>
              </a:rPr>
              <a:t>We select the MR Product and usually leave All as default under the Manual Type box.</a:t>
            </a:r>
          </a:p>
          <a:p>
            <a:r>
              <a:rPr lang="en-US" dirty="0" smtClean="0">
                <a:solidFill>
                  <a:schemeClr val="tx2">
                    <a:lumMod val="60000"/>
                    <a:lumOff val="40000"/>
                  </a:schemeClr>
                </a:solidFill>
              </a:rPr>
              <a:t>The search box at the bottom doesn’t usually give you what you are looking for.</a:t>
            </a:r>
          </a:p>
          <a:p>
            <a:r>
              <a:rPr lang="en-US" dirty="0" smtClean="0">
                <a:solidFill>
                  <a:schemeClr val="tx2">
                    <a:lumMod val="60000"/>
                    <a:lumOff val="40000"/>
                  </a:schemeClr>
                </a:solidFill>
              </a:rPr>
              <a:t>Sometimes it takes a bit of playing with the selections to find what you are looking for</a:t>
            </a:r>
            <a:endParaRPr lang="en-US"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11</a:t>
            </a:fld>
            <a:endParaRPr lang="en-US"/>
          </a:p>
        </p:txBody>
      </p:sp>
    </p:spTree>
    <p:extLst>
      <p:ext uri="{BB962C8B-B14F-4D97-AF65-F5344CB8AC3E}">
        <p14:creationId xmlns:p14="http://schemas.microsoft.com/office/powerpoint/2010/main" val="2381591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066800"/>
            <a:ext cx="9009184" cy="487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4" name="Slide Number Placeholder 3"/>
          <p:cNvSpPr>
            <a:spLocks noGrp="1"/>
          </p:cNvSpPr>
          <p:nvPr>
            <p:ph type="sldNum" sz="quarter" idx="12"/>
          </p:nvPr>
        </p:nvSpPr>
        <p:spPr/>
        <p:txBody>
          <a:bodyPr/>
          <a:lstStyle/>
          <a:p>
            <a:fld id="{A96FCAC1-F539-4436-A8D9-9E19D1673FCA}" type="slidenum">
              <a:rPr lang="en-US" smtClean="0"/>
              <a:pPr/>
              <a:t>12</a:t>
            </a:fld>
            <a:endParaRPr lang="en-US"/>
          </a:p>
        </p:txBody>
      </p:sp>
    </p:spTree>
    <p:extLst>
      <p:ext uri="{BB962C8B-B14F-4D97-AF65-F5344CB8AC3E}">
        <p14:creationId xmlns:p14="http://schemas.microsoft.com/office/powerpoint/2010/main" val="2742895833"/>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66850"/>
            <a:ext cx="8991600" cy="4870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2"/>
          <p:cNvSpPr>
            <a:spLocks noGrp="1"/>
          </p:cNvSpPr>
          <p:nvPr>
            <p:ph idx="1"/>
          </p:nvPr>
        </p:nvSpPr>
        <p:spPr>
          <a:xfrm>
            <a:off x="152400" y="685800"/>
            <a:ext cx="8839200" cy="838200"/>
          </a:xfrm>
        </p:spPr>
        <p:txBody>
          <a:bodyPr>
            <a:normAutofit fontScale="55000" lnSpcReduction="20000"/>
          </a:bodyPr>
          <a:lstStyle/>
          <a:p>
            <a:pPr marL="0" indent="0">
              <a:buNone/>
            </a:pPr>
            <a:r>
              <a:rPr lang="en-US" dirty="0" smtClean="0">
                <a:solidFill>
                  <a:schemeClr val="tx2">
                    <a:lumMod val="60000"/>
                    <a:lumOff val="40000"/>
                  </a:schemeClr>
                </a:solidFill>
              </a:rPr>
              <a:t>Most of the time we will be looking for the Service Methods CD and will show up as a .zip filename.</a:t>
            </a:r>
          </a:p>
          <a:p>
            <a:pPr marL="0" indent="0">
              <a:buNone/>
            </a:pPr>
            <a:r>
              <a:rPr lang="en-US" dirty="0" smtClean="0">
                <a:solidFill>
                  <a:schemeClr val="tx2">
                    <a:lumMod val="60000"/>
                    <a:lumOff val="40000"/>
                  </a:schemeClr>
                </a:solidFill>
              </a:rPr>
              <a:t>11x is a good example of one that you won’t find easily…</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13</a:t>
            </a:fld>
            <a:endParaRPr lang="en-US"/>
          </a:p>
        </p:txBody>
      </p:sp>
    </p:spTree>
    <p:extLst>
      <p:ext uri="{BB962C8B-B14F-4D97-AF65-F5344CB8AC3E}">
        <p14:creationId xmlns:p14="http://schemas.microsoft.com/office/powerpoint/2010/main" val="2222708556"/>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143000"/>
          </a:xfrm>
        </p:spPr>
        <p:txBody>
          <a:bodyPr>
            <a:normAutofit fontScale="85000" lnSpcReduction="10000"/>
          </a:bodyPr>
          <a:lstStyle/>
          <a:p>
            <a:r>
              <a:rPr lang="en-US" dirty="0" smtClean="0">
                <a:solidFill>
                  <a:schemeClr val="tx2">
                    <a:lumMod val="60000"/>
                    <a:lumOff val="40000"/>
                  </a:schemeClr>
                </a:solidFill>
              </a:rPr>
              <a:t>If we try to select ‘CD ROM - </a:t>
            </a:r>
            <a:r>
              <a:rPr lang="en-US" dirty="0" err="1" smtClean="0">
                <a:solidFill>
                  <a:schemeClr val="tx2">
                    <a:lumMod val="60000"/>
                    <a:lumOff val="40000"/>
                  </a:schemeClr>
                </a:solidFill>
              </a:rPr>
              <a:t>Srv</a:t>
            </a:r>
            <a:r>
              <a:rPr lang="en-US" dirty="0" smtClean="0">
                <a:solidFill>
                  <a:schemeClr val="tx2">
                    <a:lumMod val="60000"/>
                    <a:lumOff val="40000"/>
                  </a:schemeClr>
                </a:solidFill>
              </a:rPr>
              <a:t> Methods’ in the previous search screen we don’t have much luck either…</a:t>
            </a:r>
            <a:endParaRPr lang="en-US"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2057400"/>
            <a:ext cx="6834554" cy="370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14</a:t>
            </a:fld>
            <a:endParaRPr lang="en-US"/>
          </a:p>
        </p:txBody>
      </p:sp>
    </p:spTree>
    <p:extLst>
      <p:ext uri="{BB962C8B-B14F-4D97-AF65-F5344CB8AC3E}">
        <p14:creationId xmlns:p14="http://schemas.microsoft.com/office/powerpoint/2010/main" val="3068230170"/>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600200"/>
          </a:xfrm>
        </p:spPr>
        <p:txBody>
          <a:bodyPr>
            <a:normAutofit fontScale="70000" lnSpcReduction="20000"/>
          </a:bodyPr>
          <a:lstStyle/>
          <a:p>
            <a:r>
              <a:rPr lang="en-US" dirty="0" smtClean="0">
                <a:solidFill>
                  <a:schemeClr val="tx2">
                    <a:lumMod val="60000"/>
                    <a:lumOff val="40000"/>
                  </a:schemeClr>
                </a:solidFill>
              </a:rPr>
              <a:t>If we </a:t>
            </a:r>
            <a:r>
              <a:rPr lang="en-US" b="1" dirty="0" smtClean="0">
                <a:solidFill>
                  <a:schemeClr val="tx2">
                    <a:lumMod val="60000"/>
                    <a:lumOff val="40000"/>
                  </a:schemeClr>
                </a:solidFill>
              </a:rPr>
              <a:t>don’t</a:t>
            </a:r>
            <a:r>
              <a:rPr lang="en-US" dirty="0" smtClean="0">
                <a:solidFill>
                  <a:schemeClr val="tx2">
                    <a:lumMod val="60000"/>
                    <a:lumOff val="40000"/>
                  </a:schemeClr>
                </a:solidFill>
              </a:rPr>
              <a:t> select the MR product and select all Service Methods it shows up</a:t>
            </a:r>
          </a:p>
          <a:p>
            <a:r>
              <a:rPr lang="en-US" dirty="0" smtClean="0">
                <a:solidFill>
                  <a:schemeClr val="tx2">
                    <a:lumMod val="60000"/>
                    <a:lumOff val="40000"/>
                  </a:schemeClr>
                </a:solidFill>
              </a:rPr>
              <a:t>Not all the Service Methods are found here though…</a:t>
            </a:r>
          </a:p>
          <a:p>
            <a:r>
              <a:rPr lang="en-US" dirty="0" smtClean="0">
                <a:solidFill>
                  <a:schemeClr val="tx2">
                    <a:lumMod val="60000"/>
                    <a:lumOff val="40000"/>
                  </a:schemeClr>
                </a:solidFill>
              </a:rPr>
              <a:t>No, it is not perfect, but once you get used to it you can find almost anything.</a:t>
            </a:r>
            <a:endParaRPr lang="en-US"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072" t="32821" r="5185" b="7218"/>
          <a:stretch/>
        </p:blipFill>
        <p:spPr bwMode="auto">
          <a:xfrm>
            <a:off x="76200" y="2667000"/>
            <a:ext cx="9021370" cy="3264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15</a:t>
            </a:fld>
            <a:endParaRPr lang="en-US"/>
          </a:p>
        </p:txBody>
      </p:sp>
    </p:spTree>
    <p:extLst>
      <p:ext uri="{BB962C8B-B14F-4D97-AF65-F5344CB8AC3E}">
        <p14:creationId xmlns:p14="http://schemas.microsoft.com/office/powerpoint/2010/main" val="1574734381"/>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solidFill>
                  <a:schemeClr val="tx2">
                    <a:lumMod val="60000"/>
                    <a:lumOff val="40000"/>
                  </a:schemeClr>
                </a:solidFill>
              </a:rPr>
              <a:t>Select the CDs you want to download</a:t>
            </a:r>
          </a:p>
          <a:p>
            <a:endParaRPr lang="en-US" dirty="0">
              <a:solidFill>
                <a:schemeClr val="tx2">
                  <a:lumMod val="60000"/>
                  <a:lumOff val="40000"/>
                </a:schemeClr>
              </a:solidFill>
            </a:endParaRPr>
          </a:p>
          <a:p>
            <a:endParaRPr lang="en-US" dirty="0" smtClean="0">
              <a:solidFill>
                <a:schemeClr val="tx2">
                  <a:lumMod val="60000"/>
                  <a:lumOff val="40000"/>
                </a:schemeClr>
              </a:solidFill>
            </a:endParaRPr>
          </a:p>
          <a:p>
            <a:r>
              <a:rPr lang="en-US" dirty="0" smtClean="0">
                <a:solidFill>
                  <a:schemeClr val="tx2">
                    <a:lumMod val="60000"/>
                    <a:lumOff val="40000"/>
                  </a:schemeClr>
                </a:solidFill>
              </a:rPr>
              <a:t>Click on ‘Download Selected Files’</a:t>
            </a:r>
            <a:endParaRPr lang="en-US" dirty="0">
              <a:solidFill>
                <a:schemeClr val="tx2">
                  <a:lumMod val="60000"/>
                  <a:lumOff val="40000"/>
                </a:schemeClr>
              </a:solidFill>
            </a:endParaRPr>
          </a:p>
        </p:txBody>
      </p:sp>
      <p:sp>
        <p:nvSpPr>
          <p:cNvPr id="5"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grpSp>
        <p:nvGrpSpPr>
          <p:cNvPr id="7" name="Group 6"/>
          <p:cNvGrpSpPr/>
          <p:nvPr/>
        </p:nvGrpSpPr>
        <p:grpSpPr>
          <a:xfrm>
            <a:off x="148555" y="1600200"/>
            <a:ext cx="8969068" cy="1102834"/>
            <a:chOff x="148555" y="1600200"/>
            <a:chExt cx="8969068" cy="1102834"/>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852" t="32418" r="5048" b="47887"/>
            <a:stretch/>
          </p:blipFill>
          <p:spPr bwMode="auto">
            <a:xfrm>
              <a:off x="148555" y="1600200"/>
              <a:ext cx="8969068" cy="11028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Notched Right Arrow 3"/>
            <p:cNvSpPr/>
            <p:nvPr/>
          </p:nvSpPr>
          <p:spPr>
            <a:xfrm>
              <a:off x="4953000" y="2151617"/>
              <a:ext cx="228600" cy="45719"/>
            </a:xfrm>
            <a:prstGeom prst="notch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Notched Right Arrow 9"/>
            <p:cNvSpPr/>
            <p:nvPr/>
          </p:nvSpPr>
          <p:spPr>
            <a:xfrm>
              <a:off x="4953000" y="2286000"/>
              <a:ext cx="228600" cy="45719"/>
            </a:xfrm>
            <a:prstGeom prst="notch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381000" y="3581400"/>
            <a:ext cx="8115757" cy="1337227"/>
            <a:chOff x="381000" y="3581400"/>
            <a:chExt cx="8115757" cy="1337227"/>
          </a:xfrm>
        </p:grpSpPr>
        <p:pic>
          <p:nvPicPr>
            <p:cNvPr id="102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875" t="72114" r="2925"/>
            <a:stretch/>
          </p:blipFill>
          <p:spPr bwMode="auto">
            <a:xfrm>
              <a:off x="381000" y="3581400"/>
              <a:ext cx="8115757" cy="133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Notched Right Arrow 10"/>
            <p:cNvSpPr/>
            <p:nvPr/>
          </p:nvSpPr>
          <p:spPr>
            <a:xfrm>
              <a:off x="3810000" y="4038600"/>
              <a:ext cx="228600" cy="45719"/>
            </a:xfrm>
            <a:prstGeom prst="notch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9" name="Slide Number Placeholder 8"/>
          <p:cNvSpPr>
            <a:spLocks noGrp="1"/>
          </p:cNvSpPr>
          <p:nvPr>
            <p:ph type="sldNum" sz="quarter" idx="12"/>
          </p:nvPr>
        </p:nvSpPr>
        <p:spPr/>
        <p:txBody>
          <a:bodyPr/>
          <a:lstStyle/>
          <a:p>
            <a:fld id="{A96FCAC1-F539-4436-A8D9-9E19D1673FCA}" type="slidenum">
              <a:rPr lang="en-US" smtClean="0"/>
              <a:pPr/>
              <a:t>16</a:t>
            </a:fld>
            <a:endParaRPr lang="en-US"/>
          </a:p>
        </p:txBody>
      </p:sp>
    </p:spTree>
    <p:extLst>
      <p:ext uri="{BB962C8B-B14F-4D97-AF65-F5344CB8AC3E}">
        <p14:creationId xmlns:p14="http://schemas.microsoft.com/office/powerpoint/2010/main" val="3741111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914399"/>
          </a:xfrm>
        </p:spPr>
        <p:txBody>
          <a:bodyPr>
            <a:normAutofit fontScale="62500" lnSpcReduction="20000"/>
          </a:bodyPr>
          <a:lstStyle/>
          <a:p>
            <a:r>
              <a:rPr lang="en-US" dirty="0" smtClean="0">
                <a:solidFill>
                  <a:schemeClr val="tx2">
                    <a:lumMod val="60000"/>
                    <a:lumOff val="40000"/>
                  </a:schemeClr>
                </a:solidFill>
              </a:rPr>
              <a:t>Click the ‘Accept’ button to begin the download</a:t>
            </a:r>
          </a:p>
          <a:p>
            <a:r>
              <a:rPr lang="en-US" dirty="0" smtClean="0">
                <a:solidFill>
                  <a:schemeClr val="tx2">
                    <a:lumMod val="60000"/>
                    <a:lumOff val="40000"/>
                  </a:schemeClr>
                </a:solidFill>
              </a:rPr>
              <a:t>You will have to select the folder where you want to save the downloaded zip folder or it will download to your default selection.</a:t>
            </a:r>
            <a:endParaRPr lang="en-US"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grpSp>
        <p:nvGrpSpPr>
          <p:cNvPr id="6" name="Group 5"/>
          <p:cNvGrpSpPr/>
          <p:nvPr/>
        </p:nvGrpSpPr>
        <p:grpSpPr>
          <a:xfrm>
            <a:off x="609600" y="1998054"/>
            <a:ext cx="7620000" cy="4286250"/>
            <a:chOff x="609600" y="1998054"/>
            <a:chExt cx="7620000" cy="428625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998054"/>
              <a:ext cx="7620000" cy="428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Notched Right Arrow 4"/>
            <p:cNvSpPr/>
            <p:nvPr/>
          </p:nvSpPr>
          <p:spPr>
            <a:xfrm>
              <a:off x="3810000" y="3154681"/>
              <a:ext cx="228600" cy="45719"/>
            </a:xfrm>
            <a:prstGeom prst="notch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8" name="Slide Number Placeholder 7"/>
          <p:cNvSpPr>
            <a:spLocks noGrp="1"/>
          </p:cNvSpPr>
          <p:nvPr>
            <p:ph type="sldNum" sz="quarter" idx="12"/>
          </p:nvPr>
        </p:nvSpPr>
        <p:spPr/>
        <p:txBody>
          <a:bodyPr/>
          <a:lstStyle/>
          <a:p>
            <a:fld id="{A96FCAC1-F539-4436-A8D9-9E19D1673FCA}" type="slidenum">
              <a:rPr lang="en-US" smtClean="0"/>
              <a:pPr/>
              <a:t>17</a:t>
            </a:fld>
            <a:endParaRPr lang="en-US"/>
          </a:p>
        </p:txBody>
      </p:sp>
    </p:spTree>
    <p:extLst>
      <p:ext uri="{BB962C8B-B14F-4D97-AF65-F5344CB8AC3E}">
        <p14:creationId xmlns:p14="http://schemas.microsoft.com/office/powerpoint/2010/main" val="2629913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457199"/>
          </a:xfrm>
        </p:spPr>
        <p:txBody>
          <a:bodyPr>
            <a:normAutofit fontScale="85000" lnSpcReduction="20000"/>
          </a:bodyPr>
          <a:lstStyle/>
          <a:p>
            <a:r>
              <a:rPr lang="en-US" dirty="0" smtClean="0">
                <a:solidFill>
                  <a:schemeClr val="tx2">
                    <a:lumMod val="60000"/>
                    <a:lumOff val="40000"/>
                  </a:schemeClr>
                </a:solidFill>
              </a:rPr>
              <a:t>Unzip the folder created</a:t>
            </a:r>
            <a:endParaRPr lang="en-US" dirty="0">
              <a:solidFill>
                <a:schemeClr val="tx2">
                  <a:lumMod val="60000"/>
                  <a:lumOff val="40000"/>
                </a:schemeClr>
              </a:solidFill>
            </a:endParaRP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09" y="1447801"/>
            <a:ext cx="3810000" cy="2601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551290"/>
            <a:ext cx="4057153"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42495"/>
            <a:ext cx="3319463" cy="2266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Notched Right Arrow 3"/>
          <p:cNvSpPr/>
          <p:nvPr/>
        </p:nvSpPr>
        <p:spPr>
          <a:xfrm>
            <a:off x="5257800" y="4114800"/>
            <a:ext cx="400547" cy="45719"/>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18</a:t>
            </a:fld>
            <a:endParaRPr lang="en-US"/>
          </a:p>
        </p:txBody>
      </p:sp>
    </p:spTree>
    <p:extLst>
      <p:ext uri="{BB962C8B-B14F-4D97-AF65-F5344CB8AC3E}">
        <p14:creationId xmlns:p14="http://schemas.microsoft.com/office/powerpoint/2010/main" val="1924328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1219200"/>
          </a:xfrm>
        </p:spPr>
        <p:txBody>
          <a:bodyPr>
            <a:normAutofit fontScale="85000" lnSpcReduction="10000"/>
          </a:bodyPr>
          <a:lstStyle/>
          <a:p>
            <a:r>
              <a:rPr lang="en-US" dirty="0" smtClean="0">
                <a:solidFill>
                  <a:schemeClr val="tx2">
                    <a:lumMod val="60000"/>
                    <a:lumOff val="40000"/>
                  </a:schemeClr>
                </a:solidFill>
              </a:rPr>
              <a:t>The unzipped folder has another folder named MR inside and that folder will contain the number of CDs or documents you decided to download in the CDL website.</a:t>
            </a:r>
            <a:endParaRPr lang="en-US"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86000"/>
            <a:ext cx="3319462" cy="2266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2690445"/>
            <a:ext cx="4283208" cy="292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triped Right Arrow 4"/>
          <p:cNvSpPr/>
          <p:nvPr/>
        </p:nvSpPr>
        <p:spPr>
          <a:xfrm>
            <a:off x="4114800" y="4191000"/>
            <a:ext cx="228600" cy="45719"/>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7" name="Slide Number Placeholder 6"/>
          <p:cNvSpPr>
            <a:spLocks noGrp="1"/>
          </p:cNvSpPr>
          <p:nvPr>
            <p:ph type="sldNum" sz="quarter" idx="12"/>
          </p:nvPr>
        </p:nvSpPr>
        <p:spPr/>
        <p:txBody>
          <a:bodyPr/>
          <a:lstStyle/>
          <a:p>
            <a:fld id="{A96FCAC1-F539-4436-A8D9-9E19D1673FCA}" type="slidenum">
              <a:rPr lang="en-US" smtClean="0"/>
              <a:pPr/>
              <a:t>19</a:t>
            </a:fld>
            <a:endParaRPr lang="en-US"/>
          </a:p>
        </p:txBody>
      </p:sp>
    </p:spTree>
    <p:extLst>
      <p:ext uri="{BB962C8B-B14F-4D97-AF65-F5344CB8AC3E}">
        <p14:creationId xmlns:p14="http://schemas.microsoft.com/office/powerpoint/2010/main" val="901884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914399"/>
          </a:xfrm>
        </p:spPr>
        <p:txBody>
          <a:bodyPr>
            <a:normAutofit fontScale="85000" lnSpcReduction="10000"/>
          </a:bodyPr>
          <a:lstStyle/>
          <a:p>
            <a:r>
              <a:rPr lang="en-US" dirty="0" smtClean="0">
                <a:solidFill>
                  <a:schemeClr val="tx2">
                    <a:lumMod val="60000"/>
                    <a:lumOff val="40000"/>
                  </a:schemeClr>
                </a:solidFill>
              </a:rPr>
              <a:t>Extract the folders and keep going down the tree and extracting until there are no more compressed folders</a:t>
            </a:r>
            <a:endParaRPr lang="en-US" dirty="0">
              <a:solidFill>
                <a:schemeClr val="tx2">
                  <a:lumMod val="60000"/>
                  <a:lumOff val="40000"/>
                </a:schemeClr>
              </a:solidFill>
            </a:endParaRPr>
          </a:p>
        </p:txBody>
      </p:sp>
      <p:sp>
        <p:nvSpPr>
          <p:cNvPr id="4" name="Title 1"/>
          <p:cNvSpPr>
            <a:spLocks noGrp="1"/>
          </p:cNvSpPr>
          <p:nvPr>
            <p:ph type="title"/>
          </p:nvPr>
        </p:nvSpPr>
        <p:spPr/>
        <p:txBody>
          <a:body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99" y="2057400"/>
            <a:ext cx="3657601" cy="24970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971800"/>
            <a:ext cx="3906509"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triped Right Arrow 4"/>
          <p:cNvSpPr/>
          <p:nvPr/>
        </p:nvSpPr>
        <p:spPr>
          <a:xfrm>
            <a:off x="4191000" y="3810000"/>
            <a:ext cx="381000" cy="4953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7" name="Slide Number Placeholder 6"/>
          <p:cNvSpPr>
            <a:spLocks noGrp="1"/>
          </p:cNvSpPr>
          <p:nvPr>
            <p:ph type="sldNum" sz="quarter" idx="12"/>
          </p:nvPr>
        </p:nvSpPr>
        <p:spPr/>
        <p:txBody>
          <a:bodyPr/>
          <a:lstStyle/>
          <a:p>
            <a:fld id="{A96FCAC1-F539-4436-A8D9-9E19D1673FCA}" type="slidenum">
              <a:rPr lang="en-US" smtClean="0"/>
              <a:pPr/>
              <a:t>20</a:t>
            </a:fld>
            <a:endParaRPr lang="en-US"/>
          </a:p>
        </p:txBody>
      </p:sp>
    </p:spTree>
    <p:extLst>
      <p:ext uri="{BB962C8B-B14F-4D97-AF65-F5344CB8AC3E}">
        <p14:creationId xmlns:p14="http://schemas.microsoft.com/office/powerpoint/2010/main" val="655913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8839200" cy="762000"/>
          </a:xfrm>
        </p:spPr>
        <p:txBody>
          <a:bodyPr>
            <a:noAutofit/>
          </a:bodyPr>
          <a:lstStyle/>
          <a:p>
            <a:r>
              <a:rPr lang="en-US" sz="2400" dirty="0" smtClean="0">
                <a:solidFill>
                  <a:schemeClr val="tx2">
                    <a:lumMod val="60000"/>
                    <a:lumOff val="40000"/>
                  </a:schemeClr>
                </a:solidFill>
              </a:rPr>
              <a:t>The final result for a Service Methods CD-ROM should look like this always:</a:t>
            </a:r>
            <a:endParaRPr lang="en-US" sz="2400" dirty="0">
              <a:solidFill>
                <a:schemeClr val="tx2">
                  <a:lumMod val="60000"/>
                  <a:lumOff val="40000"/>
                </a:schemeClr>
              </a:solidFill>
            </a:endParaRPr>
          </a:p>
        </p:txBody>
      </p:sp>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701" y="1752600"/>
            <a:ext cx="5520598" cy="3768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7" name="Slide Number Placeholder 6"/>
          <p:cNvSpPr>
            <a:spLocks noGrp="1"/>
          </p:cNvSpPr>
          <p:nvPr>
            <p:ph type="sldNum" sz="quarter" idx="12"/>
          </p:nvPr>
        </p:nvSpPr>
        <p:spPr/>
        <p:txBody>
          <a:bodyPr/>
          <a:lstStyle/>
          <a:p>
            <a:fld id="{A96FCAC1-F539-4436-A8D9-9E19D1673FCA}" type="slidenum">
              <a:rPr lang="en-US" smtClean="0"/>
              <a:pPr/>
              <a:t>21</a:t>
            </a:fld>
            <a:endParaRPr lang="en-US"/>
          </a:p>
        </p:txBody>
      </p:sp>
    </p:spTree>
    <p:extLst>
      <p:ext uri="{BB962C8B-B14F-4D97-AF65-F5344CB8AC3E}">
        <p14:creationId xmlns:p14="http://schemas.microsoft.com/office/powerpoint/2010/main" val="1478040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50573"/>
            <a:ext cx="8309382" cy="4674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6" name="Content Placeholder 2"/>
          <p:cNvSpPr txBox="1">
            <a:spLocks noGrp="1"/>
          </p:cNvSpPr>
          <p:nvPr>
            <p:ph idx="1"/>
          </p:nvPr>
        </p:nvSpPr>
        <p:spPr>
          <a:xfrm>
            <a:off x="152400" y="838200"/>
            <a:ext cx="8839200" cy="81237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solidFill>
                  <a:schemeClr val="tx2">
                    <a:lumMod val="60000"/>
                    <a:lumOff val="40000"/>
                  </a:schemeClr>
                </a:solidFill>
              </a:rPr>
              <a:t>The index.html will open the main menu contents in the browser of your choice.</a:t>
            </a:r>
            <a:endParaRPr lang="en-US" sz="2400"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4" name="Slide Number Placeholder 3"/>
          <p:cNvSpPr>
            <a:spLocks noGrp="1"/>
          </p:cNvSpPr>
          <p:nvPr>
            <p:ph type="sldNum" sz="quarter" idx="12"/>
          </p:nvPr>
        </p:nvSpPr>
        <p:spPr/>
        <p:txBody>
          <a:bodyPr/>
          <a:lstStyle/>
          <a:p>
            <a:fld id="{A96FCAC1-F539-4436-A8D9-9E19D1673FCA}" type="slidenum">
              <a:rPr lang="en-US" smtClean="0"/>
              <a:pPr/>
              <a:t>22</a:t>
            </a:fld>
            <a:endParaRPr lang="en-US"/>
          </a:p>
        </p:txBody>
      </p:sp>
    </p:spTree>
    <p:extLst>
      <p:ext uri="{BB962C8B-B14F-4D97-AF65-F5344CB8AC3E}">
        <p14:creationId xmlns:p14="http://schemas.microsoft.com/office/powerpoint/2010/main" val="2185429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3418"/>
          <a:stretch/>
        </p:blipFill>
        <p:spPr bwMode="auto">
          <a:xfrm>
            <a:off x="304800" y="914400"/>
            <a:ext cx="8585200" cy="1283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Oval 4"/>
          <p:cNvSpPr/>
          <p:nvPr/>
        </p:nvSpPr>
        <p:spPr>
          <a:xfrm>
            <a:off x="457200" y="1371600"/>
            <a:ext cx="609600" cy="1846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4"/>
          </p:cNvCxnSpPr>
          <p:nvPr/>
        </p:nvCxnSpPr>
        <p:spPr>
          <a:xfrm>
            <a:off x="762000" y="1556238"/>
            <a:ext cx="1060938" cy="17965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71600" y="3276600"/>
            <a:ext cx="2743200" cy="1200329"/>
          </a:xfrm>
          <a:prstGeom prst="rect">
            <a:avLst/>
          </a:prstGeom>
          <a:noFill/>
        </p:spPr>
        <p:txBody>
          <a:bodyPr wrap="square" rtlCol="0">
            <a:spAutoFit/>
          </a:bodyPr>
          <a:lstStyle/>
          <a:p>
            <a:r>
              <a:rPr lang="en-US" dirty="0" smtClean="0">
                <a:solidFill>
                  <a:schemeClr val="tx2">
                    <a:lumMod val="60000"/>
                    <a:lumOff val="40000"/>
                  </a:schemeClr>
                </a:solidFill>
              </a:rPr>
              <a:t>The Revision History under Readme gives you the date and revision you are looking at. </a:t>
            </a:r>
            <a:endParaRPr lang="en-US" dirty="0">
              <a:solidFill>
                <a:schemeClr val="tx2">
                  <a:lumMod val="60000"/>
                  <a:lumOff val="40000"/>
                </a:schemeClr>
              </a:solidFill>
            </a:endParaRPr>
          </a:p>
        </p:txBody>
      </p:sp>
      <p:cxnSp>
        <p:nvCxnSpPr>
          <p:cNvPr id="13" name="Straight Arrow Connector 12"/>
          <p:cNvCxnSpPr/>
          <p:nvPr/>
        </p:nvCxnSpPr>
        <p:spPr>
          <a:xfrm flipV="1">
            <a:off x="3200400" y="1556238"/>
            <a:ext cx="4800600" cy="17203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620000" y="1126881"/>
            <a:ext cx="1270000" cy="3971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23</a:t>
            </a:fld>
            <a:endParaRPr lang="en-US"/>
          </a:p>
        </p:txBody>
      </p:sp>
    </p:spTree>
    <p:extLst>
      <p:ext uri="{BB962C8B-B14F-4D97-AF65-F5344CB8AC3E}">
        <p14:creationId xmlns:p14="http://schemas.microsoft.com/office/powerpoint/2010/main" val="2732157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14400"/>
            <a:ext cx="8448623" cy="475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5" name="Oval 4"/>
          <p:cNvSpPr/>
          <p:nvPr/>
        </p:nvSpPr>
        <p:spPr>
          <a:xfrm>
            <a:off x="433754" y="1617784"/>
            <a:ext cx="609600" cy="1846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4"/>
          </p:cNvCxnSpPr>
          <p:nvPr/>
        </p:nvCxnSpPr>
        <p:spPr>
          <a:xfrm>
            <a:off x="738554" y="1802422"/>
            <a:ext cx="1060938" cy="17965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77462" y="3581400"/>
            <a:ext cx="2743200" cy="1200329"/>
          </a:xfrm>
          <a:prstGeom prst="rect">
            <a:avLst/>
          </a:prstGeom>
          <a:noFill/>
        </p:spPr>
        <p:txBody>
          <a:bodyPr wrap="square" rtlCol="0">
            <a:spAutoFit/>
          </a:bodyPr>
          <a:lstStyle/>
          <a:p>
            <a:r>
              <a:rPr lang="en-US" dirty="0" smtClean="0">
                <a:solidFill>
                  <a:schemeClr val="tx2">
                    <a:lumMod val="60000"/>
                    <a:lumOff val="40000"/>
                  </a:schemeClr>
                </a:solidFill>
              </a:rPr>
              <a:t>The Glossary will give you a list of acronyms in case you are curious to know what they stand for. </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24</a:t>
            </a:fld>
            <a:endParaRPr lang="en-US"/>
          </a:p>
        </p:txBody>
      </p:sp>
    </p:spTree>
    <p:extLst>
      <p:ext uri="{BB962C8B-B14F-4D97-AF65-F5344CB8AC3E}">
        <p14:creationId xmlns:p14="http://schemas.microsoft.com/office/powerpoint/2010/main" val="302929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28675"/>
            <a:ext cx="9136944" cy="5139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4" name="Rectangle 3"/>
          <p:cNvSpPr/>
          <p:nvPr/>
        </p:nvSpPr>
        <p:spPr>
          <a:xfrm>
            <a:off x="0" y="1524000"/>
            <a:ext cx="1447800" cy="1905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4" idx="2"/>
          </p:cNvCxnSpPr>
          <p:nvPr/>
        </p:nvCxnSpPr>
        <p:spPr>
          <a:xfrm>
            <a:off x="723900" y="3429000"/>
            <a:ext cx="30861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810000" y="4075837"/>
            <a:ext cx="4648200" cy="2031325"/>
          </a:xfrm>
          <a:prstGeom prst="rect">
            <a:avLst/>
          </a:prstGeom>
          <a:noFill/>
        </p:spPr>
        <p:txBody>
          <a:bodyPr wrap="square" rtlCol="0">
            <a:spAutoFit/>
          </a:bodyPr>
          <a:lstStyle/>
          <a:p>
            <a:r>
              <a:rPr lang="en-US" dirty="0" smtClean="0">
                <a:solidFill>
                  <a:schemeClr val="tx2">
                    <a:lumMod val="60000"/>
                    <a:lumOff val="40000"/>
                  </a:schemeClr>
                </a:solidFill>
              </a:rPr>
              <a:t>Under Adjustment/Calibrations we will find most of the instructions on how to run calibrations in a system. Keep in mind that some of them are taking right out from the proprietary CD and they do not work exactly the same. Many of the mechanical adjustments can be found here too.</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25</a:t>
            </a:fld>
            <a:endParaRPr lang="en-US"/>
          </a:p>
        </p:txBody>
      </p:sp>
    </p:spTree>
    <p:extLst>
      <p:ext uri="{BB962C8B-B14F-4D97-AF65-F5344CB8AC3E}">
        <p14:creationId xmlns:p14="http://schemas.microsoft.com/office/powerpoint/2010/main" val="2261152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19150"/>
            <a:ext cx="9144000"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0" y="1600200"/>
            <a:ext cx="14478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endCxn id="8" idx="0"/>
          </p:cNvCxnSpPr>
          <p:nvPr/>
        </p:nvCxnSpPr>
        <p:spPr>
          <a:xfrm>
            <a:off x="723900" y="2667000"/>
            <a:ext cx="1066800" cy="1600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6200" y="4267200"/>
            <a:ext cx="3429000" cy="1200329"/>
          </a:xfrm>
          <a:prstGeom prst="rect">
            <a:avLst/>
          </a:prstGeom>
          <a:noFill/>
        </p:spPr>
        <p:txBody>
          <a:bodyPr wrap="square" rtlCol="0">
            <a:spAutoFit/>
          </a:bodyPr>
          <a:lstStyle/>
          <a:p>
            <a:r>
              <a:rPr lang="en-US" dirty="0" smtClean="0">
                <a:solidFill>
                  <a:schemeClr val="tx2">
                    <a:lumMod val="60000"/>
                    <a:lumOff val="40000"/>
                  </a:schemeClr>
                </a:solidFill>
              </a:rPr>
              <a:t>Functional checks has some repeat information from Calibrations but there are some good documents on checks that can be performed.</a:t>
            </a:r>
            <a:endParaRPr lang="en-US" dirty="0">
              <a:solidFill>
                <a:schemeClr val="tx2">
                  <a:lumMod val="60000"/>
                  <a:lumOff val="40000"/>
                </a:schemeClr>
              </a:solidFill>
            </a:endParaRPr>
          </a:p>
        </p:txBody>
      </p:sp>
      <p:sp>
        <p:nvSpPr>
          <p:cNvPr id="11"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4" name="Slide Number Placeholder 3"/>
          <p:cNvSpPr>
            <a:spLocks noGrp="1"/>
          </p:cNvSpPr>
          <p:nvPr>
            <p:ph type="sldNum" sz="quarter" idx="12"/>
          </p:nvPr>
        </p:nvSpPr>
        <p:spPr/>
        <p:txBody>
          <a:bodyPr/>
          <a:lstStyle/>
          <a:p>
            <a:fld id="{A96FCAC1-F539-4436-A8D9-9E19D1673FCA}" type="slidenum">
              <a:rPr lang="en-US" smtClean="0"/>
              <a:pPr/>
              <a:t>26</a:t>
            </a:fld>
            <a:endParaRPr lang="en-US"/>
          </a:p>
        </p:txBody>
      </p:sp>
    </p:spTree>
    <p:extLst>
      <p:ext uri="{BB962C8B-B14F-4D97-AF65-F5344CB8AC3E}">
        <p14:creationId xmlns:p14="http://schemas.microsoft.com/office/powerpoint/2010/main" val="2028583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24707"/>
            <a:ext cx="9144000"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1723" y="1676398"/>
            <a:ext cx="1447800" cy="13716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a:off x="1459523" y="2362199"/>
            <a:ext cx="3112477" cy="598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572000" y="2360554"/>
            <a:ext cx="3429000" cy="1200329"/>
          </a:xfrm>
          <a:prstGeom prst="rect">
            <a:avLst/>
          </a:prstGeom>
          <a:noFill/>
        </p:spPr>
        <p:txBody>
          <a:bodyPr wrap="square" rtlCol="0">
            <a:spAutoFit/>
          </a:bodyPr>
          <a:lstStyle/>
          <a:p>
            <a:r>
              <a:rPr lang="en-US" dirty="0" smtClean="0">
                <a:solidFill>
                  <a:schemeClr val="tx2">
                    <a:lumMod val="60000"/>
                    <a:lumOff val="40000"/>
                  </a:schemeClr>
                </a:solidFill>
              </a:rPr>
              <a:t>Software tab is everything related to the software in the console. Load from cold it is the most used here to reload the host software.</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27</a:t>
            </a:fld>
            <a:endParaRPr lang="en-US"/>
          </a:p>
        </p:txBody>
      </p:sp>
    </p:spTree>
    <p:extLst>
      <p:ext uri="{BB962C8B-B14F-4D97-AF65-F5344CB8AC3E}">
        <p14:creationId xmlns:p14="http://schemas.microsoft.com/office/powerpoint/2010/main" val="393984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10431"/>
            <a:ext cx="9144000"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0" y="1905000"/>
            <a:ext cx="14478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a:stCxn id="5" idx="2"/>
          </p:cNvCxnSpPr>
          <p:nvPr/>
        </p:nvCxnSpPr>
        <p:spPr>
          <a:xfrm>
            <a:off x="723900" y="2971800"/>
            <a:ext cx="30861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810000" y="4075837"/>
            <a:ext cx="4648200" cy="1754326"/>
          </a:xfrm>
          <a:prstGeom prst="rect">
            <a:avLst/>
          </a:prstGeom>
          <a:noFill/>
        </p:spPr>
        <p:txBody>
          <a:bodyPr wrap="square" rtlCol="0">
            <a:spAutoFit/>
          </a:bodyPr>
          <a:lstStyle/>
          <a:p>
            <a:r>
              <a:rPr lang="en-US" dirty="0" smtClean="0">
                <a:solidFill>
                  <a:schemeClr val="tx2">
                    <a:lumMod val="60000"/>
                    <a:lumOff val="40000"/>
                  </a:schemeClr>
                </a:solidFill>
              </a:rPr>
              <a:t>Theory is a great place to read on some of the major components from the MR. Even though GE has been putting less here in the newer systems, you can still find it in older systems on modules that are used in the newer MR platforms.</a:t>
            </a:r>
            <a:endParaRPr lang="en-US" dirty="0">
              <a:solidFill>
                <a:schemeClr val="tx2">
                  <a:lumMod val="60000"/>
                  <a:lumOff val="40000"/>
                </a:schemeClr>
              </a:solidFill>
            </a:endParaRPr>
          </a:p>
        </p:txBody>
      </p:sp>
      <p:sp>
        <p:nvSpPr>
          <p:cNvPr id="9"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4" name="Slide Number Placeholder 3"/>
          <p:cNvSpPr>
            <a:spLocks noGrp="1"/>
          </p:cNvSpPr>
          <p:nvPr>
            <p:ph type="sldNum" sz="quarter" idx="12"/>
          </p:nvPr>
        </p:nvSpPr>
        <p:spPr/>
        <p:txBody>
          <a:bodyPr/>
          <a:lstStyle/>
          <a:p>
            <a:fld id="{A96FCAC1-F539-4436-A8D9-9E19D1673FCA}" type="slidenum">
              <a:rPr lang="en-US" smtClean="0"/>
              <a:pPr/>
              <a:t>28</a:t>
            </a:fld>
            <a:endParaRPr lang="en-US"/>
          </a:p>
        </p:txBody>
      </p:sp>
    </p:spTree>
    <p:extLst>
      <p:ext uri="{BB962C8B-B14F-4D97-AF65-F5344CB8AC3E}">
        <p14:creationId xmlns:p14="http://schemas.microsoft.com/office/powerpoint/2010/main" val="3297957124"/>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28675"/>
            <a:ext cx="9136944" cy="5139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0" y="1828800"/>
            <a:ext cx="14478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endCxn id="8" idx="1"/>
          </p:cNvCxnSpPr>
          <p:nvPr/>
        </p:nvCxnSpPr>
        <p:spPr>
          <a:xfrm>
            <a:off x="723900" y="2209800"/>
            <a:ext cx="2933700" cy="10573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657600" y="2667000"/>
            <a:ext cx="4648200" cy="1200329"/>
          </a:xfrm>
          <a:prstGeom prst="rect">
            <a:avLst/>
          </a:prstGeom>
          <a:noFill/>
        </p:spPr>
        <p:txBody>
          <a:bodyPr wrap="square" rtlCol="0">
            <a:spAutoFit/>
          </a:bodyPr>
          <a:lstStyle/>
          <a:p>
            <a:r>
              <a:rPr lang="en-US" dirty="0" smtClean="0">
                <a:solidFill>
                  <a:schemeClr val="tx2">
                    <a:lumMod val="60000"/>
                    <a:lumOff val="40000"/>
                  </a:schemeClr>
                </a:solidFill>
              </a:rPr>
              <a:t>System diagrams have been disappearing out of here too. You can find some good diagrams in the older systems. Some PDFs with diagrams can be found in the CDL website</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29</a:t>
            </a:fld>
            <a:endParaRPr lang="en-US"/>
          </a:p>
        </p:txBody>
      </p:sp>
    </p:spTree>
    <p:extLst>
      <p:ext uri="{BB962C8B-B14F-4D97-AF65-F5344CB8AC3E}">
        <p14:creationId xmlns:p14="http://schemas.microsoft.com/office/powerpoint/2010/main" val="3618494526"/>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24707"/>
            <a:ext cx="9144000"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6" name="Rectangle 5"/>
          <p:cNvSpPr/>
          <p:nvPr/>
        </p:nvSpPr>
        <p:spPr>
          <a:xfrm>
            <a:off x="0" y="1905000"/>
            <a:ext cx="14478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2"/>
            <a:endCxn id="8" idx="1"/>
          </p:cNvCxnSpPr>
          <p:nvPr/>
        </p:nvCxnSpPr>
        <p:spPr>
          <a:xfrm>
            <a:off x="723900" y="2286000"/>
            <a:ext cx="2705100" cy="22142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429000" y="4038600"/>
            <a:ext cx="4648200" cy="923330"/>
          </a:xfrm>
          <a:prstGeom prst="rect">
            <a:avLst/>
          </a:prstGeom>
          <a:noFill/>
        </p:spPr>
        <p:txBody>
          <a:bodyPr wrap="square" rtlCol="0">
            <a:spAutoFit/>
          </a:bodyPr>
          <a:lstStyle/>
          <a:p>
            <a:r>
              <a:rPr lang="en-US" dirty="0" smtClean="0">
                <a:solidFill>
                  <a:schemeClr val="tx2">
                    <a:lumMod val="60000"/>
                    <a:lumOff val="40000"/>
                  </a:schemeClr>
                </a:solidFill>
              </a:rPr>
              <a:t>They realized ISO companies could follow GE PM checks so they took that out other than the safety checks if anything.</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30</a:t>
            </a:fld>
            <a:endParaRPr lang="en-US"/>
          </a:p>
        </p:txBody>
      </p:sp>
    </p:spTree>
    <p:extLst>
      <p:ext uri="{BB962C8B-B14F-4D97-AF65-F5344CB8AC3E}">
        <p14:creationId xmlns:p14="http://schemas.microsoft.com/office/powerpoint/2010/main" val="488285822"/>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16632"/>
            <a:ext cx="9144000"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6" name="Rectangle 5"/>
          <p:cNvSpPr/>
          <p:nvPr/>
        </p:nvSpPr>
        <p:spPr>
          <a:xfrm>
            <a:off x="0" y="2095500"/>
            <a:ext cx="1447800" cy="1790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a:off x="1447800" y="2990850"/>
            <a:ext cx="5334000" cy="11557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781800" y="2438400"/>
            <a:ext cx="2133600" cy="3416320"/>
          </a:xfrm>
          <a:prstGeom prst="rect">
            <a:avLst/>
          </a:prstGeom>
          <a:noFill/>
        </p:spPr>
        <p:txBody>
          <a:bodyPr wrap="square" rtlCol="0">
            <a:spAutoFit/>
          </a:bodyPr>
          <a:lstStyle/>
          <a:p>
            <a:r>
              <a:rPr lang="en-US" dirty="0" smtClean="0">
                <a:solidFill>
                  <a:schemeClr val="tx2">
                    <a:lumMod val="60000"/>
                    <a:lumOff val="40000"/>
                  </a:schemeClr>
                </a:solidFill>
              </a:rPr>
              <a:t>Troubleshooting might be a bit slim too but some good info can be found and some of the diagnostics in the service browser run also without a service key. There are big differences depending in the software level.</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31</a:t>
            </a:fld>
            <a:endParaRPr lang="en-US"/>
          </a:p>
        </p:txBody>
      </p:sp>
    </p:spTree>
    <p:extLst>
      <p:ext uri="{BB962C8B-B14F-4D97-AF65-F5344CB8AC3E}">
        <p14:creationId xmlns:p14="http://schemas.microsoft.com/office/powerpoint/2010/main" val="256687102"/>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28675"/>
            <a:ext cx="9136944" cy="5139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6" name="Rectangle 5"/>
          <p:cNvSpPr/>
          <p:nvPr/>
        </p:nvSpPr>
        <p:spPr>
          <a:xfrm>
            <a:off x="0" y="2095500"/>
            <a:ext cx="1447800" cy="3429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a:off x="1447800" y="2266950"/>
            <a:ext cx="1981200" cy="7386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429000" y="2266950"/>
            <a:ext cx="5486400" cy="1477328"/>
          </a:xfrm>
          <a:prstGeom prst="rect">
            <a:avLst/>
          </a:prstGeom>
          <a:noFill/>
        </p:spPr>
        <p:txBody>
          <a:bodyPr wrap="square" rtlCol="0">
            <a:spAutoFit/>
          </a:bodyPr>
          <a:lstStyle/>
          <a:p>
            <a:r>
              <a:rPr lang="en-US" dirty="0" smtClean="0">
                <a:solidFill>
                  <a:schemeClr val="tx2">
                    <a:lumMod val="60000"/>
                    <a:lumOff val="40000"/>
                  </a:schemeClr>
                </a:solidFill>
              </a:rPr>
              <a:t>Parts were always here. Now they make you go download the manual. Older revisions had it in this tab. If you have older revisions, don’t delete them. Keep them both because most of the time they just take things away</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32</a:t>
            </a:fld>
            <a:endParaRPr lang="en-US"/>
          </a:p>
        </p:txBody>
      </p:sp>
    </p:spTree>
    <p:extLst>
      <p:ext uri="{BB962C8B-B14F-4D97-AF65-F5344CB8AC3E}">
        <p14:creationId xmlns:p14="http://schemas.microsoft.com/office/powerpoint/2010/main" val="2237616435"/>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56" y="838200"/>
            <a:ext cx="9136944" cy="5139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1"/>
          <p:cNvSpPr txBox="1">
            <a:spLocks/>
          </p:cNvSpPr>
          <p:nvPr/>
        </p:nvSpPr>
        <p:spPr>
          <a:xfrm>
            <a:off x="0" y="76200"/>
            <a:ext cx="9144000" cy="6858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6" name="Rectangle 5"/>
          <p:cNvSpPr/>
          <p:nvPr/>
        </p:nvSpPr>
        <p:spPr>
          <a:xfrm>
            <a:off x="29308" y="2219756"/>
            <a:ext cx="1447800" cy="9806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6" idx="3"/>
            <a:endCxn id="8" idx="1"/>
          </p:cNvCxnSpPr>
          <p:nvPr/>
        </p:nvCxnSpPr>
        <p:spPr>
          <a:xfrm flipV="1">
            <a:off x="1477108" y="2581365"/>
            <a:ext cx="3475892" cy="128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953000" y="1981200"/>
            <a:ext cx="3810000" cy="1200329"/>
          </a:xfrm>
          <a:prstGeom prst="rect">
            <a:avLst/>
          </a:prstGeom>
          <a:noFill/>
        </p:spPr>
        <p:txBody>
          <a:bodyPr wrap="square" rtlCol="0">
            <a:spAutoFit/>
          </a:bodyPr>
          <a:lstStyle/>
          <a:p>
            <a:r>
              <a:rPr lang="en-US" dirty="0" smtClean="0">
                <a:solidFill>
                  <a:schemeClr val="tx2">
                    <a:lumMod val="60000"/>
                    <a:lumOff val="40000"/>
                  </a:schemeClr>
                </a:solidFill>
              </a:rPr>
              <a:t>They usually give you quite a bit of replacement information, specially about the parts that have more safety issues involved.</a:t>
            </a:r>
            <a:endParaRPr lang="en-US"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33</a:t>
            </a:fld>
            <a:endParaRPr lang="en-US"/>
          </a:p>
        </p:txBody>
      </p:sp>
    </p:spTree>
    <p:extLst>
      <p:ext uri="{BB962C8B-B14F-4D97-AF65-F5344CB8AC3E}">
        <p14:creationId xmlns:p14="http://schemas.microsoft.com/office/powerpoint/2010/main" val="799127295"/>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000" dirty="0" smtClean="0">
                <a:solidFill>
                  <a:schemeClr val="tx2">
                    <a:lumMod val="60000"/>
                    <a:lumOff val="40000"/>
                  </a:schemeClr>
                </a:solidFill>
              </a:rPr>
              <a:t>LX Systems have an older different organization of the documents.</a:t>
            </a:r>
          </a:p>
          <a:p>
            <a:pPr marL="0" indent="0">
              <a:buNone/>
            </a:pPr>
            <a:r>
              <a:rPr lang="en-US" sz="2000" dirty="0" smtClean="0">
                <a:solidFill>
                  <a:schemeClr val="tx2">
                    <a:lumMod val="60000"/>
                    <a:lumOff val="40000"/>
                  </a:schemeClr>
                </a:solidFill>
              </a:rPr>
              <a:t>The process to download it and unzip it is the same but instead of looking for the index.html to open the main menu we have to locate one that says mr8x.html</a:t>
            </a:r>
          </a:p>
          <a:p>
            <a:pPr marL="0" indent="0">
              <a:buNone/>
            </a:pPr>
            <a:endParaRPr lang="en-US" sz="2400" dirty="0">
              <a:solidFill>
                <a:schemeClr val="tx2">
                  <a:lumMod val="60000"/>
                  <a:lumOff val="40000"/>
                </a:schemeClr>
              </a:solidFill>
            </a:endParaRPr>
          </a:p>
        </p:txBody>
      </p:sp>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2133600"/>
            <a:ext cx="4391025" cy="419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4419600" y="5467350"/>
            <a:ext cx="34290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7" name="Slide Number Placeholder 6"/>
          <p:cNvSpPr>
            <a:spLocks noGrp="1"/>
          </p:cNvSpPr>
          <p:nvPr>
            <p:ph type="sldNum" sz="quarter" idx="12"/>
          </p:nvPr>
        </p:nvSpPr>
        <p:spPr/>
        <p:txBody>
          <a:bodyPr/>
          <a:lstStyle/>
          <a:p>
            <a:fld id="{A96FCAC1-F539-4436-A8D9-9E19D1673FCA}" type="slidenum">
              <a:rPr lang="en-US" smtClean="0"/>
              <a:pPr/>
              <a:t>34</a:t>
            </a:fld>
            <a:endParaRPr lang="en-US"/>
          </a:p>
        </p:txBody>
      </p:sp>
    </p:spTree>
    <p:extLst>
      <p:ext uri="{BB962C8B-B14F-4D97-AF65-F5344CB8AC3E}">
        <p14:creationId xmlns:p14="http://schemas.microsoft.com/office/powerpoint/2010/main" val="2844938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996156"/>
            <a:ext cx="8839200" cy="497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35</a:t>
            </a:fld>
            <a:endParaRPr lang="en-US"/>
          </a:p>
        </p:txBody>
      </p:sp>
    </p:spTree>
    <p:extLst>
      <p:ext uri="{BB962C8B-B14F-4D97-AF65-F5344CB8AC3E}">
        <p14:creationId xmlns:p14="http://schemas.microsoft.com/office/powerpoint/2010/main" val="1778417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7" name="Content Placeholder 2"/>
          <p:cNvSpPr txBox="1">
            <a:spLocks/>
          </p:cNvSpPr>
          <p:nvPr/>
        </p:nvSpPr>
        <p:spPr>
          <a:xfrm>
            <a:off x="152400" y="990600"/>
            <a:ext cx="8839200" cy="49831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smtClean="0">
                <a:solidFill>
                  <a:schemeClr val="tx2">
                    <a:lumMod val="60000"/>
                    <a:lumOff val="40000"/>
                  </a:schemeClr>
                </a:solidFill>
              </a:rPr>
              <a:t>Things are organized a little different but same concept. Under each component you will find the adjustments, checks, troubleshooting and anything related to its components.</a:t>
            </a:r>
          </a:p>
          <a:p>
            <a:pPr marL="0" indent="0">
              <a:buFont typeface="Arial" pitchFamily="34" charset="0"/>
              <a:buNone/>
            </a:pPr>
            <a:endParaRPr lang="en-US" sz="2000" dirty="0" smtClean="0">
              <a:solidFill>
                <a:schemeClr val="tx2">
                  <a:lumMod val="60000"/>
                  <a:lumOff val="40000"/>
                </a:schemeClr>
              </a:solidFill>
            </a:endParaRPr>
          </a:p>
          <a:p>
            <a:pPr marL="0" indent="0">
              <a:buFont typeface="Arial" pitchFamily="34" charset="0"/>
              <a:buNone/>
            </a:pPr>
            <a:endParaRPr lang="en-US" sz="2000" dirty="0" smtClean="0">
              <a:solidFill>
                <a:schemeClr val="tx2">
                  <a:lumMod val="60000"/>
                  <a:lumOff val="40000"/>
                </a:schemeClr>
              </a:solidFill>
            </a:endParaRPr>
          </a:p>
          <a:p>
            <a:pPr marL="0" indent="0">
              <a:buFont typeface="Arial" pitchFamily="34" charset="0"/>
              <a:buNone/>
            </a:pPr>
            <a:endParaRPr lang="en-US" sz="2400" dirty="0">
              <a:solidFill>
                <a:schemeClr val="tx2">
                  <a:lumMod val="60000"/>
                  <a:lumOff val="40000"/>
                </a:schemeClr>
              </a:solidFill>
            </a:endParaRPr>
          </a:p>
        </p:txBody>
      </p:sp>
      <p:pic>
        <p:nvPicPr>
          <p:cNvPr id="20485"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54003"/>
          <a:stretch/>
        </p:blipFill>
        <p:spPr bwMode="auto">
          <a:xfrm>
            <a:off x="304800" y="1989992"/>
            <a:ext cx="3546231" cy="4336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6"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0082"/>
          <a:stretch/>
        </p:blipFill>
        <p:spPr bwMode="auto">
          <a:xfrm>
            <a:off x="4495800" y="2158080"/>
            <a:ext cx="4261338"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a:stCxn id="20486" idx="1"/>
          </p:cNvCxnSpPr>
          <p:nvPr/>
        </p:nvCxnSpPr>
        <p:spPr>
          <a:xfrm flipH="1" flipV="1">
            <a:off x="1600200" y="4038600"/>
            <a:ext cx="2895600" cy="1197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5" name="Slide Number Placeholder 4"/>
          <p:cNvSpPr>
            <a:spLocks noGrp="1"/>
          </p:cNvSpPr>
          <p:nvPr>
            <p:ph type="sldNum" sz="quarter" idx="12"/>
          </p:nvPr>
        </p:nvSpPr>
        <p:spPr/>
        <p:txBody>
          <a:bodyPr/>
          <a:lstStyle/>
          <a:p>
            <a:fld id="{A96FCAC1-F539-4436-A8D9-9E19D1673FCA}" type="slidenum">
              <a:rPr lang="en-US" smtClean="0"/>
              <a:pPr/>
              <a:t>36</a:t>
            </a:fld>
            <a:endParaRPr lang="en-US"/>
          </a:p>
        </p:txBody>
      </p:sp>
    </p:spTree>
    <p:extLst>
      <p:ext uri="{BB962C8B-B14F-4D97-AF65-F5344CB8AC3E}">
        <p14:creationId xmlns:p14="http://schemas.microsoft.com/office/powerpoint/2010/main" val="191483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tx1"/>
                </a:solidFill>
                <a:latin typeface="+mj-lt"/>
                <a:ea typeface="+mj-ea"/>
                <a:cs typeface="+mj-cs"/>
              </a:defRPr>
            </a:lvl1pPr>
          </a:lstStyle>
          <a:p>
            <a:r>
              <a:rPr lang="en-US" dirty="0" smtClean="0">
                <a:solidFill>
                  <a:schemeClr val="accent1">
                    <a:lumMod val="75000"/>
                  </a:schemeClr>
                </a:solidFill>
              </a:rPr>
              <a:t>Service Documents</a:t>
            </a:r>
            <a:endParaRPr lang="en-US" dirty="0">
              <a:solidFill>
                <a:schemeClr val="accent1">
                  <a:lumMod val="75000"/>
                </a:schemeClr>
              </a:solidFill>
            </a:endParaRPr>
          </a:p>
        </p:txBody>
      </p:sp>
      <p:sp>
        <p:nvSpPr>
          <p:cNvPr id="7" name="Content Placeholder 2"/>
          <p:cNvSpPr txBox="1">
            <a:spLocks/>
          </p:cNvSpPr>
          <p:nvPr/>
        </p:nvSpPr>
        <p:spPr>
          <a:xfrm>
            <a:off x="152400" y="990600"/>
            <a:ext cx="8839200" cy="49831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solidFill>
                  <a:schemeClr val="tx2">
                    <a:lumMod val="60000"/>
                    <a:lumOff val="40000"/>
                  </a:schemeClr>
                </a:solidFill>
              </a:rPr>
              <a:t>Parts manual can be located under the Renewal parts. It opens another window. </a:t>
            </a:r>
          </a:p>
          <a:p>
            <a:r>
              <a:rPr lang="en-US" sz="2000" dirty="0" smtClean="0">
                <a:solidFill>
                  <a:schemeClr val="tx2">
                    <a:lumMod val="60000"/>
                    <a:lumOff val="40000"/>
                  </a:schemeClr>
                </a:solidFill>
              </a:rPr>
              <a:t>Select the one on the top</a:t>
            </a:r>
          </a:p>
          <a:p>
            <a:r>
              <a:rPr lang="en-US" sz="2000" dirty="0" smtClean="0">
                <a:solidFill>
                  <a:schemeClr val="tx2">
                    <a:lumMod val="60000"/>
                    <a:lumOff val="40000"/>
                  </a:schemeClr>
                </a:solidFill>
              </a:rPr>
              <a:t>You can either download the full pdf manual or locate it by its location in the system</a:t>
            </a:r>
          </a:p>
          <a:p>
            <a:endParaRPr lang="en-US" sz="2000" dirty="0" smtClean="0">
              <a:solidFill>
                <a:schemeClr val="tx2">
                  <a:lumMod val="60000"/>
                  <a:lumOff val="40000"/>
                </a:schemeClr>
              </a:solidFill>
            </a:endParaRPr>
          </a:p>
          <a:p>
            <a:pPr marL="0" indent="0">
              <a:buFont typeface="Arial" pitchFamily="34" charset="0"/>
              <a:buNone/>
            </a:pPr>
            <a:endParaRPr lang="en-US" sz="2000" dirty="0" smtClean="0">
              <a:solidFill>
                <a:schemeClr val="tx2">
                  <a:lumMod val="60000"/>
                  <a:lumOff val="40000"/>
                </a:schemeClr>
              </a:solidFill>
            </a:endParaRPr>
          </a:p>
          <a:p>
            <a:pPr marL="0" indent="0">
              <a:buFont typeface="Arial" pitchFamily="34" charset="0"/>
              <a:buNone/>
            </a:pPr>
            <a:endParaRPr lang="en-US" sz="2000" dirty="0" smtClean="0">
              <a:solidFill>
                <a:schemeClr val="tx2">
                  <a:lumMod val="60000"/>
                  <a:lumOff val="40000"/>
                </a:schemeClr>
              </a:solidFill>
            </a:endParaRPr>
          </a:p>
          <a:p>
            <a:pPr marL="0" indent="0">
              <a:buFont typeface="Arial" pitchFamily="34" charset="0"/>
              <a:buNone/>
            </a:pPr>
            <a:endParaRPr lang="en-US" sz="2400" dirty="0">
              <a:solidFill>
                <a:schemeClr val="tx2">
                  <a:lumMod val="60000"/>
                  <a:lumOff val="40000"/>
                </a:schemeClr>
              </a:solidFill>
            </a:endParaRPr>
          </a:p>
        </p:txBody>
      </p:sp>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40863" b="69737"/>
          <a:stretch/>
        </p:blipFill>
        <p:spPr bwMode="auto">
          <a:xfrm>
            <a:off x="2608385" y="2145323"/>
            <a:ext cx="5783058" cy="16646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87229" b="57987"/>
          <a:stretch/>
        </p:blipFill>
        <p:spPr bwMode="auto">
          <a:xfrm>
            <a:off x="228600" y="2438400"/>
            <a:ext cx="1981200" cy="36660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304800" y="4271433"/>
            <a:ext cx="1371600" cy="1381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p:cNvCxnSpPr/>
          <p:nvPr/>
        </p:nvCxnSpPr>
        <p:spPr>
          <a:xfrm flipV="1">
            <a:off x="2292724" y="3482181"/>
            <a:ext cx="2286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743200" y="3244361"/>
            <a:ext cx="2667000" cy="246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08"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2216" b="42358"/>
          <a:stretch/>
        </p:blipFill>
        <p:spPr bwMode="auto">
          <a:xfrm>
            <a:off x="2743200" y="3766344"/>
            <a:ext cx="6104965" cy="25448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p:nvPr/>
        </p:nvCxnSpPr>
        <p:spPr>
          <a:xfrm>
            <a:off x="5257800" y="3490979"/>
            <a:ext cx="242114" cy="7804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6" name="Slide Number Placeholder 5"/>
          <p:cNvSpPr>
            <a:spLocks noGrp="1"/>
          </p:cNvSpPr>
          <p:nvPr>
            <p:ph type="sldNum" sz="quarter" idx="12"/>
          </p:nvPr>
        </p:nvSpPr>
        <p:spPr/>
        <p:txBody>
          <a:bodyPr/>
          <a:lstStyle/>
          <a:p>
            <a:fld id="{A96FCAC1-F539-4436-A8D9-9E19D1673FCA}" type="slidenum">
              <a:rPr lang="en-US" smtClean="0"/>
              <a:pPr/>
              <a:t>37</a:t>
            </a:fld>
            <a:endParaRPr lang="en-US"/>
          </a:p>
        </p:txBody>
      </p:sp>
    </p:spTree>
    <p:extLst>
      <p:ext uri="{BB962C8B-B14F-4D97-AF65-F5344CB8AC3E}">
        <p14:creationId xmlns:p14="http://schemas.microsoft.com/office/powerpoint/2010/main" val="1311814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Service </a:t>
            </a:r>
            <a:r>
              <a:rPr lang="en-US" dirty="0" smtClean="0">
                <a:solidFill>
                  <a:schemeClr val="accent1">
                    <a:lumMod val="75000"/>
                  </a:schemeClr>
                </a:solidFill>
              </a:rPr>
              <a:t>Documents To Be Downloaded</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75156061"/>
              </p:ext>
            </p:extLst>
          </p:nvPr>
        </p:nvGraphicFramePr>
        <p:xfrm>
          <a:off x="2438400" y="1676400"/>
          <a:ext cx="4279900" cy="3281680"/>
        </p:xfrm>
        <a:graphic>
          <a:graphicData uri="http://schemas.openxmlformats.org/drawingml/2006/table">
            <a:tbl>
              <a:tblPr/>
              <a:tblGrid>
                <a:gridCol w="2794000"/>
                <a:gridCol w="1485900"/>
              </a:tblGrid>
              <a:tr h="342900">
                <a:tc>
                  <a:txBody>
                    <a:bodyPr/>
                    <a:lstStyle/>
                    <a:p>
                      <a:pPr algn="ctr" fontAlgn="b"/>
                      <a:r>
                        <a:rPr lang="en-US" sz="2200" b="0" i="0" u="none" strike="noStrike" dirty="0">
                          <a:solidFill>
                            <a:srgbClr val="000000"/>
                          </a:solidFill>
                          <a:effectLst/>
                          <a:latin typeface="Abadi MT Condensed Extra Bold"/>
                        </a:rPr>
                        <a:t>Description</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2200" b="0" i="0" u="none" strike="noStrike">
                          <a:solidFill>
                            <a:srgbClr val="000000"/>
                          </a:solidFill>
                          <a:effectLst/>
                          <a:latin typeface="Abadi MT Condensed Extra Bold"/>
                        </a:rPr>
                        <a:t>Part Number</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algn="l" fontAlgn="b"/>
                      <a:r>
                        <a:rPr lang="en-US" sz="1800" b="0" i="0" u="none" strike="noStrike">
                          <a:solidFill>
                            <a:srgbClr val="000000"/>
                          </a:solidFill>
                          <a:effectLst/>
                          <a:latin typeface="Calibri"/>
                        </a:rPr>
                        <a:t>1.5T Excite (11x) </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mr-IN" sz="1800" b="0" i="0" u="none" strike="noStrike">
                          <a:solidFill>
                            <a:srgbClr val="000000"/>
                          </a:solidFill>
                          <a:effectLst/>
                          <a:latin typeface="Calibri"/>
                        </a:rPr>
                        <a:t>2333500-3</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mr-IN" sz="1800" b="0" i="0" u="none" strike="noStrike">
                          <a:solidFill>
                            <a:srgbClr val="000000"/>
                          </a:solidFill>
                          <a:effectLst/>
                          <a:latin typeface="Calibri"/>
                        </a:rPr>
                        <a:t>GE Signa (8x/9x) </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is-IS" sz="1800" b="0" i="0" u="none" strike="noStrike">
                          <a:solidFill>
                            <a:srgbClr val="000000"/>
                          </a:solidFill>
                          <a:effectLst/>
                          <a:latin typeface="Calibri"/>
                        </a:rPr>
                        <a:t>2160623-3</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mr-IN" sz="1800" b="0" i="0" u="none" strike="noStrike">
                          <a:solidFill>
                            <a:srgbClr val="000000"/>
                          </a:solidFill>
                          <a:effectLst/>
                          <a:latin typeface="Calibri"/>
                        </a:rPr>
                        <a:t>HD (12x)</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mr-IN" sz="1800" b="0" i="0" u="none" strike="noStrike">
                          <a:solidFill>
                            <a:srgbClr val="000000"/>
                          </a:solidFill>
                          <a:effectLst/>
                          <a:latin typeface="Calibri"/>
                        </a:rPr>
                        <a:t>5133315-3</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is-IS" sz="1800" b="0" i="0" u="none" strike="noStrike" dirty="0" smtClean="0">
                          <a:solidFill>
                            <a:srgbClr val="000000"/>
                          </a:solidFill>
                          <a:effectLst/>
                          <a:latin typeface="Calibri"/>
                        </a:rPr>
                        <a:t>HDx</a:t>
                      </a:r>
                      <a:r>
                        <a:rPr lang="is-IS" sz="1800" b="0" i="0" u="none" strike="noStrike" baseline="0" dirty="0" smtClean="0">
                          <a:solidFill>
                            <a:srgbClr val="000000"/>
                          </a:solidFill>
                          <a:effectLst/>
                          <a:latin typeface="Calibri"/>
                        </a:rPr>
                        <a:t> (14x)</a:t>
                      </a:r>
                      <a:endParaRPr lang="is-IS" sz="1800" b="0" i="0" u="none" strike="noStrike" dirty="0">
                        <a:solidFill>
                          <a:srgbClr val="000000"/>
                        </a:solidFill>
                        <a:effectLst/>
                        <a:latin typeface="Calibri"/>
                      </a:endParaRP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is-IS" sz="1800" b="0" i="0" u="none" strike="noStrike" dirty="0" smtClean="0">
                          <a:solidFill>
                            <a:srgbClr val="000000"/>
                          </a:solidFill>
                          <a:effectLst/>
                          <a:latin typeface="Calibri"/>
                        </a:rPr>
                        <a:t>5155501-3</a:t>
                      </a:r>
                      <a:endParaRPr lang="is-IS" sz="1800" b="0" i="0" u="none" strike="noStrike" dirty="0">
                        <a:solidFill>
                          <a:srgbClr val="000000"/>
                        </a:solidFill>
                        <a:effectLst/>
                        <a:latin typeface="Calibri"/>
                      </a:endParaRP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is-IS" sz="1800" b="0" i="0" u="none" strike="noStrike" dirty="0" smtClean="0">
                          <a:solidFill>
                            <a:srgbClr val="000000"/>
                          </a:solidFill>
                          <a:effectLst/>
                          <a:latin typeface="Calibri"/>
                        </a:rPr>
                        <a:t>HDxt (15x, 16x, 23x)</a:t>
                      </a:r>
                      <a:endParaRPr lang="is-IS" sz="1800" b="0" i="0" u="none" strike="noStrike" dirty="0">
                        <a:solidFill>
                          <a:srgbClr val="000000"/>
                        </a:solidFill>
                        <a:effectLst/>
                        <a:latin typeface="Calibri"/>
                      </a:endParaRP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is-IS" sz="1800" b="0" i="0" u="none" strike="noStrike" dirty="0" smtClean="0">
                          <a:solidFill>
                            <a:srgbClr val="000000"/>
                          </a:solidFill>
                          <a:effectLst/>
                          <a:latin typeface="Calibri"/>
                        </a:rPr>
                        <a:t>5440001-3</a:t>
                      </a:r>
                      <a:endParaRPr lang="is-IS" sz="1800" b="0" i="0" u="none" strike="noStrike" dirty="0">
                        <a:solidFill>
                          <a:srgbClr val="000000"/>
                        </a:solidFill>
                        <a:effectLst/>
                        <a:latin typeface="Calibri"/>
                      </a:endParaRP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en-US" sz="1800" b="0" i="0" u="none" strike="noStrike">
                          <a:solidFill>
                            <a:srgbClr val="000000"/>
                          </a:solidFill>
                          <a:effectLst/>
                          <a:latin typeface="Calibri"/>
                        </a:rPr>
                        <a:t>Sofware Matrix</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is-IS" sz="1800" b="0" i="0" u="none" strike="noStrike">
                          <a:solidFill>
                            <a:srgbClr val="000000"/>
                          </a:solidFill>
                          <a:effectLst/>
                          <a:latin typeface="Calibri"/>
                        </a:rPr>
                        <a:t>1667089</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en-US" sz="1800" b="0" i="0" u="none" strike="noStrike">
                          <a:solidFill>
                            <a:srgbClr val="000000"/>
                          </a:solidFill>
                          <a:effectLst/>
                          <a:latin typeface="Calibri"/>
                        </a:rPr>
                        <a:t>Excite Part Manual</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is-IS" sz="1800" b="0" i="0" u="none" strike="noStrike">
                          <a:solidFill>
                            <a:srgbClr val="000000"/>
                          </a:solidFill>
                          <a:effectLst/>
                          <a:latin typeface="Calibri"/>
                        </a:rPr>
                        <a:t>2345481</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en-US" sz="1800" b="0" i="0" u="none" strike="noStrike" dirty="0">
                          <a:solidFill>
                            <a:srgbClr val="000000"/>
                          </a:solidFill>
                          <a:effectLst/>
                          <a:latin typeface="Calibri"/>
                        </a:rPr>
                        <a:t>Excite Block Diagrams</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cs-CZ" sz="1800" b="0" i="0" u="none" strike="noStrike">
                          <a:solidFill>
                            <a:srgbClr val="000000"/>
                          </a:solidFill>
                          <a:effectLst/>
                          <a:latin typeface="Calibri"/>
                        </a:rPr>
                        <a:t>2333494</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2100">
                <a:tc>
                  <a:txBody>
                    <a:bodyPr/>
                    <a:lstStyle/>
                    <a:p>
                      <a:pPr algn="l" fontAlgn="b"/>
                      <a:r>
                        <a:rPr lang="en-US" sz="1800" b="0" i="0" u="none" strike="noStrike">
                          <a:solidFill>
                            <a:srgbClr val="000000"/>
                          </a:solidFill>
                          <a:effectLst/>
                          <a:latin typeface="Calibri"/>
                        </a:rPr>
                        <a:t>HD-HDxt Block Diagrams</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is-IS" sz="1800" b="0" i="0" u="none" strike="noStrike">
                          <a:solidFill>
                            <a:srgbClr val="000000"/>
                          </a:solidFill>
                          <a:effectLst/>
                          <a:latin typeface="Calibri"/>
                        </a:rPr>
                        <a:t>5133310</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4800">
                <a:tc>
                  <a:txBody>
                    <a:bodyPr/>
                    <a:lstStyle/>
                    <a:p>
                      <a:pPr algn="l" fontAlgn="b"/>
                      <a:r>
                        <a:rPr lang="en-US" sz="1800" b="0" i="0" u="none" strike="noStrike">
                          <a:solidFill>
                            <a:srgbClr val="000000"/>
                          </a:solidFill>
                          <a:effectLst/>
                          <a:latin typeface="Calibri"/>
                        </a:rPr>
                        <a:t>LCC Magnet</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cs-CZ" sz="1800" b="0" i="0" u="none" strike="noStrike" dirty="0">
                          <a:solidFill>
                            <a:srgbClr val="000000"/>
                          </a:solidFill>
                          <a:effectLst/>
                          <a:latin typeface="Calibri"/>
                        </a:rPr>
                        <a:t>5495019</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Footer Placeholder 4"/>
          <p:cNvSpPr>
            <a:spLocks noGrp="1"/>
          </p:cNvSpPr>
          <p:nvPr>
            <p:ph type="ftr" sz="quarter" idx="11"/>
          </p:nvPr>
        </p:nvSpPr>
        <p:spPr/>
        <p:txBody>
          <a:bodyPr/>
          <a:lstStyle/>
          <a:p>
            <a:r>
              <a:rPr lang="en-US" smtClean="0"/>
              <a:t>Created by Ruben Beltran Rev1 01Sep2016</a:t>
            </a:r>
            <a:endParaRPr lang="en-US"/>
          </a:p>
        </p:txBody>
      </p:sp>
      <p:sp>
        <p:nvSpPr>
          <p:cNvPr id="3" name="Slide Number Placeholder 2"/>
          <p:cNvSpPr>
            <a:spLocks noGrp="1"/>
          </p:cNvSpPr>
          <p:nvPr>
            <p:ph type="sldNum" sz="quarter" idx="12"/>
          </p:nvPr>
        </p:nvSpPr>
        <p:spPr/>
        <p:txBody>
          <a:bodyPr/>
          <a:lstStyle/>
          <a:p>
            <a:fld id="{A96FCAC1-F539-4436-A8D9-9E19D1673FCA}" type="slidenum">
              <a:rPr lang="en-US" smtClean="0"/>
              <a:pPr/>
              <a:t>38</a:t>
            </a:fld>
            <a:endParaRPr lang="en-US"/>
          </a:p>
        </p:txBody>
      </p:sp>
    </p:spTree>
    <p:extLst>
      <p:ext uri="{BB962C8B-B14F-4D97-AF65-F5344CB8AC3E}">
        <p14:creationId xmlns:p14="http://schemas.microsoft.com/office/powerpoint/2010/main" val="5009611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5334000"/>
            <a:ext cx="91440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BCT rethink medical imaging.png"/>
          <p:cNvPicPr>
            <a:picLocks noChangeAspect="1"/>
          </p:cNvPicPr>
          <p:nvPr/>
        </p:nvPicPr>
        <p:blipFill>
          <a:blip r:embed="rId2" cstate="print"/>
          <a:stretch>
            <a:fillRect/>
          </a:stretch>
        </p:blipFill>
        <p:spPr>
          <a:xfrm>
            <a:off x="1066800" y="1752600"/>
            <a:ext cx="7113447" cy="2636453"/>
          </a:xfrm>
          <a:prstGeom prst="rect">
            <a:avLst/>
          </a:prstGeom>
        </p:spPr>
      </p:pic>
      <p:sp>
        <p:nvSpPr>
          <p:cNvPr id="2" name="Footer Placeholder 1"/>
          <p:cNvSpPr>
            <a:spLocks noGrp="1"/>
          </p:cNvSpPr>
          <p:nvPr>
            <p:ph type="ftr" sz="quarter" idx="11"/>
          </p:nvPr>
        </p:nvSpPr>
        <p:spPr/>
        <p:txBody>
          <a:bodyPr/>
          <a:lstStyle/>
          <a:p>
            <a:r>
              <a:rPr lang="en-US" smtClean="0"/>
              <a:t>Created by Ruben Beltran Rev1 01Sep2016</a:t>
            </a:r>
            <a:endParaRPr lang="en-US"/>
          </a:p>
        </p:txBody>
      </p:sp>
      <p:sp>
        <p:nvSpPr>
          <p:cNvPr id="4" name="Slide Number Placeholder 3"/>
          <p:cNvSpPr>
            <a:spLocks noGrp="1"/>
          </p:cNvSpPr>
          <p:nvPr>
            <p:ph type="sldNum" sz="quarter" idx="12"/>
          </p:nvPr>
        </p:nvSpPr>
        <p:spPr/>
        <p:txBody>
          <a:bodyPr/>
          <a:lstStyle/>
          <a:p>
            <a:fld id="{A96FCAC1-F539-4436-A8D9-9E19D1673FCA}" type="slidenum">
              <a:rPr lang="en-US" smtClean="0"/>
              <a:pPr/>
              <a:t>39</a:t>
            </a:fld>
            <a:endParaRPr lang="en-US"/>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2615</TotalTime>
  <Words>1439</Words>
  <Application>Microsoft Macintosh PowerPoint</Application>
  <PresentationFormat>On-screen Show (4:3)</PresentationFormat>
  <Paragraphs>205</Paragraphs>
  <Slides>39</Slides>
  <Notes>1</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GE DOCUMENTATION</vt:lpstr>
      <vt:lpstr>Objectives:</vt:lpstr>
      <vt:lpstr>GE support website</vt:lpstr>
      <vt:lpstr>Pre-installation Manuals</vt:lpstr>
      <vt:lpstr>Pre-installation Manuals</vt:lpstr>
      <vt:lpstr>Pre-installation Manuals</vt:lpstr>
      <vt:lpstr>Pre-installation Manuals</vt:lpstr>
      <vt:lpstr>Pre-installation Manuals</vt:lpstr>
      <vt:lpstr>Service Documents</vt:lpstr>
      <vt:lpstr>Service Documents</vt:lpstr>
      <vt:lpstr>Service Documents</vt:lpstr>
      <vt:lpstr>Service Documents</vt:lpstr>
      <vt:lpstr>Service Documents</vt:lpstr>
      <vt:lpstr>Service Documents</vt:lpstr>
      <vt:lpstr>Service Documents</vt:lpstr>
      <vt:lpstr>Service Documents</vt:lpstr>
      <vt:lpstr>Service Documents</vt:lpstr>
      <vt:lpstr>Service Documents</vt:lpstr>
      <vt:lpstr>Service Documents</vt:lpstr>
      <vt:lpstr>Service Documents</vt:lpstr>
      <vt:lpstr>PowerPoint Presentation</vt:lpstr>
      <vt:lpstr>Service Documents</vt:lpstr>
      <vt:lpstr>Service Documents</vt:lpstr>
      <vt:lpstr>Service Documents</vt:lpstr>
      <vt:lpstr>Service Documents</vt:lpstr>
      <vt:lpstr>Service Documents</vt:lpstr>
      <vt:lpstr>Service Documents</vt:lpstr>
      <vt:lpstr>Service Documents</vt:lpstr>
      <vt:lpstr>PowerPoint Presentation</vt:lpstr>
      <vt:lpstr>PowerPoint Presentation</vt:lpstr>
      <vt:lpstr>PowerPoint Presentation</vt:lpstr>
      <vt:lpstr>PowerPoint Presentation</vt:lpstr>
      <vt:lpstr>PowerPoint Presentation</vt:lpstr>
      <vt:lpstr>Service Documents</vt:lpstr>
      <vt:lpstr>Service Documents</vt:lpstr>
      <vt:lpstr>Service Documents</vt:lpstr>
      <vt:lpstr>Service Documents</vt:lpstr>
      <vt:lpstr>Service Documents To Be Downloaded</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alicia.bostic</dc:creator>
  <cp:lastModifiedBy>Ruben Beltran</cp:lastModifiedBy>
  <cp:revision>54</cp:revision>
  <dcterms:created xsi:type="dcterms:W3CDTF">2013-11-14T01:22:54Z</dcterms:created>
  <dcterms:modified xsi:type="dcterms:W3CDTF">2017-01-10T02:23:35Z</dcterms:modified>
</cp:coreProperties>
</file>